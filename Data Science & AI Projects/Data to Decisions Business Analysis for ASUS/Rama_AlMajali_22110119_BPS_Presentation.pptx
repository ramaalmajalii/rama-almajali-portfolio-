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6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x="18288000" cy="10287000"/>
  <p:notesSz cx="6858000" cy="9144000"/>
  <p:embeddedFontLst>
    <p:embeddedFont>
      <p:font typeface="Poppins Medium" charset="1" panose="00000600000000000000"/>
      <p:regular r:id="rId65"/>
    </p:embeddedFont>
    <p:embeddedFont>
      <p:font typeface="Poppins Extra-Light" charset="1" panose="00000300000000000000"/>
      <p:regular r:id="rId66"/>
    </p:embeddedFont>
    <p:embeddedFont>
      <p:font typeface="Poppins Thin" charset="1" panose="00000300000000000000"/>
      <p:regular r:id="rId67"/>
    </p:embeddedFont>
    <p:embeddedFont>
      <p:font typeface="Poppins" charset="1" panose="00000500000000000000"/>
      <p:regular r:id="rId68"/>
    </p:embeddedFont>
    <p:embeddedFont>
      <p:font typeface="Poppins Bold Italics" charset="1" panose="00000800000000000000"/>
      <p:regular r:id="rId72"/>
    </p:embeddedFont>
    <p:embeddedFont>
      <p:font typeface="Poppins Bold" charset="1" panose="00000800000000000000"/>
      <p:regular r:id="rId73"/>
    </p:embeddedFont>
    <p:embeddedFont>
      <p:font typeface="Poppins Italics" charset="1" panose="00000500000000000000"/>
      <p:regular r:id="rId76"/>
    </p:embeddedFont>
    <p:embeddedFont>
      <p:font typeface="Open Sans" charset="1" panose="00000000000000000000"/>
      <p:regular r:id="rId7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26.xml" Type="http://schemas.openxmlformats.org/officeDocument/2006/relationships/notesSlide"/><Relationship Id="rId101" Target="notesSlides/notesSlide27.xml" Type="http://schemas.openxmlformats.org/officeDocument/2006/relationships/notesSlide"/><Relationship Id="rId102" Target="notesSlides/notesSlide28.xml" Type="http://schemas.openxmlformats.org/officeDocument/2006/relationships/notesSlide"/><Relationship Id="rId103" Target="notesSlides/notesSlide29.xml" Type="http://schemas.openxmlformats.org/officeDocument/2006/relationships/notesSlide"/><Relationship Id="rId104" Target="notesSlides/notesSlide30.xml" Type="http://schemas.openxmlformats.org/officeDocument/2006/relationships/notesSlide"/><Relationship Id="rId105" Target="notesSlides/notesSlide31.xml" Type="http://schemas.openxmlformats.org/officeDocument/2006/relationships/notesSlide"/><Relationship Id="rId106" Target="notesSlides/notesSlide32.xml" Type="http://schemas.openxmlformats.org/officeDocument/2006/relationships/notesSlide"/><Relationship Id="rId107" Target="notesSlides/notesSlide33.xml" Type="http://schemas.openxmlformats.org/officeDocument/2006/relationships/notesSlide"/><Relationship Id="rId108" Target="notesSlides/notesSlide34.xml" Type="http://schemas.openxmlformats.org/officeDocument/2006/relationships/notesSlide"/><Relationship Id="rId109" Target="notesSlides/notesSlide35.xml" Type="http://schemas.openxmlformats.org/officeDocument/2006/relationships/notesSlide"/><Relationship Id="rId11" Target="slides/slide6.xml" Type="http://schemas.openxmlformats.org/officeDocument/2006/relationships/slide"/><Relationship Id="rId110" Target="notesSlides/notesSlide36.xml" Type="http://schemas.openxmlformats.org/officeDocument/2006/relationships/notesSlide"/><Relationship Id="rId111" Target="notesSlides/notesSlide37.xml" Type="http://schemas.openxmlformats.org/officeDocument/2006/relationships/notesSlide"/><Relationship Id="rId112" Target="notesSlides/notesSlide38.xml" Type="http://schemas.openxmlformats.org/officeDocument/2006/relationships/notesSlide"/><Relationship Id="rId113" Target="notesSlides/notesSlide39.xml" Type="http://schemas.openxmlformats.org/officeDocument/2006/relationships/notesSlide"/><Relationship Id="rId114" Target="notesSlides/notesSlide40.xml" Type="http://schemas.openxmlformats.org/officeDocument/2006/relationships/notesSlide"/><Relationship Id="rId115" Target="notesSlides/notesSlide41.xml" Type="http://schemas.openxmlformats.org/officeDocument/2006/relationships/note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68" Target="fonts/font68.fntdata" Type="http://schemas.openxmlformats.org/officeDocument/2006/relationships/font"/><Relationship Id="rId69" Target="notesMasters/notesMaster1.xml" Type="http://schemas.openxmlformats.org/officeDocument/2006/relationships/notesMaster"/><Relationship Id="rId7" Target="slides/slide2.xml" Type="http://schemas.openxmlformats.org/officeDocument/2006/relationships/slide"/><Relationship Id="rId70" Target="theme/theme2.xml" Type="http://schemas.openxmlformats.org/officeDocument/2006/relationships/theme"/><Relationship Id="rId71" Target="notesSlides/notesSlide1.xml" Type="http://schemas.openxmlformats.org/officeDocument/2006/relationships/notesSlide"/><Relationship Id="rId72" Target="fonts/font72.fntdata" Type="http://schemas.openxmlformats.org/officeDocument/2006/relationships/font"/><Relationship Id="rId73" Target="fonts/font73.fntdata" Type="http://schemas.openxmlformats.org/officeDocument/2006/relationships/font"/><Relationship Id="rId74" Target="notesSlides/notesSlide2.xml" Type="http://schemas.openxmlformats.org/officeDocument/2006/relationships/notesSlide"/><Relationship Id="rId75" Target="notesSlides/notesSlide3.xml" Type="http://schemas.openxmlformats.org/officeDocument/2006/relationships/notesSlide"/><Relationship Id="rId76" Target="fonts/font76.fntdata" Type="http://schemas.openxmlformats.org/officeDocument/2006/relationships/font"/><Relationship Id="rId77" Target="notesSlides/notesSlide4.xml" Type="http://schemas.openxmlformats.org/officeDocument/2006/relationships/notesSlide"/><Relationship Id="rId78" Target="notesSlides/notesSlide5.xml" Type="http://schemas.openxmlformats.org/officeDocument/2006/relationships/notesSlide"/><Relationship Id="rId79" Target="fonts/font79.fntdata" Type="http://schemas.openxmlformats.org/officeDocument/2006/relationships/font"/><Relationship Id="rId8" Target="slides/slide3.xml" Type="http://schemas.openxmlformats.org/officeDocument/2006/relationships/slide"/><Relationship Id="rId80" Target="notesSlides/notesSlide6.xml" Type="http://schemas.openxmlformats.org/officeDocument/2006/relationships/notesSlide"/><Relationship Id="rId81" Target="notesSlides/notesSlide7.xml" Type="http://schemas.openxmlformats.org/officeDocument/2006/relationships/notesSlide"/><Relationship Id="rId82" Target="notesSlides/notesSlide8.xml" Type="http://schemas.openxmlformats.org/officeDocument/2006/relationships/notesSlide"/><Relationship Id="rId83" Target="notesSlides/notesSlide9.xml" Type="http://schemas.openxmlformats.org/officeDocument/2006/relationships/notesSlide"/><Relationship Id="rId84" Target="notesSlides/notesSlide10.xml" Type="http://schemas.openxmlformats.org/officeDocument/2006/relationships/notesSlide"/><Relationship Id="rId85" Target="notesSlides/notesSlide11.xml" Type="http://schemas.openxmlformats.org/officeDocument/2006/relationships/notesSlide"/><Relationship Id="rId86" Target="notesSlides/notesSlide12.xml" Type="http://schemas.openxmlformats.org/officeDocument/2006/relationships/notesSlide"/><Relationship Id="rId87" Target="notesSlides/notesSlide13.xml" Type="http://schemas.openxmlformats.org/officeDocument/2006/relationships/notesSlide"/><Relationship Id="rId88" Target="notesSlides/notesSlide14.xml" Type="http://schemas.openxmlformats.org/officeDocument/2006/relationships/notesSlide"/><Relationship Id="rId89" Target="notesSlides/notesSlide15.xml" Type="http://schemas.openxmlformats.org/officeDocument/2006/relationships/notesSlide"/><Relationship Id="rId9" Target="slides/slide4.xml" Type="http://schemas.openxmlformats.org/officeDocument/2006/relationships/slide"/><Relationship Id="rId90" Target="notesSlides/notesSlide16.xml" Type="http://schemas.openxmlformats.org/officeDocument/2006/relationships/notesSlide"/><Relationship Id="rId91" Target="notesSlides/notesSlide17.xml" Type="http://schemas.openxmlformats.org/officeDocument/2006/relationships/notesSlide"/><Relationship Id="rId92" Target="notesSlides/notesSlide18.xml" Type="http://schemas.openxmlformats.org/officeDocument/2006/relationships/notesSlide"/><Relationship Id="rId93" Target="notesSlides/notesSlide19.xml" Type="http://schemas.openxmlformats.org/officeDocument/2006/relationships/notesSlide"/><Relationship Id="rId94" Target="notesSlides/notesSlide20.xml" Type="http://schemas.openxmlformats.org/officeDocument/2006/relationships/notesSlide"/><Relationship Id="rId95" Target="notesSlides/notesSlide21.xml" Type="http://schemas.openxmlformats.org/officeDocument/2006/relationships/notesSlide"/><Relationship Id="rId96" Target="notesSlides/notesSlide22.xml" Type="http://schemas.openxmlformats.org/officeDocument/2006/relationships/notesSlide"/><Relationship Id="rId97" Target="notesSlides/notesSlide23.xml" Type="http://schemas.openxmlformats.org/officeDocument/2006/relationships/notesSlide"/><Relationship Id="rId98" Target="notesSlides/notesSlide24.xml" Type="http://schemas.openxmlformats.org/officeDocument/2006/relationships/notesSlide"/><Relationship Id="rId99" Target="notesSlides/notesSlide25.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7.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Ahmad is just one example of a student who could benefit from early intervention, but how can we detect academic risk before it’s too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answer this, we explored the question: </a:t>
            </a:r>
          </a:p>
          <a:p>
            <a:r>
              <a:rPr lang="en-US"/>
              <a:t/>
            </a:r>
          </a:p>
          <a:p>
            <a:r>
              <a:rPr lang="en-US"/>
              <a:t>...</a:t>
            </a:r>
          </a:p>
          <a:p>
            <a:r>
              <a:rPr lang="en-US"/>
              <a:t/>
            </a:r>
          </a:p>
          <a:p>
            <a:r>
              <a:rPr lang="en-US"/>
              <a:t>"Our goal is to develop a solution that uses machine learning to predict student performance, allowing schools to provide support before students like Ahmad fall behind."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0.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7.png" Type="http://schemas.openxmlformats.org/officeDocument/2006/relationships/image"/><Relationship Id="rId7"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7.png" Type="http://schemas.openxmlformats.org/officeDocument/2006/relationships/image"/><Relationship Id="rId7" Target="../media/image2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 Id="rId8" Target="../media/image33.png" Type="http://schemas.openxmlformats.org/officeDocument/2006/relationships/image"/><Relationship Id="rId9" Target="../media/image3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0.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1.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 Id="rId8" Target="../media/image39.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1.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43.png" Type="http://schemas.openxmlformats.org/officeDocument/2006/relationships/image"/><Relationship Id="rId4" Target="../media/image44.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45.png" Type="http://schemas.openxmlformats.org/officeDocument/2006/relationships/image"/><Relationship Id="rId4" Target="../media/image46.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47.png" Type="http://schemas.openxmlformats.org/officeDocument/2006/relationships/image"/><Relationship Id="rId5" Target="../media/image11.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1.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48.png" Type="http://schemas.openxmlformats.org/officeDocument/2006/relationships/image"/><Relationship Id="rId4" Target="../media/image49.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57.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 Id="rId3" Target="../media/image61.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 Id="rId3" Target="../media/image63.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65.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 Id="rId3" Target="https://learn.microsoft.com/en-us/power-bi/" TargetMode="External" Type="http://schemas.openxmlformats.org/officeDocument/2006/relationships/hyperlink"/><Relationship Id="rId4" Target="https://www.bbc.com/news/technology-58967929" TargetMode="External" Type="http://schemas.openxmlformats.org/officeDocument/2006/relationships/hyperlink"/></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8425A"/>
        </a:solidFill>
      </p:bgPr>
    </p:bg>
    <p:spTree>
      <p:nvGrpSpPr>
        <p:cNvPr id="1" name=""/>
        <p:cNvGrpSpPr/>
        <p:nvPr/>
      </p:nvGrpSpPr>
      <p:grpSpPr>
        <a:xfrm>
          <a:off x="0" y="0"/>
          <a:ext cx="0" cy="0"/>
          <a:chOff x="0" y="0"/>
          <a:chExt cx="0" cy="0"/>
        </a:xfrm>
      </p:grpSpPr>
      <p:sp>
        <p:nvSpPr>
          <p:cNvPr name="Freeform 2" id="2"/>
          <p:cNvSpPr/>
          <p:nvPr/>
        </p:nvSpPr>
        <p:spPr>
          <a:xfrm flipH="false" flipV="false" rot="0">
            <a:off x="0" y="-422910"/>
            <a:ext cx="18288000" cy="10709910"/>
          </a:xfrm>
          <a:custGeom>
            <a:avLst/>
            <a:gdLst/>
            <a:ahLst/>
            <a:cxnLst/>
            <a:rect r="r" b="b" t="t" l="l"/>
            <a:pathLst>
              <a:path h="10709910" w="18288000">
                <a:moveTo>
                  <a:pt x="0" y="0"/>
                </a:moveTo>
                <a:lnTo>
                  <a:pt x="18288000" y="0"/>
                </a:lnTo>
                <a:lnTo>
                  <a:pt x="18288000" y="10709910"/>
                </a:lnTo>
                <a:lnTo>
                  <a:pt x="0" y="10709910"/>
                </a:lnTo>
                <a:lnTo>
                  <a:pt x="0" y="0"/>
                </a:lnTo>
                <a:close/>
              </a:path>
            </a:pathLst>
          </a:custGeom>
          <a:blipFill>
            <a:blip r:embed="rId2"/>
            <a:stretch>
              <a:fillRect l="0" t="-1974" r="0" b="-1974"/>
            </a:stretch>
          </a:blipFill>
        </p:spPr>
      </p:sp>
      <p:sp>
        <p:nvSpPr>
          <p:cNvPr name="TextBox 3" id="3"/>
          <p:cNvSpPr txBox="true"/>
          <p:nvPr/>
        </p:nvSpPr>
        <p:spPr>
          <a:xfrm rot="0">
            <a:off x="1028700" y="1433045"/>
            <a:ext cx="16230600" cy="4838700"/>
          </a:xfrm>
          <a:prstGeom prst="rect">
            <a:avLst/>
          </a:prstGeom>
        </p:spPr>
        <p:txBody>
          <a:bodyPr anchor="t" rtlCol="false" tIns="0" lIns="0" bIns="0" rIns="0">
            <a:spAutoFit/>
          </a:bodyPr>
          <a:lstStyle/>
          <a:p>
            <a:pPr algn="ctr">
              <a:lnSpc>
                <a:spcPts val="12480"/>
              </a:lnSpc>
            </a:pPr>
            <a:r>
              <a:rPr lang="en-US" sz="10400" b="true">
                <a:solidFill>
                  <a:srgbClr val="FFFFFF"/>
                </a:solidFill>
                <a:latin typeface="Poppins Medium"/>
                <a:ea typeface="Poppins Medium"/>
                <a:cs typeface="Poppins Medium"/>
                <a:sym typeface="Poppins Medium"/>
              </a:rPr>
              <a:t>From Data to Decisions: Business Analysis for ASUS</a:t>
            </a:r>
          </a:p>
        </p:txBody>
      </p:sp>
      <p:sp>
        <p:nvSpPr>
          <p:cNvPr name="TextBox 4" id="4"/>
          <p:cNvSpPr txBox="true"/>
          <p:nvPr/>
        </p:nvSpPr>
        <p:spPr>
          <a:xfrm rot="0">
            <a:off x="4597276" y="8779510"/>
            <a:ext cx="9093449" cy="478790"/>
          </a:xfrm>
          <a:prstGeom prst="rect">
            <a:avLst/>
          </a:prstGeom>
        </p:spPr>
        <p:txBody>
          <a:bodyPr anchor="t" rtlCol="false" tIns="0" lIns="0" bIns="0" rIns="0">
            <a:spAutoFit/>
          </a:bodyPr>
          <a:lstStyle/>
          <a:p>
            <a:pPr algn="l">
              <a:lnSpc>
                <a:spcPts val="3639"/>
              </a:lnSpc>
            </a:pPr>
            <a:r>
              <a:rPr lang="en-US" sz="2799">
                <a:solidFill>
                  <a:srgbClr val="FCFBFA"/>
                </a:solidFill>
                <a:latin typeface="Poppins Extra-Light"/>
                <a:ea typeface="Poppins Extra-Light"/>
                <a:cs typeface="Poppins Extra-Light"/>
                <a:sym typeface="Poppins Extra-Light"/>
              </a:rPr>
              <a:t>Rama Al-Majali | 22110119| HTU | Data Science &amp; AI</a:t>
            </a:r>
          </a:p>
        </p:txBody>
      </p:sp>
      <p:sp>
        <p:nvSpPr>
          <p:cNvPr name="TextBox 5" id="5"/>
          <p:cNvSpPr txBox="true"/>
          <p:nvPr/>
        </p:nvSpPr>
        <p:spPr>
          <a:xfrm rot="0">
            <a:off x="7704452" y="7734007"/>
            <a:ext cx="2879097" cy="538598"/>
          </a:xfrm>
          <a:prstGeom prst="rect">
            <a:avLst/>
          </a:prstGeom>
        </p:spPr>
        <p:txBody>
          <a:bodyPr anchor="t" rtlCol="false" tIns="0" lIns="0" bIns="0" rIns="0">
            <a:spAutoFit/>
          </a:bodyPr>
          <a:lstStyle/>
          <a:p>
            <a:pPr algn="l">
              <a:lnSpc>
                <a:spcPts val="4156"/>
              </a:lnSpc>
            </a:pPr>
            <a:r>
              <a:rPr lang="en-US" sz="3197">
                <a:solidFill>
                  <a:srgbClr val="FCFBFA"/>
                </a:solidFill>
                <a:latin typeface="Poppins Thin"/>
                <a:ea typeface="Poppins Thin"/>
                <a:cs typeface="Poppins Thin"/>
                <a:sym typeface="Poppins Thin"/>
              </a:rPr>
              <a:t>June ,16, 2025</a:t>
            </a:r>
          </a:p>
        </p:txBody>
      </p:sp>
      <p:sp>
        <p:nvSpPr>
          <p:cNvPr name="TextBox 6" id="6"/>
          <p:cNvSpPr txBox="true"/>
          <p:nvPr/>
        </p:nvSpPr>
        <p:spPr>
          <a:xfrm rot="0">
            <a:off x="4711536" y="6382481"/>
            <a:ext cx="8864929" cy="560587"/>
          </a:xfrm>
          <a:prstGeom prst="rect">
            <a:avLst/>
          </a:prstGeom>
        </p:spPr>
        <p:txBody>
          <a:bodyPr anchor="t" rtlCol="false" tIns="0" lIns="0" bIns="0" rIns="0">
            <a:spAutoFit/>
          </a:bodyPr>
          <a:lstStyle/>
          <a:p>
            <a:pPr algn="ctr">
              <a:lnSpc>
                <a:spcPts val="4365"/>
              </a:lnSpc>
              <a:spcBef>
                <a:spcPct val="0"/>
              </a:spcBef>
            </a:pPr>
            <a:r>
              <a:rPr lang="en-US" sz="3118">
                <a:solidFill>
                  <a:srgbClr val="FCFBFA"/>
                </a:solidFill>
                <a:latin typeface="Poppins"/>
                <a:ea typeface="Poppins"/>
                <a:cs typeface="Poppins"/>
                <a:sym typeface="Poppins"/>
              </a:rPr>
              <a:t>A Study</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sp>
        <p:nvSpPr>
          <p:cNvPr name="TextBox 2" id="2"/>
          <p:cNvSpPr txBox="true"/>
          <p:nvPr/>
        </p:nvSpPr>
        <p:spPr>
          <a:xfrm rot="0">
            <a:off x="3188383" y="3848481"/>
            <a:ext cx="11911233" cy="2466213"/>
          </a:xfrm>
          <a:prstGeom prst="rect">
            <a:avLst/>
          </a:prstGeom>
        </p:spPr>
        <p:txBody>
          <a:bodyPr anchor="t" rtlCol="false" tIns="0" lIns="0" bIns="0" rIns="0">
            <a:spAutoFit/>
          </a:bodyPr>
          <a:lstStyle/>
          <a:p>
            <a:pPr algn="just">
              <a:lnSpc>
                <a:spcPts val="4895"/>
              </a:lnSpc>
            </a:pPr>
            <a:r>
              <a:rPr lang="en-US" sz="3199">
                <a:solidFill>
                  <a:srgbClr val="FFFFFF"/>
                </a:solidFill>
                <a:latin typeface="Poppins"/>
                <a:ea typeface="Poppins"/>
                <a:cs typeface="Poppins"/>
                <a:sym typeface="Poppins"/>
              </a:rPr>
              <a:t>This study covers sales forecasting for ASUS ROG, TUF, and Zephyrus laptops using </a:t>
            </a:r>
            <a:r>
              <a:rPr lang="en-US" b="true" sz="3199" i="true">
                <a:solidFill>
                  <a:srgbClr val="FFFFFF"/>
                </a:solidFill>
                <a:latin typeface="Poppins Bold Italics"/>
                <a:ea typeface="Poppins Bold Italics"/>
                <a:cs typeface="Poppins Bold Italics"/>
                <a:sym typeface="Poppins Bold Italics"/>
              </a:rPr>
              <a:t>Power BI </a:t>
            </a:r>
            <a:r>
              <a:rPr lang="en-US" sz="3199">
                <a:solidFill>
                  <a:srgbClr val="FFFFFF"/>
                </a:solidFill>
                <a:latin typeface="Poppins"/>
                <a:ea typeface="Poppins"/>
                <a:cs typeface="Poppins"/>
                <a:sym typeface="Poppins"/>
              </a:rPr>
              <a:t>and </a:t>
            </a:r>
            <a:r>
              <a:rPr lang="en-US" b="true" sz="3199" i="true">
                <a:solidFill>
                  <a:srgbClr val="FFFFFF"/>
                </a:solidFill>
                <a:latin typeface="Poppins Bold Italics"/>
                <a:ea typeface="Poppins Bold Italics"/>
                <a:cs typeface="Poppins Bold Italics"/>
                <a:sym typeface="Poppins Bold Italics"/>
              </a:rPr>
              <a:t>Orange</a:t>
            </a:r>
            <a:r>
              <a:rPr lang="en-US" sz="3199">
                <a:solidFill>
                  <a:srgbClr val="FFFFFF"/>
                </a:solidFill>
                <a:latin typeface="Poppins"/>
                <a:ea typeface="Poppins"/>
                <a:cs typeface="Poppins"/>
                <a:sym typeface="Poppins"/>
              </a:rPr>
              <a:t>. We'll discuss the data, analysis tools, insights, and their impact on marketing and sales decisions.</a:t>
            </a:r>
          </a:p>
        </p:txBody>
      </p:sp>
      <p:sp>
        <p:nvSpPr>
          <p:cNvPr name="TextBox 3" id="3"/>
          <p:cNvSpPr txBox="true"/>
          <p:nvPr/>
        </p:nvSpPr>
        <p:spPr>
          <a:xfrm rot="0">
            <a:off x="1028700" y="981075"/>
            <a:ext cx="9042806" cy="876300"/>
          </a:xfrm>
          <a:prstGeom prst="rect">
            <a:avLst/>
          </a:prstGeom>
        </p:spPr>
        <p:txBody>
          <a:bodyPr anchor="t" rtlCol="false" tIns="0" lIns="0" bIns="0" rIns="0">
            <a:spAutoFit/>
          </a:bodyPr>
          <a:lstStyle/>
          <a:p>
            <a:pPr algn="l">
              <a:lnSpc>
                <a:spcPts val="6598"/>
              </a:lnSpc>
            </a:pPr>
            <a:r>
              <a:rPr lang="en-US" sz="5498" b="true">
                <a:solidFill>
                  <a:srgbClr val="FFFFFF"/>
                </a:solidFill>
                <a:latin typeface="Poppins Bold"/>
                <a:ea typeface="Poppins Bold"/>
                <a:cs typeface="Poppins Bold"/>
                <a:sym typeface="Poppins Bold"/>
              </a:rPr>
              <a:t>Introduction</a:t>
            </a:r>
          </a:p>
        </p:txBody>
      </p:sp>
    </p:spTree>
  </p:cSld>
  <p:clrMapOvr>
    <a:masterClrMapping/>
  </p:clrMapOvr>
  <p:transition spd="fast">
    <p:cover dir="u"/>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5865931" y="4842854"/>
            <a:ext cx="1051429" cy="938401"/>
          </a:xfrm>
          <a:custGeom>
            <a:avLst/>
            <a:gdLst/>
            <a:ahLst/>
            <a:cxnLst/>
            <a:rect r="r" b="b" t="t" l="l"/>
            <a:pathLst>
              <a:path h="938401" w="1051429">
                <a:moveTo>
                  <a:pt x="0" y="0"/>
                </a:moveTo>
                <a:lnTo>
                  <a:pt x="1051430" y="0"/>
                </a:lnTo>
                <a:lnTo>
                  <a:pt x="1051430" y="938400"/>
                </a:lnTo>
                <a:lnTo>
                  <a:pt x="0" y="9384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6917361" y="4614862"/>
            <a:ext cx="5999821" cy="962025"/>
          </a:xfrm>
          <a:prstGeom prst="rect">
            <a:avLst/>
          </a:prstGeom>
        </p:spPr>
        <p:txBody>
          <a:bodyPr anchor="t" rtlCol="false" tIns="0" lIns="0" bIns="0" rIns="0">
            <a:spAutoFit/>
          </a:bodyPr>
          <a:lstStyle/>
          <a:p>
            <a:pPr algn="l">
              <a:lnSpc>
                <a:spcPts val="7198"/>
              </a:lnSpc>
            </a:pPr>
            <a:r>
              <a:rPr lang="en-US" sz="5998" b="true">
                <a:solidFill>
                  <a:srgbClr val="FFFFFF"/>
                </a:solidFill>
                <a:latin typeface="Poppins Bold"/>
                <a:ea typeface="Poppins Bold"/>
                <a:cs typeface="Poppins Bold"/>
                <a:sym typeface="Poppins Bold"/>
              </a:rPr>
              <a:t>Data Overview</a:t>
            </a:r>
          </a:p>
        </p:txBody>
      </p:sp>
    </p:spTree>
  </p:cSld>
  <p:clrMapOvr>
    <a:masterClrMapping/>
  </p:clrMapOvr>
  <p:transition spd="fast">
    <p:cover dir="d"/>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851663" y="1917372"/>
            <a:ext cx="5916234" cy="4971730"/>
            <a:chOff x="0" y="0"/>
            <a:chExt cx="1947767" cy="1636813"/>
          </a:xfrm>
        </p:grpSpPr>
        <p:sp>
          <p:nvSpPr>
            <p:cNvPr name="Freeform 3" id="3"/>
            <p:cNvSpPr/>
            <p:nvPr/>
          </p:nvSpPr>
          <p:spPr>
            <a:xfrm flipH="false" flipV="false" rot="0">
              <a:off x="0" y="0"/>
              <a:ext cx="1947767" cy="1636813"/>
            </a:xfrm>
            <a:custGeom>
              <a:avLst/>
              <a:gdLst/>
              <a:ahLst/>
              <a:cxnLst/>
              <a:rect r="r" b="b" t="t" l="l"/>
              <a:pathLst>
                <a:path h="1636813" w="1947767">
                  <a:moveTo>
                    <a:pt x="32715" y="0"/>
                  </a:moveTo>
                  <a:lnTo>
                    <a:pt x="1915052" y="0"/>
                  </a:lnTo>
                  <a:cubicBezTo>
                    <a:pt x="1923729" y="0"/>
                    <a:pt x="1932050" y="3447"/>
                    <a:pt x="1938185" y="9582"/>
                  </a:cubicBezTo>
                  <a:cubicBezTo>
                    <a:pt x="1944320" y="15717"/>
                    <a:pt x="1947767" y="24038"/>
                    <a:pt x="1947767" y="32715"/>
                  </a:cubicBezTo>
                  <a:lnTo>
                    <a:pt x="1947767" y="1604099"/>
                  </a:lnTo>
                  <a:cubicBezTo>
                    <a:pt x="1947767" y="1612775"/>
                    <a:pt x="1944320" y="1621096"/>
                    <a:pt x="1938185" y="1627231"/>
                  </a:cubicBezTo>
                  <a:cubicBezTo>
                    <a:pt x="1932050" y="1633367"/>
                    <a:pt x="1923729" y="1636813"/>
                    <a:pt x="1915052" y="1636813"/>
                  </a:cubicBezTo>
                  <a:lnTo>
                    <a:pt x="32715" y="1636813"/>
                  </a:lnTo>
                  <a:cubicBezTo>
                    <a:pt x="24038" y="1636813"/>
                    <a:pt x="15717" y="1633367"/>
                    <a:pt x="9582" y="1627231"/>
                  </a:cubicBezTo>
                  <a:cubicBezTo>
                    <a:pt x="3447" y="1621096"/>
                    <a:pt x="0" y="1612775"/>
                    <a:pt x="0" y="1604099"/>
                  </a:cubicBezTo>
                  <a:lnTo>
                    <a:pt x="0" y="32715"/>
                  </a:lnTo>
                  <a:cubicBezTo>
                    <a:pt x="0" y="24038"/>
                    <a:pt x="3447" y="15717"/>
                    <a:pt x="9582" y="9582"/>
                  </a:cubicBezTo>
                  <a:cubicBezTo>
                    <a:pt x="15717" y="3447"/>
                    <a:pt x="24038" y="0"/>
                    <a:pt x="32715" y="0"/>
                  </a:cubicBezTo>
                  <a:close/>
                </a:path>
              </a:pathLst>
            </a:custGeom>
            <a:solidFill>
              <a:srgbClr val="2A3066">
                <a:alpha val="55686"/>
              </a:srgbClr>
            </a:solidFill>
          </p:spPr>
        </p:sp>
        <p:sp>
          <p:nvSpPr>
            <p:cNvPr name="TextBox 4" id="4"/>
            <p:cNvSpPr txBox="true"/>
            <p:nvPr/>
          </p:nvSpPr>
          <p:spPr>
            <a:xfrm>
              <a:off x="0" y="-66675"/>
              <a:ext cx="1947767" cy="1703488"/>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5" id="5"/>
          <p:cNvGrpSpPr/>
          <p:nvPr/>
        </p:nvGrpSpPr>
        <p:grpSpPr>
          <a:xfrm rot="0">
            <a:off x="9596303" y="1917372"/>
            <a:ext cx="5916234" cy="4971730"/>
            <a:chOff x="0" y="0"/>
            <a:chExt cx="1947767" cy="1636813"/>
          </a:xfrm>
        </p:grpSpPr>
        <p:sp>
          <p:nvSpPr>
            <p:cNvPr name="Freeform 6" id="6"/>
            <p:cNvSpPr/>
            <p:nvPr/>
          </p:nvSpPr>
          <p:spPr>
            <a:xfrm flipH="false" flipV="false" rot="0">
              <a:off x="0" y="0"/>
              <a:ext cx="1947767" cy="1636813"/>
            </a:xfrm>
            <a:custGeom>
              <a:avLst/>
              <a:gdLst/>
              <a:ahLst/>
              <a:cxnLst/>
              <a:rect r="r" b="b" t="t" l="l"/>
              <a:pathLst>
                <a:path h="1636813" w="1947767">
                  <a:moveTo>
                    <a:pt x="32715" y="0"/>
                  </a:moveTo>
                  <a:lnTo>
                    <a:pt x="1915052" y="0"/>
                  </a:lnTo>
                  <a:cubicBezTo>
                    <a:pt x="1923729" y="0"/>
                    <a:pt x="1932050" y="3447"/>
                    <a:pt x="1938185" y="9582"/>
                  </a:cubicBezTo>
                  <a:cubicBezTo>
                    <a:pt x="1944320" y="15717"/>
                    <a:pt x="1947767" y="24038"/>
                    <a:pt x="1947767" y="32715"/>
                  </a:cubicBezTo>
                  <a:lnTo>
                    <a:pt x="1947767" y="1604099"/>
                  </a:lnTo>
                  <a:cubicBezTo>
                    <a:pt x="1947767" y="1612775"/>
                    <a:pt x="1944320" y="1621096"/>
                    <a:pt x="1938185" y="1627231"/>
                  </a:cubicBezTo>
                  <a:cubicBezTo>
                    <a:pt x="1932050" y="1633367"/>
                    <a:pt x="1923729" y="1636813"/>
                    <a:pt x="1915052" y="1636813"/>
                  </a:cubicBezTo>
                  <a:lnTo>
                    <a:pt x="32715" y="1636813"/>
                  </a:lnTo>
                  <a:cubicBezTo>
                    <a:pt x="24038" y="1636813"/>
                    <a:pt x="15717" y="1633367"/>
                    <a:pt x="9582" y="1627231"/>
                  </a:cubicBezTo>
                  <a:cubicBezTo>
                    <a:pt x="3447" y="1621096"/>
                    <a:pt x="0" y="1612775"/>
                    <a:pt x="0" y="1604099"/>
                  </a:cubicBezTo>
                  <a:lnTo>
                    <a:pt x="0" y="32715"/>
                  </a:lnTo>
                  <a:cubicBezTo>
                    <a:pt x="0" y="24038"/>
                    <a:pt x="3447" y="15717"/>
                    <a:pt x="9582" y="9582"/>
                  </a:cubicBezTo>
                  <a:cubicBezTo>
                    <a:pt x="15717" y="3447"/>
                    <a:pt x="24038" y="0"/>
                    <a:pt x="32715" y="0"/>
                  </a:cubicBezTo>
                  <a:close/>
                </a:path>
              </a:pathLst>
            </a:custGeom>
            <a:solidFill>
              <a:srgbClr val="2A3066">
                <a:alpha val="55686"/>
              </a:srgbClr>
            </a:solidFill>
          </p:spPr>
        </p:sp>
        <p:sp>
          <p:nvSpPr>
            <p:cNvPr name="TextBox 7" id="7"/>
            <p:cNvSpPr txBox="true"/>
            <p:nvPr/>
          </p:nvSpPr>
          <p:spPr>
            <a:xfrm>
              <a:off x="0" y="-66675"/>
              <a:ext cx="1947767" cy="1703488"/>
            </a:xfrm>
            <a:prstGeom prst="rect">
              <a:avLst/>
            </a:prstGeom>
          </p:spPr>
          <p:txBody>
            <a:bodyPr anchor="ctr" rtlCol="false" tIns="50800" lIns="50800" bIns="50800" rIns="50800"/>
            <a:lstStyle/>
            <a:p>
              <a:pPr algn="ctr">
                <a:lnSpc>
                  <a:spcPts val="2921"/>
                </a:lnSpc>
              </a:pPr>
            </a:p>
          </p:txBody>
        </p:sp>
      </p:grpSp>
      <p:sp>
        <p:nvSpPr>
          <p:cNvPr name="Freeform 8" id="8"/>
          <p:cNvSpPr/>
          <p:nvPr/>
        </p:nvSpPr>
        <p:spPr>
          <a:xfrm flipH="false" flipV="false" rot="0">
            <a:off x="7779407" y="1082733"/>
            <a:ext cx="666316" cy="682526"/>
          </a:xfrm>
          <a:custGeom>
            <a:avLst/>
            <a:gdLst/>
            <a:ahLst/>
            <a:cxnLst/>
            <a:rect r="r" b="b" t="t" l="l"/>
            <a:pathLst>
              <a:path h="682526" w="666316">
                <a:moveTo>
                  <a:pt x="0" y="0"/>
                </a:moveTo>
                <a:lnTo>
                  <a:pt x="666316" y="0"/>
                </a:lnTo>
                <a:lnTo>
                  <a:pt x="666316" y="682526"/>
                </a:lnTo>
                <a:lnTo>
                  <a:pt x="0" y="6825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4907019" y="1082733"/>
            <a:ext cx="601298" cy="687198"/>
          </a:xfrm>
          <a:custGeom>
            <a:avLst/>
            <a:gdLst/>
            <a:ahLst/>
            <a:cxnLst/>
            <a:rect r="r" b="b" t="t" l="l"/>
            <a:pathLst>
              <a:path h="687198" w="601298">
                <a:moveTo>
                  <a:pt x="0" y="0"/>
                </a:moveTo>
                <a:lnTo>
                  <a:pt x="601298" y="0"/>
                </a:lnTo>
                <a:lnTo>
                  <a:pt x="601298" y="687198"/>
                </a:lnTo>
                <a:lnTo>
                  <a:pt x="0" y="687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2964487" y="2382284"/>
            <a:ext cx="172689" cy="176775"/>
            <a:chOff x="0" y="0"/>
            <a:chExt cx="794013" cy="812800"/>
          </a:xfrm>
        </p:grpSpPr>
        <p:sp>
          <p:nvSpPr>
            <p:cNvPr name="Freeform 11" id="11"/>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FCFBFA"/>
            </a:solidFill>
          </p:spPr>
        </p:sp>
        <p:sp>
          <p:nvSpPr>
            <p:cNvPr name="TextBox 12" id="12"/>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grpSp>
        <p:nvGrpSpPr>
          <p:cNvPr name="Group 13" id="13"/>
          <p:cNvGrpSpPr/>
          <p:nvPr/>
        </p:nvGrpSpPr>
        <p:grpSpPr>
          <a:xfrm rot="0">
            <a:off x="9890413" y="2382284"/>
            <a:ext cx="172689" cy="176775"/>
            <a:chOff x="0" y="0"/>
            <a:chExt cx="794013" cy="812800"/>
          </a:xfrm>
        </p:grpSpPr>
        <p:sp>
          <p:nvSpPr>
            <p:cNvPr name="Freeform 14" id="14"/>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FCFBFA"/>
            </a:solidFill>
          </p:spPr>
        </p:sp>
        <p:sp>
          <p:nvSpPr>
            <p:cNvPr name="TextBox 15" id="15"/>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grpSp>
        <p:nvGrpSpPr>
          <p:cNvPr name="Group 16" id="16"/>
          <p:cNvGrpSpPr/>
          <p:nvPr/>
        </p:nvGrpSpPr>
        <p:grpSpPr>
          <a:xfrm rot="0">
            <a:off x="9890413" y="4488926"/>
            <a:ext cx="172689" cy="176775"/>
            <a:chOff x="0" y="0"/>
            <a:chExt cx="794013" cy="812800"/>
          </a:xfrm>
        </p:grpSpPr>
        <p:sp>
          <p:nvSpPr>
            <p:cNvPr name="Freeform 17" id="17"/>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FCFBFA"/>
            </a:solidFill>
          </p:spPr>
        </p:sp>
        <p:sp>
          <p:nvSpPr>
            <p:cNvPr name="TextBox 18" id="18"/>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grpSp>
        <p:nvGrpSpPr>
          <p:cNvPr name="Group 19" id="19"/>
          <p:cNvGrpSpPr/>
          <p:nvPr/>
        </p:nvGrpSpPr>
        <p:grpSpPr>
          <a:xfrm rot="0">
            <a:off x="2851663" y="7127227"/>
            <a:ext cx="12660874" cy="1932455"/>
            <a:chOff x="0" y="0"/>
            <a:chExt cx="4168265" cy="636211"/>
          </a:xfrm>
        </p:grpSpPr>
        <p:sp>
          <p:nvSpPr>
            <p:cNvPr name="Freeform 20" id="20"/>
            <p:cNvSpPr/>
            <p:nvPr/>
          </p:nvSpPr>
          <p:spPr>
            <a:xfrm flipH="false" flipV="false" rot="0">
              <a:off x="0" y="0"/>
              <a:ext cx="4168265" cy="636211"/>
            </a:xfrm>
            <a:custGeom>
              <a:avLst/>
              <a:gdLst/>
              <a:ahLst/>
              <a:cxnLst/>
              <a:rect r="r" b="b" t="t" l="l"/>
              <a:pathLst>
                <a:path h="636211" w="4168265">
                  <a:moveTo>
                    <a:pt x="15287" y="0"/>
                  </a:moveTo>
                  <a:lnTo>
                    <a:pt x="4152978" y="0"/>
                  </a:lnTo>
                  <a:cubicBezTo>
                    <a:pt x="4161421" y="0"/>
                    <a:pt x="4168265" y="6844"/>
                    <a:pt x="4168265" y="15287"/>
                  </a:cubicBezTo>
                  <a:lnTo>
                    <a:pt x="4168265" y="620924"/>
                  </a:lnTo>
                  <a:cubicBezTo>
                    <a:pt x="4168265" y="629367"/>
                    <a:pt x="4161421" y="636211"/>
                    <a:pt x="4152978" y="636211"/>
                  </a:cubicBezTo>
                  <a:lnTo>
                    <a:pt x="15287" y="636211"/>
                  </a:lnTo>
                  <a:cubicBezTo>
                    <a:pt x="6844" y="636211"/>
                    <a:pt x="0" y="629367"/>
                    <a:pt x="0" y="620924"/>
                  </a:cubicBezTo>
                  <a:lnTo>
                    <a:pt x="0" y="15287"/>
                  </a:lnTo>
                  <a:cubicBezTo>
                    <a:pt x="0" y="6844"/>
                    <a:pt x="6844" y="0"/>
                    <a:pt x="15287" y="0"/>
                  </a:cubicBezTo>
                  <a:close/>
                </a:path>
              </a:pathLst>
            </a:custGeom>
            <a:solidFill>
              <a:srgbClr val="2A3066">
                <a:alpha val="55686"/>
              </a:srgbClr>
            </a:solidFill>
          </p:spPr>
        </p:sp>
        <p:sp>
          <p:nvSpPr>
            <p:cNvPr name="TextBox 21" id="21"/>
            <p:cNvSpPr txBox="true"/>
            <p:nvPr/>
          </p:nvSpPr>
          <p:spPr>
            <a:xfrm>
              <a:off x="0" y="-66675"/>
              <a:ext cx="4168265" cy="70288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22" id="22"/>
          <p:cNvSpPr txBox="true"/>
          <p:nvPr/>
        </p:nvSpPr>
        <p:spPr>
          <a:xfrm rot="0">
            <a:off x="2775463" y="1206556"/>
            <a:ext cx="5003944" cy="710816"/>
          </a:xfrm>
          <a:prstGeom prst="rect">
            <a:avLst/>
          </a:prstGeom>
        </p:spPr>
        <p:txBody>
          <a:bodyPr anchor="t" rtlCol="false" tIns="0" lIns="0" bIns="0" rIns="0">
            <a:spAutoFit/>
          </a:bodyPr>
          <a:lstStyle/>
          <a:p>
            <a:pPr algn="ctr">
              <a:lnSpc>
                <a:spcPts val="5148"/>
              </a:lnSpc>
              <a:spcBef>
                <a:spcPct val="0"/>
              </a:spcBef>
            </a:pPr>
            <a:r>
              <a:rPr lang="en-US" b="true" sz="4767">
                <a:solidFill>
                  <a:srgbClr val="FFFFFF"/>
                </a:solidFill>
                <a:latin typeface="Poppins Bold"/>
                <a:ea typeface="Poppins Bold"/>
                <a:cs typeface="Poppins Bold"/>
                <a:sym typeface="Poppins Bold"/>
              </a:rPr>
              <a:t>Data Collection</a:t>
            </a:r>
          </a:p>
        </p:txBody>
      </p:sp>
      <p:sp>
        <p:nvSpPr>
          <p:cNvPr name="TextBox 23" id="23"/>
          <p:cNvSpPr txBox="true"/>
          <p:nvPr/>
        </p:nvSpPr>
        <p:spPr>
          <a:xfrm rot="0">
            <a:off x="9596303" y="1206556"/>
            <a:ext cx="5403141" cy="710816"/>
          </a:xfrm>
          <a:prstGeom prst="rect">
            <a:avLst/>
          </a:prstGeom>
        </p:spPr>
        <p:txBody>
          <a:bodyPr anchor="t" rtlCol="false" tIns="0" lIns="0" bIns="0" rIns="0">
            <a:spAutoFit/>
          </a:bodyPr>
          <a:lstStyle/>
          <a:p>
            <a:pPr algn="ctr">
              <a:lnSpc>
                <a:spcPts val="5148"/>
              </a:lnSpc>
              <a:spcBef>
                <a:spcPct val="0"/>
              </a:spcBef>
            </a:pPr>
            <a:r>
              <a:rPr lang="en-US" b="true" sz="4767">
                <a:solidFill>
                  <a:srgbClr val="FFFFFF"/>
                </a:solidFill>
                <a:latin typeface="Poppins Bold"/>
                <a:ea typeface="Poppins Bold"/>
                <a:cs typeface="Poppins Bold"/>
                <a:sym typeface="Poppins Bold"/>
              </a:rPr>
              <a:t>Data Description</a:t>
            </a:r>
          </a:p>
        </p:txBody>
      </p:sp>
      <p:sp>
        <p:nvSpPr>
          <p:cNvPr name="TextBox 24" id="24"/>
          <p:cNvSpPr txBox="true"/>
          <p:nvPr/>
        </p:nvSpPr>
        <p:spPr>
          <a:xfrm rot="0">
            <a:off x="3258446" y="2296595"/>
            <a:ext cx="4520961" cy="2235701"/>
          </a:xfrm>
          <a:prstGeom prst="rect">
            <a:avLst/>
          </a:prstGeom>
        </p:spPr>
        <p:txBody>
          <a:bodyPr anchor="t" rtlCol="false" tIns="0" lIns="0" bIns="0" rIns="0">
            <a:spAutoFit/>
          </a:bodyPr>
          <a:lstStyle/>
          <a:p>
            <a:pPr algn="l">
              <a:lnSpc>
                <a:spcPts val="2918"/>
              </a:lnSpc>
              <a:spcBef>
                <a:spcPct val="0"/>
              </a:spcBef>
            </a:pPr>
            <a:r>
              <a:rPr lang="en-US" sz="2702">
                <a:solidFill>
                  <a:srgbClr val="FFFFFF"/>
                </a:solidFill>
                <a:latin typeface="Poppins"/>
                <a:ea typeface="Poppins"/>
                <a:cs typeface="Poppins"/>
                <a:sym typeface="Poppins"/>
              </a:rPr>
              <a:t>The s</a:t>
            </a:r>
            <a:r>
              <a:rPr lang="en-US" sz="2702">
                <a:solidFill>
                  <a:srgbClr val="FFFFFF"/>
                </a:solidFill>
                <a:latin typeface="Poppins"/>
                <a:ea typeface="Poppins"/>
                <a:cs typeface="Poppins"/>
                <a:sym typeface="Poppins"/>
              </a:rPr>
              <a:t>ales data used in this study was collected using the </a:t>
            </a:r>
            <a:r>
              <a:rPr lang="en-US" b="true" sz="2702" i="true">
                <a:solidFill>
                  <a:srgbClr val="FFFFFF"/>
                </a:solidFill>
                <a:latin typeface="Poppins Bold Italics"/>
                <a:ea typeface="Poppins Bold Italics"/>
                <a:cs typeface="Poppins Bold Italics"/>
                <a:sym typeface="Poppins Bold Italics"/>
              </a:rPr>
              <a:t>Helium Amazon Extension</a:t>
            </a:r>
            <a:r>
              <a:rPr lang="en-US" sz="2702">
                <a:solidFill>
                  <a:srgbClr val="FFFFFF"/>
                </a:solidFill>
                <a:latin typeface="Poppins"/>
                <a:ea typeface="Poppins"/>
                <a:cs typeface="Poppins"/>
                <a:sym typeface="Poppins"/>
              </a:rPr>
              <a:t>, a tool that extracts product data from Amazon.</a:t>
            </a:r>
          </a:p>
        </p:txBody>
      </p:sp>
      <p:sp>
        <p:nvSpPr>
          <p:cNvPr name="TextBox 25" id="25"/>
          <p:cNvSpPr txBox="true"/>
          <p:nvPr/>
        </p:nvSpPr>
        <p:spPr>
          <a:xfrm rot="0">
            <a:off x="10184372" y="2296595"/>
            <a:ext cx="4520961" cy="1869947"/>
          </a:xfrm>
          <a:prstGeom prst="rect">
            <a:avLst/>
          </a:prstGeom>
        </p:spPr>
        <p:txBody>
          <a:bodyPr anchor="t" rtlCol="false" tIns="0" lIns="0" bIns="0" rIns="0">
            <a:spAutoFit/>
          </a:bodyPr>
          <a:lstStyle/>
          <a:p>
            <a:pPr algn="l">
              <a:lnSpc>
                <a:spcPts val="2918"/>
              </a:lnSpc>
              <a:spcBef>
                <a:spcPct val="0"/>
              </a:spcBef>
            </a:pPr>
            <a:r>
              <a:rPr lang="en-US" sz="2702">
                <a:solidFill>
                  <a:srgbClr val="FFFFFF"/>
                </a:solidFill>
                <a:latin typeface="Poppins"/>
                <a:ea typeface="Poppins"/>
                <a:cs typeface="Poppins"/>
                <a:sym typeface="Poppins"/>
              </a:rPr>
              <a:t>The </a:t>
            </a:r>
            <a:r>
              <a:rPr lang="en-US" sz="2702">
                <a:solidFill>
                  <a:srgbClr val="FFFFFF"/>
                </a:solidFill>
                <a:latin typeface="Poppins"/>
                <a:ea typeface="Poppins"/>
                <a:cs typeface="Poppins"/>
                <a:sym typeface="Poppins"/>
              </a:rPr>
              <a:t>dataset includes list prices, new prices, and sales ranks for three </a:t>
            </a:r>
            <a:r>
              <a:rPr lang="en-US" sz="2702" i="true">
                <a:solidFill>
                  <a:srgbClr val="FFFFFF"/>
                </a:solidFill>
                <a:latin typeface="Poppins Italics"/>
                <a:ea typeface="Poppins Italics"/>
                <a:cs typeface="Poppins Italics"/>
                <a:sym typeface="Poppins Italics"/>
              </a:rPr>
              <a:t>ASUS laptop models</a:t>
            </a:r>
            <a:r>
              <a:rPr lang="en-US" sz="2702">
                <a:solidFill>
                  <a:srgbClr val="FFFFFF"/>
                </a:solidFill>
                <a:latin typeface="Poppins"/>
                <a:ea typeface="Poppins"/>
                <a:cs typeface="Poppins"/>
                <a:sym typeface="Poppins"/>
              </a:rPr>
              <a:t>: </a:t>
            </a:r>
            <a:r>
              <a:rPr lang="en-US" b="true" sz="2702" i="true">
                <a:solidFill>
                  <a:srgbClr val="FFFFFF"/>
                </a:solidFill>
                <a:latin typeface="Poppins Bold Italics"/>
                <a:ea typeface="Poppins Bold Italics"/>
                <a:cs typeface="Poppins Bold Italics"/>
                <a:sym typeface="Poppins Bold Italics"/>
              </a:rPr>
              <a:t>ROG</a:t>
            </a:r>
            <a:r>
              <a:rPr lang="en-US" sz="2702">
                <a:solidFill>
                  <a:srgbClr val="FFFFFF"/>
                </a:solidFill>
                <a:latin typeface="Poppins"/>
                <a:ea typeface="Poppins"/>
                <a:cs typeface="Poppins"/>
                <a:sym typeface="Poppins"/>
              </a:rPr>
              <a:t>, </a:t>
            </a:r>
            <a:r>
              <a:rPr lang="en-US" b="true" sz="2702" i="true">
                <a:solidFill>
                  <a:srgbClr val="FFFFFF"/>
                </a:solidFill>
                <a:latin typeface="Poppins Bold Italics"/>
                <a:ea typeface="Poppins Bold Italics"/>
                <a:cs typeface="Poppins Bold Italics"/>
                <a:sym typeface="Poppins Bold Italics"/>
              </a:rPr>
              <a:t>TUF,</a:t>
            </a:r>
            <a:r>
              <a:rPr lang="en-US" sz="2702">
                <a:solidFill>
                  <a:srgbClr val="FFFFFF"/>
                </a:solidFill>
                <a:latin typeface="Poppins"/>
                <a:ea typeface="Poppins"/>
                <a:cs typeface="Poppins"/>
                <a:sym typeface="Poppins"/>
              </a:rPr>
              <a:t> and </a:t>
            </a:r>
            <a:r>
              <a:rPr lang="en-US" b="true" sz="2702" i="true">
                <a:solidFill>
                  <a:srgbClr val="FFFFFF"/>
                </a:solidFill>
                <a:latin typeface="Poppins Bold Italics"/>
                <a:ea typeface="Poppins Bold Italics"/>
                <a:cs typeface="Poppins Bold Italics"/>
                <a:sym typeface="Poppins Bold Italics"/>
              </a:rPr>
              <a:t>Zephyrus</a:t>
            </a:r>
            <a:r>
              <a:rPr lang="en-US" sz="2702">
                <a:solidFill>
                  <a:srgbClr val="FFFFFF"/>
                </a:solidFill>
                <a:latin typeface="Poppins"/>
                <a:ea typeface="Poppins"/>
                <a:cs typeface="Poppins"/>
                <a:sym typeface="Poppins"/>
              </a:rPr>
              <a:t>. </a:t>
            </a:r>
          </a:p>
        </p:txBody>
      </p:sp>
      <p:sp>
        <p:nvSpPr>
          <p:cNvPr name="TextBox 26" id="26"/>
          <p:cNvSpPr txBox="true"/>
          <p:nvPr/>
        </p:nvSpPr>
        <p:spPr>
          <a:xfrm rot="0">
            <a:off x="10184372" y="4403237"/>
            <a:ext cx="4520961" cy="2235701"/>
          </a:xfrm>
          <a:prstGeom prst="rect">
            <a:avLst/>
          </a:prstGeom>
        </p:spPr>
        <p:txBody>
          <a:bodyPr anchor="t" rtlCol="false" tIns="0" lIns="0" bIns="0" rIns="0">
            <a:spAutoFit/>
          </a:bodyPr>
          <a:lstStyle/>
          <a:p>
            <a:pPr algn="l">
              <a:lnSpc>
                <a:spcPts val="2918"/>
              </a:lnSpc>
              <a:spcBef>
                <a:spcPct val="0"/>
              </a:spcBef>
            </a:pPr>
            <a:r>
              <a:rPr lang="en-US" sz="2702">
                <a:solidFill>
                  <a:srgbClr val="FFFFFF"/>
                </a:solidFill>
                <a:latin typeface="Poppins"/>
                <a:ea typeface="Poppins"/>
                <a:cs typeface="Poppins"/>
                <a:sym typeface="Poppins"/>
              </a:rPr>
              <a:t>It covers historical sales data </a:t>
            </a:r>
            <a:r>
              <a:rPr lang="en-US" b="true" sz="2702" i="true">
                <a:solidFill>
                  <a:srgbClr val="FFFFFF"/>
                </a:solidFill>
                <a:latin typeface="Poppins Bold Italics"/>
                <a:ea typeface="Poppins Bold Italics"/>
                <a:cs typeface="Poppins Bold Italics"/>
                <a:sym typeface="Poppins Bold Italics"/>
              </a:rPr>
              <a:t>for the past year</a:t>
            </a:r>
            <a:r>
              <a:rPr lang="en-US" sz="2702">
                <a:solidFill>
                  <a:srgbClr val="FFFFFF"/>
                </a:solidFill>
                <a:latin typeface="Poppins"/>
                <a:ea typeface="Poppins"/>
                <a:cs typeface="Poppins"/>
                <a:sym typeface="Poppins"/>
              </a:rPr>
              <a:t>, which allows us to identify trends and forecast future performance for each product. </a:t>
            </a:r>
          </a:p>
        </p:txBody>
      </p:sp>
      <p:sp>
        <p:nvSpPr>
          <p:cNvPr name="TextBox 27" id="27"/>
          <p:cNvSpPr txBox="true"/>
          <p:nvPr/>
        </p:nvSpPr>
        <p:spPr>
          <a:xfrm rot="0">
            <a:off x="3137175" y="7332962"/>
            <a:ext cx="12156837" cy="1587660"/>
          </a:xfrm>
          <a:prstGeom prst="rect">
            <a:avLst/>
          </a:prstGeom>
        </p:spPr>
        <p:txBody>
          <a:bodyPr anchor="t" rtlCol="false" tIns="0" lIns="0" bIns="0" rIns="0">
            <a:spAutoFit/>
          </a:bodyPr>
          <a:lstStyle/>
          <a:p>
            <a:pPr algn="just">
              <a:lnSpc>
                <a:spcPts val="2486"/>
              </a:lnSpc>
              <a:spcBef>
                <a:spcPct val="0"/>
              </a:spcBef>
            </a:pPr>
            <a:r>
              <a:rPr lang="en-US" sz="2302">
                <a:solidFill>
                  <a:srgbClr val="FFFFFF"/>
                </a:solidFill>
                <a:latin typeface="Poppins"/>
                <a:ea typeface="Poppins"/>
                <a:cs typeface="Poppins"/>
                <a:sym typeface="Poppins"/>
              </a:rPr>
              <a:t>Thi</a:t>
            </a:r>
            <a:r>
              <a:rPr lang="en-US" sz="2302">
                <a:solidFill>
                  <a:srgbClr val="FFFFFF"/>
                </a:solidFill>
                <a:latin typeface="Poppins"/>
                <a:ea typeface="Poppins"/>
                <a:cs typeface="Poppins"/>
                <a:sym typeface="Poppins"/>
              </a:rPr>
              <a:t>s data is relevant because it gives us insights into market demand, product performance, and consumer preferences. When we understand how different laptop models perform over time, we can optimise marketing campaigns, manage inventory levels, and refine pricing strategies to increase sales and customer engagement.</a:t>
            </a:r>
          </a:p>
        </p:txBody>
      </p:sp>
    </p:spTree>
  </p:cSld>
  <p:clrMapOvr>
    <a:masterClrMapping/>
  </p:clrMapOvr>
  <p:transition spd="fast">
    <p:cover dir="d"/>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15613646" y="4523034"/>
            <a:ext cx="940689" cy="887776"/>
          </a:xfrm>
          <a:custGeom>
            <a:avLst/>
            <a:gdLst/>
            <a:ahLst/>
            <a:cxnLst/>
            <a:rect r="r" b="b" t="t" l="l"/>
            <a:pathLst>
              <a:path h="887776" w="940689">
                <a:moveTo>
                  <a:pt x="0" y="0"/>
                </a:moveTo>
                <a:lnTo>
                  <a:pt x="940689" y="0"/>
                </a:lnTo>
                <a:lnTo>
                  <a:pt x="940689" y="887776"/>
                </a:lnTo>
                <a:lnTo>
                  <a:pt x="0" y="8877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33665" y="4452572"/>
            <a:ext cx="14092032" cy="971550"/>
          </a:xfrm>
          <a:prstGeom prst="rect">
            <a:avLst/>
          </a:prstGeom>
        </p:spPr>
        <p:txBody>
          <a:bodyPr anchor="t" rtlCol="false" tIns="0" lIns="0" bIns="0" rIns="0">
            <a:spAutoFit/>
          </a:bodyPr>
          <a:lstStyle/>
          <a:p>
            <a:pPr algn="l">
              <a:lnSpc>
                <a:spcPts val="7258"/>
              </a:lnSpc>
            </a:pPr>
            <a:r>
              <a:rPr lang="en-US" sz="6048" b="true">
                <a:solidFill>
                  <a:srgbClr val="FFFFFF"/>
                </a:solidFill>
                <a:latin typeface="Poppins Bold"/>
                <a:ea typeface="Poppins Bold"/>
                <a:cs typeface="Poppins Bold"/>
                <a:sym typeface="Poppins Bold"/>
              </a:rPr>
              <a:t>Data Science Tools &amp; Technologies</a:t>
            </a:r>
          </a:p>
        </p:txBody>
      </p:sp>
    </p:spTree>
  </p:cSld>
  <p:clrMapOvr>
    <a:masterClrMapping/>
  </p:clrMapOvr>
  <p:transition spd="fast">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775463" y="3395971"/>
            <a:ext cx="5916234" cy="5862329"/>
            <a:chOff x="0" y="0"/>
            <a:chExt cx="1947767" cy="1930020"/>
          </a:xfrm>
        </p:grpSpPr>
        <p:sp>
          <p:nvSpPr>
            <p:cNvPr name="Freeform 3" id="3"/>
            <p:cNvSpPr/>
            <p:nvPr/>
          </p:nvSpPr>
          <p:spPr>
            <a:xfrm flipH="false" flipV="false" rot="0">
              <a:off x="0" y="0"/>
              <a:ext cx="1947767" cy="1930020"/>
            </a:xfrm>
            <a:custGeom>
              <a:avLst/>
              <a:gdLst/>
              <a:ahLst/>
              <a:cxnLst/>
              <a:rect r="r" b="b" t="t" l="l"/>
              <a:pathLst>
                <a:path h="1930020" w="1947767">
                  <a:moveTo>
                    <a:pt x="32715" y="0"/>
                  </a:moveTo>
                  <a:lnTo>
                    <a:pt x="1915052" y="0"/>
                  </a:lnTo>
                  <a:cubicBezTo>
                    <a:pt x="1923729" y="0"/>
                    <a:pt x="1932050" y="3447"/>
                    <a:pt x="1938185" y="9582"/>
                  </a:cubicBezTo>
                  <a:cubicBezTo>
                    <a:pt x="1944320" y="15717"/>
                    <a:pt x="1947767" y="24038"/>
                    <a:pt x="1947767" y="32715"/>
                  </a:cubicBezTo>
                  <a:lnTo>
                    <a:pt x="1947767" y="1897306"/>
                  </a:lnTo>
                  <a:cubicBezTo>
                    <a:pt x="1947767" y="1905982"/>
                    <a:pt x="1944320" y="1914303"/>
                    <a:pt x="1938185" y="1920438"/>
                  </a:cubicBezTo>
                  <a:cubicBezTo>
                    <a:pt x="1932050" y="1926574"/>
                    <a:pt x="1923729" y="1930020"/>
                    <a:pt x="1915052" y="1930020"/>
                  </a:cubicBezTo>
                  <a:lnTo>
                    <a:pt x="32715" y="1930020"/>
                  </a:lnTo>
                  <a:cubicBezTo>
                    <a:pt x="24038" y="1930020"/>
                    <a:pt x="15717" y="1926574"/>
                    <a:pt x="9582" y="1920438"/>
                  </a:cubicBezTo>
                  <a:cubicBezTo>
                    <a:pt x="3447" y="1914303"/>
                    <a:pt x="0" y="1905982"/>
                    <a:pt x="0" y="1897306"/>
                  </a:cubicBezTo>
                  <a:lnTo>
                    <a:pt x="0" y="32715"/>
                  </a:lnTo>
                  <a:cubicBezTo>
                    <a:pt x="0" y="24038"/>
                    <a:pt x="3447" y="15717"/>
                    <a:pt x="9582" y="9582"/>
                  </a:cubicBezTo>
                  <a:cubicBezTo>
                    <a:pt x="15717" y="3447"/>
                    <a:pt x="24038" y="0"/>
                    <a:pt x="32715" y="0"/>
                  </a:cubicBezTo>
                  <a:close/>
                </a:path>
              </a:pathLst>
            </a:custGeom>
            <a:solidFill>
              <a:srgbClr val="2A3066">
                <a:alpha val="55686"/>
              </a:srgbClr>
            </a:solidFill>
          </p:spPr>
        </p:sp>
        <p:sp>
          <p:nvSpPr>
            <p:cNvPr name="TextBox 4" id="4"/>
            <p:cNvSpPr txBox="true"/>
            <p:nvPr/>
          </p:nvSpPr>
          <p:spPr>
            <a:xfrm>
              <a:off x="0" y="-66675"/>
              <a:ext cx="1947767" cy="1996695"/>
            </a:xfrm>
            <a:prstGeom prst="rect">
              <a:avLst/>
            </a:prstGeom>
          </p:spPr>
          <p:txBody>
            <a:bodyPr anchor="ctr" rtlCol="false" tIns="50800" lIns="50800" bIns="50800" rIns="50800"/>
            <a:lstStyle/>
            <a:p>
              <a:pPr algn="ctr">
                <a:lnSpc>
                  <a:spcPts val="2921"/>
                </a:lnSpc>
              </a:pPr>
              <a:r>
                <a:rPr lang="en-US" sz="1813">
                  <a:solidFill>
                    <a:srgbClr val="FFFFFF">
                      <a:alpha val="55686"/>
                    </a:srgbClr>
                  </a:solidFill>
                  <a:latin typeface="Open Sans"/>
                  <a:ea typeface="Open Sans"/>
                  <a:cs typeface="Open Sans"/>
                  <a:sym typeface="Open Sans"/>
                </a:rPr>
                <a:t>1</a:t>
              </a:r>
            </a:p>
            <a:p>
              <a:pPr algn="ctr">
                <a:lnSpc>
                  <a:spcPts val="2921"/>
                </a:lnSpc>
              </a:pPr>
            </a:p>
          </p:txBody>
        </p:sp>
      </p:grpSp>
      <p:grpSp>
        <p:nvGrpSpPr>
          <p:cNvPr name="Group 5" id="5"/>
          <p:cNvGrpSpPr/>
          <p:nvPr/>
        </p:nvGrpSpPr>
        <p:grpSpPr>
          <a:xfrm rot="0">
            <a:off x="9596303" y="3395971"/>
            <a:ext cx="5916234" cy="5862329"/>
            <a:chOff x="0" y="0"/>
            <a:chExt cx="1947767" cy="1930020"/>
          </a:xfrm>
        </p:grpSpPr>
        <p:sp>
          <p:nvSpPr>
            <p:cNvPr name="Freeform 6" id="6"/>
            <p:cNvSpPr/>
            <p:nvPr/>
          </p:nvSpPr>
          <p:spPr>
            <a:xfrm flipH="false" flipV="false" rot="0">
              <a:off x="0" y="0"/>
              <a:ext cx="1947767" cy="1930020"/>
            </a:xfrm>
            <a:custGeom>
              <a:avLst/>
              <a:gdLst/>
              <a:ahLst/>
              <a:cxnLst/>
              <a:rect r="r" b="b" t="t" l="l"/>
              <a:pathLst>
                <a:path h="1930020" w="1947767">
                  <a:moveTo>
                    <a:pt x="32715" y="0"/>
                  </a:moveTo>
                  <a:lnTo>
                    <a:pt x="1915052" y="0"/>
                  </a:lnTo>
                  <a:cubicBezTo>
                    <a:pt x="1923729" y="0"/>
                    <a:pt x="1932050" y="3447"/>
                    <a:pt x="1938185" y="9582"/>
                  </a:cubicBezTo>
                  <a:cubicBezTo>
                    <a:pt x="1944320" y="15717"/>
                    <a:pt x="1947767" y="24038"/>
                    <a:pt x="1947767" y="32715"/>
                  </a:cubicBezTo>
                  <a:lnTo>
                    <a:pt x="1947767" y="1897306"/>
                  </a:lnTo>
                  <a:cubicBezTo>
                    <a:pt x="1947767" y="1905982"/>
                    <a:pt x="1944320" y="1914303"/>
                    <a:pt x="1938185" y="1920438"/>
                  </a:cubicBezTo>
                  <a:cubicBezTo>
                    <a:pt x="1932050" y="1926574"/>
                    <a:pt x="1923729" y="1930020"/>
                    <a:pt x="1915052" y="1930020"/>
                  </a:cubicBezTo>
                  <a:lnTo>
                    <a:pt x="32715" y="1930020"/>
                  </a:lnTo>
                  <a:cubicBezTo>
                    <a:pt x="24038" y="1930020"/>
                    <a:pt x="15717" y="1926574"/>
                    <a:pt x="9582" y="1920438"/>
                  </a:cubicBezTo>
                  <a:cubicBezTo>
                    <a:pt x="3447" y="1914303"/>
                    <a:pt x="0" y="1905982"/>
                    <a:pt x="0" y="1897306"/>
                  </a:cubicBezTo>
                  <a:lnTo>
                    <a:pt x="0" y="32715"/>
                  </a:lnTo>
                  <a:cubicBezTo>
                    <a:pt x="0" y="24038"/>
                    <a:pt x="3447" y="15717"/>
                    <a:pt x="9582" y="9582"/>
                  </a:cubicBezTo>
                  <a:cubicBezTo>
                    <a:pt x="15717" y="3447"/>
                    <a:pt x="24038" y="0"/>
                    <a:pt x="32715" y="0"/>
                  </a:cubicBezTo>
                  <a:close/>
                </a:path>
              </a:pathLst>
            </a:custGeom>
            <a:solidFill>
              <a:srgbClr val="2A3066">
                <a:alpha val="55686"/>
              </a:srgbClr>
            </a:solidFill>
          </p:spPr>
        </p:sp>
        <p:sp>
          <p:nvSpPr>
            <p:cNvPr name="TextBox 7" id="7"/>
            <p:cNvSpPr txBox="true"/>
            <p:nvPr/>
          </p:nvSpPr>
          <p:spPr>
            <a:xfrm>
              <a:off x="0" y="-66675"/>
              <a:ext cx="1947767" cy="1996695"/>
            </a:xfrm>
            <a:prstGeom prst="rect">
              <a:avLst/>
            </a:prstGeom>
          </p:spPr>
          <p:txBody>
            <a:bodyPr anchor="ctr" rtlCol="false" tIns="50800" lIns="50800" bIns="50800" rIns="50800"/>
            <a:lstStyle/>
            <a:p>
              <a:pPr algn="ctr">
                <a:lnSpc>
                  <a:spcPts val="2921"/>
                </a:lnSpc>
              </a:pPr>
            </a:p>
          </p:txBody>
        </p:sp>
      </p:grpSp>
      <p:grpSp>
        <p:nvGrpSpPr>
          <p:cNvPr name="Group 8" id="8"/>
          <p:cNvGrpSpPr/>
          <p:nvPr/>
        </p:nvGrpSpPr>
        <p:grpSpPr>
          <a:xfrm rot="0">
            <a:off x="2868481" y="1203330"/>
            <a:ext cx="12644055" cy="1114776"/>
            <a:chOff x="0" y="0"/>
            <a:chExt cx="4162728" cy="367011"/>
          </a:xfrm>
        </p:grpSpPr>
        <p:sp>
          <p:nvSpPr>
            <p:cNvPr name="Freeform 9" id="9"/>
            <p:cNvSpPr/>
            <p:nvPr/>
          </p:nvSpPr>
          <p:spPr>
            <a:xfrm flipH="false" flipV="false" rot="0">
              <a:off x="0" y="0"/>
              <a:ext cx="4162728" cy="367011"/>
            </a:xfrm>
            <a:custGeom>
              <a:avLst/>
              <a:gdLst/>
              <a:ahLst/>
              <a:cxnLst/>
              <a:rect r="r" b="b" t="t" l="l"/>
              <a:pathLst>
                <a:path h="367011" w="4162728">
                  <a:moveTo>
                    <a:pt x="15307" y="0"/>
                  </a:moveTo>
                  <a:lnTo>
                    <a:pt x="4147420" y="0"/>
                  </a:lnTo>
                  <a:cubicBezTo>
                    <a:pt x="4151480" y="0"/>
                    <a:pt x="4155374" y="1613"/>
                    <a:pt x="4158245" y="4483"/>
                  </a:cubicBezTo>
                  <a:cubicBezTo>
                    <a:pt x="4161115" y="7354"/>
                    <a:pt x="4162728" y="11248"/>
                    <a:pt x="4162728" y="15307"/>
                  </a:cubicBezTo>
                  <a:lnTo>
                    <a:pt x="4162728" y="351704"/>
                  </a:lnTo>
                  <a:cubicBezTo>
                    <a:pt x="4162728" y="355763"/>
                    <a:pt x="4161115" y="359657"/>
                    <a:pt x="4158245" y="362528"/>
                  </a:cubicBezTo>
                  <a:cubicBezTo>
                    <a:pt x="4155374" y="365398"/>
                    <a:pt x="4151480" y="367011"/>
                    <a:pt x="4147420" y="367011"/>
                  </a:cubicBezTo>
                  <a:lnTo>
                    <a:pt x="15307" y="367011"/>
                  </a:lnTo>
                  <a:cubicBezTo>
                    <a:pt x="11248" y="367011"/>
                    <a:pt x="7354" y="365398"/>
                    <a:pt x="4483" y="362528"/>
                  </a:cubicBezTo>
                  <a:cubicBezTo>
                    <a:pt x="1613" y="359657"/>
                    <a:pt x="0" y="355763"/>
                    <a:pt x="0" y="35170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0" id="10"/>
            <p:cNvSpPr txBox="true"/>
            <p:nvPr/>
          </p:nvSpPr>
          <p:spPr>
            <a:xfrm>
              <a:off x="0" y="-66675"/>
              <a:ext cx="4162728" cy="43368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11" id="11"/>
          <p:cNvSpPr/>
          <p:nvPr/>
        </p:nvSpPr>
        <p:spPr>
          <a:xfrm flipH="false" flipV="false" rot="0">
            <a:off x="5518927" y="2499081"/>
            <a:ext cx="546906" cy="621147"/>
          </a:xfrm>
          <a:custGeom>
            <a:avLst/>
            <a:gdLst/>
            <a:ahLst/>
            <a:cxnLst/>
            <a:rect r="r" b="b" t="t" l="l"/>
            <a:pathLst>
              <a:path h="621147" w="546906">
                <a:moveTo>
                  <a:pt x="0" y="0"/>
                </a:moveTo>
                <a:lnTo>
                  <a:pt x="546906" y="0"/>
                </a:lnTo>
                <a:lnTo>
                  <a:pt x="546906" y="621146"/>
                </a:lnTo>
                <a:lnTo>
                  <a:pt x="0" y="621146"/>
                </a:lnTo>
                <a:lnTo>
                  <a:pt x="0" y="0"/>
                </a:lnTo>
                <a:close/>
              </a:path>
            </a:pathLst>
          </a:custGeom>
          <a:blipFill>
            <a:blip r:embed="rId3"/>
            <a:stretch>
              <a:fillRect l="0" t="0" r="0" b="0"/>
            </a:stretch>
          </a:blipFill>
        </p:spPr>
      </p:sp>
      <p:sp>
        <p:nvSpPr>
          <p:cNvPr name="Freeform 12" id="12"/>
          <p:cNvSpPr/>
          <p:nvPr/>
        </p:nvSpPr>
        <p:spPr>
          <a:xfrm flipH="false" flipV="false" rot="0">
            <a:off x="12064316" y="2569797"/>
            <a:ext cx="663447" cy="649625"/>
          </a:xfrm>
          <a:custGeom>
            <a:avLst/>
            <a:gdLst/>
            <a:ahLst/>
            <a:cxnLst/>
            <a:rect r="r" b="b" t="t" l="l"/>
            <a:pathLst>
              <a:path h="649625" w="663447">
                <a:moveTo>
                  <a:pt x="0" y="0"/>
                </a:moveTo>
                <a:lnTo>
                  <a:pt x="663446" y="0"/>
                </a:lnTo>
                <a:lnTo>
                  <a:pt x="663446" y="649625"/>
                </a:lnTo>
                <a:lnTo>
                  <a:pt x="0" y="649625"/>
                </a:lnTo>
                <a:lnTo>
                  <a:pt x="0" y="0"/>
                </a:lnTo>
                <a:close/>
              </a:path>
            </a:pathLst>
          </a:custGeom>
          <a:blipFill>
            <a:blip r:embed="rId4"/>
            <a:stretch>
              <a:fillRect l="0" t="0" r="0" b="0"/>
            </a:stretch>
          </a:blipFill>
        </p:spPr>
      </p:sp>
      <p:sp>
        <p:nvSpPr>
          <p:cNvPr name="TextBox 13" id="13"/>
          <p:cNvSpPr txBox="true"/>
          <p:nvPr/>
        </p:nvSpPr>
        <p:spPr>
          <a:xfrm rot="0">
            <a:off x="2775463" y="2508606"/>
            <a:ext cx="2743464" cy="710816"/>
          </a:xfrm>
          <a:prstGeom prst="rect">
            <a:avLst/>
          </a:prstGeom>
        </p:spPr>
        <p:txBody>
          <a:bodyPr anchor="t" rtlCol="false" tIns="0" lIns="0" bIns="0" rIns="0">
            <a:spAutoFit/>
          </a:bodyPr>
          <a:lstStyle/>
          <a:p>
            <a:pPr algn="ctr">
              <a:lnSpc>
                <a:spcPts val="5148"/>
              </a:lnSpc>
              <a:spcBef>
                <a:spcPct val="0"/>
              </a:spcBef>
            </a:pPr>
            <a:r>
              <a:rPr lang="en-US" b="true" sz="4767">
                <a:solidFill>
                  <a:srgbClr val="FFFFFF"/>
                </a:solidFill>
                <a:latin typeface="Poppins Bold"/>
                <a:ea typeface="Poppins Bold"/>
                <a:cs typeface="Poppins Bold"/>
                <a:sym typeface="Poppins Bold"/>
              </a:rPr>
              <a:t>Power BI</a:t>
            </a:r>
          </a:p>
        </p:txBody>
      </p:sp>
      <p:sp>
        <p:nvSpPr>
          <p:cNvPr name="TextBox 14" id="14"/>
          <p:cNvSpPr txBox="true"/>
          <p:nvPr/>
        </p:nvSpPr>
        <p:spPr>
          <a:xfrm rot="0">
            <a:off x="9596303" y="2508606"/>
            <a:ext cx="2468013" cy="710816"/>
          </a:xfrm>
          <a:prstGeom prst="rect">
            <a:avLst/>
          </a:prstGeom>
        </p:spPr>
        <p:txBody>
          <a:bodyPr anchor="t" rtlCol="false" tIns="0" lIns="0" bIns="0" rIns="0">
            <a:spAutoFit/>
          </a:bodyPr>
          <a:lstStyle/>
          <a:p>
            <a:pPr algn="ctr">
              <a:lnSpc>
                <a:spcPts val="5148"/>
              </a:lnSpc>
              <a:spcBef>
                <a:spcPct val="0"/>
              </a:spcBef>
            </a:pPr>
            <a:r>
              <a:rPr lang="en-US" b="true" sz="4767">
                <a:solidFill>
                  <a:srgbClr val="FFFFFF"/>
                </a:solidFill>
                <a:latin typeface="Poppins Bold"/>
                <a:ea typeface="Poppins Bold"/>
                <a:cs typeface="Poppins Bold"/>
                <a:sym typeface="Poppins Bold"/>
              </a:rPr>
              <a:t>Orange</a:t>
            </a:r>
          </a:p>
        </p:txBody>
      </p:sp>
      <p:sp>
        <p:nvSpPr>
          <p:cNvPr name="TextBox 15" id="15"/>
          <p:cNvSpPr txBox="true"/>
          <p:nvPr/>
        </p:nvSpPr>
        <p:spPr>
          <a:xfrm rot="0">
            <a:off x="3281906" y="3894772"/>
            <a:ext cx="4903348" cy="4002029"/>
          </a:xfrm>
          <a:prstGeom prst="rect">
            <a:avLst/>
          </a:prstGeom>
        </p:spPr>
        <p:txBody>
          <a:bodyPr anchor="t" rtlCol="false" tIns="0" lIns="0" bIns="0" rIns="0">
            <a:spAutoFit/>
          </a:bodyPr>
          <a:lstStyle/>
          <a:p>
            <a:pPr algn="l">
              <a:lnSpc>
                <a:spcPts val="3165"/>
              </a:lnSpc>
              <a:spcBef>
                <a:spcPct val="0"/>
              </a:spcBef>
            </a:pPr>
            <a:r>
              <a:rPr lang="en-US" sz="2930">
                <a:solidFill>
                  <a:srgbClr val="FFFFFF"/>
                </a:solidFill>
                <a:latin typeface="Poppins"/>
                <a:ea typeface="Poppins"/>
                <a:cs typeface="Poppins"/>
                <a:sym typeface="Poppins"/>
              </a:rPr>
              <a:t>A busin</a:t>
            </a:r>
            <a:r>
              <a:rPr lang="en-US" sz="2930">
                <a:solidFill>
                  <a:srgbClr val="FFFFFF"/>
                </a:solidFill>
                <a:latin typeface="Poppins"/>
                <a:ea typeface="Poppins"/>
                <a:cs typeface="Poppins"/>
                <a:sym typeface="Poppins"/>
              </a:rPr>
              <a:t>ess analytics tool used for data visualisation, analysis, and reporting. It allo</a:t>
            </a:r>
            <a:r>
              <a:rPr lang="en-US" sz="2930">
                <a:solidFill>
                  <a:srgbClr val="FFFFFF"/>
                </a:solidFill>
                <a:latin typeface="Poppins"/>
                <a:ea typeface="Poppins"/>
                <a:cs typeface="Poppins"/>
                <a:sym typeface="Poppins"/>
              </a:rPr>
              <a:t>ws</a:t>
            </a:r>
            <a:r>
              <a:rPr lang="en-US" sz="2930">
                <a:solidFill>
                  <a:srgbClr val="FFFFFF"/>
                </a:solidFill>
                <a:latin typeface="Poppins"/>
                <a:ea typeface="Poppins"/>
                <a:cs typeface="Poppins"/>
                <a:sym typeface="Poppins"/>
              </a:rPr>
              <a:t> </a:t>
            </a:r>
            <a:r>
              <a:rPr lang="en-US" sz="2930">
                <a:solidFill>
                  <a:srgbClr val="FFFFFF"/>
                </a:solidFill>
                <a:latin typeface="Poppins"/>
                <a:ea typeface="Poppins"/>
                <a:cs typeface="Poppins"/>
                <a:sym typeface="Poppins"/>
              </a:rPr>
              <a:t>us</a:t>
            </a:r>
            <a:r>
              <a:rPr lang="en-US" sz="2930">
                <a:solidFill>
                  <a:srgbClr val="FFFFFF"/>
                </a:solidFill>
                <a:latin typeface="Poppins"/>
                <a:ea typeface="Poppins"/>
                <a:cs typeface="Poppins"/>
                <a:sym typeface="Poppins"/>
              </a:rPr>
              <a:t>e</a:t>
            </a:r>
            <a:r>
              <a:rPr lang="en-US" sz="2930">
                <a:solidFill>
                  <a:srgbClr val="FFFFFF"/>
                </a:solidFill>
                <a:latin typeface="Poppins"/>
                <a:ea typeface="Poppins"/>
                <a:cs typeface="Poppins"/>
                <a:sym typeface="Poppins"/>
              </a:rPr>
              <a:t>r</a:t>
            </a:r>
            <a:r>
              <a:rPr lang="en-US" sz="2930">
                <a:solidFill>
                  <a:srgbClr val="FFFFFF"/>
                </a:solidFill>
                <a:latin typeface="Poppins"/>
                <a:ea typeface="Poppins"/>
                <a:cs typeface="Poppins"/>
                <a:sym typeface="Poppins"/>
              </a:rPr>
              <a:t>s</a:t>
            </a:r>
            <a:r>
              <a:rPr lang="en-US" sz="2930">
                <a:solidFill>
                  <a:srgbClr val="FFFFFF"/>
                </a:solidFill>
                <a:latin typeface="Poppins"/>
                <a:ea typeface="Poppins"/>
                <a:cs typeface="Poppins"/>
                <a:sym typeface="Poppins"/>
              </a:rPr>
              <a:t> to </a:t>
            </a:r>
            <a:r>
              <a:rPr lang="en-US" sz="2930">
                <a:solidFill>
                  <a:srgbClr val="FFFFFF"/>
                </a:solidFill>
                <a:latin typeface="Poppins"/>
                <a:ea typeface="Poppins"/>
                <a:cs typeface="Poppins"/>
                <a:sym typeface="Poppins"/>
              </a:rPr>
              <a:t>i</a:t>
            </a:r>
            <a:r>
              <a:rPr lang="en-US" sz="2930">
                <a:solidFill>
                  <a:srgbClr val="FFFFFF"/>
                </a:solidFill>
                <a:latin typeface="Poppins"/>
                <a:ea typeface="Poppins"/>
                <a:cs typeface="Poppins"/>
                <a:sym typeface="Poppins"/>
              </a:rPr>
              <a:t>mp</a:t>
            </a:r>
            <a:r>
              <a:rPr lang="en-US" sz="2930">
                <a:solidFill>
                  <a:srgbClr val="FFFFFF"/>
                </a:solidFill>
                <a:latin typeface="Poppins"/>
                <a:ea typeface="Poppins"/>
                <a:cs typeface="Poppins"/>
                <a:sym typeface="Poppins"/>
              </a:rPr>
              <a:t>o</a:t>
            </a:r>
            <a:r>
              <a:rPr lang="en-US" sz="2930">
                <a:solidFill>
                  <a:srgbClr val="FFFFFF"/>
                </a:solidFill>
                <a:latin typeface="Poppins"/>
                <a:ea typeface="Poppins"/>
                <a:cs typeface="Poppins"/>
                <a:sym typeface="Poppins"/>
              </a:rPr>
              <a:t>rt, clea</a:t>
            </a:r>
            <a:r>
              <a:rPr lang="en-US" sz="2930">
                <a:solidFill>
                  <a:srgbClr val="FFFFFF"/>
                </a:solidFill>
                <a:latin typeface="Poppins"/>
                <a:ea typeface="Poppins"/>
                <a:cs typeface="Poppins"/>
                <a:sym typeface="Poppins"/>
              </a:rPr>
              <a:t>n, and manipulate data, and then create interactive dashboards and reports to uncover insights.</a:t>
            </a:r>
          </a:p>
        </p:txBody>
      </p:sp>
      <p:sp>
        <p:nvSpPr>
          <p:cNvPr name="TextBox 16" id="16"/>
          <p:cNvSpPr txBox="true"/>
          <p:nvPr/>
        </p:nvSpPr>
        <p:spPr>
          <a:xfrm rot="0">
            <a:off x="10102746" y="3828097"/>
            <a:ext cx="4903348" cy="4835739"/>
          </a:xfrm>
          <a:prstGeom prst="rect">
            <a:avLst/>
          </a:prstGeom>
        </p:spPr>
        <p:txBody>
          <a:bodyPr anchor="t" rtlCol="false" tIns="0" lIns="0" bIns="0" rIns="0">
            <a:spAutoFit/>
          </a:bodyPr>
          <a:lstStyle/>
          <a:p>
            <a:pPr algn="l">
              <a:lnSpc>
                <a:spcPts val="3165"/>
              </a:lnSpc>
              <a:spcBef>
                <a:spcPct val="0"/>
              </a:spcBef>
            </a:pPr>
            <a:r>
              <a:rPr lang="en-US" sz="2930">
                <a:solidFill>
                  <a:srgbClr val="FFFFFF"/>
                </a:solidFill>
                <a:latin typeface="Poppins"/>
                <a:ea typeface="Poppins"/>
                <a:cs typeface="Poppins"/>
                <a:sym typeface="Poppins"/>
              </a:rPr>
              <a:t>An</a:t>
            </a:r>
            <a:r>
              <a:rPr lang="en-US" sz="2930">
                <a:solidFill>
                  <a:srgbClr val="FFFFFF"/>
                </a:solidFill>
                <a:latin typeface="Poppins"/>
                <a:ea typeface="Poppins"/>
                <a:cs typeface="Poppins"/>
                <a:sym typeface="Poppins"/>
              </a:rPr>
              <a:t> open-source data visualisation and analysis tool for both novice and expert users. It provide</a:t>
            </a:r>
            <a:r>
              <a:rPr lang="en-US" sz="2930">
                <a:solidFill>
                  <a:srgbClr val="FFFFFF"/>
                </a:solidFill>
                <a:latin typeface="Poppins"/>
                <a:ea typeface="Poppins"/>
                <a:cs typeface="Poppins"/>
                <a:sym typeface="Poppins"/>
              </a:rPr>
              <a:t>s</a:t>
            </a:r>
            <a:r>
              <a:rPr lang="en-US" sz="2930">
                <a:solidFill>
                  <a:srgbClr val="FFFFFF"/>
                </a:solidFill>
                <a:latin typeface="Poppins"/>
                <a:ea typeface="Poppins"/>
                <a:cs typeface="Poppins"/>
                <a:sym typeface="Poppins"/>
              </a:rPr>
              <a:t> a wide </a:t>
            </a:r>
            <a:r>
              <a:rPr lang="en-US" sz="2930">
                <a:solidFill>
                  <a:srgbClr val="FFFFFF"/>
                </a:solidFill>
                <a:latin typeface="Poppins"/>
                <a:ea typeface="Poppins"/>
                <a:cs typeface="Poppins"/>
                <a:sym typeface="Poppins"/>
              </a:rPr>
              <a:t>range of machine lear</a:t>
            </a:r>
            <a:r>
              <a:rPr lang="en-US" sz="2930">
                <a:solidFill>
                  <a:srgbClr val="FFFFFF"/>
                </a:solidFill>
                <a:latin typeface="Poppins"/>
                <a:ea typeface="Poppins"/>
                <a:cs typeface="Poppins"/>
                <a:sym typeface="Poppins"/>
              </a:rPr>
              <a:t>ning algorithms, including time-series forecasting tools like ARIMA, and enables users to perform predictive analytics and visual exploration of data.</a:t>
            </a:r>
          </a:p>
        </p:txBody>
      </p:sp>
      <p:sp>
        <p:nvSpPr>
          <p:cNvPr name="TextBox 17" id="17"/>
          <p:cNvSpPr txBox="true"/>
          <p:nvPr/>
        </p:nvSpPr>
        <p:spPr>
          <a:xfrm rot="0">
            <a:off x="3093220" y="1347861"/>
            <a:ext cx="12627370" cy="835239"/>
          </a:xfrm>
          <a:prstGeom prst="rect">
            <a:avLst/>
          </a:prstGeom>
        </p:spPr>
        <p:txBody>
          <a:bodyPr anchor="t" rtlCol="false" tIns="0" lIns="0" bIns="0" rIns="0">
            <a:spAutoFit/>
          </a:bodyPr>
          <a:lstStyle/>
          <a:p>
            <a:pPr algn="l">
              <a:lnSpc>
                <a:spcPts val="3165"/>
              </a:lnSpc>
              <a:spcBef>
                <a:spcPct val="0"/>
              </a:spcBef>
            </a:pPr>
            <a:r>
              <a:rPr lang="en-US" sz="2930">
                <a:solidFill>
                  <a:srgbClr val="FFFFFF"/>
                </a:solidFill>
                <a:latin typeface="Poppins"/>
                <a:ea typeface="Poppins"/>
                <a:cs typeface="Poppins"/>
                <a:sym typeface="Poppins"/>
              </a:rPr>
              <a:t>In</a:t>
            </a:r>
            <a:r>
              <a:rPr lang="en-US" sz="2930">
                <a:solidFill>
                  <a:srgbClr val="FFFFFF"/>
                </a:solidFill>
                <a:latin typeface="Poppins"/>
                <a:ea typeface="Poppins"/>
                <a:cs typeface="Poppins"/>
                <a:sym typeface="Poppins"/>
              </a:rPr>
              <a:t> this study I used two powerful tool</a:t>
            </a:r>
            <a:r>
              <a:rPr lang="en-US" sz="2930">
                <a:solidFill>
                  <a:srgbClr val="FFFFFF"/>
                </a:solidFill>
                <a:latin typeface="Poppins"/>
                <a:ea typeface="Poppins"/>
                <a:cs typeface="Poppins"/>
                <a:sym typeface="Poppins"/>
              </a:rPr>
              <a:t>s</a:t>
            </a:r>
            <a:r>
              <a:rPr lang="en-US" sz="2930">
                <a:solidFill>
                  <a:srgbClr val="FFFFFF"/>
                </a:solidFill>
                <a:latin typeface="Poppins"/>
                <a:ea typeface="Poppins"/>
                <a:cs typeface="Poppins"/>
                <a:sym typeface="Poppins"/>
              </a:rPr>
              <a:t> for d</a:t>
            </a:r>
            <a:r>
              <a:rPr lang="en-US" sz="2930">
                <a:solidFill>
                  <a:srgbClr val="FFFFFF"/>
                </a:solidFill>
                <a:latin typeface="Poppins"/>
                <a:ea typeface="Poppins"/>
                <a:cs typeface="Poppins"/>
                <a:sym typeface="Poppins"/>
              </a:rPr>
              <a:t>ata collection, ma</a:t>
            </a:r>
            <a:r>
              <a:rPr lang="en-US" sz="2930">
                <a:solidFill>
                  <a:srgbClr val="FFFFFF"/>
                </a:solidFill>
                <a:latin typeface="Poppins"/>
                <a:ea typeface="Poppins"/>
                <a:cs typeface="Poppins"/>
                <a:sym typeface="Poppins"/>
              </a:rPr>
              <a:t>nipulation, and analysis: </a:t>
            </a:r>
            <a:r>
              <a:rPr lang="en-US" b="true" sz="2930" i="true">
                <a:solidFill>
                  <a:srgbClr val="FFFFFF"/>
                </a:solidFill>
                <a:latin typeface="Poppins Bold Italics"/>
                <a:ea typeface="Poppins Bold Italics"/>
                <a:cs typeface="Poppins Bold Italics"/>
                <a:sym typeface="Poppins Bold Italics"/>
              </a:rPr>
              <a:t>Power BI and Orange</a:t>
            </a:r>
          </a:p>
        </p:txBody>
      </p:sp>
    </p:spTree>
  </p:cSld>
  <p:clrMapOvr>
    <a:masterClrMapping/>
  </p:clrMapOvr>
  <p:transition spd="fast">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775463" y="3395971"/>
            <a:ext cx="5916234" cy="5862329"/>
            <a:chOff x="0" y="0"/>
            <a:chExt cx="1947767" cy="1930020"/>
          </a:xfrm>
        </p:grpSpPr>
        <p:sp>
          <p:nvSpPr>
            <p:cNvPr name="Freeform 3" id="3"/>
            <p:cNvSpPr/>
            <p:nvPr/>
          </p:nvSpPr>
          <p:spPr>
            <a:xfrm flipH="false" flipV="false" rot="0">
              <a:off x="0" y="0"/>
              <a:ext cx="1947767" cy="1930020"/>
            </a:xfrm>
            <a:custGeom>
              <a:avLst/>
              <a:gdLst/>
              <a:ahLst/>
              <a:cxnLst/>
              <a:rect r="r" b="b" t="t" l="l"/>
              <a:pathLst>
                <a:path h="1930020" w="1947767">
                  <a:moveTo>
                    <a:pt x="32715" y="0"/>
                  </a:moveTo>
                  <a:lnTo>
                    <a:pt x="1915052" y="0"/>
                  </a:lnTo>
                  <a:cubicBezTo>
                    <a:pt x="1923729" y="0"/>
                    <a:pt x="1932050" y="3447"/>
                    <a:pt x="1938185" y="9582"/>
                  </a:cubicBezTo>
                  <a:cubicBezTo>
                    <a:pt x="1944320" y="15717"/>
                    <a:pt x="1947767" y="24038"/>
                    <a:pt x="1947767" y="32715"/>
                  </a:cubicBezTo>
                  <a:lnTo>
                    <a:pt x="1947767" y="1897306"/>
                  </a:lnTo>
                  <a:cubicBezTo>
                    <a:pt x="1947767" y="1905982"/>
                    <a:pt x="1944320" y="1914303"/>
                    <a:pt x="1938185" y="1920438"/>
                  </a:cubicBezTo>
                  <a:cubicBezTo>
                    <a:pt x="1932050" y="1926574"/>
                    <a:pt x="1923729" y="1930020"/>
                    <a:pt x="1915052" y="1930020"/>
                  </a:cubicBezTo>
                  <a:lnTo>
                    <a:pt x="32715" y="1930020"/>
                  </a:lnTo>
                  <a:cubicBezTo>
                    <a:pt x="24038" y="1930020"/>
                    <a:pt x="15717" y="1926574"/>
                    <a:pt x="9582" y="1920438"/>
                  </a:cubicBezTo>
                  <a:cubicBezTo>
                    <a:pt x="3447" y="1914303"/>
                    <a:pt x="0" y="1905982"/>
                    <a:pt x="0" y="1897306"/>
                  </a:cubicBezTo>
                  <a:lnTo>
                    <a:pt x="0" y="32715"/>
                  </a:lnTo>
                  <a:cubicBezTo>
                    <a:pt x="0" y="24038"/>
                    <a:pt x="3447" y="15717"/>
                    <a:pt x="9582" y="9582"/>
                  </a:cubicBezTo>
                  <a:cubicBezTo>
                    <a:pt x="15717" y="3447"/>
                    <a:pt x="24038" y="0"/>
                    <a:pt x="32715" y="0"/>
                  </a:cubicBezTo>
                  <a:close/>
                </a:path>
              </a:pathLst>
            </a:custGeom>
            <a:solidFill>
              <a:srgbClr val="2A3066">
                <a:alpha val="55686"/>
              </a:srgbClr>
            </a:solidFill>
          </p:spPr>
        </p:sp>
        <p:sp>
          <p:nvSpPr>
            <p:cNvPr name="TextBox 4" id="4"/>
            <p:cNvSpPr txBox="true"/>
            <p:nvPr/>
          </p:nvSpPr>
          <p:spPr>
            <a:xfrm>
              <a:off x="0" y="-66675"/>
              <a:ext cx="1947767" cy="1996695"/>
            </a:xfrm>
            <a:prstGeom prst="rect">
              <a:avLst/>
            </a:prstGeom>
          </p:spPr>
          <p:txBody>
            <a:bodyPr anchor="ctr" rtlCol="false" tIns="50800" lIns="50800" bIns="50800" rIns="50800"/>
            <a:lstStyle/>
            <a:p>
              <a:pPr algn="ctr">
                <a:lnSpc>
                  <a:spcPts val="2921"/>
                </a:lnSpc>
              </a:pPr>
              <a:r>
                <a:rPr lang="en-US" sz="1813">
                  <a:solidFill>
                    <a:srgbClr val="FFFFFF">
                      <a:alpha val="55686"/>
                    </a:srgbClr>
                  </a:solidFill>
                  <a:latin typeface="Open Sans"/>
                  <a:ea typeface="Open Sans"/>
                  <a:cs typeface="Open Sans"/>
                  <a:sym typeface="Open Sans"/>
                </a:rPr>
                <a:t>1</a:t>
              </a:r>
            </a:p>
            <a:p>
              <a:pPr algn="ctr">
                <a:lnSpc>
                  <a:spcPts val="2921"/>
                </a:lnSpc>
              </a:pPr>
            </a:p>
          </p:txBody>
        </p:sp>
      </p:grpSp>
      <p:grpSp>
        <p:nvGrpSpPr>
          <p:cNvPr name="Group 5" id="5"/>
          <p:cNvGrpSpPr/>
          <p:nvPr/>
        </p:nvGrpSpPr>
        <p:grpSpPr>
          <a:xfrm rot="0">
            <a:off x="9596303" y="3395971"/>
            <a:ext cx="5916234" cy="5862329"/>
            <a:chOff x="0" y="0"/>
            <a:chExt cx="1947767" cy="1930020"/>
          </a:xfrm>
        </p:grpSpPr>
        <p:sp>
          <p:nvSpPr>
            <p:cNvPr name="Freeform 6" id="6"/>
            <p:cNvSpPr/>
            <p:nvPr/>
          </p:nvSpPr>
          <p:spPr>
            <a:xfrm flipH="false" flipV="false" rot="0">
              <a:off x="0" y="0"/>
              <a:ext cx="1947767" cy="1930020"/>
            </a:xfrm>
            <a:custGeom>
              <a:avLst/>
              <a:gdLst/>
              <a:ahLst/>
              <a:cxnLst/>
              <a:rect r="r" b="b" t="t" l="l"/>
              <a:pathLst>
                <a:path h="1930020" w="1947767">
                  <a:moveTo>
                    <a:pt x="32715" y="0"/>
                  </a:moveTo>
                  <a:lnTo>
                    <a:pt x="1915052" y="0"/>
                  </a:lnTo>
                  <a:cubicBezTo>
                    <a:pt x="1923729" y="0"/>
                    <a:pt x="1932050" y="3447"/>
                    <a:pt x="1938185" y="9582"/>
                  </a:cubicBezTo>
                  <a:cubicBezTo>
                    <a:pt x="1944320" y="15717"/>
                    <a:pt x="1947767" y="24038"/>
                    <a:pt x="1947767" y="32715"/>
                  </a:cubicBezTo>
                  <a:lnTo>
                    <a:pt x="1947767" y="1897306"/>
                  </a:lnTo>
                  <a:cubicBezTo>
                    <a:pt x="1947767" y="1905982"/>
                    <a:pt x="1944320" y="1914303"/>
                    <a:pt x="1938185" y="1920438"/>
                  </a:cubicBezTo>
                  <a:cubicBezTo>
                    <a:pt x="1932050" y="1926574"/>
                    <a:pt x="1923729" y="1930020"/>
                    <a:pt x="1915052" y="1930020"/>
                  </a:cubicBezTo>
                  <a:lnTo>
                    <a:pt x="32715" y="1930020"/>
                  </a:lnTo>
                  <a:cubicBezTo>
                    <a:pt x="24038" y="1930020"/>
                    <a:pt x="15717" y="1926574"/>
                    <a:pt x="9582" y="1920438"/>
                  </a:cubicBezTo>
                  <a:cubicBezTo>
                    <a:pt x="3447" y="1914303"/>
                    <a:pt x="0" y="1905982"/>
                    <a:pt x="0" y="1897306"/>
                  </a:cubicBezTo>
                  <a:lnTo>
                    <a:pt x="0" y="32715"/>
                  </a:lnTo>
                  <a:cubicBezTo>
                    <a:pt x="0" y="24038"/>
                    <a:pt x="3447" y="15717"/>
                    <a:pt x="9582" y="9582"/>
                  </a:cubicBezTo>
                  <a:cubicBezTo>
                    <a:pt x="15717" y="3447"/>
                    <a:pt x="24038" y="0"/>
                    <a:pt x="32715" y="0"/>
                  </a:cubicBezTo>
                  <a:close/>
                </a:path>
              </a:pathLst>
            </a:custGeom>
            <a:solidFill>
              <a:srgbClr val="2A3066">
                <a:alpha val="55686"/>
              </a:srgbClr>
            </a:solidFill>
          </p:spPr>
        </p:sp>
        <p:sp>
          <p:nvSpPr>
            <p:cNvPr name="TextBox 7" id="7"/>
            <p:cNvSpPr txBox="true"/>
            <p:nvPr/>
          </p:nvSpPr>
          <p:spPr>
            <a:xfrm>
              <a:off x="0" y="-66675"/>
              <a:ext cx="1947767" cy="1996695"/>
            </a:xfrm>
            <a:prstGeom prst="rect">
              <a:avLst/>
            </a:prstGeom>
          </p:spPr>
          <p:txBody>
            <a:bodyPr anchor="ctr" rtlCol="false" tIns="50800" lIns="50800" bIns="50800" rIns="50800"/>
            <a:lstStyle/>
            <a:p>
              <a:pPr algn="ctr">
                <a:lnSpc>
                  <a:spcPts val="2921"/>
                </a:lnSpc>
              </a:pPr>
            </a:p>
          </p:txBody>
        </p:sp>
      </p:grpSp>
      <p:grpSp>
        <p:nvGrpSpPr>
          <p:cNvPr name="Group 8" id="8"/>
          <p:cNvGrpSpPr/>
          <p:nvPr/>
        </p:nvGrpSpPr>
        <p:grpSpPr>
          <a:xfrm rot="0">
            <a:off x="2868481" y="1203330"/>
            <a:ext cx="12644055" cy="1114776"/>
            <a:chOff x="0" y="0"/>
            <a:chExt cx="4162728" cy="367011"/>
          </a:xfrm>
        </p:grpSpPr>
        <p:sp>
          <p:nvSpPr>
            <p:cNvPr name="Freeform 9" id="9"/>
            <p:cNvSpPr/>
            <p:nvPr/>
          </p:nvSpPr>
          <p:spPr>
            <a:xfrm flipH="false" flipV="false" rot="0">
              <a:off x="0" y="0"/>
              <a:ext cx="4162728" cy="367011"/>
            </a:xfrm>
            <a:custGeom>
              <a:avLst/>
              <a:gdLst/>
              <a:ahLst/>
              <a:cxnLst/>
              <a:rect r="r" b="b" t="t" l="l"/>
              <a:pathLst>
                <a:path h="367011" w="4162728">
                  <a:moveTo>
                    <a:pt x="15307" y="0"/>
                  </a:moveTo>
                  <a:lnTo>
                    <a:pt x="4147420" y="0"/>
                  </a:lnTo>
                  <a:cubicBezTo>
                    <a:pt x="4151480" y="0"/>
                    <a:pt x="4155374" y="1613"/>
                    <a:pt x="4158245" y="4483"/>
                  </a:cubicBezTo>
                  <a:cubicBezTo>
                    <a:pt x="4161115" y="7354"/>
                    <a:pt x="4162728" y="11248"/>
                    <a:pt x="4162728" y="15307"/>
                  </a:cubicBezTo>
                  <a:lnTo>
                    <a:pt x="4162728" y="351704"/>
                  </a:lnTo>
                  <a:cubicBezTo>
                    <a:pt x="4162728" y="355763"/>
                    <a:pt x="4161115" y="359657"/>
                    <a:pt x="4158245" y="362528"/>
                  </a:cubicBezTo>
                  <a:cubicBezTo>
                    <a:pt x="4155374" y="365398"/>
                    <a:pt x="4151480" y="367011"/>
                    <a:pt x="4147420" y="367011"/>
                  </a:cubicBezTo>
                  <a:lnTo>
                    <a:pt x="15307" y="367011"/>
                  </a:lnTo>
                  <a:cubicBezTo>
                    <a:pt x="11248" y="367011"/>
                    <a:pt x="7354" y="365398"/>
                    <a:pt x="4483" y="362528"/>
                  </a:cubicBezTo>
                  <a:cubicBezTo>
                    <a:pt x="1613" y="359657"/>
                    <a:pt x="0" y="355763"/>
                    <a:pt x="0" y="35170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0" id="10"/>
            <p:cNvSpPr txBox="true"/>
            <p:nvPr/>
          </p:nvSpPr>
          <p:spPr>
            <a:xfrm>
              <a:off x="0" y="-66675"/>
              <a:ext cx="4162728" cy="43368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11" id="11"/>
          <p:cNvSpPr/>
          <p:nvPr/>
        </p:nvSpPr>
        <p:spPr>
          <a:xfrm flipH="false" flipV="false" rot="0">
            <a:off x="5518927" y="2499081"/>
            <a:ext cx="546906" cy="621147"/>
          </a:xfrm>
          <a:custGeom>
            <a:avLst/>
            <a:gdLst/>
            <a:ahLst/>
            <a:cxnLst/>
            <a:rect r="r" b="b" t="t" l="l"/>
            <a:pathLst>
              <a:path h="621147" w="546906">
                <a:moveTo>
                  <a:pt x="0" y="0"/>
                </a:moveTo>
                <a:lnTo>
                  <a:pt x="546906" y="0"/>
                </a:lnTo>
                <a:lnTo>
                  <a:pt x="546906" y="621146"/>
                </a:lnTo>
                <a:lnTo>
                  <a:pt x="0" y="621146"/>
                </a:lnTo>
                <a:lnTo>
                  <a:pt x="0" y="0"/>
                </a:lnTo>
                <a:close/>
              </a:path>
            </a:pathLst>
          </a:custGeom>
          <a:blipFill>
            <a:blip r:embed="rId3"/>
            <a:stretch>
              <a:fillRect l="0" t="0" r="0" b="0"/>
            </a:stretch>
          </a:blipFill>
        </p:spPr>
      </p:sp>
      <p:sp>
        <p:nvSpPr>
          <p:cNvPr name="TextBox 12" id="12"/>
          <p:cNvSpPr txBox="true"/>
          <p:nvPr/>
        </p:nvSpPr>
        <p:spPr>
          <a:xfrm rot="0">
            <a:off x="2775463" y="2508606"/>
            <a:ext cx="2743464" cy="710816"/>
          </a:xfrm>
          <a:prstGeom prst="rect">
            <a:avLst/>
          </a:prstGeom>
        </p:spPr>
        <p:txBody>
          <a:bodyPr anchor="t" rtlCol="false" tIns="0" lIns="0" bIns="0" rIns="0">
            <a:spAutoFit/>
          </a:bodyPr>
          <a:lstStyle/>
          <a:p>
            <a:pPr algn="ctr">
              <a:lnSpc>
                <a:spcPts val="5148"/>
              </a:lnSpc>
              <a:spcBef>
                <a:spcPct val="0"/>
              </a:spcBef>
            </a:pPr>
            <a:r>
              <a:rPr lang="en-US" b="true" sz="4767">
                <a:solidFill>
                  <a:srgbClr val="FFFFFF"/>
                </a:solidFill>
                <a:latin typeface="Poppins Bold"/>
                <a:ea typeface="Poppins Bold"/>
                <a:cs typeface="Poppins Bold"/>
                <a:sym typeface="Poppins Bold"/>
              </a:rPr>
              <a:t>Power BI</a:t>
            </a:r>
          </a:p>
        </p:txBody>
      </p:sp>
      <p:sp>
        <p:nvSpPr>
          <p:cNvPr name="TextBox 13" id="13"/>
          <p:cNvSpPr txBox="true"/>
          <p:nvPr/>
        </p:nvSpPr>
        <p:spPr>
          <a:xfrm rot="0">
            <a:off x="9596303" y="2508606"/>
            <a:ext cx="2468013" cy="710816"/>
          </a:xfrm>
          <a:prstGeom prst="rect">
            <a:avLst/>
          </a:prstGeom>
        </p:spPr>
        <p:txBody>
          <a:bodyPr anchor="t" rtlCol="false" tIns="0" lIns="0" bIns="0" rIns="0">
            <a:spAutoFit/>
          </a:bodyPr>
          <a:lstStyle/>
          <a:p>
            <a:pPr algn="ctr">
              <a:lnSpc>
                <a:spcPts val="5148"/>
              </a:lnSpc>
              <a:spcBef>
                <a:spcPct val="0"/>
              </a:spcBef>
            </a:pPr>
            <a:r>
              <a:rPr lang="en-US" b="true" sz="4767">
                <a:solidFill>
                  <a:srgbClr val="FFFFFF"/>
                </a:solidFill>
                <a:latin typeface="Poppins Bold"/>
                <a:ea typeface="Poppins Bold"/>
                <a:cs typeface="Poppins Bold"/>
                <a:sym typeface="Poppins Bold"/>
              </a:rPr>
              <a:t>Orange</a:t>
            </a:r>
          </a:p>
        </p:txBody>
      </p:sp>
      <p:sp>
        <p:nvSpPr>
          <p:cNvPr name="TextBox 14" id="14"/>
          <p:cNvSpPr txBox="true"/>
          <p:nvPr/>
        </p:nvSpPr>
        <p:spPr>
          <a:xfrm rot="0">
            <a:off x="3281906" y="3656663"/>
            <a:ext cx="4903348" cy="5359527"/>
          </a:xfrm>
          <a:prstGeom prst="rect">
            <a:avLst/>
          </a:prstGeom>
        </p:spPr>
        <p:txBody>
          <a:bodyPr anchor="t" rtlCol="false" tIns="0" lIns="0" bIns="0" rIns="0">
            <a:spAutoFit/>
          </a:bodyPr>
          <a:lstStyle/>
          <a:p>
            <a:pPr algn="l">
              <a:lnSpc>
                <a:spcPts val="2484"/>
              </a:lnSpc>
              <a:spcBef>
                <a:spcPct val="0"/>
              </a:spcBef>
            </a:pPr>
            <a:r>
              <a:rPr lang="en-US" sz="2300">
                <a:solidFill>
                  <a:srgbClr val="FFFFFF"/>
                </a:solidFill>
                <a:latin typeface="Poppins"/>
                <a:ea typeface="Poppins"/>
                <a:cs typeface="Poppins"/>
                <a:sym typeface="Poppins"/>
              </a:rPr>
              <a:t>Pow</a:t>
            </a:r>
            <a:r>
              <a:rPr lang="en-US" sz="2300">
                <a:solidFill>
                  <a:srgbClr val="FFFFFF"/>
                </a:solidFill>
                <a:latin typeface="Poppins"/>
                <a:ea typeface="Poppins"/>
                <a:cs typeface="Poppins"/>
                <a:sym typeface="Poppins"/>
              </a:rPr>
              <a:t>er BI enables comprehensive data visualization and interactive reporting, which help</a:t>
            </a:r>
            <a:r>
              <a:rPr lang="en-US" sz="2300">
                <a:solidFill>
                  <a:srgbClr val="FFFFFF"/>
                </a:solidFill>
                <a:latin typeface="Poppins"/>
                <a:ea typeface="Poppins"/>
                <a:cs typeface="Poppins"/>
                <a:sym typeface="Poppins"/>
              </a:rPr>
              <a:t>s</a:t>
            </a:r>
            <a:r>
              <a:rPr lang="en-US" sz="2300">
                <a:solidFill>
                  <a:srgbClr val="FFFFFF"/>
                </a:solidFill>
                <a:latin typeface="Poppins"/>
                <a:ea typeface="Poppins"/>
                <a:cs typeface="Poppins"/>
                <a:sym typeface="Poppins"/>
              </a:rPr>
              <a:t> </a:t>
            </a:r>
            <a:r>
              <a:rPr lang="en-US" b="true" sz="2300" i="true">
                <a:solidFill>
                  <a:srgbClr val="FFFFFF"/>
                </a:solidFill>
                <a:latin typeface="Poppins Bold Italics"/>
                <a:ea typeface="Poppins Bold Italics"/>
                <a:cs typeface="Poppins Bold Italics"/>
                <a:sym typeface="Poppins Bold Italics"/>
              </a:rPr>
              <a:t>identify key trends</a:t>
            </a:r>
            <a:r>
              <a:rPr lang="en-US" sz="2300">
                <a:solidFill>
                  <a:srgbClr val="FFFFFF"/>
                </a:solidFill>
                <a:latin typeface="Poppins"/>
                <a:ea typeface="Poppins"/>
                <a:cs typeface="Poppins"/>
                <a:sym typeface="Poppins"/>
              </a:rPr>
              <a:t>,</a:t>
            </a:r>
            <a:r>
              <a:rPr lang="en-US" sz="2300">
                <a:solidFill>
                  <a:srgbClr val="FFFFFF"/>
                </a:solidFill>
                <a:latin typeface="Poppins"/>
                <a:ea typeface="Poppins"/>
                <a:cs typeface="Poppins"/>
                <a:sym typeface="Poppins"/>
              </a:rPr>
              <a:t> </a:t>
            </a:r>
            <a:r>
              <a:rPr lang="en-US" b="true" sz="2300" i="true">
                <a:solidFill>
                  <a:srgbClr val="FFFFFF"/>
                </a:solidFill>
                <a:latin typeface="Poppins Bold Italics"/>
                <a:ea typeface="Poppins Bold Italics"/>
                <a:cs typeface="Poppins Bold Italics"/>
                <a:sym typeface="Poppins Bold Italics"/>
              </a:rPr>
              <a:t>patterns</a:t>
            </a:r>
            <a:r>
              <a:rPr lang="en-US" sz="2300">
                <a:solidFill>
                  <a:srgbClr val="FFFFFF"/>
                </a:solidFill>
                <a:latin typeface="Poppins"/>
                <a:ea typeface="Poppins"/>
                <a:cs typeface="Poppins"/>
                <a:sym typeface="Poppins"/>
              </a:rPr>
              <a:t>, and </a:t>
            </a:r>
            <a:r>
              <a:rPr lang="en-US" b="true" sz="2300" i="true">
                <a:solidFill>
                  <a:srgbClr val="FFFFFF"/>
                </a:solidFill>
                <a:latin typeface="Poppins Bold Italics"/>
                <a:ea typeface="Poppins Bold Italics"/>
                <a:cs typeface="Poppins Bold Italics"/>
                <a:sym typeface="Poppins Bold Italics"/>
              </a:rPr>
              <a:t>anomalies</a:t>
            </a:r>
            <a:r>
              <a:rPr lang="en-US" sz="2300">
                <a:solidFill>
                  <a:srgbClr val="FFFFFF"/>
                </a:solidFill>
                <a:latin typeface="Poppins"/>
                <a:ea typeface="Poppins"/>
                <a:cs typeface="Poppins"/>
                <a:sym typeface="Poppins"/>
              </a:rPr>
              <a:t> </a:t>
            </a:r>
            <a:r>
              <a:rPr lang="en-US" sz="2300">
                <a:solidFill>
                  <a:srgbClr val="FFFFFF"/>
                </a:solidFill>
                <a:latin typeface="Poppins"/>
                <a:ea typeface="Poppins"/>
                <a:cs typeface="Poppins"/>
                <a:sym typeface="Poppins"/>
              </a:rPr>
              <a:t>in the sales data. Fo</a:t>
            </a:r>
            <a:r>
              <a:rPr lang="en-US" sz="2300">
                <a:solidFill>
                  <a:srgbClr val="FFFFFF"/>
                </a:solidFill>
                <a:latin typeface="Poppins"/>
                <a:ea typeface="Poppins"/>
                <a:cs typeface="Poppins"/>
                <a:sym typeface="Poppins"/>
              </a:rPr>
              <a:t>r example, by creati</a:t>
            </a:r>
            <a:r>
              <a:rPr lang="en-US" sz="2300">
                <a:solidFill>
                  <a:srgbClr val="FFFFFF"/>
                </a:solidFill>
                <a:latin typeface="Poppins"/>
                <a:ea typeface="Poppins"/>
                <a:cs typeface="Poppins"/>
                <a:sym typeface="Poppins"/>
              </a:rPr>
              <a:t>ng line charts and bar charts, </a:t>
            </a:r>
            <a:r>
              <a:rPr lang="en-US" sz="2300" u="sng">
                <a:solidFill>
                  <a:srgbClr val="FFFFFF"/>
                </a:solidFill>
                <a:latin typeface="Poppins"/>
                <a:ea typeface="Poppins"/>
                <a:cs typeface="Poppins"/>
                <a:sym typeface="Poppins"/>
              </a:rPr>
              <a:t>I was able to identify best-selling products</a:t>
            </a:r>
            <a:r>
              <a:rPr lang="en-US" sz="2300">
                <a:solidFill>
                  <a:srgbClr val="FFFFFF"/>
                </a:solidFill>
                <a:latin typeface="Poppins"/>
                <a:ea typeface="Poppins"/>
                <a:cs typeface="Poppins"/>
                <a:sym typeface="Poppins"/>
              </a:rPr>
              <a:t>, </a:t>
            </a:r>
            <a:r>
              <a:rPr lang="en-US" sz="2300" u="sng">
                <a:solidFill>
                  <a:srgbClr val="FFFFFF"/>
                </a:solidFill>
                <a:latin typeface="Poppins"/>
                <a:ea typeface="Poppins"/>
                <a:cs typeface="Poppins"/>
                <a:sym typeface="Poppins"/>
              </a:rPr>
              <a:t>seasonal fluctuations</a:t>
            </a:r>
            <a:r>
              <a:rPr lang="en-US" sz="2300">
                <a:solidFill>
                  <a:srgbClr val="FFFFFF"/>
                </a:solidFill>
                <a:latin typeface="Poppins"/>
                <a:ea typeface="Poppins"/>
                <a:cs typeface="Poppins"/>
                <a:sym typeface="Poppins"/>
              </a:rPr>
              <a:t>, and </a:t>
            </a:r>
            <a:r>
              <a:rPr lang="en-US" sz="2300" u="sng">
                <a:solidFill>
                  <a:srgbClr val="FFFFFF"/>
                </a:solidFill>
                <a:latin typeface="Poppins"/>
                <a:ea typeface="Poppins"/>
                <a:cs typeface="Poppins"/>
                <a:sym typeface="Poppins"/>
              </a:rPr>
              <a:t>sales growth trends over time</a:t>
            </a:r>
            <a:r>
              <a:rPr lang="en-US" sz="2300">
                <a:solidFill>
                  <a:srgbClr val="FFFFFF"/>
                </a:solidFill>
                <a:latin typeface="Poppins"/>
                <a:ea typeface="Poppins"/>
                <a:cs typeface="Poppins"/>
                <a:sym typeface="Poppins"/>
              </a:rPr>
              <a:t>. These insights are useful in the decision making process because they, for example, help the marketing team adjust campaigns based on performance and enable inventory management to align stock with demand. </a:t>
            </a:r>
          </a:p>
        </p:txBody>
      </p:sp>
      <p:sp>
        <p:nvSpPr>
          <p:cNvPr name="TextBox 15" id="15"/>
          <p:cNvSpPr txBox="true"/>
          <p:nvPr/>
        </p:nvSpPr>
        <p:spPr>
          <a:xfrm rot="0">
            <a:off x="10102746" y="3656663"/>
            <a:ext cx="4903348" cy="4416552"/>
          </a:xfrm>
          <a:prstGeom prst="rect">
            <a:avLst/>
          </a:prstGeom>
        </p:spPr>
        <p:txBody>
          <a:bodyPr anchor="t" rtlCol="false" tIns="0" lIns="0" bIns="0" rIns="0">
            <a:spAutoFit/>
          </a:bodyPr>
          <a:lstStyle/>
          <a:p>
            <a:pPr algn="l">
              <a:lnSpc>
                <a:spcPts val="2484"/>
              </a:lnSpc>
              <a:spcBef>
                <a:spcPct val="0"/>
              </a:spcBef>
            </a:pPr>
            <a:r>
              <a:rPr lang="en-US" sz="2300">
                <a:solidFill>
                  <a:srgbClr val="FFFFFF"/>
                </a:solidFill>
                <a:latin typeface="Poppins"/>
                <a:ea typeface="Poppins"/>
                <a:cs typeface="Poppins"/>
                <a:sym typeface="Poppins"/>
              </a:rPr>
              <a:t>Orange enables forecasting algorithms such as ARIMA</a:t>
            </a:r>
            <a:r>
              <a:rPr lang="en-US" sz="2300">
                <a:solidFill>
                  <a:srgbClr val="FFFFFF"/>
                </a:solidFill>
                <a:latin typeface="Poppins"/>
                <a:ea typeface="Poppins"/>
                <a:cs typeface="Poppins"/>
                <a:sym typeface="Poppins"/>
              </a:rPr>
              <a:t> </a:t>
            </a:r>
            <a:r>
              <a:rPr lang="en-US" b="true" sz="2300" i="true">
                <a:solidFill>
                  <a:srgbClr val="FFFFFF"/>
                </a:solidFill>
                <a:latin typeface="Poppins Bold Italics"/>
                <a:ea typeface="Poppins Bold Italics"/>
                <a:cs typeface="Poppins Bold Italics"/>
                <a:sym typeface="Poppins Bold Italics"/>
              </a:rPr>
              <a:t>to make predictions about sales in the future</a:t>
            </a:r>
            <a:r>
              <a:rPr lang="en-US" sz="2300">
                <a:solidFill>
                  <a:srgbClr val="FFFFFF"/>
                </a:solidFill>
                <a:latin typeface="Poppins"/>
                <a:ea typeface="Poppins"/>
                <a:cs typeface="Poppins"/>
                <a:sym typeface="Poppins"/>
              </a:rPr>
              <a:t> by analysing historical data. When sales are forecasted for each laptop model, the business can make solid based decisions </a:t>
            </a:r>
            <a:r>
              <a:rPr lang="en-US" sz="2300" u="sng">
                <a:solidFill>
                  <a:srgbClr val="FFFFFF"/>
                </a:solidFill>
                <a:latin typeface="Poppins"/>
                <a:ea typeface="Poppins"/>
                <a:cs typeface="Poppins"/>
                <a:sym typeface="Poppins"/>
              </a:rPr>
              <a:t>to arrange for the right inventory in advance</a:t>
            </a:r>
            <a:r>
              <a:rPr lang="en-US" sz="2300">
                <a:solidFill>
                  <a:srgbClr val="FFFFFF"/>
                </a:solidFill>
                <a:latin typeface="Poppins"/>
                <a:ea typeface="Poppins"/>
                <a:cs typeface="Poppins"/>
                <a:sym typeface="Poppins"/>
              </a:rPr>
              <a:t> and </a:t>
            </a:r>
            <a:r>
              <a:rPr lang="en-US" sz="2300" u="sng">
                <a:solidFill>
                  <a:srgbClr val="FFFFFF"/>
                </a:solidFill>
                <a:latin typeface="Poppins"/>
                <a:ea typeface="Poppins"/>
                <a:cs typeface="Poppins"/>
                <a:sym typeface="Poppins"/>
              </a:rPr>
              <a:t>avoid both overstocking and running out of stock</a:t>
            </a:r>
            <a:r>
              <a:rPr lang="en-US" sz="2300">
                <a:solidFill>
                  <a:srgbClr val="FFFFFF"/>
                </a:solidFill>
                <a:latin typeface="Poppins"/>
                <a:ea typeface="Poppins"/>
                <a:cs typeface="Poppins"/>
                <a:sym typeface="Poppins"/>
              </a:rPr>
              <a:t>. It allows sales staff to choose the right ways to advertise and market products moving forward.</a:t>
            </a:r>
          </a:p>
        </p:txBody>
      </p:sp>
      <p:sp>
        <p:nvSpPr>
          <p:cNvPr name="TextBox 16" id="16"/>
          <p:cNvSpPr txBox="true"/>
          <p:nvPr/>
        </p:nvSpPr>
        <p:spPr>
          <a:xfrm rot="0">
            <a:off x="3069709" y="1212855"/>
            <a:ext cx="12627370" cy="976209"/>
          </a:xfrm>
          <a:prstGeom prst="rect">
            <a:avLst/>
          </a:prstGeom>
        </p:spPr>
        <p:txBody>
          <a:bodyPr anchor="t" rtlCol="false" tIns="0" lIns="0" bIns="0" rIns="0">
            <a:spAutoFit/>
          </a:bodyPr>
          <a:lstStyle/>
          <a:p>
            <a:pPr algn="l">
              <a:lnSpc>
                <a:spcPts val="3705"/>
              </a:lnSpc>
              <a:spcBef>
                <a:spcPct val="0"/>
              </a:spcBef>
            </a:pPr>
            <a:r>
              <a:rPr lang="en-US" sz="3430">
                <a:solidFill>
                  <a:srgbClr val="FCFBFA"/>
                </a:solidFill>
                <a:latin typeface="Poppins"/>
                <a:ea typeface="Poppins"/>
                <a:cs typeface="Poppins"/>
                <a:sym typeface="Poppins"/>
              </a:rPr>
              <a:t>How These Tools </a:t>
            </a:r>
            <a:r>
              <a:rPr lang="en-US" b="true" sz="3430" i="true">
                <a:solidFill>
                  <a:srgbClr val="FCFBFA"/>
                </a:solidFill>
                <a:latin typeface="Poppins Bold Italics"/>
                <a:ea typeface="Poppins Bold Italics"/>
                <a:cs typeface="Poppins Bold Italics"/>
                <a:sym typeface="Poppins Bold Italics"/>
              </a:rPr>
              <a:t>Convert Data into Actionable Insights for Decision Making</a:t>
            </a:r>
          </a:p>
        </p:txBody>
      </p:sp>
      <p:sp>
        <p:nvSpPr>
          <p:cNvPr name="Freeform 17" id="17"/>
          <p:cNvSpPr/>
          <p:nvPr/>
        </p:nvSpPr>
        <p:spPr>
          <a:xfrm flipH="false" flipV="false" rot="0">
            <a:off x="12064316" y="2569797"/>
            <a:ext cx="663447" cy="649625"/>
          </a:xfrm>
          <a:custGeom>
            <a:avLst/>
            <a:gdLst/>
            <a:ahLst/>
            <a:cxnLst/>
            <a:rect r="r" b="b" t="t" l="l"/>
            <a:pathLst>
              <a:path h="649625" w="663447">
                <a:moveTo>
                  <a:pt x="0" y="0"/>
                </a:moveTo>
                <a:lnTo>
                  <a:pt x="663446" y="0"/>
                </a:lnTo>
                <a:lnTo>
                  <a:pt x="663446" y="649625"/>
                </a:lnTo>
                <a:lnTo>
                  <a:pt x="0" y="649625"/>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508391">
            <a:off x="10129667" y="3859409"/>
            <a:ext cx="1435174" cy="1300627"/>
          </a:xfrm>
          <a:custGeom>
            <a:avLst/>
            <a:gdLst/>
            <a:ahLst/>
            <a:cxnLst/>
            <a:rect r="r" b="b" t="t" l="l"/>
            <a:pathLst>
              <a:path h="1300627" w="1435174">
                <a:moveTo>
                  <a:pt x="0" y="0"/>
                </a:moveTo>
                <a:lnTo>
                  <a:pt x="1435174" y="0"/>
                </a:lnTo>
                <a:lnTo>
                  <a:pt x="1435174" y="1300626"/>
                </a:lnTo>
                <a:lnTo>
                  <a:pt x="0" y="1300626"/>
                </a:lnTo>
                <a:lnTo>
                  <a:pt x="0" y="0"/>
                </a:lnTo>
                <a:close/>
              </a:path>
            </a:pathLst>
          </a:custGeom>
          <a:blipFill>
            <a:blip r:embed="rId3"/>
            <a:stretch>
              <a:fillRect l="0" t="0" r="0" b="0"/>
            </a:stretch>
          </a:blipFill>
        </p:spPr>
      </p:sp>
      <p:sp>
        <p:nvSpPr>
          <p:cNvPr name="TextBox 3" id="3"/>
          <p:cNvSpPr txBox="true"/>
          <p:nvPr/>
        </p:nvSpPr>
        <p:spPr>
          <a:xfrm rot="0">
            <a:off x="1733665" y="4452572"/>
            <a:ext cx="8554295" cy="971550"/>
          </a:xfrm>
          <a:prstGeom prst="rect">
            <a:avLst/>
          </a:prstGeom>
        </p:spPr>
        <p:txBody>
          <a:bodyPr anchor="t" rtlCol="false" tIns="0" lIns="0" bIns="0" rIns="0">
            <a:spAutoFit/>
          </a:bodyPr>
          <a:lstStyle/>
          <a:p>
            <a:pPr algn="l">
              <a:lnSpc>
                <a:spcPts val="7258"/>
              </a:lnSpc>
            </a:pPr>
            <a:r>
              <a:rPr lang="en-US" sz="6048" b="true">
                <a:solidFill>
                  <a:srgbClr val="FFFFFF"/>
                </a:solidFill>
                <a:latin typeface="Poppins Bold"/>
                <a:ea typeface="Poppins Bold"/>
                <a:cs typeface="Poppins Bold"/>
                <a:sym typeface="Poppins Bold"/>
              </a:rPr>
              <a:t>The Business Process  </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sp>
        <p:nvSpPr>
          <p:cNvPr name="TextBox 2" id="2"/>
          <p:cNvSpPr txBox="true"/>
          <p:nvPr/>
        </p:nvSpPr>
        <p:spPr>
          <a:xfrm rot="0">
            <a:off x="3188383" y="3212291"/>
            <a:ext cx="11911233" cy="4942713"/>
          </a:xfrm>
          <a:prstGeom prst="rect">
            <a:avLst/>
          </a:prstGeom>
        </p:spPr>
        <p:txBody>
          <a:bodyPr anchor="t" rtlCol="false" tIns="0" lIns="0" bIns="0" rIns="0">
            <a:spAutoFit/>
          </a:bodyPr>
          <a:lstStyle/>
          <a:p>
            <a:pPr algn="just">
              <a:lnSpc>
                <a:spcPts val="4895"/>
              </a:lnSpc>
            </a:pPr>
            <a:r>
              <a:rPr lang="en-US" sz="3199">
                <a:solidFill>
                  <a:srgbClr val="FFFFFF"/>
                </a:solidFill>
                <a:latin typeface="Poppins"/>
                <a:ea typeface="Poppins"/>
                <a:cs typeface="Poppins"/>
                <a:sym typeface="Poppins"/>
              </a:rPr>
              <a:t>My data science solution supports two critical business processes; </a:t>
            </a:r>
            <a:r>
              <a:rPr lang="en-US" b="true" sz="3199" i="true">
                <a:solidFill>
                  <a:srgbClr val="FFFFFF"/>
                </a:solidFill>
                <a:latin typeface="Poppins Bold Italics"/>
                <a:ea typeface="Poppins Bold Italics"/>
                <a:cs typeface="Poppins Bold Italics"/>
                <a:sym typeface="Poppins Bold Italics"/>
              </a:rPr>
              <a:t>data analysis using Power BI </a:t>
            </a:r>
            <a:r>
              <a:rPr lang="en-US" sz="3199">
                <a:solidFill>
                  <a:srgbClr val="FFFFFF"/>
                </a:solidFill>
                <a:latin typeface="Poppins"/>
                <a:ea typeface="Poppins"/>
                <a:cs typeface="Poppins"/>
                <a:sym typeface="Poppins"/>
              </a:rPr>
              <a:t>and </a:t>
            </a:r>
            <a:r>
              <a:rPr lang="en-US" b="true" sz="3199" i="true">
                <a:solidFill>
                  <a:srgbClr val="FFFFFF"/>
                </a:solidFill>
                <a:latin typeface="Poppins Bold Italics"/>
                <a:ea typeface="Poppins Bold Italics"/>
                <a:cs typeface="Poppins Bold Italics"/>
                <a:sym typeface="Poppins Bold Italics"/>
              </a:rPr>
              <a:t>forecasting using Orange (ARIMA).</a:t>
            </a:r>
          </a:p>
          <a:p>
            <a:pPr algn="just">
              <a:lnSpc>
                <a:spcPts val="4895"/>
              </a:lnSpc>
            </a:pPr>
          </a:p>
          <a:p>
            <a:pPr algn="just">
              <a:lnSpc>
                <a:spcPts val="4895"/>
              </a:lnSpc>
            </a:pPr>
            <a:r>
              <a:rPr lang="en-US" sz="3199">
                <a:solidFill>
                  <a:srgbClr val="FFFFFF"/>
                </a:solidFill>
                <a:latin typeface="Poppins"/>
                <a:ea typeface="Poppins"/>
                <a:cs typeface="Poppins"/>
                <a:sym typeface="Poppins"/>
              </a:rPr>
              <a:t>These processes help drive data-driven decisions in marketing, sales, and more, ensuring that resources are allocated effectively and strategies are optimised.</a:t>
            </a:r>
          </a:p>
          <a:p>
            <a:pPr algn="just">
              <a:lnSpc>
                <a:spcPts val="4895"/>
              </a:lnSpc>
            </a:pPr>
          </a:p>
        </p:txBody>
      </p:sp>
      <p:sp>
        <p:nvSpPr>
          <p:cNvPr name="TextBox 3" id="3"/>
          <p:cNvSpPr txBox="true"/>
          <p:nvPr/>
        </p:nvSpPr>
        <p:spPr>
          <a:xfrm rot="0">
            <a:off x="1028700" y="971550"/>
            <a:ext cx="12788348" cy="1695450"/>
          </a:xfrm>
          <a:prstGeom prst="rect">
            <a:avLst/>
          </a:prstGeom>
        </p:spPr>
        <p:txBody>
          <a:bodyPr anchor="t" rtlCol="false" tIns="0" lIns="0" bIns="0" rIns="0">
            <a:spAutoFit/>
          </a:bodyPr>
          <a:lstStyle/>
          <a:p>
            <a:pPr algn="l">
              <a:lnSpc>
                <a:spcPts val="6478"/>
              </a:lnSpc>
            </a:pPr>
            <a:r>
              <a:rPr lang="en-US" sz="5398" b="true">
                <a:solidFill>
                  <a:srgbClr val="FFFFFF"/>
                </a:solidFill>
                <a:latin typeface="Poppins Bold"/>
                <a:ea typeface="Poppins Bold"/>
                <a:cs typeface="Poppins Bold"/>
                <a:sym typeface="Poppins Bold"/>
              </a:rPr>
              <a:t>The Business Process Supported by Data Science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223961" y="2074332"/>
            <a:ext cx="4561776" cy="4189730"/>
            <a:chOff x="0" y="0"/>
            <a:chExt cx="2101405" cy="1930020"/>
          </a:xfrm>
        </p:grpSpPr>
        <p:sp>
          <p:nvSpPr>
            <p:cNvPr name="Freeform 3" id="3"/>
            <p:cNvSpPr/>
            <p:nvPr/>
          </p:nvSpPr>
          <p:spPr>
            <a:xfrm flipH="false" flipV="false" rot="0">
              <a:off x="0" y="0"/>
              <a:ext cx="2101405" cy="1930020"/>
            </a:xfrm>
            <a:custGeom>
              <a:avLst/>
              <a:gdLst/>
              <a:ahLst/>
              <a:cxnLst/>
              <a:rect r="r" b="b" t="t" l="l"/>
              <a:pathLst>
                <a:path h="1930020" w="2101405">
                  <a:moveTo>
                    <a:pt x="42428" y="0"/>
                  </a:moveTo>
                  <a:lnTo>
                    <a:pt x="2058977" y="0"/>
                  </a:lnTo>
                  <a:cubicBezTo>
                    <a:pt x="2082410" y="0"/>
                    <a:pt x="2101405" y="18996"/>
                    <a:pt x="2101405" y="42428"/>
                  </a:cubicBezTo>
                  <a:lnTo>
                    <a:pt x="2101405" y="1887592"/>
                  </a:lnTo>
                  <a:cubicBezTo>
                    <a:pt x="2101405" y="1911025"/>
                    <a:pt x="2082410" y="1930020"/>
                    <a:pt x="2058977" y="1930020"/>
                  </a:cubicBezTo>
                  <a:lnTo>
                    <a:pt x="42428" y="1930020"/>
                  </a:lnTo>
                  <a:cubicBezTo>
                    <a:pt x="31176" y="1930020"/>
                    <a:pt x="20384" y="1925550"/>
                    <a:pt x="12427" y="1917593"/>
                  </a:cubicBezTo>
                  <a:cubicBezTo>
                    <a:pt x="4470" y="1909637"/>
                    <a:pt x="0" y="1898845"/>
                    <a:pt x="0" y="1887592"/>
                  </a:cubicBezTo>
                  <a:lnTo>
                    <a:pt x="0" y="42428"/>
                  </a:lnTo>
                  <a:cubicBezTo>
                    <a:pt x="0" y="18996"/>
                    <a:pt x="18996" y="0"/>
                    <a:pt x="42428" y="0"/>
                  </a:cubicBezTo>
                  <a:close/>
                </a:path>
              </a:pathLst>
            </a:custGeom>
            <a:solidFill>
              <a:srgbClr val="2A3066">
                <a:alpha val="55686"/>
              </a:srgbClr>
            </a:solidFill>
          </p:spPr>
        </p:sp>
        <p:sp>
          <p:nvSpPr>
            <p:cNvPr name="TextBox 4" id="4"/>
            <p:cNvSpPr txBox="true"/>
            <p:nvPr/>
          </p:nvSpPr>
          <p:spPr>
            <a:xfrm>
              <a:off x="0" y="-66675"/>
              <a:ext cx="2101405" cy="199669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5" id="5"/>
          <p:cNvSpPr/>
          <p:nvPr/>
        </p:nvSpPr>
        <p:spPr>
          <a:xfrm flipH="false" flipV="false" rot="0">
            <a:off x="1980488" y="1028700"/>
            <a:ext cx="498379" cy="524649"/>
          </a:xfrm>
          <a:custGeom>
            <a:avLst/>
            <a:gdLst/>
            <a:ahLst/>
            <a:cxnLst/>
            <a:rect r="r" b="b" t="t" l="l"/>
            <a:pathLst>
              <a:path h="524649" w="498379">
                <a:moveTo>
                  <a:pt x="0" y="0"/>
                </a:moveTo>
                <a:lnTo>
                  <a:pt x="498380" y="0"/>
                </a:lnTo>
                <a:lnTo>
                  <a:pt x="498380" y="524649"/>
                </a:lnTo>
                <a:lnTo>
                  <a:pt x="0" y="524649"/>
                </a:lnTo>
                <a:lnTo>
                  <a:pt x="0" y="0"/>
                </a:lnTo>
                <a:close/>
              </a:path>
            </a:pathLst>
          </a:custGeom>
          <a:blipFill>
            <a:blip r:embed="rId3"/>
            <a:stretch>
              <a:fillRect l="0" t="-3943" r="0" b="-3943"/>
            </a:stretch>
          </a:blipFill>
        </p:spPr>
      </p:sp>
      <p:grpSp>
        <p:nvGrpSpPr>
          <p:cNvPr name="Group 6" id="6"/>
          <p:cNvGrpSpPr/>
          <p:nvPr/>
        </p:nvGrpSpPr>
        <p:grpSpPr>
          <a:xfrm rot="0">
            <a:off x="6946927" y="2074332"/>
            <a:ext cx="4561776" cy="4189730"/>
            <a:chOff x="0" y="0"/>
            <a:chExt cx="2101405" cy="1930020"/>
          </a:xfrm>
        </p:grpSpPr>
        <p:sp>
          <p:nvSpPr>
            <p:cNvPr name="Freeform 7" id="7"/>
            <p:cNvSpPr/>
            <p:nvPr/>
          </p:nvSpPr>
          <p:spPr>
            <a:xfrm flipH="false" flipV="false" rot="0">
              <a:off x="0" y="0"/>
              <a:ext cx="2101405" cy="1930020"/>
            </a:xfrm>
            <a:custGeom>
              <a:avLst/>
              <a:gdLst/>
              <a:ahLst/>
              <a:cxnLst/>
              <a:rect r="r" b="b" t="t" l="l"/>
              <a:pathLst>
                <a:path h="1930020" w="2101405">
                  <a:moveTo>
                    <a:pt x="42428" y="0"/>
                  </a:moveTo>
                  <a:lnTo>
                    <a:pt x="2058977" y="0"/>
                  </a:lnTo>
                  <a:cubicBezTo>
                    <a:pt x="2082410" y="0"/>
                    <a:pt x="2101405" y="18996"/>
                    <a:pt x="2101405" y="42428"/>
                  </a:cubicBezTo>
                  <a:lnTo>
                    <a:pt x="2101405" y="1887592"/>
                  </a:lnTo>
                  <a:cubicBezTo>
                    <a:pt x="2101405" y="1911025"/>
                    <a:pt x="2082410" y="1930020"/>
                    <a:pt x="2058977" y="1930020"/>
                  </a:cubicBezTo>
                  <a:lnTo>
                    <a:pt x="42428" y="1930020"/>
                  </a:lnTo>
                  <a:cubicBezTo>
                    <a:pt x="31176" y="1930020"/>
                    <a:pt x="20384" y="1925550"/>
                    <a:pt x="12427" y="1917593"/>
                  </a:cubicBezTo>
                  <a:cubicBezTo>
                    <a:pt x="4470" y="1909637"/>
                    <a:pt x="0" y="1898845"/>
                    <a:pt x="0" y="1887592"/>
                  </a:cubicBezTo>
                  <a:lnTo>
                    <a:pt x="0" y="42428"/>
                  </a:lnTo>
                  <a:cubicBezTo>
                    <a:pt x="0" y="18996"/>
                    <a:pt x="18996" y="0"/>
                    <a:pt x="42428" y="0"/>
                  </a:cubicBezTo>
                  <a:close/>
                </a:path>
              </a:pathLst>
            </a:custGeom>
            <a:solidFill>
              <a:srgbClr val="2A3066">
                <a:alpha val="55686"/>
              </a:srgbClr>
            </a:solidFill>
          </p:spPr>
        </p:sp>
        <p:sp>
          <p:nvSpPr>
            <p:cNvPr name="TextBox 8" id="8"/>
            <p:cNvSpPr txBox="true"/>
            <p:nvPr/>
          </p:nvSpPr>
          <p:spPr>
            <a:xfrm>
              <a:off x="0" y="-66675"/>
              <a:ext cx="2101405" cy="1996695"/>
            </a:xfrm>
            <a:prstGeom prst="rect">
              <a:avLst/>
            </a:prstGeom>
          </p:spPr>
          <p:txBody>
            <a:bodyPr anchor="ctr" rtlCol="false" tIns="50800" lIns="50800" bIns="50800" rIns="50800"/>
            <a:lstStyle/>
            <a:p>
              <a:pPr algn="ctr">
                <a:lnSpc>
                  <a:spcPts val="2921"/>
                </a:lnSpc>
              </a:pPr>
            </a:p>
          </p:txBody>
        </p:sp>
      </p:grpSp>
      <p:grpSp>
        <p:nvGrpSpPr>
          <p:cNvPr name="Group 9" id="9"/>
          <p:cNvGrpSpPr/>
          <p:nvPr/>
        </p:nvGrpSpPr>
        <p:grpSpPr>
          <a:xfrm rot="0">
            <a:off x="2321660" y="2701851"/>
            <a:ext cx="133153" cy="126339"/>
            <a:chOff x="0" y="0"/>
            <a:chExt cx="856644" cy="812800"/>
          </a:xfrm>
        </p:grpSpPr>
        <p:sp>
          <p:nvSpPr>
            <p:cNvPr name="Freeform 10" id="10"/>
            <p:cNvSpPr/>
            <p:nvPr/>
          </p:nvSpPr>
          <p:spPr>
            <a:xfrm flipH="false" flipV="false" rot="0">
              <a:off x="0" y="0"/>
              <a:ext cx="856644" cy="812800"/>
            </a:xfrm>
            <a:custGeom>
              <a:avLst/>
              <a:gdLst/>
              <a:ahLst/>
              <a:cxnLst/>
              <a:rect r="r" b="b" t="t" l="l"/>
              <a:pathLst>
                <a:path h="812800" w="856644">
                  <a:moveTo>
                    <a:pt x="428322" y="0"/>
                  </a:moveTo>
                  <a:cubicBezTo>
                    <a:pt x="191766" y="0"/>
                    <a:pt x="0" y="181951"/>
                    <a:pt x="0" y="406400"/>
                  </a:cubicBezTo>
                  <a:cubicBezTo>
                    <a:pt x="0" y="630849"/>
                    <a:pt x="191766" y="812800"/>
                    <a:pt x="428322" y="812800"/>
                  </a:cubicBezTo>
                  <a:cubicBezTo>
                    <a:pt x="664877" y="812800"/>
                    <a:pt x="856644" y="630849"/>
                    <a:pt x="856644" y="406400"/>
                  </a:cubicBezTo>
                  <a:cubicBezTo>
                    <a:pt x="856644" y="181951"/>
                    <a:pt x="664877" y="0"/>
                    <a:pt x="428322" y="0"/>
                  </a:cubicBezTo>
                  <a:close/>
                </a:path>
              </a:pathLst>
            </a:custGeom>
            <a:solidFill>
              <a:srgbClr val="FCFBFA"/>
            </a:solidFill>
          </p:spPr>
        </p:sp>
        <p:sp>
          <p:nvSpPr>
            <p:cNvPr name="TextBox 11" id="11"/>
            <p:cNvSpPr txBox="true"/>
            <p:nvPr/>
          </p:nvSpPr>
          <p:spPr>
            <a:xfrm>
              <a:off x="80310" y="9525"/>
              <a:ext cx="696023" cy="727075"/>
            </a:xfrm>
            <a:prstGeom prst="rect">
              <a:avLst/>
            </a:prstGeom>
          </p:spPr>
          <p:txBody>
            <a:bodyPr anchor="ctr" rtlCol="false" tIns="50800" lIns="50800" bIns="50800" rIns="50800"/>
            <a:lstStyle/>
            <a:p>
              <a:pPr algn="ctr">
                <a:lnSpc>
                  <a:spcPts val="2921"/>
                </a:lnSpc>
              </a:pPr>
            </a:p>
          </p:txBody>
        </p:sp>
      </p:grpSp>
      <p:grpSp>
        <p:nvGrpSpPr>
          <p:cNvPr name="Group 12" id="12"/>
          <p:cNvGrpSpPr/>
          <p:nvPr/>
        </p:nvGrpSpPr>
        <p:grpSpPr>
          <a:xfrm rot="0">
            <a:off x="2321660" y="4341076"/>
            <a:ext cx="133153" cy="126339"/>
            <a:chOff x="0" y="0"/>
            <a:chExt cx="856644" cy="812800"/>
          </a:xfrm>
        </p:grpSpPr>
        <p:sp>
          <p:nvSpPr>
            <p:cNvPr name="Freeform 13" id="13"/>
            <p:cNvSpPr/>
            <p:nvPr/>
          </p:nvSpPr>
          <p:spPr>
            <a:xfrm flipH="false" flipV="false" rot="0">
              <a:off x="0" y="0"/>
              <a:ext cx="856644" cy="812800"/>
            </a:xfrm>
            <a:custGeom>
              <a:avLst/>
              <a:gdLst/>
              <a:ahLst/>
              <a:cxnLst/>
              <a:rect r="r" b="b" t="t" l="l"/>
              <a:pathLst>
                <a:path h="812800" w="856644">
                  <a:moveTo>
                    <a:pt x="428322" y="0"/>
                  </a:moveTo>
                  <a:cubicBezTo>
                    <a:pt x="191766" y="0"/>
                    <a:pt x="0" y="181951"/>
                    <a:pt x="0" y="406400"/>
                  </a:cubicBezTo>
                  <a:cubicBezTo>
                    <a:pt x="0" y="630849"/>
                    <a:pt x="191766" y="812800"/>
                    <a:pt x="428322" y="812800"/>
                  </a:cubicBezTo>
                  <a:cubicBezTo>
                    <a:pt x="664877" y="812800"/>
                    <a:pt x="856644" y="630849"/>
                    <a:pt x="856644" y="406400"/>
                  </a:cubicBezTo>
                  <a:cubicBezTo>
                    <a:pt x="856644" y="181951"/>
                    <a:pt x="664877" y="0"/>
                    <a:pt x="428322" y="0"/>
                  </a:cubicBezTo>
                  <a:close/>
                </a:path>
              </a:pathLst>
            </a:custGeom>
            <a:solidFill>
              <a:srgbClr val="FCFBFA"/>
            </a:solidFill>
          </p:spPr>
        </p:sp>
        <p:sp>
          <p:nvSpPr>
            <p:cNvPr name="TextBox 14" id="14"/>
            <p:cNvSpPr txBox="true"/>
            <p:nvPr/>
          </p:nvSpPr>
          <p:spPr>
            <a:xfrm>
              <a:off x="80310" y="9525"/>
              <a:ext cx="696023" cy="727075"/>
            </a:xfrm>
            <a:prstGeom prst="rect">
              <a:avLst/>
            </a:prstGeom>
          </p:spPr>
          <p:txBody>
            <a:bodyPr anchor="ctr" rtlCol="false" tIns="50800" lIns="50800" bIns="50800" rIns="50800"/>
            <a:lstStyle/>
            <a:p>
              <a:pPr algn="ctr">
                <a:lnSpc>
                  <a:spcPts val="2921"/>
                </a:lnSpc>
              </a:pPr>
            </a:p>
          </p:txBody>
        </p:sp>
      </p:grpSp>
      <p:grpSp>
        <p:nvGrpSpPr>
          <p:cNvPr name="Group 15" id="15"/>
          <p:cNvGrpSpPr/>
          <p:nvPr/>
        </p:nvGrpSpPr>
        <p:grpSpPr>
          <a:xfrm rot="0">
            <a:off x="7072435" y="2612414"/>
            <a:ext cx="133153" cy="126339"/>
            <a:chOff x="0" y="0"/>
            <a:chExt cx="856644" cy="812800"/>
          </a:xfrm>
        </p:grpSpPr>
        <p:sp>
          <p:nvSpPr>
            <p:cNvPr name="Freeform 16" id="16"/>
            <p:cNvSpPr/>
            <p:nvPr/>
          </p:nvSpPr>
          <p:spPr>
            <a:xfrm flipH="false" flipV="false" rot="0">
              <a:off x="0" y="0"/>
              <a:ext cx="856644" cy="812800"/>
            </a:xfrm>
            <a:custGeom>
              <a:avLst/>
              <a:gdLst/>
              <a:ahLst/>
              <a:cxnLst/>
              <a:rect r="r" b="b" t="t" l="l"/>
              <a:pathLst>
                <a:path h="812800" w="856644">
                  <a:moveTo>
                    <a:pt x="428322" y="0"/>
                  </a:moveTo>
                  <a:cubicBezTo>
                    <a:pt x="191766" y="0"/>
                    <a:pt x="0" y="181951"/>
                    <a:pt x="0" y="406400"/>
                  </a:cubicBezTo>
                  <a:cubicBezTo>
                    <a:pt x="0" y="630849"/>
                    <a:pt x="191766" y="812800"/>
                    <a:pt x="428322" y="812800"/>
                  </a:cubicBezTo>
                  <a:cubicBezTo>
                    <a:pt x="664877" y="812800"/>
                    <a:pt x="856644" y="630849"/>
                    <a:pt x="856644" y="406400"/>
                  </a:cubicBezTo>
                  <a:cubicBezTo>
                    <a:pt x="856644" y="181951"/>
                    <a:pt x="664877" y="0"/>
                    <a:pt x="428322" y="0"/>
                  </a:cubicBezTo>
                  <a:close/>
                </a:path>
              </a:pathLst>
            </a:custGeom>
            <a:solidFill>
              <a:srgbClr val="FCFBFA"/>
            </a:solidFill>
          </p:spPr>
        </p:sp>
        <p:sp>
          <p:nvSpPr>
            <p:cNvPr name="TextBox 17" id="17"/>
            <p:cNvSpPr txBox="true"/>
            <p:nvPr/>
          </p:nvSpPr>
          <p:spPr>
            <a:xfrm>
              <a:off x="80310" y="9525"/>
              <a:ext cx="696023" cy="727075"/>
            </a:xfrm>
            <a:prstGeom prst="rect">
              <a:avLst/>
            </a:prstGeom>
          </p:spPr>
          <p:txBody>
            <a:bodyPr anchor="ctr" rtlCol="false" tIns="50800" lIns="50800" bIns="50800" rIns="50800"/>
            <a:lstStyle/>
            <a:p>
              <a:pPr algn="ctr">
                <a:lnSpc>
                  <a:spcPts val="2921"/>
                </a:lnSpc>
              </a:pPr>
            </a:p>
          </p:txBody>
        </p:sp>
      </p:grpSp>
      <p:grpSp>
        <p:nvGrpSpPr>
          <p:cNvPr name="Group 18" id="18"/>
          <p:cNvGrpSpPr/>
          <p:nvPr/>
        </p:nvGrpSpPr>
        <p:grpSpPr>
          <a:xfrm rot="0">
            <a:off x="7072435" y="3494373"/>
            <a:ext cx="133153" cy="126339"/>
            <a:chOff x="0" y="0"/>
            <a:chExt cx="856644" cy="812800"/>
          </a:xfrm>
        </p:grpSpPr>
        <p:sp>
          <p:nvSpPr>
            <p:cNvPr name="Freeform 19" id="19"/>
            <p:cNvSpPr/>
            <p:nvPr/>
          </p:nvSpPr>
          <p:spPr>
            <a:xfrm flipH="false" flipV="false" rot="0">
              <a:off x="0" y="0"/>
              <a:ext cx="856644" cy="812800"/>
            </a:xfrm>
            <a:custGeom>
              <a:avLst/>
              <a:gdLst/>
              <a:ahLst/>
              <a:cxnLst/>
              <a:rect r="r" b="b" t="t" l="l"/>
              <a:pathLst>
                <a:path h="812800" w="856644">
                  <a:moveTo>
                    <a:pt x="428322" y="0"/>
                  </a:moveTo>
                  <a:cubicBezTo>
                    <a:pt x="191766" y="0"/>
                    <a:pt x="0" y="181951"/>
                    <a:pt x="0" y="406400"/>
                  </a:cubicBezTo>
                  <a:cubicBezTo>
                    <a:pt x="0" y="630849"/>
                    <a:pt x="191766" y="812800"/>
                    <a:pt x="428322" y="812800"/>
                  </a:cubicBezTo>
                  <a:cubicBezTo>
                    <a:pt x="664877" y="812800"/>
                    <a:pt x="856644" y="630849"/>
                    <a:pt x="856644" y="406400"/>
                  </a:cubicBezTo>
                  <a:cubicBezTo>
                    <a:pt x="856644" y="181951"/>
                    <a:pt x="664877" y="0"/>
                    <a:pt x="428322" y="0"/>
                  </a:cubicBezTo>
                  <a:close/>
                </a:path>
              </a:pathLst>
            </a:custGeom>
            <a:solidFill>
              <a:srgbClr val="FCFBFA"/>
            </a:solidFill>
          </p:spPr>
        </p:sp>
        <p:sp>
          <p:nvSpPr>
            <p:cNvPr name="TextBox 20" id="20"/>
            <p:cNvSpPr txBox="true"/>
            <p:nvPr/>
          </p:nvSpPr>
          <p:spPr>
            <a:xfrm>
              <a:off x="80310" y="9525"/>
              <a:ext cx="696023" cy="727075"/>
            </a:xfrm>
            <a:prstGeom prst="rect">
              <a:avLst/>
            </a:prstGeom>
          </p:spPr>
          <p:txBody>
            <a:bodyPr anchor="ctr" rtlCol="false" tIns="50800" lIns="50800" bIns="50800" rIns="50800"/>
            <a:lstStyle/>
            <a:p>
              <a:pPr algn="ctr">
                <a:lnSpc>
                  <a:spcPts val="2921"/>
                </a:lnSpc>
              </a:pPr>
            </a:p>
          </p:txBody>
        </p:sp>
      </p:grpSp>
      <p:grpSp>
        <p:nvGrpSpPr>
          <p:cNvPr name="Group 21" id="21"/>
          <p:cNvGrpSpPr/>
          <p:nvPr/>
        </p:nvGrpSpPr>
        <p:grpSpPr>
          <a:xfrm rot="0">
            <a:off x="7072435" y="4470310"/>
            <a:ext cx="133153" cy="126339"/>
            <a:chOff x="0" y="0"/>
            <a:chExt cx="856644" cy="812800"/>
          </a:xfrm>
        </p:grpSpPr>
        <p:sp>
          <p:nvSpPr>
            <p:cNvPr name="Freeform 22" id="22"/>
            <p:cNvSpPr/>
            <p:nvPr/>
          </p:nvSpPr>
          <p:spPr>
            <a:xfrm flipH="false" flipV="false" rot="0">
              <a:off x="0" y="0"/>
              <a:ext cx="856644" cy="812800"/>
            </a:xfrm>
            <a:custGeom>
              <a:avLst/>
              <a:gdLst/>
              <a:ahLst/>
              <a:cxnLst/>
              <a:rect r="r" b="b" t="t" l="l"/>
              <a:pathLst>
                <a:path h="812800" w="856644">
                  <a:moveTo>
                    <a:pt x="428322" y="0"/>
                  </a:moveTo>
                  <a:cubicBezTo>
                    <a:pt x="191766" y="0"/>
                    <a:pt x="0" y="181951"/>
                    <a:pt x="0" y="406400"/>
                  </a:cubicBezTo>
                  <a:cubicBezTo>
                    <a:pt x="0" y="630849"/>
                    <a:pt x="191766" y="812800"/>
                    <a:pt x="428322" y="812800"/>
                  </a:cubicBezTo>
                  <a:cubicBezTo>
                    <a:pt x="664877" y="812800"/>
                    <a:pt x="856644" y="630849"/>
                    <a:pt x="856644" y="406400"/>
                  </a:cubicBezTo>
                  <a:cubicBezTo>
                    <a:pt x="856644" y="181951"/>
                    <a:pt x="664877" y="0"/>
                    <a:pt x="428322" y="0"/>
                  </a:cubicBezTo>
                  <a:close/>
                </a:path>
              </a:pathLst>
            </a:custGeom>
            <a:solidFill>
              <a:srgbClr val="FCFBFA"/>
            </a:solidFill>
          </p:spPr>
        </p:sp>
        <p:sp>
          <p:nvSpPr>
            <p:cNvPr name="TextBox 23" id="23"/>
            <p:cNvSpPr txBox="true"/>
            <p:nvPr/>
          </p:nvSpPr>
          <p:spPr>
            <a:xfrm>
              <a:off x="80310" y="9525"/>
              <a:ext cx="696023" cy="727075"/>
            </a:xfrm>
            <a:prstGeom prst="rect">
              <a:avLst/>
            </a:prstGeom>
          </p:spPr>
          <p:txBody>
            <a:bodyPr anchor="ctr" rtlCol="false" tIns="50800" lIns="50800" bIns="50800" rIns="50800"/>
            <a:lstStyle/>
            <a:p>
              <a:pPr algn="ctr">
                <a:lnSpc>
                  <a:spcPts val="2921"/>
                </a:lnSpc>
              </a:pPr>
            </a:p>
          </p:txBody>
        </p:sp>
      </p:grpSp>
      <p:grpSp>
        <p:nvGrpSpPr>
          <p:cNvPr name="Group 24" id="24"/>
          <p:cNvGrpSpPr/>
          <p:nvPr/>
        </p:nvGrpSpPr>
        <p:grpSpPr>
          <a:xfrm rot="0">
            <a:off x="7072435" y="5435284"/>
            <a:ext cx="133153" cy="126339"/>
            <a:chOff x="0" y="0"/>
            <a:chExt cx="856644" cy="812800"/>
          </a:xfrm>
        </p:grpSpPr>
        <p:sp>
          <p:nvSpPr>
            <p:cNvPr name="Freeform 25" id="25"/>
            <p:cNvSpPr/>
            <p:nvPr/>
          </p:nvSpPr>
          <p:spPr>
            <a:xfrm flipH="false" flipV="false" rot="0">
              <a:off x="0" y="0"/>
              <a:ext cx="856644" cy="812800"/>
            </a:xfrm>
            <a:custGeom>
              <a:avLst/>
              <a:gdLst/>
              <a:ahLst/>
              <a:cxnLst/>
              <a:rect r="r" b="b" t="t" l="l"/>
              <a:pathLst>
                <a:path h="812800" w="856644">
                  <a:moveTo>
                    <a:pt x="428322" y="0"/>
                  </a:moveTo>
                  <a:cubicBezTo>
                    <a:pt x="191766" y="0"/>
                    <a:pt x="0" y="181951"/>
                    <a:pt x="0" y="406400"/>
                  </a:cubicBezTo>
                  <a:cubicBezTo>
                    <a:pt x="0" y="630849"/>
                    <a:pt x="191766" y="812800"/>
                    <a:pt x="428322" y="812800"/>
                  </a:cubicBezTo>
                  <a:cubicBezTo>
                    <a:pt x="664877" y="812800"/>
                    <a:pt x="856644" y="630849"/>
                    <a:pt x="856644" y="406400"/>
                  </a:cubicBezTo>
                  <a:cubicBezTo>
                    <a:pt x="856644" y="181951"/>
                    <a:pt x="664877" y="0"/>
                    <a:pt x="428322" y="0"/>
                  </a:cubicBezTo>
                  <a:close/>
                </a:path>
              </a:pathLst>
            </a:custGeom>
            <a:solidFill>
              <a:srgbClr val="FCFBFA"/>
            </a:solidFill>
          </p:spPr>
        </p:sp>
        <p:sp>
          <p:nvSpPr>
            <p:cNvPr name="TextBox 26" id="26"/>
            <p:cNvSpPr txBox="true"/>
            <p:nvPr/>
          </p:nvSpPr>
          <p:spPr>
            <a:xfrm>
              <a:off x="80310" y="9525"/>
              <a:ext cx="696023" cy="727075"/>
            </a:xfrm>
            <a:prstGeom prst="rect">
              <a:avLst/>
            </a:prstGeom>
          </p:spPr>
          <p:txBody>
            <a:bodyPr anchor="ctr" rtlCol="false" tIns="50800" lIns="50800" bIns="50800" rIns="50800"/>
            <a:lstStyle/>
            <a:p>
              <a:pPr algn="ctr">
                <a:lnSpc>
                  <a:spcPts val="2921"/>
                </a:lnSpc>
              </a:pPr>
            </a:p>
          </p:txBody>
        </p:sp>
      </p:grpSp>
      <p:sp>
        <p:nvSpPr>
          <p:cNvPr name="TextBox 27" id="27"/>
          <p:cNvSpPr txBox="true"/>
          <p:nvPr/>
        </p:nvSpPr>
        <p:spPr>
          <a:xfrm rot="0">
            <a:off x="2496792" y="1116996"/>
            <a:ext cx="5989031" cy="531180"/>
          </a:xfrm>
          <a:prstGeom prst="rect">
            <a:avLst/>
          </a:prstGeom>
        </p:spPr>
        <p:txBody>
          <a:bodyPr anchor="t" rtlCol="false" tIns="0" lIns="0" bIns="0" rIns="0">
            <a:spAutoFit/>
          </a:bodyPr>
          <a:lstStyle/>
          <a:p>
            <a:pPr algn="l">
              <a:lnSpc>
                <a:spcPts val="3892"/>
              </a:lnSpc>
              <a:spcBef>
                <a:spcPct val="0"/>
              </a:spcBef>
            </a:pPr>
            <a:r>
              <a:rPr lang="en-US" b="true" sz="3604">
                <a:solidFill>
                  <a:srgbClr val="FFFFFF"/>
                </a:solidFill>
                <a:latin typeface="Poppins Bold"/>
                <a:ea typeface="Poppins Bold"/>
                <a:cs typeface="Poppins Bold"/>
                <a:sym typeface="Poppins Bold"/>
              </a:rPr>
              <a:t>Data Analysis in Power BI</a:t>
            </a:r>
          </a:p>
        </p:txBody>
      </p:sp>
      <p:sp>
        <p:nvSpPr>
          <p:cNvPr name="TextBox 28" id="28"/>
          <p:cNvSpPr txBox="true"/>
          <p:nvPr/>
        </p:nvSpPr>
        <p:spPr>
          <a:xfrm rot="0">
            <a:off x="2614459" y="2643302"/>
            <a:ext cx="3780780" cy="3561151"/>
          </a:xfrm>
          <a:prstGeom prst="rect">
            <a:avLst/>
          </a:prstGeom>
        </p:spPr>
        <p:txBody>
          <a:bodyPr anchor="t" rtlCol="false" tIns="0" lIns="0" bIns="0" rIns="0">
            <a:spAutoFit/>
          </a:bodyPr>
          <a:lstStyle/>
          <a:p>
            <a:pPr algn="l">
              <a:lnSpc>
                <a:spcPts val="2184"/>
              </a:lnSpc>
              <a:spcBef>
                <a:spcPct val="0"/>
              </a:spcBef>
            </a:pPr>
            <a:r>
              <a:rPr lang="en-US" sz="2023">
                <a:solidFill>
                  <a:srgbClr val="FFFFFF"/>
                </a:solidFill>
                <a:latin typeface="Poppins"/>
                <a:ea typeface="Poppins"/>
                <a:cs typeface="Poppins"/>
                <a:sym typeface="Poppins"/>
              </a:rPr>
              <a:t>I Import</a:t>
            </a:r>
            <a:r>
              <a:rPr lang="en-US" sz="2023">
                <a:solidFill>
                  <a:srgbClr val="FFFFFF"/>
                </a:solidFill>
                <a:latin typeface="Poppins"/>
                <a:ea typeface="Poppins"/>
                <a:cs typeface="Poppins"/>
                <a:sym typeface="Poppins"/>
              </a:rPr>
              <a:t>ed data from the CSV files that were created by separating the three laptop models: ROG, TUF, and Zephyrus.</a:t>
            </a:r>
          </a:p>
          <a:p>
            <a:pPr algn="l">
              <a:lnSpc>
                <a:spcPts val="2184"/>
              </a:lnSpc>
              <a:spcBef>
                <a:spcPct val="0"/>
              </a:spcBef>
            </a:pPr>
          </a:p>
          <a:p>
            <a:pPr algn="l">
              <a:lnSpc>
                <a:spcPts val="2184"/>
              </a:lnSpc>
              <a:spcBef>
                <a:spcPct val="0"/>
              </a:spcBef>
            </a:pPr>
            <a:r>
              <a:rPr lang="en-US" sz="2023">
                <a:solidFill>
                  <a:srgbClr val="FFFFFF"/>
                </a:solidFill>
                <a:latin typeface="Poppins"/>
                <a:ea typeface="Poppins"/>
                <a:cs typeface="Poppins"/>
                <a:sym typeface="Poppins"/>
              </a:rPr>
              <a:t>I then used </a:t>
            </a:r>
            <a:r>
              <a:rPr lang="en-US" b="true" sz="2023" i="true">
                <a:solidFill>
                  <a:srgbClr val="FFFFFF"/>
                </a:solidFill>
                <a:latin typeface="Poppins Bold Italics"/>
                <a:ea typeface="Poppins Bold Italics"/>
                <a:cs typeface="Poppins Bold Italics"/>
                <a:sym typeface="Poppins Bold Italics"/>
              </a:rPr>
              <a:t>Power Query</a:t>
            </a:r>
            <a:r>
              <a:rPr lang="en-US" sz="2023">
                <a:solidFill>
                  <a:srgbClr val="FFFFFF"/>
                </a:solidFill>
                <a:latin typeface="Poppins"/>
                <a:ea typeface="Poppins"/>
                <a:cs typeface="Poppins"/>
                <a:sym typeface="Poppins"/>
              </a:rPr>
              <a:t> to clea</a:t>
            </a:r>
            <a:r>
              <a:rPr lang="en-US" sz="2023">
                <a:solidFill>
                  <a:srgbClr val="FFFFFF"/>
                </a:solidFill>
                <a:latin typeface="Poppins"/>
                <a:ea typeface="Poppins"/>
                <a:cs typeface="Poppins"/>
                <a:sym typeface="Poppins"/>
              </a:rPr>
              <a:t>n the data by removing missing values in the sales data and I made sure the data was consistent across all columns. </a:t>
            </a:r>
          </a:p>
          <a:p>
            <a:pPr algn="l">
              <a:lnSpc>
                <a:spcPts val="2184"/>
              </a:lnSpc>
              <a:spcBef>
                <a:spcPct val="0"/>
              </a:spcBef>
            </a:pPr>
          </a:p>
        </p:txBody>
      </p:sp>
      <p:sp>
        <p:nvSpPr>
          <p:cNvPr name="TextBox 29" id="29"/>
          <p:cNvSpPr txBox="true"/>
          <p:nvPr/>
        </p:nvSpPr>
        <p:spPr>
          <a:xfrm rot="0">
            <a:off x="2563411" y="2164307"/>
            <a:ext cx="3882877" cy="317831"/>
          </a:xfrm>
          <a:prstGeom prst="rect">
            <a:avLst/>
          </a:prstGeom>
        </p:spPr>
        <p:txBody>
          <a:bodyPr anchor="t" rtlCol="false" tIns="0" lIns="0" bIns="0" rIns="0">
            <a:spAutoFit/>
          </a:bodyPr>
          <a:lstStyle/>
          <a:p>
            <a:pPr algn="l">
              <a:lnSpc>
                <a:spcPts val="2262"/>
              </a:lnSpc>
              <a:spcBef>
                <a:spcPct val="0"/>
              </a:spcBef>
            </a:pPr>
            <a:r>
              <a:rPr lang="en-US" b="true" sz="2094">
                <a:solidFill>
                  <a:srgbClr val="FFFFFF"/>
                </a:solidFill>
                <a:latin typeface="Poppins Bold"/>
                <a:ea typeface="Poppins Bold"/>
                <a:cs typeface="Poppins Bold"/>
                <a:sym typeface="Poppins Bold"/>
              </a:rPr>
              <a:t>D</a:t>
            </a:r>
            <a:r>
              <a:rPr lang="en-US" b="true" sz="2094">
                <a:solidFill>
                  <a:srgbClr val="FFFFFF"/>
                </a:solidFill>
                <a:latin typeface="Poppins Bold"/>
                <a:ea typeface="Poppins Bold"/>
                <a:cs typeface="Poppins Bold"/>
                <a:sym typeface="Poppins Bold"/>
              </a:rPr>
              <a:t>ata I</a:t>
            </a:r>
            <a:r>
              <a:rPr lang="en-US" b="true" sz="2094">
                <a:solidFill>
                  <a:srgbClr val="FFFFFF"/>
                </a:solidFill>
                <a:latin typeface="Poppins Bold"/>
                <a:ea typeface="Poppins Bold"/>
                <a:cs typeface="Poppins Bold"/>
                <a:sym typeface="Poppins Bold"/>
              </a:rPr>
              <a:t>mp</a:t>
            </a:r>
            <a:r>
              <a:rPr lang="en-US" b="true" sz="2094">
                <a:solidFill>
                  <a:srgbClr val="FFFFFF"/>
                </a:solidFill>
                <a:latin typeface="Poppins Bold"/>
                <a:ea typeface="Poppins Bold"/>
                <a:cs typeface="Poppins Bold"/>
                <a:sym typeface="Poppins Bold"/>
              </a:rPr>
              <a:t>o</a:t>
            </a:r>
            <a:r>
              <a:rPr lang="en-US" b="true" sz="2094">
                <a:solidFill>
                  <a:srgbClr val="FFFFFF"/>
                </a:solidFill>
                <a:latin typeface="Poppins Bold"/>
                <a:ea typeface="Poppins Bold"/>
                <a:cs typeface="Poppins Bold"/>
                <a:sym typeface="Poppins Bold"/>
              </a:rPr>
              <a:t>rt</a:t>
            </a:r>
            <a:r>
              <a:rPr lang="en-US" b="true" sz="2094">
                <a:solidFill>
                  <a:srgbClr val="FFFFFF"/>
                </a:solidFill>
                <a:latin typeface="Poppins Bold"/>
                <a:ea typeface="Poppins Bold"/>
                <a:cs typeface="Poppins Bold"/>
                <a:sym typeface="Poppins Bold"/>
              </a:rPr>
              <a:t> and Cleaning</a:t>
            </a:r>
          </a:p>
        </p:txBody>
      </p:sp>
      <p:sp>
        <p:nvSpPr>
          <p:cNvPr name="TextBox 30" id="30"/>
          <p:cNvSpPr txBox="true"/>
          <p:nvPr/>
        </p:nvSpPr>
        <p:spPr>
          <a:xfrm rot="0">
            <a:off x="7410868" y="2567863"/>
            <a:ext cx="3780780" cy="3669931"/>
          </a:xfrm>
          <a:prstGeom prst="rect">
            <a:avLst/>
          </a:prstGeom>
        </p:spPr>
        <p:txBody>
          <a:bodyPr anchor="t" rtlCol="false" tIns="0" lIns="0" bIns="0" rIns="0">
            <a:spAutoFit/>
          </a:bodyPr>
          <a:lstStyle/>
          <a:p>
            <a:pPr algn="l">
              <a:lnSpc>
                <a:spcPts val="1813"/>
              </a:lnSpc>
              <a:spcBef>
                <a:spcPct val="0"/>
              </a:spcBef>
            </a:pPr>
            <a:r>
              <a:rPr lang="en-US" sz="1678">
                <a:solidFill>
                  <a:srgbClr val="FFFFFF"/>
                </a:solidFill>
                <a:latin typeface="Poppins"/>
                <a:ea typeface="Poppins"/>
                <a:cs typeface="Poppins"/>
                <a:sym typeface="Poppins"/>
              </a:rPr>
              <a:t>I creat</a:t>
            </a:r>
            <a:r>
              <a:rPr lang="en-US" sz="1678">
                <a:solidFill>
                  <a:srgbClr val="FFFFFF"/>
                </a:solidFill>
                <a:latin typeface="Poppins"/>
                <a:ea typeface="Poppins"/>
                <a:cs typeface="Poppins"/>
                <a:sym typeface="Poppins"/>
              </a:rPr>
              <a:t>ed interactive visualisations to analyse the sales trends for each product.</a:t>
            </a:r>
          </a:p>
          <a:p>
            <a:pPr algn="l">
              <a:lnSpc>
                <a:spcPts val="1813"/>
              </a:lnSpc>
              <a:spcBef>
                <a:spcPct val="0"/>
              </a:spcBef>
            </a:pPr>
          </a:p>
          <a:p>
            <a:pPr algn="l">
              <a:lnSpc>
                <a:spcPts val="1890"/>
              </a:lnSpc>
              <a:spcBef>
                <a:spcPct val="0"/>
              </a:spcBef>
            </a:pPr>
            <a:r>
              <a:rPr lang="en-US" sz="1750">
                <a:solidFill>
                  <a:srgbClr val="FFFFFF"/>
                </a:solidFill>
                <a:latin typeface="Poppins"/>
                <a:ea typeface="Poppins"/>
                <a:cs typeface="Poppins"/>
                <a:sym typeface="Poppins"/>
              </a:rPr>
              <a:t>I used line charts to visualise sales over time and compare products.</a:t>
            </a:r>
          </a:p>
          <a:p>
            <a:pPr algn="l">
              <a:lnSpc>
                <a:spcPts val="1813"/>
              </a:lnSpc>
              <a:spcBef>
                <a:spcPct val="0"/>
              </a:spcBef>
            </a:pPr>
          </a:p>
          <a:p>
            <a:pPr algn="l">
              <a:lnSpc>
                <a:spcPts val="1813"/>
              </a:lnSpc>
              <a:spcBef>
                <a:spcPct val="0"/>
              </a:spcBef>
            </a:pPr>
            <a:r>
              <a:rPr lang="en-US" sz="1678">
                <a:solidFill>
                  <a:srgbClr val="FFFFFF"/>
                </a:solidFill>
                <a:latin typeface="Poppins"/>
                <a:ea typeface="Poppins"/>
                <a:cs typeface="Poppins"/>
                <a:sym typeface="Poppins"/>
              </a:rPr>
              <a:t>I created bar </a:t>
            </a:r>
            <a:r>
              <a:rPr lang="en-US" sz="1678">
                <a:solidFill>
                  <a:srgbClr val="FFFFFF"/>
                </a:solidFill>
                <a:latin typeface="Poppins"/>
                <a:ea typeface="Poppins"/>
                <a:cs typeface="Poppins"/>
                <a:sym typeface="Poppins"/>
              </a:rPr>
              <a:t>cha</a:t>
            </a:r>
            <a:r>
              <a:rPr lang="en-US" sz="1678">
                <a:solidFill>
                  <a:srgbClr val="FFFFFF"/>
                </a:solidFill>
                <a:latin typeface="Poppins"/>
                <a:ea typeface="Poppins"/>
                <a:cs typeface="Poppins"/>
                <a:sym typeface="Poppins"/>
              </a:rPr>
              <a:t>r</a:t>
            </a:r>
            <a:r>
              <a:rPr lang="en-US" sz="1678">
                <a:solidFill>
                  <a:srgbClr val="FFFFFF"/>
                </a:solidFill>
                <a:latin typeface="Poppins"/>
                <a:ea typeface="Poppins"/>
                <a:cs typeface="Poppins"/>
                <a:sym typeface="Poppins"/>
              </a:rPr>
              <a:t>ts to compare</a:t>
            </a:r>
            <a:r>
              <a:rPr lang="en-US" sz="1678">
                <a:solidFill>
                  <a:srgbClr val="FFFFFF"/>
                </a:solidFill>
                <a:latin typeface="Poppins"/>
                <a:ea typeface="Poppins"/>
                <a:cs typeface="Poppins"/>
                <a:sym typeface="Poppins"/>
              </a:rPr>
              <a:t> the total sales of each product and identify the best-selling products.</a:t>
            </a:r>
          </a:p>
          <a:p>
            <a:pPr algn="l">
              <a:lnSpc>
                <a:spcPts val="1813"/>
              </a:lnSpc>
              <a:spcBef>
                <a:spcPct val="0"/>
              </a:spcBef>
            </a:pPr>
          </a:p>
          <a:p>
            <a:pPr algn="l">
              <a:lnSpc>
                <a:spcPts val="1813"/>
              </a:lnSpc>
              <a:spcBef>
                <a:spcPct val="0"/>
              </a:spcBef>
            </a:pPr>
            <a:r>
              <a:rPr lang="en-US" sz="1678">
                <a:solidFill>
                  <a:srgbClr val="FFFFFF"/>
                </a:solidFill>
                <a:latin typeface="Poppins"/>
                <a:ea typeface="Poppins"/>
                <a:cs typeface="Poppins"/>
                <a:sym typeface="Poppins"/>
              </a:rPr>
              <a:t>I used pie charts to show the percentage of total sales contributed by each product.</a:t>
            </a:r>
          </a:p>
          <a:p>
            <a:pPr algn="l">
              <a:lnSpc>
                <a:spcPts val="1813"/>
              </a:lnSpc>
              <a:spcBef>
                <a:spcPct val="0"/>
              </a:spcBef>
            </a:pPr>
          </a:p>
        </p:txBody>
      </p:sp>
      <p:sp>
        <p:nvSpPr>
          <p:cNvPr name="TextBox 31" id="31"/>
          <p:cNvSpPr txBox="true"/>
          <p:nvPr/>
        </p:nvSpPr>
        <p:spPr>
          <a:xfrm rot="0">
            <a:off x="7359820" y="2164307"/>
            <a:ext cx="3882877" cy="317831"/>
          </a:xfrm>
          <a:prstGeom prst="rect">
            <a:avLst/>
          </a:prstGeom>
        </p:spPr>
        <p:txBody>
          <a:bodyPr anchor="t" rtlCol="false" tIns="0" lIns="0" bIns="0" rIns="0">
            <a:spAutoFit/>
          </a:bodyPr>
          <a:lstStyle/>
          <a:p>
            <a:pPr algn="l">
              <a:lnSpc>
                <a:spcPts val="2262"/>
              </a:lnSpc>
              <a:spcBef>
                <a:spcPct val="0"/>
              </a:spcBef>
            </a:pPr>
            <a:r>
              <a:rPr lang="en-US" b="true" sz="2094">
                <a:solidFill>
                  <a:srgbClr val="FFFFFF"/>
                </a:solidFill>
                <a:latin typeface="Poppins Bold"/>
                <a:ea typeface="Poppins Bold"/>
                <a:cs typeface="Poppins Bold"/>
                <a:sym typeface="Poppins Bold"/>
              </a:rPr>
              <a:t>Explor</a:t>
            </a:r>
            <a:r>
              <a:rPr lang="en-US" b="true" sz="2094">
                <a:solidFill>
                  <a:srgbClr val="FFFFFF"/>
                </a:solidFill>
                <a:latin typeface="Poppins Bold"/>
                <a:ea typeface="Poppins Bold"/>
                <a:cs typeface="Poppins Bold"/>
                <a:sym typeface="Poppins Bold"/>
              </a:rPr>
              <a:t>ato</a:t>
            </a:r>
            <a:r>
              <a:rPr lang="en-US" b="true" sz="2094">
                <a:solidFill>
                  <a:srgbClr val="FFFFFF"/>
                </a:solidFill>
                <a:latin typeface="Poppins Bold"/>
                <a:ea typeface="Poppins Bold"/>
                <a:cs typeface="Poppins Bold"/>
                <a:sym typeface="Poppins Bold"/>
              </a:rPr>
              <a:t>ry Data</a:t>
            </a:r>
            <a:r>
              <a:rPr lang="en-US" b="true" sz="2094">
                <a:solidFill>
                  <a:srgbClr val="FFFFFF"/>
                </a:solidFill>
                <a:latin typeface="Poppins Bold"/>
                <a:ea typeface="Poppins Bold"/>
                <a:cs typeface="Poppins Bold"/>
                <a:sym typeface="Poppins Bold"/>
              </a:rPr>
              <a:t> Analysis </a:t>
            </a:r>
          </a:p>
        </p:txBody>
      </p:sp>
      <p:grpSp>
        <p:nvGrpSpPr>
          <p:cNvPr name="Group 32" id="32"/>
          <p:cNvGrpSpPr/>
          <p:nvPr/>
        </p:nvGrpSpPr>
        <p:grpSpPr>
          <a:xfrm rot="0">
            <a:off x="2339426" y="7325845"/>
            <a:ext cx="14047391" cy="1932455"/>
            <a:chOff x="0" y="0"/>
            <a:chExt cx="4624740" cy="636211"/>
          </a:xfrm>
        </p:grpSpPr>
        <p:sp>
          <p:nvSpPr>
            <p:cNvPr name="Freeform 33" id="33"/>
            <p:cNvSpPr/>
            <p:nvPr/>
          </p:nvSpPr>
          <p:spPr>
            <a:xfrm flipH="false" flipV="false" rot="0">
              <a:off x="0" y="0"/>
              <a:ext cx="4624740" cy="636211"/>
            </a:xfrm>
            <a:custGeom>
              <a:avLst/>
              <a:gdLst/>
              <a:ahLst/>
              <a:cxnLst/>
              <a:rect r="r" b="b" t="t" l="l"/>
              <a:pathLst>
                <a:path h="636211" w="4624740">
                  <a:moveTo>
                    <a:pt x="13778" y="0"/>
                  </a:moveTo>
                  <a:lnTo>
                    <a:pt x="4610962" y="0"/>
                  </a:lnTo>
                  <a:cubicBezTo>
                    <a:pt x="4614616" y="0"/>
                    <a:pt x="4618121" y="1452"/>
                    <a:pt x="4620705" y="4036"/>
                  </a:cubicBezTo>
                  <a:cubicBezTo>
                    <a:pt x="4623289" y="6619"/>
                    <a:pt x="4624740" y="10124"/>
                    <a:pt x="4624740" y="13778"/>
                  </a:cubicBezTo>
                  <a:lnTo>
                    <a:pt x="4624740" y="622433"/>
                  </a:lnTo>
                  <a:cubicBezTo>
                    <a:pt x="4624740" y="626087"/>
                    <a:pt x="4623289" y="629591"/>
                    <a:pt x="4620705" y="632175"/>
                  </a:cubicBezTo>
                  <a:cubicBezTo>
                    <a:pt x="4618121" y="634759"/>
                    <a:pt x="4614616" y="636211"/>
                    <a:pt x="4610962" y="636211"/>
                  </a:cubicBezTo>
                  <a:lnTo>
                    <a:pt x="13778" y="636211"/>
                  </a:lnTo>
                  <a:cubicBezTo>
                    <a:pt x="10124" y="636211"/>
                    <a:pt x="6619" y="634759"/>
                    <a:pt x="4036" y="632175"/>
                  </a:cubicBezTo>
                  <a:cubicBezTo>
                    <a:pt x="1452" y="629591"/>
                    <a:pt x="0" y="626087"/>
                    <a:pt x="0" y="622433"/>
                  </a:cubicBezTo>
                  <a:lnTo>
                    <a:pt x="0" y="13778"/>
                  </a:lnTo>
                  <a:cubicBezTo>
                    <a:pt x="0" y="10124"/>
                    <a:pt x="1452" y="6619"/>
                    <a:pt x="4036" y="4036"/>
                  </a:cubicBezTo>
                  <a:cubicBezTo>
                    <a:pt x="6619" y="1452"/>
                    <a:pt x="10124" y="0"/>
                    <a:pt x="13778" y="0"/>
                  </a:cubicBezTo>
                  <a:close/>
                </a:path>
              </a:pathLst>
            </a:custGeom>
            <a:solidFill>
              <a:srgbClr val="2A3066">
                <a:alpha val="55686"/>
              </a:srgbClr>
            </a:solidFill>
          </p:spPr>
        </p:sp>
        <p:sp>
          <p:nvSpPr>
            <p:cNvPr name="TextBox 34" id="34"/>
            <p:cNvSpPr txBox="true"/>
            <p:nvPr/>
          </p:nvSpPr>
          <p:spPr>
            <a:xfrm>
              <a:off x="0" y="-66675"/>
              <a:ext cx="4624740" cy="70288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35" id="35"/>
          <p:cNvSpPr txBox="true"/>
          <p:nvPr/>
        </p:nvSpPr>
        <p:spPr>
          <a:xfrm rot="0">
            <a:off x="2656205" y="7531580"/>
            <a:ext cx="13488157" cy="330360"/>
          </a:xfrm>
          <a:prstGeom prst="rect">
            <a:avLst/>
          </a:prstGeom>
        </p:spPr>
        <p:txBody>
          <a:bodyPr anchor="t" rtlCol="false" tIns="0" lIns="0" bIns="0" rIns="0">
            <a:spAutoFit/>
          </a:bodyPr>
          <a:lstStyle/>
          <a:p>
            <a:pPr algn="just">
              <a:lnSpc>
                <a:spcPts val="2486"/>
              </a:lnSpc>
              <a:spcBef>
                <a:spcPct val="0"/>
              </a:spcBef>
            </a:pPr>
            <a:r>
              <a:rPr lang="en-US" b="true" sz="2302">
                <a:solidFill>
                  <a:srgbClr val="FFFFFF"/>
                </a:solidFill>
                <a:latin typeface="Poppins Bold"/>
                <a:ea typeface="Poppins Bold"/>
                <a:cs typeface="Poppins Bold"/>
                <a:sym typeface="Poppins Bold"/>
              </a:rPr>
              <a:t>Data Dashboards</a:t>
            </a:r>
          </a:p>
        </p:txBody>
      </p:sp>
      <p:sp>
        <p:nvSpPr>
          <p:cNvPr name="TextBox 36" id="36"/>
          <p:cNvSpPr txBox="true"/>
          <p:nvPr/>
        </p:nvSpPr>
        <p:spPr>
          <a:xfrm rot="0">
            <a:off x="2656205" y="7861940"/>
            <a:ext cx="13488157" cy="1607439"/>
          </a:xfrm>
          <a:prstGeom prst="rect">
            <a:avLst/>
          </a:prstGeom>
        </p:spPr>
        <p:txBody>
          <a:bodyPr anchor="t" rtlCol="false" tIns="0" lIns="0" bIns="0" rIns="0">
            <a:spAutoFit/>
          </a:bodyPr>
          <a:lstStyle/>
          <a:p>
            <a:pPr algn="l">
              <a:lnSpc>
                <a:spcPts val="2537"/>
              </a:lnSpc>
              <a:spcBef>
                <a:spcPct val="0"/>
              </a:spcBef>
            </a:pPr>
            <a:r>
              <a:rPr lang="en-US" sz="2349">
                <a:solidFill>
                  <a:srgbClr val="FFFFFF"/>
                </a:solidFill>
                <a:latin typeface="Poppins"/>
                <a:ea typeface="Poppins"/>
                <a:cs typeface="Poppins"/>
                <a:sym typeface="Poppins"/>
              </a:rPr>
              <a:t>I creat</a:t>
            </a:r>
            <a:r>
              <a:rPr lang="en-US" sz="2349">
                <a:solidFill>
                  <a:srgbClr val="FFFFFF"/>
                </a:solidFill>
                <a:latin typeface="Poppins"/>
                <a:ea typeface="Poppins"/>
                <a:cs typeface="Poppins"/>
                <a:sym typeface="Poppins"/>
              </a:rPr>
              <a:t>ed an interactive dashboard combining multiple visuals in a single page for all three products to visualise their sales performance over time and do a comparative analysis for their sales rank by combining the data of all the three products in one table of a unified period of time. </a:t>
            </a:r>
          </a:p>
          <a:p>
            <a:pPr algn="l">
              <a:lnSpc>
                <a:spcPts val="2537"/>
              </a:lnSpc>
              <a:spcBef>
                <a:spcPct val="0"/>
              </a:spcBef>
            </a:pPr>
          </a:p>
        </p:txBody>
      </p:sp>
      <p:grpSp>
        <p:nvGrpSpPr>
          <p:cNvPr name="Group 37" id="37"/>
          <p:cNvGrpSpPr/>
          <p:nvPr/>
        </p:nvGrpSpPr>
        <p:grpSpPr>
          <a:xfrm rot="0">
            <a:off x="11670628" y="2074332"/>
            <a:ext cx="4561776" cy="4189730"/>
            <a:chOff x="0" y="0"/>
            <a:chExt cx="2101405" cy="1930020"/>
          </a:xfrm>
        </p:grpSpPr>
        <p:sp>
          <p:nvSpPr>
            <p:cNvPr name="Freeform 38" id="38"/>
            <p:cNvSpPr/>
            <p:nvPr/>
          </p:nvSpPr>
          <p:spPr>
            <a:xfrm flipH="false" flipV="false" rot="0">
              <a:off x="0" y="0"/>
              <a:ext cx="2101405" cy="1930020"/>
            </a:xfrm>
            <a:custGeom>
              <a:avLst/>
              <a:gdLst/>
              <a:ahLst/>
              <a:cxnLst/>
              <a:rect r="r" b="b" t="t" l="l"/>
              <a:pathLst>
                <a:path h="1930020" w="2101405">
                  <a:moveTo>
                    <a:pt x="42428" y="0"/>
                  </a:moveTo>
                  <a:lnTo>
                    <a:pt x="2058977" y="0"/>
                  </a:lnTo>
                  <a:cubicBezTo>
                    <a:pt x="2082410" y="0"/>
                    <a:pt x="2101405" y="18996"/>
                    <a:pt x="2101405" y="42428"/>
                  </a:cubicBezTo>
                  <a:lnTo>
                    <a:pt x="2101405" y="1887592"/>
                  </a:lnTo>
                  <a:cubicBezTo>
                    <a:pt x="2101405" y="1911025"/>
                    <a:pt x="2082410" y="1930020"/>
                    <a:pt x="2058977" y="1930020"/>
                  </a:cubicBezTo>
                  <a:lnTo>
                    <a:pt x="42428" y="1930020"/>
                  </a:lnTo>
                  <a:cubicBezTo>
                    <a:pt x="31176" y="1930020"/>
                    <a:pt x="20384" y="1925550"/>
                    <a:pt x="12427" y="1917593"/>
                  </a:cubicBezTo>
                  <a:cubicBezTo>
                    <a:pt x="4470" y="1909637"/>
                    <a:pt x="0" y="1898845"/>
                    <a:pt x="0" y="1887592"/>
                  </a:cubicBezTo>
                  <a:lnTo>
                    <a:pt x="0" y="42428"/>
                  </a:lnTo>
                  <a:cubicBezTo>
                    <a:pt x="0" y="18996"/>
                    <a:pt x="18996" y="0"/>
                    <a:pt x="42428" y="0"/>
                  </a:cubicBezTo>
                  <a:close/>
                </a:path>
              </a:pathLst>
            </a:custGeom>
            <a:solidFill>
              <a:srgbClr val="2A3066">
                <a:alpha val="55686"/>
              </a:srgbClr>
            </a:solidFill>
          </p:spPr>
        </p:sp>
        <p:sp>
          <p:nvSpPr>
            <p:cNvPr name="TextBox 39" id="39"/>
            <p:cNvSpPr txBox="true"/>
            <p:nvPr/>
          </p:nvSpPr>
          <p:spPr>
            <a:xfrm>
              <a:off x="0" y="-66675"/>
              <a:ext cx="2101405" cy="199669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40" id="40"/>
          <p:cNvSpPr txBox="true"/>
          <p:nvPr/>
        </p:nvSpPr>
        <p:spPr>
          <a:xfrm rot="0">
            <a:off x="12061126" y="2577388"/>
            <a:ext cx="3780780" cy="3623662"/>
          </a:xfrm>
          <a:prstGeom prst="rect">
            <a:avLst/>
          </a:prstGeom>
        </p:spPr>
        <p:txBody>
          <a:bodyPr anchor="t" rtlCol="false" tIns="0" lIns="0" bIns="0" rIns="0">
            <a:spAutoFit/>
          </a:bodyPr>
          <a:lstStyle/>
          <a:p>
            <a:pPr algn="l" marL="328831" indent="-164415" lvl="1">
              <a:lnSpc>
                <a:spcPts val="1644"/>
              </a:lnSpc>
              <a:spcBef>
                <a:spcPct val="0"/>
              </a:spcBef>
              <a:buFont typeface="Arial"/>
              <a:buChar char="•"/>
            </a:pPr>
            <a:r>
              <a:rPr lang="en-US" b="true" sz="1523" i="true">
                <a:solidFill>
                  <a:srgbClr val="FFFFFF"/>
                </a:solidFill>
                <a:latin typeface="Poppins Bold Italics"/>
                <a:ea typeface="Poppins Bold Italics"/>
                <a:cs typeface="Poppins Bold Italics"/>
                <a:sym typeface="Poppins Bold Italics"/>
              </a:rPr>
              <a:t>Total Sales</a:t>
            </a:r>
            <a:r>
              <a:rPr lang="en-US" sz="1523">
                <a:solidFill>
                  <a:srgbClr val="FFFFFF"/>
                </a:solidFill>
                <a:latin typeface="Poppins"/>
                <a:ea typeface="Poppins"/>
                <a:cs typeface="Poppins"/>
                <a:sym typeface="Poppins"/>
              </a:rPr>
              <a:t>: I creat</a:t>
            </a:r>
            <a:r>
              <a:rPr lang="en-US" sz="1523">
                <a:solidFill>
                  <a:srgbClr val="FFFFFF"/>
                </a:solidFill>
                <a:latin typeface="Poppins"/>
                <a:ea typeface="Poppins"/>
                <a:cs typeface="Poppins"/>
                <a:sym typeface="Poppins"/>
              </a:rPr>
              <a:t>ed a calculated measure to capture the accumulative sales value for each product. This was done by summing up the new price over the year. </a:t>
            </a:r>
          </a:p>
          <a:p>
            <a:pPr algn="l" marL="328831" indent="-164415" lvl="1">
              <a:lnSpc>
                <a:spcPts val="1644"/>
              </a:lnSpc>
              <a:spcBef>
                <a:spcPct val="0"/>
              </a:spcBef>
              <a:buFont typeface="Arial"/>
              <a:buChar char="•"/>
            </a:pPr>
            <a:r>
              <a:rPr lang="en-US" b="true" sz="1523" i="true">
                <a:solidFill>
                  <a:srgbClr val="FFFFFF"/>
                </a:solidFill>
                <a:latin typeface="Poppins Bold Italics"/>
                <a:ea typeface="Poppins Bold Italics"/>
                <a:cs typeface="Poppins Bold Italics"/>
                <a:sym typeface="Poppins Bold Italics"/>
              </a:rPr>
              <a:t>Rank vs Price</a:t>
            </a:r>
            <a:r>
              <a:rPr lang="en-US" b="true" sz="1523">
                <a:solidFill>
                  <a:srgbClr val="FFFFFF"/>
                </a:solidFill>
                <a:latin typeface="Poppins Bold"/>
                <a:ea typeface="Poppins Bold"/>
                <a:cs typeface="Poppins Bold"/>
                <a:sym typeface="Poppins Bold"/>
              </a:rPr>
              <a:t>:</a:t>
            </a:r>
            <a:r>
              <a:rPr lang="en-US" sz="1523">
                <a:solidFill>
                  <a:srgbClr val="FFFFFF"/>
                </a:solidFill>
                <a:latin typeface="Poppins"/>
                <a:ea typeface="Poppins"/>
                <a:cs typeface="Poppins"/>
                <a:sym typeface="Poppins"/>
              </a:rPr>
              <a:t> Added a  column to compare each product's sales rank against its price.</a:t>
            </a:r>
          </a:p>
          <a:p>
            <a:pPr algn="l" marL="328831" indent="-164415" lvl="1">
              <a:lnSpc>
                <a:spcPts val="1644"/>
              </a:lnSpc>
              <a:spcBef>
                <a:spcPct val="0"/>
              </a:spcBef>
              <a:buFont typeface="Arial"/>
              <a:buChar char="•"/>
            </a:pPr>
            <a:r>
              <a:rPr lang="en-US" b="true" sz="1523" i="true">
                <a:solidFill>
                  <a:srgbClr val="FFFFFF"/>
                </a:solidFill>
                <a:latin typeface="Poppins Bold Italics"/>
                <a:ea typeface="Poppins Bold Italics"/>
                <a:cs typeface="Poppins Bold Italics"/>
                <a:sym typeface="Poppins Bold Italics"/>
              </a:rPr>
              <a:t>Price Difference</a:t>
            </a:r>
            <a:r>
              <a:rPr lang="en-US" sz="1523">
                <a:solidFill>
                  <a:srgbClr val="FFFFFF"/>
                </a:solidFill>
                <a:latin typeface="Poppins"/>
                <a:ea typeface="Poppins"/>
                <a:cs typeface="Poppins"/>
                <a:sym typeface="Poppins"/>
              </a:rPr>
              <a:t>: Added a column to show the price gap between the list price and new price for every product. </a:t>
            </a:r>
          </a:p>
          <a:p>
            <a:pPr algn="l" marL="328831" indent="-164415" lvl="1">
              <a:lnSpc>
                <a:spcPts val="1644"/>
              </a:lnSpc>
              <a:spcBef>
                <a:spcPct val="0"/>
              </a:spcBef>
              <a:buFont typeface="Arial"/>
              <a:buChar char="•"/>
            </a:pPr>
            <a:r>
              <a:rPr lang="en-US" b="true" sz="1523" i="true">
                <a:solidFill>
                  <a:srgbClr val="FFFFFF"/>
                </a:solidFill>
                <a:latin typeface="Poppins Bold Italics"/>
                <a:ea typeface="Poppins Bold Italics"/>
                <a:cs typeface="Poppins Bold Italics"/>
                <a:sym typeface="Poppins Bold Italics"/>
              </a:rPr>
              <a:t>Average Price:</a:t>
            </a:r>
            <a:r>
              <a:rPr lang="en-US" sz="1523">
                <a:solidFill>
                  <a:srgbClr val="FFFFFF"/>
                </a:solidFill>
                <a:latin typeface="Poppins"/>
                <a:ea typeface="Poppins"/>
                <a:cs typeface="Poppins"/>
                <a:sym typeface="Poppins"/>
              </a:rPr>
              <a:t> I created a measure for each product, giving insights into the average price of products sold over time.</a:t>
            </a:r>
          </a:p>
          <a:p>
            <a:pPr algn="l">
              <a:lnSpc>
                <a:spcPts val="1644"/>
              </a:lnSpc>
              <a:spcBef>
                <a:spcPct val="0"/>
              </a:spcBef>
            </a:pPr>
          </a:p>
        </p:txBody>
      </p:sp>
      <p:sp>
        <p:nvSpPr>
          <p:cNvPr name="TextBox 41" id="41"/>
          <p:cNvSpPr txBox="true"/>
          <p:nvPr/>
        </p:nvSpPr>
        <p:spPr>
          <a:xfrm rot="0">
            <a:off x="12080203" y="2184654"/>
            <a:ext cx="3882877" cy="297485"/>
          </a:xfrm>
          <a:prstGeom prst="rect">
            <a:avLst/>
          </a:prstGeom>
        </p:spPr>
        <p:txBody>
          <a:bodyPr anchor="t" rtlCol="false" tIns="0" lIns="0" bIns="0" rIns="0">
            <a:spAutoFit/>
          </a:bodyPr>
          <a:lstStyle/>
          <a:p>
            <a:pPr algn="l">
              <a:lnSpc>
                <a:spcPts val="2181"/>
              </a:lnSpc>
              <a:spcBef>
                <a:spcPct val="0"/>
              </a:spcBef>
            </a:pPr>
            <a:r>
              <a:rPr lang="en-US" b="true" sz="2019">
                <a:solidFill>
                  <a:srgbClr val="FFFFFF"/>
                </a:solidFill>
                <a:latin typeface="Poppins Bold"/>
                <a:ea typeface="Poppins Bold"/>
                <a:cs typeface="Poppins Bold"/>
                <a:sym typeface="Poppins Bold"/>
              </a:rPr>
              <a:t>Columns Created for Insights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419807" y="2453442"/>
            <a:ext cx="3227981" cy="2503422"/>
            <a:chOff x="0" y="0"/>
            <a:chExt cx="1686890" cy="1308248"/>
          </a:xfrm>
        </p:grpSpPr>
        <p:sp>
          <p:nvSpPr>
            <p:cNvPr name="Freeform 3" id="3"/>
            <p:cNvSpPr/>
            <p:nvPr/>
          </p:nvSpPr>
          <p:spPr>
            <a:xfrm flipH="false" flipV="false" rot="0">
              <a:off x="0" y="0"/>
              <a:ext cx="1686890" cy="1308248"/>
            </a:xfrm>
            <a:custGeom>
              <a:avLst/>
              <a:gdLst/>
              <a:ahLst/>
              <a:cxnLst/>
              <a:rect r="r" b="b" t="t" l="l"/>
              <a:pathLst>
                <a:path h="1308248" w="1686890">
                  <a:moveTo>
                    <a:pt x="59959" y="0"/>
                  </a:moveTo>
                  <a:lnTo>
                    <a:pt x="1626931" y="0"/>
                  </a:lnTo>
                  <a:cubicBezTo>
                    <a:pt x="1642833" y="0"/>
                    <a:pt x="1658084" y="6317"/>
                    <a:pt x="1669329" y="17562"/>
                  </a:cubicBezTo>
                  <a:cubicBezTo>
                    <a:pt x="1680573" y="28806"/>
                    <a:pt x="1686890" y="44057"/>
                    <a:pt x="1686890" y="59959"/>
                  </a:cubicBezTo>
                  <a:lnTo>
                    <a:pt x="1686890" y="1248288"/>
                  </a:lnTo>
                  <a:cubicBezTo>
                    <a:pt x="1686890" y="1264190"/>
                    <a:pt x="1680573" y="1279441"/>
                    <a:pt x="1669329" y="1290686"/>
                  </a:cubicBezTo>
                  <a:cubicBezTo>
                    <a:pt x="1658084" y="1301931"/>
                    <a:pt x="1642833" y="1308248"/>
                    <a:pt x="1626931" y="1308248"/>
                  </a:cubicBezTo>
                  <a:lnTo>
                    <a:pt x="59959" y="1308248"/>
                  </a:lnTo>
                  <a:cubicBezTo>
                    <a:pt x="26845" y="1308248"/>
                    <a:pt x="0" y="1281403"/>
                    <a:pt x="0" y="1248288"/>
                  </a:cubicBezTo>
                  <a:lnTo>
                    <a:pt x="0" y="59959"/>
                  </a:lnTo>
                  <a:cubicBezTo>
                    <a:pt x="0" y="44057"/>
                    <a:pt x="6317" y="28806"/>
                    <a:pt x="17562" y="17562"/>
                  </a:cubicBezTo>
                  <a:cubicBezTo>
                    <a:pt x="28806" y="6317"/>
                    <a:pt x="44057" y="0"/>
                    <a:pt x="59959" y="0"/>
                  </a:cubicBezTo>
                  <a:close/>
                </a:path>
              </a:pathLst>
            </a:custGeom>
            <a:solidFill>
              <a:srgbClr val="2A3066">
                <a:alpha val="55686"/>
              </a:srgbClr>
            </a:solidFill>
          </p:spPr>
        </p:sp>
        <p:sp>
          <p:nvSpPr>
            <p:cNvPr name="TextBox 4" id="4"/>
            <p:cNvSpPr txBox="true"/>
            <p:nvPr/>
          </p:nvSpPr>
          <p:spPr>
            <a:xfrm>
              <a:off x="0" y="-66675"/>
              <a:ext cx="1686890" cy="1374923"/>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5" id="5"/>
          <p:cNvSpPr/>
          <p:nvPr/>
        </p:nvSpPr>
        <p:spPr>
          <a:xfrm flipH="false" flipV="false" rot="0">
            <a:off x="1980488"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sp>
        <p:nvSpPr>
          <p:cNvPr name="Freeform 6" id="6"/>
          <p:cNvSpPr/>
          <p:nvPr/>
        </p:nvSpPr>
        <p:spPr>
          <a:xfrm flipH="false" flipV="false" rot="0">
            <a:off x="2614524" y="2770387"/>
            <a:ext cx="2837898" cy="1929029"/>
          </a:xfrm>
          <a:custGeom>
            <a:avLst/>
            <a:gdLst/>
            <a:ahLst/>
            <a:cxnLst/>
            <a:rect r="r" b="b" t="t" l="l"/>
            <a:pathLst>
              <a:path h="1929029" w="2837898">
                <a:moveTo>
                  <a:pt x="0" y="0"/>
                </a:moveTo>
                <a:lnTo>
                  <a:pt x="2837899" y="0"/>
                </a:lnTo>
                <a:lnTo>
                  <a:pt x="2837899" y="1929029"/>
                </a:lnTo>
                <a:lnTo>
                  <a:pt x="0" y="1929029"/>
                </a:lnTo>
                <a:lnTo>
                  <a:pt x="0" y="0"/>
                </a:lnTo>
                <a:close/>
              </a:path>
            </a:pathLst>
          </a:custGeom>
          <a:blipFill>
            <a:blip r:embed="rId4"/>
            <a:stretch>
              <a:fillRect l="0" t="0" r="0" b="0"/>
            </a:stretch>
          </a:blipFill>
        </p:spPr>
      </p:sp>
      <p:sp>
        <p:nvSpPr>
          <p:cNvPr name="AutoShape 7" id="7"/>
          <p:cNvSpPr/>
          <p:nvPr/>
        </p:nvSpPr>
        <p:spPr>
          <a:xfrm>
            <a:off x="5647788" y="3705153"/>
            <a:ext cx="2596213" cy="0"/>
          </a:xfrm>
          <a:prstGeom prst="line">
            <a:avLst/>
          </a:prstGeom>
          <a:ln cap="flat" w="38100">
            <a:solidFill>
              <a:srgbClr val="FFFFFF"/>
            </a:solidFill>
            <a:prstDash val="solid"/>
            <a:headEnd type="none" len="sm" w="sm"/>
            <a:tailEnd type="none" len="sm" w="sm"/>
          </a:ln>
        </p:spPr>
      </p:sp>
      <p:sp>
        <p:nvSpPr>
          <p:cNvPr name="Freeform 8" id="8"/>
          <p:cNvSpPr/>
          <p:nvPr/>
        </p:nvSpPr>
        <p:spPr>
          <a:xfrm flipH="false" flipV="false" rot="0">
            <a:off x="8244001" y="2667309"/>
            <a:ext cx="8267827" cy="2345996"/>
          </a:xfrm>
          <a:custGeom>
            <a:avLst/>
            <a:gdLst/>
            <a:ahLst/>
            <a:cxnLst/>
            <a:rect r="r" b="b" t="t" l="l"/>
            <a:pathLst>
              <a:path h="2345996" w="8267827">
                <a:moveTo>
                  <a:pt x="0" y="0"/>
                </a:moveTo>
                <a:lnTo>
                  <a:pt x="8267827" y="0"/>
                </a:lnTo>
                <a:lnTo>
                  <a:pt x="8267827" y="2345996"/>
                </a:lnTo>
                <a:lnTo>
                  <a:pt x="0" y="23459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2204495" y="6393147"/>
            <a:ext cx="3227981" cy="2503422"/>
            <a:chOff x="0" y="0"/>
            <a:chExt cx="1686890" cy="1308248"/>
          </a:xfrm>
        </p:grpSpPr>
        <p:sp>
          <p:nvSpPr>
            <p:cNvPr name="Freeform 10" id="10"/>
            <p:cNvSpPr/>
            <p:nvPr/>
          </p:nvSpPr>
          <p:spPr>
            <a:xfrm flipH="false" flipV="false" rot="0">
              <a:off x="0" y="0"/>
              <a:ext cx="1686890" cy="1308248"/>
            </a:xfrm>
            <a:custGeom>
              <a:avLst/>
              <a:gdLst/>
              <a:ahLst/>
              <a:cxnLst/>
              <a:rect r="r" b="b" t="t" l="l"/>
              <a:pathLst>
                <a:path h="1308248" w="1686890">
                  <a:moveTo>
                    <a:pt x="59959" y="0"/>
                  </a:moveTo>
                  <a:lnTo>
                    <a:pt x="1626931" y="0"/>
                  </a:lnTo>
                  <a:cubicBezTo>
                    <a:pt x="1642833" y="0"/>
                    <a:pt x="1658084" y="6317"/>
                    <a:pt x="1669329" y="17562"/>
                  </a:cubicBezTo>
                  <a:cubicBezTo>
                    <a:pt x="1680573" y="28806"/>
                    <a:pt x="1686890" y="44057"/>
                    <a:pt x="1686890" y="59959"/>
                  </a:cubicBezTo>
                  <a:lnTo>
                    <a:pt x="1686890" y="1248288"/>
                  </a:lnTo>
                  <a:cubicBezTo>
                    <a:pt x="1686890" y="1264190"/>
                    <a:pt x="1680573" y="1279441"/>
                    <a:pt x="1669329" y="1290686"/>
                  </a:cubicBezTo>
                  <a:cubicBezTo>
                    <a:pt x="1658084" y="1301931"/>
                    <a:pt x="1642833" y="1308248"/>
                    <a:pt x="1626931" y="1308248"/>
                  </a:cubicBezTo>
                  <a:lnTo>
                    <a:pt x="59959" y="1308248"/>
                  </a:lnTo>
                  <a:cubicBezTo>
                    <a:pt x="26845" y="1308248"/>
                    <a:pt x="0" y="1281403"/>
                    <a:pt x="0" y="1248288"/>
                  </a:cubicBezTo>
                  <a:lnTo>
                    <a:pt x="0" y="59959"/>
                  </a:lnTo>
                  <a:cubicBezTo>
                    <a:pt x="0" y="44057"/>
                    <a:pt x="6317" y="28806"/>
                    <a:pt x="17562" y="17562"/>
                  </a:cubicBezTo>
                  <a:cubicBezTo>
                    <a:pt x="28806" y="6317"/>
                    <a:pt x="44057" y="0"/>
                    <a:pt x="59959" y="0"/>
                  </a:cubicBezTo>
                  <a:close/>
                </a:path>
              </a:pathLst>
            </a:custGeom>
            <a:solidFill>
              <a:srgbClr val="2A3066">
                <a:alpha val="55686"/>
              </a:srgbClr>
            </a:solidFill>
          </p:spPr>
        </p:sp>
        <p:sp>
          <p:nvSpPr>
            <p:cNvPr name="TextBox 11" id="11"/>
            <p:cNvSpPr txBox="true"/>
            <p:nvPr/>
          </p:nvSpPr>
          <p:spPr>
            <a:xfrm>
              <a:off x="0" y="-66675"/>
              <a:ext cx="1686890" cy="1374923"/>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AutoShape 12" id="12"/>
          <p:cNvSpPr/>
          <p:nvPr/>
        </p:nvSpPr>
        <p:spPr>
          <a:xfrm>
            <a:off x="9608282" y="7625808"/>
            <a:ext cx="2596213" cy="0"/>
          </a:xfrm>
          <a:prstGeom prst="line">
            <a:avLst/>
          </a:prstGeom>
          <a:ln cap="flat" w="38100">
            <a:solidFill>
              <a:srgbClr val="FFFFFF"/>
            </a:solidFill>
            <a:prstDash val="solid"/>
            <a:headEnd type="none" len="sm" w="sm"/>
            <a:tailEnd type="none" len="sm" w="sm"/>
          </a:ln>
        </p:spPr>
      </p:sp>
      <p:sp>
        <p:nvSpPr>
          <p:cNvPr name="Freeform 13" id="13"/>
          <p:cNvSpPr/>
          <p:nvPr/>
        </p:nvSpPr>
        <p:spPr>
          <a:xfrm flipH="false" flipV="false" rot="0">
            <a:off x="1428150" y="6613995"/>
            <a:ext cx="8267827" cy="2345996"/>
          </a:xfrm>
          <a:custGeom>
            <a:avLst/>
            <a:gdLst/>
            <a:ahLst/>
            <a:cxnLst/>
            <a:rect r="r" b="b" t="t" l="l"/>
            <a:pathLst>
              <a:path h="2345996" w="8267827">
                <a:moveTo>
                  <a:pt x="0" y="0"/>
                </a:moveTo>
                <a:lnTo>
                  <a:pt x="8267827" y="0"/>
                </a:lnTo>
                <a:lnTo>
                  <a:pt x="8267827" y="2345996"/>
                </a:lnTo>
                <a:lnTo>
                  <a:pt x="0" y="23459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2377914" y="6708352"/>
            <a:ext cx="2837898" cy="1873013"/>
          </a:xfrm>
          <a:custGeom>
            <a:avLst/>
            <a:gdLst/>
            <a:ahLst/>
            <a:cxnLst/>
            <a:rect r="r" b="b" t="t" l="l"/>
            <a:pathLst>
              <a:path h="1873013" w="2837898">
                <a:moveTo>
                  <a:pt x="0" y="0"/>
                </a:moveTo>
                <a:lnTo>
                  <a:pt x="2837899" y="0"/>
                </a:lnTo>
                <a:lnTo>
                  <a:pt x="2837899" y="1873013"/>
                </a:lnTo>
                <a:lnTo>
                  <a:pt x="0" y="1873013"/>
                </a:lnTo>
                <a:lnTo>
                  <a:pt x="0" y="0"/>
                </a:lnTo>
                <a:close/>
              </a:path>
            </a:pathLst>
          </a:custGeom>
          <a:blipFill>
            <a:blip r:embed="rId7"/>
            <a:stretch>
              <a:fillRect l="0" t="0" r="0" b="0"/>
            </a:stretch>
          </a:blipFill>
        </p:spPr>
      </p:sp>
      <p:sp>
        <p:nvSpPr>
          <p:cNvPr name="TextBox 15" id="15"/>
          <p:cNvSpPr txBox="true"/>
          <p:nvPr/>
        </p:nvSpPr>
        <p:spPr>
          <a:xfrm rot="0">
            <a:off x="2435607"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Visualisations and Insights from Power BI</a:t>
            </a:r>
          </a:p>
        </p:txBody>
      </p:sp>
      <p:sp>
        <p:nvSpPr>
          <p:cNvPr name="TextBox 16" id="16"/>
          <p:cNvSpPr txBox="true"/>
          <p:nvPr/>
        </p:nvSpPr>
        <p:spPr>
          <a:xfrm rot="0">
            <a:off x="2435607"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Asus ROG Strix Laptop</a:t>
            </a:r>
          </a:p>
        </p:txBody>
      </p:sp>
      <p:sp>
        <p:nvSpPr>
          <p:cNvPr name="TextBox 17" id="17"/>
          <p:cNvSpPr txBox="true"/>
          <p:nvPr/>
        </p:nvSpPr>
        <p:spPr>
          <a:xfrm rot="0">
            <a:off x="9186750" y="3112516"/>
            <a:ext cx="6382329" cy="1514256"/>
          </a:xfrm>
          <a:prstGeom prst="rect">
            <a:avLst/>
          </a:prstGeom>
        </p:spPr>
        <p:txBody>
          <a:bodyPr anchor="t" rtlCol="false" tIns="0" lIns="0" bIns="0" rIns="0">
            <a:spAutoFit/>
          </a:bodyPr>
          <a:lstStyle/>
          <a:p>
            <a:pPr algn="ctr">
              <a:lnSpc>
                <a:spcPts val="2009"/>
              </a:lnSpc>
              <a:spcBef>
                <a:spcPct val="0"/>
              </a:spcBef>
            </a:pPr>
            <a:r>
              <a:rPr lang="en-US" sz="1860">
                <a:solidFill>
                  <a:srgbClr val="FFFFFF"/>
                </a:solidFill>
                <a:latin typeface="Poppins"/>
                <a:ea typeface="Poppins"/>
                <a:cs typeface="Poppins"/>
                <a:sym typeface="Poppins"/>
              </a:rPr>
              <a:t>This value reflects </a:t>
            </a:r>
            <a:r>
              <a:rPr lang="en-US" b="true" sz="1860">
                <a:solidFill>
                  <a:srgbClr val="FFFFFF"/>
                </a:solidFill>
                <a:latin typeface="Poppins Bold"/>
                <a:ea typeface="Poppins Bold"/>
                <a:cs typeface="Poppins Bold"/>
                <a:sym typeface="Poppins Bold"/>
              </a:rPr>
              <a:t>the cumulative total of all recorded ROG Strix laptop prices over the analysis period.</a:t>
            </a:r>
            <a:r>
              <a:rPr lang="en-US" sz="1860">
                <a:solidFill>
                  <a:srgbClr val="FFFFFF"/>
                </a:solidFill>
                <a:latin typeface="Poppins"/>
                <a:ea typeface="Poppins"/>
                <a:cs typeface="Poppins"/>
                <a:sym typeface="Poppins"/>
              </a:rPr>
              <a:t> Assuming each price point is equal to ASUS selling a minimum of one laptop per day, this value can be interpreted as the estimated minimum total sales revenue for the product across the year. </a:t>
            </a:r>
          </a:p>
        </p:txBody>
      </p:sp>
      <p:sp>
        <p:nvSpPr>
          <p:cNvPr name="TextBox 18" id="18"/>
          <p:cNvSpPr txBox="true"/>
          <p:nvPr/>
        </p:nvSpPr>
        <p:spPr>
          <a:xfrm rot="0">
            <a:off x="1707048" y="5042589"/>
            <a:ext cx="4423723" cy="276006"/>
          </a:xfrm>
          <a:prstGeom prst="rect">
            <a:avLst/>
          </a:prstGeom>
        </p:spPr>
        <p:txBody>
          <a:bodyPr anchor="t" rtlCol="false" tIns="0" lIns="0" bIns="0" rIns="0">
            <a:spAutoFit/>
          </a:bodyPr>
          <a:lstStyle/>
          <a:p>
            <a:pPr algn="ctr">
              <a:lnSpc>
                <a:spcPts val="2009"/>
              </a:lnSpc>
              <a:spcBef>
                <a:spcPct val="0"/>
              </a:spcBef>
            </a:pPr>
            <a:r>
              <a:rPr lang="en-US" sz="1860">
                <a:solidFill>
                  <a:srgbClr val="FFFFFF"/>
                </a:solidFill>
                <a:latin typeface="Poppins"/>
                <a:ea typeface="Poppins"/>
                <a:cs typeface="Poppins"/>
                <a:sym typeface="Poppins"/>
              </a:rPr>
              <a:t>Data Card for ‘Total Sales’ Measure</a:t>
            </a:r>
          </a:p>
        </p:txBody>
      </p:sp>
      <p:sp>
        <p:nvSpPr>
          <p:cNvPr name="TextBox 19" id="19"/>
          <p:cNvSpPr txBox="true"/>
          <p:nvPr/>
        </p:nvSpPr>
        <p:spPr>
          <a:xfrm rot="0">
            <a:off x="11491736" y="8982294"/>
            <a:ext cx="4579441" cy="276006"/>
          </a:xfrm>
          <a:prstGeom prst="rect">
            <a:avLst/>
          </a:prstGeom>
        </p:spPr>
        <p:txBody>
          <a:bodyPr anchor="t" rtlCol="false" tIns="0" lIns="0" bIns="0" rIns="0">
            <a:spAutoFit/>
          </a:bodyPr>
          <a:lstStyle/>
          <a:p>
            <a:pPr algn="ctr">
              <a:lnSpc>
                <a:spcPts val="2009"/>
              </a:lnSpc>
              <a:spcBef>
                <a:spcPct val="0"/>
              </a:spcBef>
            </a:pPr>
            <a:r>
              <a:rPr lang="en-US" sz="1860">
                <a:solidFill>
                  <a:srgbClr val="FFFFFF"/>
                </a:solidFill>
                <a:latin typeface="Poppins"/>
                <a:ea typeface="Poppins"/>
                <a:cs typeface="Poppins"/>
                <a:sym typeface="Poppins"/>
              </a:rPr>
              <a:t>Data Card for ‘Average Price’ Measure</a:t>
            </a:r>
          </a:p>
        </p:txBody>
      </p:sp>
      <p:sp>
        <p:nvSpPr>
          <p:cNvPr name="TextBox 20" id="20"/>
          <p:cNvSpPr txBox="true"/>
          <p:nvPr/>
        </p:nvSpPr>
        <p:spPr>
          <a:xfrm rot="0">
            <a:off x="2419807" y="7312567"/>
            <a:ext cx="6382329" cy="948852"/>
          </a:xfrm>
          <a:prstGeom prst="rect">
            <a:avLst/>
          </a:prstGeom>
        </p:spPr>
        <p:txBody>
          <a:bodyPr anchor="t" rtlCol="false" tIns="0" lIns="0" bIns="0" rIns="0">
            <a:spAutoFit/>
          </a:bodyPr>
          <a:lstStyle/>
          <a:p>
            <a:pPr algn="ctr">
              <a:lnSpc>
                <a:spcPts val="2441"/>
              </a:lnSpc>
              <a:spcBef>
                <a:spcPct val="0"/>
              </a:spcBef>
            </a:pPr>
            <a:r>
              <a:rPr lang="en-US" sz="2260">
                <a:solidFill>
                  <a:srgbClr val="FFFFFF"/>
                </a:solidFill>
                <a:latin typeface="Poppins"/>
                <a:ea typeface="Poppins"/>
                <a:cs typeface="Poppins"/>
                <a:sym typeface="Poppins"/>
              </a:rPr>
              <a:t>The value indicates </a:t>
            </a:r>
            <a:r>
              <a:rPr lang="en-US" sz="2260">
                <a:solidFill>
                  <a:srgbClr val="FFFFFF"/>
                </a:solidFill>
                <a:latin typeface="Poppins"/>
                <a:ea typeface="Poppins"/>
                <a:cs typeface="Poppins"/>
                <a:sym typeface="Poppins"/>
              </a:rPr>
              <a:t>that t</a:t>
            </a:r>
            <a:r>
              <a:rPr lang="en-US" sz="2260">
                <a:solidFill>
                  <a:srgbClr val="FFFFFF"/>
                </a:solidFill>
                <a:latin typeface="Poppins"/>
                <a:ea typeface="Poppins"/>
                <a:cs typeface="Poppins"/>
                <a:sym typeface="Poppins"/>
              </a:rPr>
              <a:t>he</a:t>
            </a:r>
            <a:r>
              <a:rPr lang="en-US" sz="2260">
                <a:solidFill>
                  <a:srgbClr val="FFFFFF"/>
                </a:solidFill>
                <a:latin typeface="Poppins"/>
                <a:ea typeface="Poppins"/>
                <a:cs typeface="Poppins"/>
                <a:sym typeface="Poppins"/>
              </a:rPr>
              <a:t> a</a:t>
            </a:r>
            <a:r>
              <a:rPr lang="en-US" sz="2260">
                <a:solidFill>
                  <a:srgbClr val="FFFFFF"/>
                </a:solidFill>
                <a:latin typeface="Poppins"/>
                <a:ea typeface="Poppins"/>
                <a:cs typeface="Poppins"/>
                <a:sym typeface="Poppins"/>
              </a:rPr>
              <a:t>v</a:t>
            </a:r>
            <a:r>
              <a:rPr lang="en-US" sz="2260">
                <a:solidFill>
                  <a:srgbClr val="FFFFFF"/>
                </a:solidFill>
                <a:latin typeface="Poppins"/>
                <a:ea typeface="Poppins"/>
                <a:cs typeface="Poppins"/>
                <a:sym typeface="Poppins"/>
              </a:rPr>
              <a:t>er</a:t>
            </a:r>
            <a:r>
              <a:rPr lang="en-US" sz="2260">
                <a:solidFill>
                  <a:srgbClr val="FFFFFF"/>
                </a:solidFill>
                <a:latin typeface="Poppins"/>
                <a:ea typeface="Poppins"/>
                <a:cs typeface="Poppins"/>
                <a:sym typeface="Poppins"/>
              </a:rPr>
              <a:t>ag</a:t>
            </a:r>
            <a:r>
              <a:rPr lang="en-US" sz="2260">
                <a:solidFill>
                  <a:srgbClr val="FFFFFF"/>
                </a:solidFill>
                <a:latin typeface="Poppins"/>
                <a:ea typeface="Poppins"/>
                <a:cs typeface="Poppins"/>
                <a:sym typeface="Poppins"/>
              </a:rPr>
              <a:t>e </a:t>
            </a:r>
            <a:r>
              <a:rPr lang="en-US" sz="2260">
                <a:solidFill>
                  <a:srgbClr val="FFFFFF"/>
                </a:solidFill>
                <a:latin typeface="Poppins"/>
                <a:ea typeface="Poppins"/>
                <a:cs typeface="Poppins"/>
                <a:sym typeface="Poppins"/>
              </a:rPr>
              <a:t>new</a:t>
            </a:r>
            <a:r>
              <a:rPr lang="en-US" sz="2260">
                <a:solidFill>
                  <a:srgbClr val="FFFFFF"/>
                </a:solidFill>
                <a:latin typeface="Poppins"/>
                <a:ea typeface="Poppins"/>
                <a:cs typeface="Poppins"/>
                <a:sym typeface="Poppins"/>
              </a:rPr>
              <a:t> price o</a:t>
            </a:r>
            <a:r>
              <a:rPr lang="en-US" sz="2260">
                <a:solidFill>
                  <a:srgbClr val="FFFFFF"/>
                </a:solidFill>
                <a:latin typeface="Poppins"/>
                <a:ea typeface="Poppins"/>
                <a:cs typeface="Poppins"/>
                <a:sym typeface="Poppins"/>
              </a:rPr>
              <a:t>f</a:t>
            </a:r>
            <a:r>
              <a:rPr lang="en-US" sz="2260">
                <a:solidFill>
                  <a:srgbClr val="FFFFFF"/>
                </a:solidFill>
                <a:latin typeface="Poppins"/>
                <a:ea typeface="Poppins"/>
                <a:cs typeface="Poppins"/>
                <a:sym typeface="Poppins"/>
              </a:rPr>
              <a:t> the </a:t>
            </a:r>
            <a:r>
              <a:rPr lang="en-US" sz="2260">
                <a:solidFill>
                  <a:srgbClr val="FFFFFF"/>
                </a:solidFill>
                <a:latin typeface="Poppins"/>
                <a:ea typeface="Poppins"/>
                <a:cs typeface="Poppins"/>
                <a:sym typeface="Poppins"/>
              </a:rPr>
              <a:t>ROG</a:t>
            </a:r>
            <a:r>
              <a:rPr lang="en-US" sz="2260">
                <a:solidFill>
                  <a:srgbClr val="FFFFFF"/>
                </a:solidFill>
                <a:latin typeface="Poppins"/>
                <a:ea typeface="Poppins"/>
                <a:cs typeface="Poppins"/>
                <a:sym typeface="Poppins"/>
              </a:rPr>
              <a:t> </a:t>
            </a:r>
            <a:r>
              <a:rPr lang="en-US" sz="2260">
                <a:solidFill>
                  <a:srgbClr val="FFFFFF"/>
                </a:solidFill>
                <a:latin typeface="Poppins"/>
                <a:ea typeface="Poppins"/>
                <a:cs typeface="Poppins"/>
                <a:sym typeface="Poppins"/>
              </a:rPr>
              <a:t>m</a:t>
            </a:r>
            <a:r>
              <a:rPr lang="en-US" sz="2260">
                <a:solidFill>
                  <a:srgbClr val="FFFFFF"/>
                </a:solidFill>
                <a:latin typeface="Poppins"/>
                <a:ea typeface="Poppins"/>
                <a:cs typeface="Poppins"/>
                <a:sym typeface="Poppins"/>
              </a:rPr>
              <a:t>od</a:t>
            </a:r>
            <a:r>
              <a:rPr lang="en-US" sz="2260">
                <a:solidFill>
                  <a:srgbClr val="FFFFFF"/>
                </a:solidFill>
                <a:latin typeface="Poppins"/>
                <a:ea typeface="Poppins"/>
                <a:cs typeface="Poppins"/>
                <a:sym typeface="Poppins"/>
              </a:rPr>
              <a:t>el across all recorded entries is approximately $1,280.</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1980488" y="2998184"/>
            <a:ext cx="5965365" cy="4134487"/>
            <a:chOff x="0" y="0"/>
            <a:chExt cx="2831022" cy="1962130"/>
          </a:xfrm>
        </p:grpSpPr>
        <p:sp>
          <p:nvSpPr>
            <p:cNvPr name="Freeform 3" id="3"/>
            <p:cNvSpPr/>
            <p:nvPr/>
          </p:nvSpPr>
          <p:spPr>
            <a:xfrm flipH="false" flipV="false" rot="0">
              <a:off x="0" y="0"/>
              <a:ext cx="2831022" cy="1962130"/>
            </a:xfrm>
            <a:custGeom>
              <a:avLst/>
              <a:gdLst/>
              <a:ahLst/>
              <a:cxnLst/>
              <a:rect r="r" b="b" t="t" l="l"/>
              <a:pathLst>
                <a:path h="1962130" w="2831022">
                  <a:moveTo>
                    <a:pt x="32445" y="0"/>
                  </a:moveTo>
                  <a:lnTo>
                    <a:pt x="2798576" y="0"/>
                  </a:lnTo>
                  <a:cubicBezTo>
                    <a:pt x="2807182" y="0"/>
                    <a:pt x="2815434" y="3418"/>
                    <a:pt x="2821519" y="9503"/>
                  </a:cubicBezTo>
                  <a:cubicBezTo>
                    <a:pt x="2827603" y="15588"/>
                    <a:pt x="2831022" y="23840"/>
                    <a:pt x="2831022" y="32445"/>
                  </a:cubicBezTo>
                  <a:lnTo>
                    <a:pt x="2831022" y="1929685"/>
                  </a:lnTo>
                  <a:cubicBezTo>
                    <a:pt x="2831022" y="1947604"/>
                    <a:pt x="2816496" y="1962130"/>
                    <a:pt x="2798576" y="1962130"/>
                  </a:cubicBezTo>
                  <a:lnTo>
                    <a:pt x="32445" y="1962130"/>
                  </a:lnTo>
                  <a:cubicBezTo>
                    <a:pt x="23840" y="1962130"/>
                    <a:pt x="15588" y="1958712"/>
                    <a:pt x="9503" y="1952627"/>
                  </a:cubicBezTo>
                  <a:cubicBezTo>
                    <a:pt x="3418" y="1946543"/>
                    <a:pt x="0" y="1938290"/>
                    <a:pt x="0" y="1929685"/>
                  </a:cubicBezTo>
                  <a:lnTo>
                    <a:pt x="0" y="32445"/>
                  </a:lnTo>
                  <a:cubicBezTo>
                    <a:pt x="0" y="23840"/>
                    <a:pt x="3418" y="15588"/>
                    <a:pt x="9503" y="9503"/>
                  </a:cubicBezTo>
                  <a:cubicBezTo>
                    <a:pt x="15588" y="3418"/>
                    <a:pt x="23840" y="0"/>
                    <a:pt x="32445" y="0"/>
                  </a:cubicBezTo>
                  <a:close/>
                </a:path>
              </a:pathLst>
            </a:custGeom>
            <a:solidFill>
              <a:srgbClr val="2A3066">
                <a:alpha val="55686"/>
              </a:srgbClr>
            </a:solidFill>
          </p:spPr>
        </p:sp>
        <p:sp>
          <p:nvSpPr>
            <p:cNvPr name="TextBox 4" id="4"/>
            <p:cNvSpPr txBox="true"/>
            <p:nvPr/>
          </p:nvSpPr>
          <p:spPr>
            <a:xfrm>
              <a:off x="0" y="-66675"/>
              <a:ext cx="2831022" cy="202880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5" id="5"/>
          <p:cNvSpPr/>
          <p:nvPr/>
        </p:nvSpPr>
        <p:spPr>
          <a:xfrm flipH="false" flipV="false" rot="0">
            <a:off x="1980488"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sp>
        <p:nvSpPr>
          <p:cNvPr name="AutoShape 6" id="6"/>
          <p:cNvSpPr/>
          <p:nvPr/>
        </p:nvSpPr>
        <p:spPr>
          <a:xfrm>
            <a:off x="4963171" y="7132671"/>
            <a:ext cx="0" cy="286268"/>
          </a:xfrm>
          <a:prstGeom prst="line">
            <a:avLst/>
          </a:prstGeom>
          <a:ln cap="flat" w="47625">
            <a:solidFill>
              <a:srgbClr val="FFFFFF"/>
            </a:solidFill>
            <a:prstDash val="solid"/>
            <a:headEnd type="none" len="sm" w="sm"/>
            <a:tailEnd type="none" len="sm" w="sm"/>
          </a:ln>
        </p:spPr>
      </p:sp>
      <p:sp>
        <p:nvSpPr>
          <p:cNvPr name="Freeform 7" id="7"/>
          <p:cNvSpPr/>
          <p:nvPr/>
        </p:nvSpPr>
        <p:spPr>
          <a:xfrm flipH="false" flipV="false" rot="0">
            <a:off x="1722006" y="7418939"/>
            <a:ext cx="6482329" cy="1839361"/>
          </a:xfrm>
          <a:custGeom>
            <a:avLst/>
            <a:gdLst/>
            <a:ahLst/>
            <a:cxnLst/>
            <a:rect r="r" b="b" t="t" l="l"/>
            <a:pathLst>
              <a:path h="1839361" w="6482329">
                <a:moveTo>
                  <a:pt x="0" y="0"/>
                </a:moveTo>
                <a:lnTo>
                  <a:pt x="6482330" y="0"/>
                </a:lnTo>
                <a:lnTo>
                  <a:pt x="6482330" y="1839361"/>
                </a:lnTo>
                <a:lnTo>
                  <a:pt x="0" y="18393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flipV="true">
            <a:off x="14051990" y="3778254"/>
            <a:ext cx="15351" cy="830455"/>
          </a:xfrm>
          <a:prstGeom prst="line">
            <a:avLst/>
          </a:prstGeom>
          <a:ln cap="flat" w="47625">
            <a:solidFill>
              <a:srgbClr val="FFFFFF"/>
            </a:solidFill>
            <a:prstDash val="solid"/>
            <a:headEnd type="none" len="sm" w="sm"/>
            <a:tailEnd type="none" len="sm" w="sm"/>
          </a:ln>
        </p:spPr>
      </p:sp>
      <p:sp>
        <p:nvSpPr>
          <p:cNvPr name="Freeform 9" id="9"/>
          <p:cNvSpPr/>
          <p:nvPr/>
        </p:nvSpPr>
        <p:spPr>
          <a:xfrm flipH="false" flipV="false" rot="0">
            <a:off x="11361157" y="2242495"/>
            <a:ext cx="5412368" cy="1535759"/>
          </a:xfrm>
          <a:custGeom>
            <a:avLst/>
            <a:gdLst/>
            <a:ahLst/>
            <a:cxnLst/>
            <a:rect r="r" b="b" t="t" l="l"/>
            <a:pathLst>
              <a:path h="1535759" w="5412368">
                <a:moveTo>
                  <a:pt x="0" y="0"/>
                </a:moveTo>
                <a:lnTo>
                  <a:pt x="5412368" y="0"/>
                </a:lnTo>
                <a:lnTo>
                  <a:pt x="5412368" y="1535759"/>
                </a:lnTo>
                <a:lnTo>
                  <a:pt x="0" y="15357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271048" y="3159076"/>
            <a:ext cx="5384246" cy="3812702"/>
          </a:xfrm>
          <a:custGeom>
            <a:avLst/>
            <a:gdLst/>
            <a:ahLst/>
            <a:cxnLst/>
            <a:rect r="r" b="b" t="t" l="l"/>
            <a:pathLst>
              <a:path h="3812702" w="5384246">
                <a:moveTo>
                  <a:pt x="0" y="0"/>
                </a:moveTo>
                <a:lnTo>
                  <a:pt x="5384246" y="0"/>
                </a:lnTo>
                <a:lnTo>
                  <a:pt x="5384246" y="3812703"/>
                </a:lnTo>
                <a:lnTo>
                  <a:pt x="0" y="3812703"/>
                </a:lnTo>
                <a:lnTo>
                  <a:pt x="0" y="0"/>
                </a:lnTo>
                <a:close/>
              </a:path>
            </a:pathLst>
          </a:custGeom>
          <a:blipFill>
            <a:blip r:embed="rId6"/>
            <a:stretch>
              <a:fillRect l="0" t="0" r="0" b="0"/>
            </a:stretch>
          </a:blipFill>
        </p:spPr>
      </p:sp>
      <p:grpSp>
        <p:nvGrpSpPr>
          <p:cNvPr name="Group 11" id="11"/>
          <p:cNvGrpSpPr/>
          <p:nvPr/>
        </p:nvGrpSpPr>
        <p:grpSpPr>
          <a:xfrm rot="0">
            <a:off x="11069307" y="4608710"/>
            <a:ext cx="5965365" cy="4134487"/>
            <a:chOff x="0" y="0"/>
            <a:chExt cx="2831022" cy="1962130"/>
          </a:xfrm>
        </p:grpSpPr>
        <p:sp>
          <p:nvSpPr>
            <p:cNvPr name="Freeform 12" id="12"/>
            <p:cNvSpPr/>
            <p:nvPr/>
          </p:nvSpPr>
          <p:spPr>
            <a:xfrm flipH="false" flipV="false" rot="0">
              <a:off x="0" y="0"/>
              <a:ext cx="2831022" cy="1962130"/>
            </a:xfrm>
            <a:custGeom>
              <a:avLst/>
              <a:gdLst/>
              <a:ahLst/>
              <a:cxnLst/>
              <a:rect r="r" b="b" t="t" l="l"/>
              <a:pathLst>
                <a:path h="1962130" w="2831022">
                  <a:moveTo>
                    <a:pt x="32445" y="0"/>
                  </a:moveTo>
                  <a:lnTo>
                    <a:pt x="2798576" y="0"/>
                  </a:lnTo>
                  <a:cubicBezTo>
                    <a:pt x="2807182" y="0"/>
                    <a:pt x="2815434" y="3418"/>
                    <a:pt x="2821519" y="9503"/>
                  </a:cubicBezTo>
                  <a:cubicBezTo>
                    <a:pt x="2827603" y="15588"/>
                    <a:pt x="2831022" y="23840"/>
                    <a:pt x="2831022" y="32445"/>
                  </a:cubicBezTo>
                  <a:lnTo>
                    <a:pt x="2831022" y="1929685"/>
                  </a:lnTo>
                  <a:cubicBezTo>
                    <a:pt x="2831022" y="1947604"/>
                    <a:pt x="2816496" y="1962130"/>
                    <a:pt x="2798576" y="1962130"/>
                  </a:cubicBezTo>
                  <a:lnTo>
                    <a:pt x="32445" y="1962130"/>
                  </a:lnTo>
                  <a:cubicBezTo>
                    <a:pt x="23840" y="1962130"/>
                    <a:pt x="15588" y="1958712"/>
                    <a:pt x="9503" y="1952627"/>
                  </a:cubicBezTo>
                  <a:cubicBezTo>
                    <a:pt x="3418" y="1946543"/>
                    <a:pt x="0" y="1938290"/>
                    <a:pt x="0" y="1929685"/>
                  </a:cubicBezTo>
                  <a:lnTo>
                    <a:pt x="0" y="32445"/>
                  </a:lnTo>
                  <a:cubicBezTo>
                    <a:pt x="0" y="23840"/>
                    <a:pt x="3418" y="15588"/>
                    <a:pt x="9503" y="9503"/>
                  </a:cubicBezTo>
                  <a:cubicBezTo>
                    <a:pt x="15588" y="3418"/>
                    <a:pt x="23840" y="0"/>
                    <a:pt x="32445" y="0"/>
                  </a:cubicBezTo>
                  <a:close/>
                </a:path>
              </a:pathLst>
            </a:custGeom>
            <a:solidFill>
              <a:srgbClr val="2A3066">
                <a:alpha val="55686"/>
              </a:srgbClr>
            </a:solidFill>
          </p:spPr>
        </p:sp>
        <p:sp>
          <p:nvSpPr>
            <p:cNvPr name="TextBox 13" id="13"/>
            <p:cNvSpPr txBox="true"/>
            <p:nvPr/>
          </p:nvSpPr>
          <p:spPr>
            <a:xfrm>
              <a:off x="0" y="-66675"/>
              <a:ext cx="2831022" cy="202880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14" id="14"/>
          <p:cNvSpPr/>
          <p:nvPr/>
        </p:nvSpPr>
        <p:spPr>
          <a:xfrm flipH="false" flipV="false" rot="0">
            <a:off x="11214587" y="5106593"/>
            <a:ext cx="5674806" cy="3138720"/>
          </a:xfrm>
          <a:custGeom>
            <a:avLst/>
            <a:gdLst/>
            <a:ahLst/>
            <a:cxnLst/>
            <a:rect r="r" b="b" t="t" l="l"/>
            <a:pathLst>
              <a:path h="3138720" w="5674806">
                <a:moveTo>
                  <a:pt x="0" y="0"/>
                </a:moveTo>
                <a:lnTo>
                  <a:pt x="5674806" y="0"/>
                </a:lnTo>
                <a:lnTo>
                  <a:pt x="5674806" y="3138720"/>
                </a:lnTo>
                <a:lnTo>
                  <a:pt x="0" y="3138720"/>
                </a:lnTo>
                <a:lnTo>
                  <a:pt x="0" y="0"/>
                </a:lnTo>
                <a:close/>
              </a:path>
            </a:pathLst>
          </a:custGeom>
          <a:blipFill>
            <a:blip r:embed="rId7"/>
            <a:stretch>
              <a:fillRect l="0" t="0" r="0" b="0"/>
            </a:stretch>
          </a:blipFill>
        </p:spPr>
      </p:sp>
      <p:sp>
        <p:nvSpPr>
          <p:cNvPr name="TextBox 15" id="15"/>
          <p:cNvSpPr txBox="true"/>
          <p:nvPr/>
        </p:nvSpPr>
        <p:spPr>
          <a:xfrm rot="0">
            <a:off x="2435607"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Visualisations and Insights from Power BI</a:t>
            </a:r>
          </a:p>
        </p:txBody>
      </p:sp>
      <p:sp>
        <p:nvSpPr>
          <p:cNvPr name="TextBox 16" id="16"/>
          <p:cNvSpPr txBox="true"/>
          <p:nvPr/>
        </p:nvSpPr>
        <p:spPr>
          <a:xfrm rot="0">
            <a:off x="2435607"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Asus ROG Strix Laptop</a:t>
            </a:r>
          </a:p>
        </p:txBody>
      </p:sp>
      <p:sp>
        <p:nvSpPr>
          <p:cNvPr name="TextBox 17" id="17"/>
          <p:cNvSpPr txBox="true"/>
          <p:nvPr/>
        </p:nvSpPr>
        <p:spPr>
          <a:xfrm rot="0">
            <a:off x="2289656" y="7744958"/>
            <a:ext cx="5347030" cy="1196848"/>
          </a:xfrm>
          <a:prstGeom prst="rect">
            <a:avLst/>
          </a:prstGeom>
        </p:spPr>
        <p:txBody>
          <a:bodyPr anchor="t" rtlCol="false" tIns="0" lIns="0" bIns="0" rIns="0">
            <a:spAutoFit/>
          </a:bodyPr>
          <a:lstStyle/>
          <a:p>
            <a:pPr algn="ctr">
              <a:lnSpc>
                <a:spcPts val="2369"/>
              </a:lnSpc>
              <a:spcBef>
                <a:spcPct val="0"/>
              </a:spcBef>
            </a:pPr>
            <a:r>
              <a:rPr lang="en-US" sz="2193">
                <a:solidFill>
                  <a:srgbClr val="FFFFFF"/>
                </a:solidFill>
                <a:latin typeface="Poppins"/>
                <a:ea typeface="Poppins"/>
                <a:cs typeface="Poppins"/>
                <a:sym typeface="Poppins"/>
              </a:rPr>
              <a:t>This visualises </a:t>
            </a:r>
            <a:r>
              <a:rPr lang="en-US" sz="2193">
                <a:solidFill>
                  <a:srgbClr val="FFFFFF"/>
                </a:solidFill>
                <a:latin typeface="Poppins"/>
                <a:ea typeface="Poppins"/>
                <a:cs typeface="Poppins"/>
                <a:sym typeface="Poppins"/>
              </a:rPr>
              <a:t>th</a:t>
            </a:r>
            <a:r>
              <a:rPr lang="en-US" sz="2193">
                <a:solidFill>
                  <a:srgbClr val="FFFFFF"/>
                </a:solidFill>
                <a:latin typeface="Poppins"/>
                <a:ea typeface="Poppins"/>
                <a:cs typeface="Poppins"/>
                <a:sym typeface="Poppins"/>
              </a:rPr>
              <a:t>e</a:t>
            </a:r>
            <a:r>
              <a:rPr lang="en-US" sz="2193">
                <a:solidFill>
                  <a:srgbClr val="FFFFFF"/>
                </a:solidFill>
                <a:latin typeface="Poppins"/>
                <a:ea typeface="Poppins"/>
                <a:cs typeface="Poppins"/>
                <a:sym typeface="Poppins"/>
              </a:rPr>
              <a:t> total </a:t>
            </a:r>
            <a:r>
              <a:rPr lang="en-US" sz="2193">
                <a:solidFill>
                  <a:srgbClr val="FFFFFF"/>
                </a:solidFill>
                <a:latin typeface="Poppins"/>
                <a:ea typeface="Poppins"/>
                <a:cs typeface="Poppins"/>
                <a:sym typeface="Poppins"/>
              </a:rPr>
              <a:t>new</a:t>
            </a:r>
            <a:r>
              <a:rPr lang="en-US" sz="2193">
                <a:solidFill>
                  <a:srgbClr val="FFFFFF"/>
                </a:solidFill>
                <a:latin typeface="Poppins"/>
                <a:ea typeface="Poppins"/>
                <a:cs typeface="Poppins"/>
                <a:sym typeface="Poppins"/>
              </a:rPr>
              <a:t> price value o</a:t>
            </a:r>
            <a:r>
              <a:rPr lang="en-US" sz="2193">
                <a:solidFill>
                  <a:srgbClr val="FFFFFF"/>
                </a:solidFill>
                <a:latin typeface="Poppins"/>
                <a:ea typeface="Poppins"/>
                <a:cs typeface="Poppins"/>
                <a:sym typeface="Poppins"/>
              </a:rPr>
              <a:t>f</a:t>
            </a:r>
            <a:r>
              <a:rPr lang="en-US" sz="2193">
                <a:solidFill>
                  <a:srgbClr val="FFFFFF"/>
                </a:solidFill>
                <a:latin typeface="Poppins"/>
                <a:ea typeface="Poppins"/>
                <a:cs typeface="Poppins"/>
                <a:sym typeface="Poppins"/>
              </a:rPr>
              <a:t> the </a:t>
            </a:r>
            <a:r>
              <a:rPr lang="en-US" sz="2193">
                <a:solidFill>
                  <a:srgbClr val="FFFFFF"/>
                </a:solidFill>
                <a:latin typeface="Poppins"/>
                <a:ea typeface="Poppins"/>
                <a:cs typeface="Poppins"/>
                <a:sym typeface="Poppins"/>
              </a:rPr>
              <a:t>ROG</a:t>
            </a:r>
            <a:r>
              <a:rPr lang="en-US" sz="2193">
                <a:solidFill>
                  <a:srgbClr val="FFFFFF"/>
                </a:solidFill>
                <a:latin typeface="Poppins"/>
                <a:ea typeface="Poppins"/>
                <a:cs typeface="Poppins"/>
                <a:sym typeface="Poppins"/>
              </a:rPr>
              <a:t> </a:t>
            </a:r>
            <a:r>
              <a:rPr lang="en-US" sz="2193">
                <a:solidFill>
                  <a:srgbClr val="FFFFFF"/>
                </a:solidFill>
                <a:latin typeface="Poppins"/>
                <a:ea typeface="Poppins"/>
                <a:cs typeface="Poppins"/>
                <a:sym typeface="Poppins"/>
              </a:rPr>
              <a:t>laptop sales aggregated per month over the course of a year.</a:t>
            </a:r>
          </a:p>
        </p:txBody>
      </p:sp>
      <p:sp>
        <p:nvSpPr>
          <p:cNvPr name="TextBox 18" id="18"/>
          <p:cNvSpPr txBox="true"/>
          <p:nvPr/>
        </p:nvSpPr>
        <p:spPr>
          <a:xfrm rot="0">
            <a:off x="11962958" y="2538661"/>
            <a:ext cx="4178064" cy="919046"/>
          </a:xfrm>
          <a:prstGeom prst="rect">
            <a:avLst/>
          </a:prstGeom>
        </p:spPr>
        <p:txBody>
          <a:bodyPr anchor="t" rtlCol="false" tIns="0" lIns="0" bIns="0" rIns="0">
            <a:spAutoFit/>
          </a:bodyPr>
          <a:lstStyle/>
          <a:p>
            <a:pPr algn="ctr">
              <a:lnSpc>
                <a:spcPts val="2354"/>
              </a:lnSpc>
              <a:spcBef>
                <a:spcPct val="0"/>
              </a:spcBef>
            </a:pPr>
            <a:r>
              <a:rPr lang="en-US" sz="2179">
                <a:solidFill>
                  <a:srgbClr val="FFFFFF"/>
                </a:solidFill>
                <a:latin typeface="Poppins"/>
                <a:ea typeface="Poppins"/>
                <a:cs typeface="Poppins"/>
                <a:sym typeface="Poppins"/>
              </a:rPr>
              <a:t>This visualises</a:t>
            </a:r>
            <a:r>
              <a:rPr lang="en-US" sz="2179">
                <a:solidFill>
                  <a:srgbClr val="FFFFFF"/>
                </a:solidFill>
                <a:latin typeface="Poppins"/>
                <a:ea typeface="Poppins"/>
                <a:cs typeface="Poppins"/>
                <a:sym typeface="Poppins"/>
              </a:rPr>
              <a:t> t</a:t>
            </a:r>
            <a:r>
              <a:rPr lang="en-US" sz="2179">
                <a:solidFill>
                  <a:srgbClr val="FFFFFF"/>
                </a:solidFill>
                <a:latin typeface="Poppins"/>
                <a:ea typeface="Poppins"/>
                <a:cs typeface="Poppins"/>
                <a:sym typeface="Poppins"/>
              </a:rPr>
              <a:t>he</a:t>
            </a:r>
            <a:r>
              <a:rPr lang="en-US" sz="2179">
                <a:solidFill>
                  <a:srgbClr val="FFFFFF"/>
                </a:solidFill>
                <a:latin typeface="Poppins"/>
                <a:ea typeface="Poppins"/>
                <a:cs typeface="Poppins"/>
                <a:sym typeface="Poppins"/>
              </a:rPr>
              <a:t> a</a:t>
            </a:r>
            <a:r>
              <a:rPr lang="en-US" sz="2179">
                <a:solidFill>
                  <a:srgbClr val="FFFFFF"/>
                </a:solidFill>
                <a:latin typeface="Poppins"/>
                <a:ea typeface="Poppins"/>
                <a:cs typeface="Poppins"/>
                <a:sym typeface="Poppins"/>
              </a:rPr>
              <a:t>v</a:t>
            </a:r>
            <a:r>
              <a:rPr lang="en-US" sz="2179">
                <a:solidFill>
                  <a:srgbClr val="FFFFFF"/>
                </a:solidFill>
                <a:latin typeface="Poppins"/>
                <a:ea typeface="Poppins"/>
                <a:cs typeface="Poppins"/>
                <a:sym typeface="Poppins"/>
              </a:rPr>
              <a:t>er</a:t>
            </a:r>
            <a:r>
              <a:rPr lang="en-US" sz="2179">
                <a:solidFill>
                  <a:srgbClr val="FFFFFF"/>
                </a:solidFill>
                <a:latin typeface="Poppins"/>
                <a:ea typeface="Poppins"/>
                <a:cs typeface="Poppins"/>
                <a:sym typeface="Poppins"/>
              </a:rPr>
              <a:t>ag</a:t>
            </a:r>
            <a:r>
              <a:rPr lang="en-US" sz="2179">
                <a:solidFill>
                  <a:srgbClr val="FFFFFF"/>
                </a:solidFill>
                <a:latin typeface="Poppins"/>
                <a:ea typeface="Poppins"/>
                <a:cs typeface="Poppins"/>
                <a:sym typeface="Poppins"/>
              </a:rPr>
              <a:t>e price di</a:t>
            </a:r>
            <a:r>
              <a:rPr lang="en-US" sz="2179">
                <a:solidFill>
                  <a:srgbClr val="FFFFFF"/>
                </a:solidFill>
                <a:latin typeface="Poppins"/>
                <a:ea typeface="Poppins"/>
                <a:cs typeface="Poppins"/>
                <a:sym typeface="Poppins"/>
              </a:rPr>
              <a:t>fference for</a:t>
            </a:r>
            <a:r>
              <a:rPr lang="en-US" sz="2179">
                <a:solidFill>
                  <a:srgbClr val="FFFFFF"/>
                </a:solidFill>
                <a:latin typeface="Poppins"/>
                <a:ea typeface="Poppins"/>
                <a:cs typeface="Poppins"/>
                <a:sym typeface="Poppins"/>
              </a:rPr>
              <a:t> the </a:t>
            </a:r>
            <a:r>
              <a:rPr lang="en-US" sz="2179">
                <a:solidFill>
                  <a:srgbClr val="FFFFFF"/>
                </a:solidFill>
                <a:latin typeface="Poppins"/>
                <a:ea typeface="Poppins"/>
                <a:cs typeface="Poppins"/>
                <a:sym typeface="Poppins"/>
              </a:rPr>
              <a:t>ROG</a:t>
            </a:r>
            <a:r>
              <a:rPr lang="en-US" sz="2179">
                <a:solidFill>
                  <a:srgbClr val="FFFFFF"/>
                </a:solidFill>
                <a:latin typeface="Poppins"/>
                <a:ea typeface="Poppins"/>
                <a:cs typeface="Poppins"/>
                <a:sym typeface="Poppins"/>
              </a:rPr>
              <a:t> laptop</a:t>
            </a:r>
            <a:r>
              <a:rPr lang="en-US" sz="2179">
                <a:solidFill>
                  <a:srgbClr val="FFFFFF"/>
                </a:solidFill>
                <a:latin typeface="Poppins"/>
                <a:ea typeface="Poppins"/>
                <a:cs typeface="Poppins"/>
                <a:sym typeface="Poppins"/>
              </a:rPr>
              <a:t> across each month.</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1980488" y="2998184"/>
            <a:ext cx="5965365" cy="4134487"/>
            <a:chOff x="0" y="0"/>
            <a:chExt cx="2831022" cy="1962130"/>
          </a:xfrm>
        </p:grpSpPr>
        <p:sp>
          <p:nvSpPr>
            <p:cNvPr name="Freeform 3" id="3"/>
            <p:cNvSpPr/>
            <p:nvPr/>
          </p:nvSpPr>
          <p:spPr>
            <a:xfrm flipH="false" flipV="false" rot="0">
              <a:off x="0" y="0"/>
              <a:ext cx="2831022" cy="1962130"/>
            </a:xfrm>
            <a:custGeom>
              <a:avLst/>
              <a:gdLst/>
              <a:ahLst/>
              <a:cxnLst/>
              <a:rect r="r" b="b" t="t" l="l"/>
              <a:pathLst>
                <a:path h="1962130" w="2831022">
                  <a:moveTo>
                    <a:pt x="32445" y="0"/>
                  </a:moveTo>
                  <a:lnTo>
                    <a:pt x="2798576" y="0"/>
                  </a:lnTo>
                  <a:cubicBezTo>
                    <a:pt x="2807182" y="0"/>
                    <a:pt x="2815434" y="3418"/>
                    <a:pt x="2821519" y="9503"/>
                  </a:cubicBezTo>
                  <a:cubicBezTo>
                    <a:pt x="2827603" y="15588"/>
                    <a:pt x="2831022" y="23840"/>
                    <a:pt x="2831022" y="32445"/>
                  </a:cubicBezTo>
                  <a:lnTo>
                    <a:pt x="2831022" y="1929685"/>
                  </a:lnTo>
                  <a:cubicBezTo>
                    <a:pt x="2831022" y="1947604"/>
                    <a:pt x="2816496" y="1962130"/>
                    <a:pt x="2798576" y="1962130"/>
                  </a:cubicBezTo>
                  <a:lnTo>
                    <a:pt x="32445" y="1962130"/>
                  </a:lnTo>
                  <a:cubicBezTo>
                    <a:pt x="23840" y="1962130"/>
                    <a:pt x="15588" y="1958712"/>
                    <a:pt x="9503" y="1952627"/>
                  </a:cubicBezTo>
                  <a:cubicBezTo>
                    <a:pt x="3418" y="1946543"/>
                    <a:pt x="0" y="1938290"/>
                    <a:pt x="0" y="1929685"/>
                  </a:cubicBezTo>
                  <a:lnTo>
                    <a:pt x="0" y="32445"/>
                  </a:lnTo>
                  <a:cubicBezTo>
                    <a:pt x="0" y="23840"/>
                    <a:pt x="3418" y="15588"/>
                    <a:pt x="9503" y="9503"/>
                  </a:cubicBezTo>
                  <a:cubicBezTo>
                    <a:pt x="15588" y="3418"/>
                    <a:pt x="23840" y="0"/>
                    <a:pt x="32445" y="0"/>
                  </a:cubicBezTo>
                  <a:close/>
                </a:path>
              </a:pathLst>
            </a:custGeom>
            <a:solidFill>
              <a:srgbClr val="2A3066">
                <a:alpha val="55686"/>
              </a:srgbClr>
            </a:solidFill>
          </p:spPr>
        </p:sp>
        <p:sp>
          <p:nvSpPr>
            <p:cNvPr name="TextBox 4" id="4"/>
            <p:cNvSpPr txBox="true"/>
            <p:nvPr/>
          </p:nvSpPr>
          <p:spPr>
            <a:xfrm>
              <a:off x="0" y="-66675"/>
              <a:ext cx="2831022" cy="202880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5" id="5"/>
          <p:cNvSpPr/>
          <p:nvPr/>
        </p:nvSpPr>
        <p:spPr>
          <a:xfrm flipH="false" flipV="false" rot="0">
            <a:off x="1980488"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sp>
        <p:nvSpPr>
          <p:cNvPr name="AutoShape 6" id="6"/>
          <p:cNvSpPr/>
          <p:nvPr/>
        </p:nvSpPr>
        <p:spPr>
          <a:xfrm>
            <a:off x="4963171" y="7132671"/>
            <a:ext cx="0" cy="286268"/>
          </a:xfrm>
          <a:prstGeom prst="line">
            <a:avLst/>
          </a:prstGeom>
          <a:ln cap="flat" w="47625">
            <a:solidFill>
              <a:srgbClr val="FFFFFF"/>
            </a:solidFill>
            <a:prstDash val="solid"/>
            <a:headEnd type="none" len="sm" w="sm"/>
            <a:tailEnd type="none" len="sm" w="sm"/>
          </a:ln>
        </p:spPr>
      </p:sp>
      <p:sp>
        <p:nvSpPr>
          <p:cNvPr name="Freeform 7" id="7"/>
          <p:cNvSpPr/>
          <p:nvPr/>
        </p:nvSpPr>
        <p:spPr>
          <a:xfrm flipH="false" flipV="false" rot="0">
            <a:off x="1722006" y="7418939"/>
            <a:ext cx="6482329" cy="1839361"/>
          </a:xfrm>
          <a:custGeom>
            <a:avLst/>
            <a:gdLst/>
            <a:ahLst/>
            <a:cxnLst/>
            <a:rect r="r" b="b" t="t" l="l"/>
            <a:pathLst>
              <a:path h="1839361" w="6482329">
                <a:moveTo>
                  <a:pt x="0" y="0"/>
                </a:moveTo>
                <a:lnTo>
                  <a:pt x="6482330" y="0"/>
                </a:lnTo>
                <a:lnTo>
                  <a:pt x="6482330" y="1839361"/>
                </a:lnTo>
                <a:lnTo>
                  <a:pt x="0" y="18393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flipV="true">
            <a:off x="14067341" y="3778254"/>
            <a:ext cx="0" cy="632581"/>
          </a:xfrm>
          <a:prstGeom prst="line">
            <a:avLst/>
          </a:prstGeom>
          <a:ln cap="flat" w="47625">
            <a:solidFill>
              <a:srgbClr val="FFFFFF"/>
            </a:solidFill>
            <a:prstDash val="solid"/>
            <a:headEnd type="none" len="sm" w="sm"/>
            <a:tailEnd type="none" len="sm" w="sm"/>
          </a:ln>
        </p:spPr>
      </p:sp>
      <p:grpSp>
        <p:nvGrpSpPr>
          <p:cNvPr name="Group 9" id="9"/>
          <p:cNvGrpSpPr/>
          <p:nvPr/>
        </p:nvGrpSpPr>
        <p:grpSpPr>
          <a:xfrm rot="0">
            <a:off x="11084658" y="4410835"/>
            <a:ext cx="5965365" cy="4134487"/>
            <a:chOff x="0" y="0"/>
            <a:chExt cx="2831022" cy="1962130"/>
          </a:xfrm>
        </p:grpSpPr>
        <p:sp>
          <p:nvSpPr>
            <p:cNvPr name="Freeform 10" id="10"/>
            <p:cNvSpPr/>
            <p:nvPr/>
          </p:nvSpPr>
          <p:spPr>
            <a:xfrm flipH="false" flipV="false" rot="0">
              <a:off x="0" y="0"/>
              <a:ext cx="2831022" cy="1962130"/>
            </a:xfrm>
            <a:custGeom>
              <a:avLst/>
              <a:gdLst/>
              <a:ahLst/>
              <a:cxnLst/>
              <a:rect r="r" b="b" t="t" l="l"/>
              <a:pathLst>
                <a:path h="1962130" w="2831022">
                  <a:moveTo>
                    <a:pt x="32445" y="0"/>
                  </a:moveTo>
                  <a:lnTo>
                    <a:pt x="2798576" y="0"/>
                  </a:lnTo>
                  <a:cubicBezTo>
                    <a:pt x="2807182" y="0"/>
                    <a:pt x="2815434" y="3418"/>
                    <a:pt x="2821519" y="9503"/>
                  </a:cubicBezTo>
                  <a:cubicBezTo>
                    <a:pt x="2827603" y="15588"/>
                    <a:pt x="2831022" y="23840"/>
                    <a:pt x="2831022" y="32445"/>
                  </a:cubicBezTo>
                  <a:lnTo>
                    <a:pt x="2831022" y="1929685"/>
                  </a:lnTo>
                  <a:cubicBezTo>
                    <a:pt x="2831022" y="1947604"/>
                    <a:pt x="2816496" y="1962130"/>
                    <a:pt x="2798576" y="1962130"/>
                  </a:cubicBezTo>
                  <a:lnTo>
                    <a:pt x="32445" y="1962130"/>
                  </a:lnTo>
                  <a:cubicBezTo>
                    <a:pt x="23840" y="1962130"/>
                    <a:pt x="15588" y="1958712"/>
                    <a:pt x="9503" y="1952627"/>
                  </a:cubicBezTo>
                  <a:cubicBezTo>
                    <a:pt x="3418" y="1946543"/>
                    <a:pt x="0" y="1938290"/>
                    <a:pt x="0" y="1929685"/>
                  </a:cubicBezTo>
                  <a:lnTo>
                    <a:pt x="0" y="32445"/>
                  </a:lnTo>
                  <a:cubicBezTo>
                    <a:pt x="0" y="23840"/>
                    <a:pt x="3418" y="15588"/>
                    <a:pt x="9503" y="9503"/>
                  </a:cubicBezTo>
                  <a:cubicBezTo>
                    <a:pt x="15588" y="3418"/>
                    <a:pt x="23840" y="0"/>
                    <a:pt x="32445" y="0"/>
                  </a:cubicBezTo>
                  <a:close/>
                </a:path>
              </a:pathLst>
            </a:custGeom>
            <a:solidFill>
              <a:srgbClr val="2A3066">
                <a:alpha val="55686"/>
              </a:srgbClr>
            </a:solidFill>
          </p:spPr>
        </p:sp>
        <p:sp>
          <p:nvSpPr>
            <p:cNvPr name="TextBox 11" id="11"/>
            <p:cNvSpPr txBox="true"/>
            <p:nvPr/>
          </p:nvSpPr>
          <p:spPr>
            <a:xfrm>
              <a:off x="0" y="-66675"/>
              <a:ext cx="2831022" cy="202880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12" id="12"/>
          <p:cNvSpPr txBox="true"/>
          <p:nvPr/>
        </p:nvSpPr>
        <p:spPr>
          <a:xfrm rot="0">
            <a:off x="2435607"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Visualisations and Insights from Power BI</a:t>
            </a:r>
          </a:p>
        </p:txBody>
      </p:sp>
      <p:sp>
        <p:nvSpPr>
          <p:cNvPr name="Freeform 13" id="13"/>
          <p:cNvSpPr/>
          <p:nvPr/>
        </p:nvSpPr>
        <p:spPr>
          <a:xfrm flipH="false" flipV="false" rot="0">
            <a:off x="10776971" y="1938893"/>
            <a:ext cx="6482329" cy="1839361"/>
          </a:xfrm>
          <a:custGeom>
            <a:avLst/>
            <a:gdLst/>
            <a:ahLst/>
            <a:cxnLst/>
            <a:rect r="r" b="b" t="t" l="l"/>
            <a:pathLst>
              <a:path h="1839361" w="6482329">
                <a:moveTo>
                  <a:pt x="0" y="0"/>
                </a:moveTo>
                <a:lnTo>
                  <a:pt x="6482329" y="0"/>
                </a:lnTo>
                <a:lnTo>
                  <a:pt x="6482329" y="1839361"/>
                </a:lnTo>
                <a:lnTo>
                  <a:pt x="0" y="18393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2435607"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Asus ROG Strix Laptop</a:t>
            </a:r>
          </a:p>
        </p:txBody>
      </p:sp>
      <p:sp>
        <p:nvSpPr>
          <p:cNvPr name="TextBox 15" id="15"/>
          <p:cNvSpPr txBox="true"/>
          <p:nvPr/>
        </p:nvSpPr>
        <p:spPr>
          <a:xfrm rot="0">
            <a:off x="11130142" y="2291299"/>
            <a:ext cx="5775987" cy="1134551"/>
          </a:xfrm>
          <a:prstGeom prst="rect">
            <a:avLst/>
          </a:prstGeom>
        </p:spPr>
        <p:txBody>
          <a:bodyPr anchor="t" rtlCol="false" tIns="0" lIns="0" bIns="0" rIns="0">
            <a:spAutoFit/>
          </a:bodyPr>
          <a:lstStyle/>
          <a:p>
            <a:pPr algn="ctr">
              <a:lnSpc>
                <a:spcPts val="2209"/>
              </a:lnSpc>
              <a:spcBef>
                <a:spcPct val="0"/>
              </a:spcBef>
            </a:pPr>
            <a:r>
              <a:rPr lang="en-US" sz="2045">
                <a:solidFill>
                  <a:srgbClr val="FFFFFF"/>
                </a:solidFill>
                <a:latin typeface="Poppins"/>
                <a:ea typeface="Poppins"/>
                <a:cs typeface="Poppins"/>
                <a:sym typeface="Poppins"/>
              </a:rPr>
              <a:t>This bar chart s</a:t>
            </a:r>
            <a:r>
              <a:rPr lang="en-US" sz="2045">
                <a:solidFill>
                  <a:srgbClr val="FFFFFF"/>
                </a:solidFill>
                <a:latin typeface="Poppins"/>
                <a:ea typeface="Poppins"/>
                <a:cs typeface="Poppins"/>
                <a:sym typeface="Poppins"/>
              </a:rPr>
              <a:t>hows t</a:t>
            </a:r>
            <a:r>
              <a:rPr lang="en-US" sz="2045">
                <a:solidFill>
                  <a:srgbClr val="FFFFFF"/>
                </a:solidFill>
                <a:latin typeface="Poppins"/>
                <a:ea typeface="Poppins"/>
                <a:cs typeface="Poppins"/>
                <a:sym typeface="Poppins"/>
              </a:rPr>
              <a:t>he</a:t>
            </a:r>
            <a:r>
              <a:rPr lang="en-US" sz="2045">
                <a:solidFill>
                  <a:srgbClr val="FFFFFF"/>
                </a:solidFill>
                <a:latin typeface="Poppins"/>
                <a:ea typeface="Poppins"/>
                <a:cs typeface="Poppins"/>
                <a:sym typeface="Poppins"/>
              </a:rPr>
              <a:t> a</a:t>
            </a:r>
            <a:r>
              <a:rPr lang="en-US" sz="2045">
                <a:solidFill>
                  <a:srgbClr val="FFFFFF"/>
                </a:solidFill>
                <a:latin typeface="Poppins"/>
                <a:ea typeface="Poppins"/>
                <a:cs typeface="Poppins"/>
                <a:sym typeface="Poppins"/>
              </a:rPr>
              <a:t>v</a:t>
            </a:r>
            <a:r>
              <a:rPr lang="en-US" sz="2045">
                <a:solidFill>
                  <a:srgbClr val="FFFFFF"/>
                </a:solidFill>
                <a:latin typeface="Poppins"/>
                <a:ea typeface="Poppins"/>
                <a:cs typeface="Poppins"/>
                <a:sym typeface="Poppins"/>
              </a:rPr>
              <a:t>er</a:t>
            </a:r>
            <a:r>
              <a:rPr lang="en-US" sz="2045">
                <a:solidFill>
                  <a:srgbClr val="FFFFFF"/>
                </a:solidFill>
                <a:latin typeface="Poppins"/>
                <a:ea typeface="Poppins"/>
                <a:cs typeface="Poppins"/>
                <a:sym typeface="Poppins"/>
              </a:rPr>
              <a:t>ag</a:t>
            </a:r>
            <a:r>
              <a:rPr lang="en-US" sz="2045">
                <a:solidFill>
                  <a:srgbClr val="FFFFFF"/>
                </a:solidFill>
                <a:latin typeface="Poppins"/>
                <a:ea typeface="Poppins"/>
                <a:cs typeface="Poppins"/>
                <a:sym typeface="Poppins"/>
              </a:rPr>
              <a:t>e Ra</a:t>
            </a:r>
            <a:r>
              <a:rPr lang="en-US" sz="2045">
                <a:solidFill>
                  <a:srgbClr val="FFFFFF"/>
                </a:solidFill>
                <a:latin typeface="Poppins"/>
                <a:ea typeface="Poppins"/>
                <a:cs typeface="Poppins"/>
                <a:sym typeface="Poppins"/>
              </a:rPr>
              <a:t>nk</a:t>
            </a:r>
            <a:r>
              <a:rPr lang="en-US" sz="2045">
                <a:solidFill>
                  <a:srgbClr val="FFFFFF"/>
                </a:solidFill>
                <a:latin typeface="Poppins"/>
                <a:ea typeface="Poppins"/>
                <a:cs typeface="Poppins"/>
                <a:sym typeface="Poppins"/>
              </a:rPr>
              <a:t> vs Price ratio for </a:t>
            </a:r>
            <a:r>
              <a:rPr lang="en-US" sz="2045">
                <a:solidFill>
                  <a:srgbClr val="FFFFFF"/>
                </a:solidFill>
                <a:latin typeface="Poppins"/>
                <a:ea typeface="Poppins"/>
                <a:cs typeface="Poppins"/>
                <a:sym typeface="Poppins"/>
              </a:rPr>
              <a:t>ROG laptops by</a:t>
            </a:r>
            <a:r>
              <a:rPr lang="en-US" sz="2045">
                <a:solidFill>
                  <a:srgbClr val="FFFFFF"/>
                </a:solidFill>
                <a:latin typeface="Poppins"/>
                <a:ea typeface="Poppins"/>
                <a:cs typeface="Poppins"/>
                <a:sym typeface="Poppins"/>
              </a:rPr>
              <a:t> </a:t>
            </a:r>
            <a:r>
              <a:rPr lang="en-US" sz="2045">
                <a:solidFill>
                  <a:srgbClr val="FFFFFF"/>
                </a:solidFill>
                <a:latin typeface="Poppins"/>
                <a:ea typeface="Poppins"/>
                <a:cs typeface="Poppins"/>
                <a:sym typeface="Poppins"/>
              </a:rPr>
              <a:t>m</a:t>
            </a:r>
            <a:r>
              <a:rPr lang="en-US" sz="2045">
                <a:solidFill>
                  <a:srgbClr val="FFFFFF"/>
                </a:solidFill>
                <a:latin typeface="Poppins"/>
                <a:ea typeface="Poppins"/>
                <a:cs typeface="Poppins"/>
                <a:sym typeface="Poppins"/>
              </a:rPr>
              <a:t>onth. A high</a:t>
            </a:r>
            <a:r>
              <a:rPr lang="en-US" sz="2045">
                <a:solidFill>
                  <a:srgbClr val="FFFFFF"/>
                </a:solidFill>
                <a:latin typeface="Poppins"/>
                <a:ea typeface="Poppins"/>
                <a:cs typeface="Poppins"/>
                <a:sym typeface="Poppins"/>
              </a:rPr>
              <a:t>er value suggests that the product had a worse sales rank relative to its price.</a:t>
            </a:r>
          </a:p>
        </p:txBody>
      </p:sp>
      <p:sp>
        <p:nvSpPr>
          <p:cNvPr name="Freeform 16" id="16"/>
          <p:cNvSpPr/>
          <p:nvPr/>
        </p:nvSpPr>
        <p:spPr>
          <a:xfrm flipH="false" flipV="false" rot="0">
            <a:off x="2176670" y="3320948"/>
            <a:ext cx="5573001" cy="3572759"/>
          </a:xfrm>
          <a:custGeom>
            <a:avLst/>
            <a:gdLst/>
            <a:ahLst/>
            <a:cxnLst/>
            <a:rect r="r" b="b" t="t" l="l"/>
            <a:pathLst>
              <a:path h="3572759" w="5573001">
                <a:moveTo>
                  <a:pt x="0" y="0"/>
                </a:moveTo>
                <a:lnTo>
                  <a:pt x="5573002" y="0"/>
                </a:lnTo>
                <a:lnTo>
                  <a:pt x="5573002" y="3572760"/>
                </a:lnTo>
                <a:lnTo>
                  <a:pt x="0" y="3572760"/>
                </a:lnTo>
                <a:lnTo>
                  <a:pt x="0" y="0"/>
                </a:lnTo>
                <a:close/>
              </a:path>
            </a:pathLst>
          </a:custGeom>
          <a:blipFill>
            <a:blip r:embed="rId6"/>
            <a:stretch>
              <a:fillRect l="0" t="0" r="0" b="0"/>
            </a:stretch>
          </a:blipFill>
        </p:spPr>
      </p:sp>
      <p:sp>
        <p:nvSpPr>
          <p:cNvPr name="Freeform 17" id="17"/>
          <p:cNvSpPr/>
          <p:nvPr/>
        </p:nvSpPr>
        <p:spPr>
          <a:xfrm flipH="false" flipV="false" rot="0">
            <a:off x="11245971" y="4691621"/>
            <a:ext cx="5642741" cy="3572914"/>
          </a:xfrm>
          <a:custGeom>
            <a:avLst/>
            <a:gdLst/>
            <a:ahLst/>
            <a:cxnLst/>
            <a:rect r="r" b="b" t="t" l="l"/>
            <a:pathLst>
              <a:path h="3572914" w="5642741">
                <a:moveTo>
                  <a:pt x="0" y="0"/>
                </a:moveTo>
                <a:lnTo>
                  <a:pt x="5642740" y="0"/>
                </a:lnTo>
                <a:lnTo>
                  <a:pt x="5642740" y="3572915"/>
                </a:lnTo>
                <a:lnTo>
                  <a:pt x="0" y="3572915"/>
                </a:lnTo>
                <a:lnTo>
                  <a:pt x="0" y="0"/>
                </a:lnTo>
                <a:close/>
              </a:path>
            </a:pathLst>
          </a:custGeom>
          <a:blipFill>
            <a:blip r:embed="rId7"/>
            <a:stretch>
              <a:fillRect l="0" t="0" r="0" b="0"/>
            </a:stretch>
          </a:blipFill>
        </p:spPr>
      </p:sp>
      <p:sp>
        <p:nvSpPr>
          <p:cNvPr name="TextBox 18" id="18"/>
          <p:cNvSpPr txBox="true"/>
          <p:nvPr/>
        </p:nvSpPr>
        <p:spPr>
          <a:xfrm rot="0">
            <a:off x="2125768" y="7707982"/>
            <a:ext cx="5674806" cy="1270799"/>
          </a:xfrm>
          <a:prstGeom prst="rect">
            <a:avLst/>
          </a:prstGeom>
        </p:spPr>
        <p:txBody>
          <a:bodyPr anchor="t" rtlCol="false" tIns="0" lIns="0" bIns="0" rIns="0">
            <a:spAutoFit/>
          </a:bodyPr>
          <a:lstStyle/>
          <a:p>
            <a:pPr algn="ctr">
              <a:lnSpc>
                <a:spcPts val="2514"/>
              </a:lnSpc>
              <a:spcBef>
                <a:spcPct val="0"/>
              </a:spcBef>
            </a:pPr>
            <a:r>
              <a:rPr lang="en-US" sz="2328">
                <a:solidFill>
                  <a:srgbClr val="FFFFFF"/>
                </a:solidFill>
                <a:latin typeface="Poppins"/>
                <a:ea typeface="Poppins"/>
                <a:cs typeface="Poppins"/>
                <a:sym typeface="Poppins"/>
              </a:rPr>
              <a:t>This line chart shows </a:t>
            </a:r>
            <a:r>
              <a:rPr lang="en-US" sz="2328">
                <a:solidFill>
                  <a:srgbClr val="FFFFFF"/>
                </a:solidFill>
                <a:latin typeface="Poppins"/>
                <a:ea typeface="Poppins"/>
                <a:cs typeface="Poppins"/>
                <a:sym typeface="Poppins"/>
              </a:rPr>
              <a:t>th</a:t>
            </a:r>
            <a:r>
              <a:rPr lang="en-US" sz="2328">
                <a:solidFill>
                  <a:srgbClr val="FFFFFF"/>
                </a:solidFill>
                <a:latin typeface="Poppins"/>
                <a:ea typeface="Poppins"/>
                <a:cs typeface="Poppins"/>
                <a:sym typeface="Poppins"/>
              </a:rPr>
              <a:t>e</a:t>
            </a:r>
            <a:r>
              <a:rPr lang="en-US" sz="2328">
                <a:solidFill>
                  <a:srgbClr val="FFFFFF"/>
                </a:solidFill>
                <a:latin typeface="Poppins"/>
                <a:ea typeface="Poppins"/>
                <a:cs typeface="Poppins"/>
                <a:sym typeface="Poppins"/>
              </a:rPr>
              <a:t> av</a:t>
            </a:r>
            <a:r>
              <a:rPr lang="en-US" sz="2328">
                <a:solidFill>
                  <a:srgbClr val="FFFFFF"/>
                </a:solidFill>
                <a:latin typeface="Poppins"/>
                <a:ea typeface="Poppins"/>
                <a:cs typeface="Poppins"/>
                <a:sym typeface="Poppins"/>
              </a:rPr>
              <a:t>e</a:t>
            </a:r>
            <a:r>
              <a:rPr lang="en-US" sz="2328">
                <a:solidFill>
                  <a:srgbClr val="FFFFFF"/>
                </a:solidFill>
                <a:latin typeface="Poppins"/>
                <a:ea typeface="Poppins"/>
                <a:cs typeface="Poppins"/>
                <a:sym typeface="Poppins"/>
              </a:rPr>
              <a:t>rage sales rank o</a:t>
            </a:r>
            <a:r>
              <a:rPr lang="en-US" sz="2328">
                <a:solidFill>
                  <a:srgbClr val="FFFFFF"/>
                </a:solidFill>
                <a:latin typeface="Poppins"/>
                <a:ea typeface="Poppins"/>
                <a:cs typeface="Poppins"/>
                <a:sym typeface="Poppins"/>
              </a:rPr>
              <a:t>f</a:t>
            </a:r>
            <a:r>
              <a:rPr lang="en-US" sz="2328">
                <a:solidFill>
                  <a:srgbClr val="FFFFFF"/>
                </a:solidFill>
                <a:latin typeface="Poppins"/>
                <a:ea typeface="Poppins"/>
                <a:cs typeface="Poppins"/>
                <a:sym typeface="Poppins"/>
              </a:rPr>
              <a:t> </a:t>
            </a:r>
            <a:r>
              <a:rPr lang="en-US" sz="2328">
                <a:solidFill>
                  <a:srgbClr val="FFFFFF"/>
                </a:solidFill>
                <a:latin typeface="Poppins"/>
                <a:ea typeface="Poppins"/>
                <a:cs typeface="Poppins"/>
                <a:sym typeface="Poppins"/>
              </a:rPr>
              <a:t>ROG</a:t>
            </a:r>
            <a:r>
              <a:rPr lang="en-US" sz="2328">
                <a:solidFill>
                  <a:srgbClr val="FFFFFF"/>
                </a:solidFill>
                <a:latin typeface="Poppins"/>
                <a:ea typeface="Poppins"/>
                <a:cs typeface="Poppins"/>
                <a:sym typeface="Poppins"/>
              </a:rPr>
              <a:t> </a:t>
            </a:r>
            <a:r>
              <a:rPr lang="en-US" sz="2328">
                <a:solidFill>
                  <a:srgbClr val="FFFFFF"/>
                </a:solidFill>
                <a:latin typeface="Poppins"/>
                <a:ea typeface="Poppins"/>
                <a:cs typeface="Poppins"/>
                <a:sym typeface="Poppins"/>
              </a:rPr>
              <a:t>laptops by month, where a higher rank indicates worse performance.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1980488"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sp>
        <p:nvSpPr>
          <p:cNvPr name="AutoShape 3" id="3"/>
          <p:cNvSpPr/>
          <p:nvPr/>
        </p:nvSpPr>
        <p:spPr>
          <a:xfrm flipV="true">
            <a:off x="3360080" y="3056513"/>
            <a:ext cx="5783920" cy="23012"/>
          </a:xfrm>
          <a:prstGeom prst="line">
            <a:avLst/>
          </a:prstGeom>
          <a:ln cap="flat" w="38100">
            <a:solidFill>
              <a:srgbClr val="FFFFFF"/>
            </a:solidFill>
            <a:prstDash val="solid"/>
            <a:headEnd type="none" len="sm" w="sm"/>
            <a:tailEnd type="none" len="sm" w="sm"/>
          </a:ln>
        </p:spPr>
      </p:sp>
      <p:sp>
        <p:nvSpPr>
          <p:cNvPr name="Freeform 4" id="4"/>
          <p:cNvSpPr/>
          <p:nvPr/>
        </p:nvSpPr>
        <p:spPr>
          <a:xfrm flipH="false" flipV="false" rot="0">
            <a:off x="9144000" y="2089748"/>
            <a:ext cx="6814206" cy="1933531"/>
          </a:xfrm>
          <a:custGeom>
            <a:avLst/>
            <a:gdLst/>
            <a:ahLst/>
            <a:cxnLst/>
            <a:rect r="r" b="b" t="t" l="l"/>
            <a:pathLst>
              <a:path h="1933531" w="6814206">
                <a:moveTo>
                  <a:pt x="0" y="0"/>
                </a:moveTo>
                <a:lnTo>
                  <a:pt x="6814206" y="0"/>
                </a:lnTo>
                <a:lnTo>
                  <a:pt x="6814206" y="1933531"/>
                </a:lnTo>
                <a:lnTo>
                  <a:pt x="0" y="19335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435607"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Insights</a:t>
            </a:r>
          </a:p>
        </p:txBody>
      </p:sp>
      <p:sp>
        <p:nvSpPr>
          <p:cNvPr name="TextBox 6" id="6"/>
          <p:cNvSpPr txBox="true"/>
          <p:nvPr/>
        </p:nvSpPr>
        <p:spPr>
          <a:xfrm rot="0">
            <a:off x="2435607"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Asus ROG Strix Laptop</a:t>
            </a:r>
          </a:p>
        </p:txBody>
      </p:sp>
      <p:grpSp>
        <p:nvGrpSpPr>
          <p:cNvPr name="Group 7" id="7"/>
          <p:cNvGrpSpPr/>
          <p:nvPr/>
        </p:nvGrpSpPr>
        <p:grpSpPr>
          <a:xfrm rot="0">
            <a:off x="2419807" y="2598265"/>
            <a:ext cx="940273" cy="962521"/>
            <a:chOff x="0" y="0"/>
            <a:chExt cx="794013" cy="812800"/>
          </a:xfrm>
        </p:grpSpPr>
        <p:sp>
          <p:nvSpPr>
            <p:cNvPr name="Freeform 8" id="8"/>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9" id="9"/>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10" id="10"/>
          <p:cNvSpPr txBox="true"/>
          <p:nvPr/>
        </p:nvSpPr>
        <p:spPr>
          <a:xfrm rot="0">
            <a:off x="2586754" y="2753637"/>
            <a:ext cx="606379" cy="661301"/>
          </a:xfrm>
          <a:prstGeom prst="rect">
            <a:avLst/>
          </a:prstGeom>
        </p:spPr>
        <p:txBody>
          <a:bodyPr anchor="t" rtlCol="false" tIns="0" lIns="0" bIns="0" rIns="0">
            <a:spAutoFit/>
          </a:bodyPr>
          <a:lstStyle/>
          <a:p>
            <a:pPr algn="ctr">
              <a:lnSpc>
                <a:spcPts val="4784"/>
              </a:lnSpc>
            </a:pPr>
            <a:r>
              <a:rPr lang="en-US" sz="4430">
                <a:solidFill>
                  <a:srgbClr val="FFFFFF"/>
                </a:solidFill>
                <a:latin typeface="Poppins"/>
                <a:ea typeface="Poppins"/>
                <a:cs typeface="Poppins"/>
                <a:sym typeface="Poppins"/>
              </a:rPr>
              <a:t>1</a:t>
            </a:r>
          </a:p>
        </p:txBody>
      </p:sp>
      <p:sp>
        <p:nvSpPr>
          <p:cNvPr name="Freeform 11" id="11"/>
          <p:cNvSpPr/>
          <p:nvPr/>
        </p:nvSpPr>
        <p:spPr>
          <a:xfrm flipH="false" flipV="false" rot="0">
            <a:off x="2329794" y="4070178"/>
            <a:ext cx="6814206" cy="1933531"/>
          </a:xfrm>
          <a:custGeom>
            <a:avLst/>
            <a:gdLst/>
            <a:ahLst/>
            <a:cxnLst/>
            <a:rect r="r" b="b" t="t" l="l"/>
            <a:pathLst>
              <a:path h="1933531" w="6814206">
                <a:moveTo>
                  <a:pt x="0" y="0"/>
                </a:moveTo>
                <a:lnTo>
                  <a:pt x="6814206" y="0"/>
                </a:lnTo>
                <a:lnTo>
                  <a:pt x="6814206" y="1933531"/>
                </a:lnTo>
                <a:lnTo>
                  <a:pt x="0" y="19335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2" id="12"/>
          <p:cNvSpPr/>
          <p:nvPr/>
        </p:nvSpPr>
        <p:spPr>
          <a:xfrm flipH="true">
            <a:off x="9144000" y="5019522"/>
            <a:ext cx="5873933" cy="17421"/>
          </a:xfrm>
          <a:prstGeom prst="line">
            <a:avLst/>
          </a:prstGeom>
          <a:ln cap="flat" w="38100">
            <a:solidFill>
              <a:srgbClr val="FFFFFF"/>
            </a:solidFill>
            <a:prstDash val="solid"/>
            <a:headEnd type="none" len="sm" w="sm"/>
            <a:tailEnd type="none" len="sm" w="sm"/>
          </a:ln>
        </p:spPr>
      </p:sp>
      <p:grpSp>
        <p:nvGrpSpPr>
          <p:cNvPr name="Group 13" id="13"/>
          <p:cNvGrpSpPr/>
          <p:nvPr/>
        </p:nvGrpSpPr>
        <p:grpSpPr>
          <a:xfrm rot="-10800000">
            <a:off x="15017933" y="4538261"/>
            <a:ext cx="940273" cy="962521"/>
            <a:chOff x="0" y="0"/>
            <a:chExt cx="794013" cy="812800"/>
          </a:xfrm>
        </p:grpSpPr>
        <p:sp>
          <p:nvSpPr>
            <p:cNvPr name="Freeform 14" id="14"/>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15" id="15"/>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16" id="16"/>
          <p:cNvSpPr txBox="true"/>
          <p:nvPr/>
        </p:nvSpPr>
        <p:spPr>
          <a:xfrm rot="0">
            <a:off x="15327183" y="4503107"/>
            <a:ext cx="321773" cy="851855"/>
          </a:xfrm>
          <a:prstGeom prst="rect">
            <a:avLst/>
          </a:prstGeom>
        </p:spPr>
        <p:txBody>
          <a:bodyPr anchor="t" rtlCol="false" tIns="0" lIns="0" bIns="0" rIns="0">
            <a:spAutoFit/>
          </a:bodyPr>
          <a:lstStyle/>
          <a:p>
            <a:pPr algn="ctr">
              <a:lnSpc>
                <a:spcPts val="7137"/>
              </a:lnSpc>
              <a:spcBef>
                <a:spcPct val="0"/>
              </a:spcBef>
            </a:pPr>
            <a:r>
              <a:rPr lang="en-US" sz="4430">
                <a:solidFill>
                  <a:srgbClr val="FFFFFF"/>
                </a:solidFill>
                <a:latin typeface="Open Sans"/>
                <a:ea typeface="Open Sans"/>
                <a:cs typeface="Open Sans"/>
                <a:sym typeface="Open Sans"/>
              </a:rPr>
              <a:t>2</a:t>
            </a:r>
          </a:p>
        </p:txBody>
      </p:sp>
      <p:sp>
        <p:nvSpPr>
          <p:cNvPr name="AutoShape 17" id="17"/>
          <p:cNvSpPr/>
          <p:nvPr/>
        </p:nvSpPr>
        <p:spPr>
          <a:xfrm>
            <a:off x="3360080" y="6531868"/>
            <a:ext cx="5783920" cy="0"/>
          </a:xfrm>
          <a:prstGeom prst="line">
            <a:avLst/>
          </a:prstGeom>
          <a:ln cap="flat" w="38100">
            <a:solidFill>
              <a:srgbClr val="FFFFFF"/>
            </a:solidFill>
            <a:prstDash val="solid"/>
            <a:headEnd type="none" len="sm" w="sm"/>
            <a:tailEnd type="none" len="sm" w="sm"/>
          </a:ln>
        </p:spPr>
      </p:sp>
      <p:grpSp>
        <p:nvGrpSpPr>
          <p:cNvPr name="Group 18" id="18"/>
          <p:cNvGrpSpPr/>
          <p:nvPr/>
        </p:nvGrpSpPr>
        <p:grpSpPr>
          <a:xfrm rot="0">
            <a:off x="2419807" y="6050608"/>
            <a:ext cx="940273" cy="962521"/>
            <a:chOff x="0" y="0"/>
            <a:chExt cx="794013" cy="812800"/>
          </a:xfrm>
        </p:grpSpPr>
        <p:sp>
          <p:nvSpPr>
            <p:cNvPr name="Freeform 19" id="19"/>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20" id="20"/>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21" id="21"/>
          <p:cNvSpPr txBox="true"/>
          <p:nvPr/>
        </p:nvSpPr>
        <p:spPr>
          <a:xfrm rot="0">
            <a:off x="2586754" y="6205980"/>
            <a:ext cx="606379" cy="661301"/>
          </a:xfrm>
          <a:prstGeom prst="rect">
            <a:avLst/>
          </a:prstGeom>
        </p:spPr>
        <p:txBody>
          <a:bodyPr anchor="t" rtlCol="false" tIns="0" lIns="0" bIns="0" rIns="0">
            <a:spAutoFit/>
          </a:bodyPr>
          <a:lstStyle/>
          <a:p>
            <a:pPr algn="ctr">
              <a:lnSpc>
                <a:spcPts val="4784"/>
              </a:lnSpc>
            </a:pPr>
            <a:r>
              <a:rPr lang="en-US" sz="4430">
                <a:solidFill>
                  <a:srgbClr val="FFFFFF"/>
                </a:solidFill>
                <a:latin typeface="Poppins"/>
                <a:ea typeface="Poppins"/>
                <a:cs typeface="Poppins"/>
                <a:sym typeface="Poppins"/>
              </a:rPr>
              <a:t>3</a:t>
            </a:r>
          </a:p>
        </p:txBody>
      </p:sp>
      <p:sp>
        <p:nvSpPr>
          <p:cNvPr name="Freeform 22" id="22"/>
          <p:cNvSpPr/>
          <p:nvPr/>
        </p:nvSpPr>
        <p:spPr>
          <a:xfrm flipH="false" flipV="false" rot="0">
            <a:off x="2200148" y="7251253"/>
            <a:ext cx="6814206" cy="1933531"/>
          </a:xfrm>
          <a:custGeom>
            <a:avLst/>
            <a:gdLst/>
            <a:ahLst/>
            <a:cxnLst/>
            <a:rect r="r" b="b" t="t" l="l"/>
            <a:pathLst>
              <a:path h="1933531" w="6814206">
                <a:moveTo>
                  <a:pt x="0" y="0"/>
                </a:moveTo>
                <a:lnTo>
                  <a:pt x="6814206" y="0"/>
                </a:lnTo>
                <a:lnTo>
                  <a:pt x="6814206" y="1933531"/>
                </a:lnTo>
                <a:lnTo>
                  <a:pt x="0" y="19335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3" id="23"/>
          <p:cNvSpPr/>
          <p:nvPr/>
        </p:nvSpPr>
        <p:spPr>
          <a:xfrm flipH="true">
            <a:off x="8914069" y="8471865"/>
            <a:ext cx="6103864" cy="0"/>
          </a:xfrm>
          <a:prstGeom prst="line">
            <a:avLst/>
          </a:prstGeom>
          <a:ln cap="flat" w="38100">
            <a:solidFill>
              <a:srgbClr val="FFFFFF"/>
            </a:solidFill>
            <a:prstDash val="solid"/>
            <a:headEnd type="none" len="sm" w="sm"/>
            <a:tailEnd type="none" len="sm" w="sm"/>
          </a:ln>
        </p:spPr>
      </p:sp>
      <p:grpSp>
        <p:nvGrpSpPr>
          <p:cNvPr name="Group 24" id="24"/>
          <p:cNvGrpSpPr/>
          <p:nvPr/>
        </p:nvGrpSpPr>
        <p:grpSpPr>
          <a:xfrm rot="-10800000">
            <a:off x="15017933" y="7990604"/>
            <a:ext cx="940273" cy="962521"/>
            <a:chOff x="0" y="0"/>
            <a:chExt cx="794013" cy="812800"/>
          </a:xfrm>
        </p:grpSpPr>
        <p:sp>
          <p:nvSpPr>
            <p:cNvPr name="Freeform 25" id="25"/>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26" id="26"/>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27" id="27"/>
          <p:cNvSpPr txBox="true"/>
          <p:nvPr/>
        </p:nvSpPr>
        <p:spPr>
          <a:xfrm rot="0">
            <a:off x="15327183" y="7955450"/>
            <a:ext cx="321773" cy="851855"/>
          </a:xfrm>
          <a:prstGeom prst="rect">
            <a:avLst/>
          </a:prstGeom>
        </p:spPr>
        <p:txBody>
          <a:bodyPr anchor="t" rtlCol="false" tIns="0" lIns="0" bIns="0" rIns="0">
            <a:spAutoFit/>
          </a:bodyPr>
          <a:lstStyle/>
          <a:p>
            <a:pPr algn="ctr">
              <a:lnSpc>
                <a:spcPts val="7137"/>
              </a:lnSpc>
              <a:spcBef>
                <a:spcPct val="0"/>
              </a:spcBef>
            </a:pPr>
            <a:r>
              <a:rPr lang="en-US" sz="4430">
                <a:solidFill>
                  <a:srgbClr val="FFFFFF"/>
                </a:solidFill>
                <a:latin typeface="Open Sans"/>
                <a:ea typeface="Open Sans"/>
                <a:cs typeface="Open Sans"/>
                <a:sym typeface="Open Sans"/>
              </a:rPr>
              <a:t>4</a:t>
            </a:r>
          </a:p>
        </p:txBody>
      </p:sp>
      <p:sp>
        <p:nvSpPr>
          <p:cNvPr name="TextBox 28" id="28"/>
          <p:cNvSpPr txBox="true"/>
          <p:nvPr/>
        </p:nvSpPr>
        <p:spPr>
          <a:xfrm rot="0">
            <a:off x="9583134" y="2439962"/>
            <a:ext cx="5935937" cy="1388448"/>
          </a:xfrm>
          <a:prstGeom prst="rect">
            <a:avLst/>
          </a:prstGeom>
        </p:spPr>
        <p:txBody>
          <a:bodyPr anchor="t" rtlCol="false" tIns="0" lIns="0" bIns="0" rIns="0">
            <a:spAutoFit/>
          </a:bodyPr>
          <a:lstStyle/>
          <a:p>
            <a:pPr algn="ctr">
              <a:lnSpc>
                <a:spcPts val="1868"/>
              </a:lnSpc>
            </a:pPr>
            <a:r>
              <a:rPr lang="en-US" sz="1730" b="true">
                <a:solidFill>
                  <a:srgbClr val="FFFFFF"/>
                </a:solidFill>
                <a:latin typeface="Poppins Bold"/>
                <a:ea typeface="Poppins Bold"/>
                <a:cs typeface="Poppins Bold"/>
                <a:sym typeface="Poppins Bold"/>
              </a:rPr>
              <a:t>The drop</a:t>
            </a:r>
            <a:r>
              <a:rPr lang="en-US" sz="1730">
                <a:solidFill>
                  <a:srgbClr val="FFFFFF"/>
                </a:solidFill>
                <a:latin typeface="Poppins"/>
                <a:ea typeface="Poppins"/>
                <a:cs typeface="Poppins"/>
                <a:sym typeface="Poppins"/>
              </a:rPr>
              <a:t> </a:t>
            </a:r>
            <a:r>
              <a:rPr lang="en-US" sz="1730" b="true">
                <a:solidFill>
                  <a:srgbClr val="FFFFFF"/>
                </a:solidFill>
                <a:latin typeface="Poppins Bold"/>
                <a:ea typeface="Poppins Bold"/>
                <a:cs typeface="Poppins Bold"/>
                <a:sym typeface="Poppins Bold"/>
              </a:rPr>
              <a:t>of sum of new price</a:t>
            </a:r>
            <a:r>
              <a:rPr lang="en-US" sz="1730">
                <a:solidFill>
                  <a:srgbClr val="FFFFFF"/>
                </a:solidFill>
                <a:latin typeface="Poppins"/>
                <a:ea typeface="Poppins"/>
                <a:cs typeface="Poppins"/>
                <a:sym typeface="Poppins"/>
              </a:rPr>
              <a:t> in A</a:t>
            </a:r>
            <a:r>
              <a:rPr lang="en-US" sz="1730">
                <a:solidFill>
                  <a:srgbClr val="FFFFFF"/>
                </a:solidFill>
                <a:latin typeface="Poppins"/>
                <a:ea typeface="Poppins"/>
                <a:cs typeface="Poppins"/>
                <a:sym typeface="Poppins"/>
              </a:rPr>
              <a:t>u</a:t>
            </a:r>
            <a:r>
              <a:rPr lang="en-US" sz="1730">
                <a:solidFill>
                  <a:srgbClr val="FFFFFF"/>
                </a:solidFill>
                <a:latin typeface="Poppins"/>
                <a:ea typeface="Poppins"/>
                <a:cs typeface="Poppins"/>
                <a:sym typeface="Poppins"/>
              </a:rPr>
              <a:t>g</a:t>
            </a:r>
            <a:r>
              <a:rPr lang="en-US" sz="1730">
                <a:solidFill>
                  <a:srgbClr val="FFFFFF"/>
                </a:solidFill>
                <a:latin typeface="Poppins"/>
                <a:ea typeface="Poppins"/>
                <a:cs typeface="Poppins"/>
                <a:sym typeface="Poppins"/>
              </a:rPr>
              <a:t>u</a:t>
            </a:r>
            <a:r>
              <a:rPr lang="en-US" sz="1730">
                <a:solidFill>
                  <a:srgbClr val="FFFFFF"/>
                </a:solidFill>
                <a:latin typeface="Poppins"/>
                <a:ea typeface="Poppins"/>
                <a:cs typeface="Poppins"/>
                <a:sym typeface="Poppins"/>
              </a:rPr>
              <a:t>s</a:t>
            </a:r>
            <a:r>
              <a:rPr lang="en-US" sz="1730">
                <a:solidFill>
                  <a:srgbClr val="FFFFFF"/>
                </a:solidFill>
                <a:latin typeface="Poppins"/>
                <a:ea typeface="Poppins"/>
                <a:cs typeface="Poppins"/>
                <a:sym typeface="Poppins"/>
              </a:rPr>
              <a:t>t</a:t>
            </a:r>
            <a:r>
              <a:rPr lang="en-US" sz="1730">
                <a:solidFill>
                  <a:srgbClr val="FFFFFF"/>
                </a:solidFill>
                <a:latin typeface="Poppins"/>
                <a:ea typeface="Poppins"/>
                <a:cs typeface="Poppins"/>
                <a:sym typeface="Poppins"/>
              </a:rPr>
              <a:t>–S</a:t>
            </a:r>
            <a:r>
              <a:rPr lang="en-US" sz="1730">
                <a:solidFill>
                  <a:srgbClr val="FFFFFF"/>
                </a:solidFill>
                <a:latin typeface="Poppins"/>
                <a:ea typeface="Poppins"/>
                <a:cs typeface="Poppins"/>
                <a:sym typeface="Poppins"/>
              </a:rPr>
              <a:t>e</a:t>
            </a:r>
            <a:r>
              <a:rPr lang="en-US" sz="1730">
                <a:solidFill>
                  <a:srgbClr val="FFFFFF"/>
                </a:solidFill>
                <a:latin typeface="Poppins"/>
                <a:ea typeface="Poppins"/>
                <a:cs typeface="Poppins"/>
                <a:sym typeface="Poppins"/>
              </a:rPr>
              <a:t>p</a:t>
            </a:r>
            <a:r>
              <a:rPr lang="en-US" sz="1730">
                <a:solidFill>
                  <a:srgbClr val="FFFFFF"/>
                </a:solidFill>
                <a:latin typeface="Poppins"/>
                <a:ea typeface="Poppins"/>
                <a:cs typeface="Poppins"/>
                <a:sym typeface="Poppins"/>
              </a:rPr>
              <a:t>te</a:t>
            </a:r>
            <a:r>
              <a:rPr lang="en-US" sz="1730">
                <a:solidFill>
                  <a:srgbClr val="FFFFFF"/>
                </a:solidFill>
                <a:latin typeface="Poppins"/>
                <a:ea typeface="Poppins"/>
                <a:cs typeface="Poppins"/>
                <a:sym typeface="Poppins"/>
              </a:rPr>
              <a:t>mb</a:t>
            </a:r>
            <a:r>
              <a:rPr lang="en-US" sz="1730">
                <a:solidFill>
                  <a:srgbClr val="FFFFFF"/>
                </a:solidFill>
                <a:latin typeface="Poppins"/>
                <a:ea typeface="Poppins"/>
                <a:cs typeface="Poppins"/>
                <a:sym typeface="Poppins"/>
              </a:rPr>
              <a:t>er </a:t>
            </a:r>
            <a:r>
              <a:rPr lang="en-US" sz="1730">
                <a:solidFill>
                  <a:srgbClr val="FFFFFF"/>
                </a:solidFill>
                <a:latin typeface="Poppins"/>
                <a:ea typeface="Poppins"/>
                <a:cs typeface="Poppins"/>
                <a:sym typeface="Poppins"/>
              </a:rPr>
              <a:t>c</a:t>
            </a:r>
            <a:r>
              <a:rPr lang="en-US" sz="1730">
                <a:solidFill>
                  <a:srgbClr val="FFFFFF"/>
                </a:solidFill>
                <a:latin typeface="Poppins"/>
                <a:ea typeface="Poppins"/>
                <a:cs typeface="Poppins"/>
                <a:sym typeface="Poppins"/>
              </a:rPr>
              <a:t>o</a:t>
            </a:r>
            <a:r>
              <a:rPr lang="en-US" sz="1730">
                <a:solidFill>
                  <a:srgbClr val="FFFFFF"/>
                </a:solidFill>
                <a:latin typeface="Poppins"/>
                <a:ea typeface="Poppins"/>
                <a:cs typeface="Poppins"/>
                <a:sym typeface="Poppins"/>
              </a:rPr>
              <a:t>uld</a:t>
            </a:r>
            <a:r>
              <a:rPr lang="en-US" sz="1730">
                <a:solidFill>
                  <a:srgbClr val="FFFFFF"/>
                </a:solidFill>
                <a:latin typeface="Poppins"/>
                <a:ea typeface="Poppins"/>
                <a:cs typeface="Poppins"/>
                <a:sym typeface="Poppins"/>
              </a:rPr>
              <a:t> </a:t>
            </a:r>
            <a:r>
              <a:rPr lang="en-US" sz="1730">
                <a:solidFill>
                  <a:srgbClr val="FFFFFF"/>
                </a:solidFill>
                <a:latin typeface="Poppins"/>
                <a:ea typeface="Poppins"/>
                <a:cs typeface="Poppins"/>
                <a:sym typeface="Poppins"/>
              </a:rPr>
              <a:t>ind</a:t>
            </a:r>
            <a:r>
              <a:rPr lang="en-US" sz="1730">
                <a:solidFill>
                  <a:srgbClr val="FFFFFF"/>
                </a:solidFill>
                <a:latin typeface="Poppins"/>
                <a:ea typeface="Poppins"/>
                <a:cs typeface="Poppins"/>
                <a:sym typeface="Poppins"/>
              </a:rPr>
              <a:t>ic</a:t>
            </a:r>
            <a:r>
              <a:rPr lang="en-US" sz="1730">
                <a:solidFill>
                  <a:srgbClr val="FFFFFF"/>
                </a:solidFill>
                <a:latin typeface="Poppins"/>
                <a:ea typeface="Poppins"/>
                <a:cs typeface="Poppins"/>
                <a:sym typeface="Poppins"/>
              </a:rPr>
              <a:t>at</a:t>
            </a:r>
            <a:r>
              <a:rPr lang="en-US" sz="1730">
                <a:solidFill>
                  <a:srgbClr val="FFFFFF"/>
                </a:solidFill>
                <a:latin typeface="Poppins"/>
                <a:ea typeface="Poppins"/>
                <a:cs typeface="Poppins"/>
                <a:sym typeface="Poppins"/>
              </a:rPr>
              <a:t>e </a:t>
            </a:r>
            <a:r>
              <a:rPr lang="en-US" sz="1730">
                <a:solidFill>
                  <a:srgbClr val="FFFFFF"/>
                </a:solidFill>
                <a:latin typeface="Poppins"/>
                <a:ea typeface="Poppins"/>
                <a:cs typeface="Poppins"/>
                <a:sym typeface="Poppins"/>
              </a:rPr>
              <a:t>l</a:t>
            </a:r>
            <a:r>
              <a:rPr lang="en-US" sz="1730">
                <a:solidFill>
                  <a:srgbClr val="FFFFFF"/>
                </a:solidFill>
                <a:latin typeface="Poppins"/>
                <a:ea typeface="Poppins"/>
                <a:cs typeface="Poppins"/>
                <a:sym typeface="Poppins"/>
              </a:rPr>
              <a:t>o</a:t>
            </a:r>
            <a:r>
              <a:rPr lang="en-US" sz="1730">
                <a:solidFill>
                  <a:srgbClr val="FFFFFF"/>
                </a:solidFill>
                <a:latin typeface="Poppins"/>
                <a:ea typeface="Poppins"/>
                <a:cs typeface="Poppins"/>
                <a:sym typeface="Poppins"/>
              </a:rPr>
              <a:t>w</a:t>
            </a:r>
            <a:r>
              <a:rPr lang="en-US" sz="1730">
                <a:solidFill>
                  <a:srgbClr val="FFFFFF"/>
                </a:solidFill>
                <a:latin typeface="Poppins"/>
                <a:ea typeface="Poppins"/>
                <a:cs typeface="Poppins"/>
                <a:sym typeface="Poppins"/>
              </a:rPr>
              <a:t>er </a:t>
            </a:r>
            <a:r>
              <a:rPr lang="en-US" sz="1730">
                <a:solidFill>
                  <a:srgbClr val="FFFFFF"/>
                </a:solidFill>
                <a:latin typeface="Poppins"/>
                <a:ea typeface="Poppins"/>
                <a:cs typeface="Poppins"/>
                <a:sym typeface="Poppins"/>
              </a:rPr>
              <a:t>s</a:t>
            </a:r>
            <a:r>
              <a:rPr lang="en-US" sz="1730">
                <a:solidFill>
                  <a:srgbClr val="FFFFFF"/>
                </a:solidFill>
                <a:latin typeface="Poppins"/>
                <a:ea typeface="Poppins"/>
                <a:cs typeface="Poppins"/>
                <a:sym typeface="Poppins"/>
              </a:rPr>
              <a:t>al</a:t>
            </a:r>
            <a:r>
              <a:rPr lang="en-US" sz="1730">
                <a:solidFill>
                  <a:srgbClr val="FFFFFF"/>
                </a:solidFill>
                <a:latin typeface="Poppins"/>
                <a:ea typeface="Poppins"/>
                <a:cs typeface="Poppins"/>
                <a:sym typeface="Poppins"/>
              </a:rPr>
              <a:t>e</a:t>
            </a:r>
            <a:r>
              <a:rPr lang="en-US" sz="1730">
                <a:solidFill>
                  <a:srgbClr val="FFFFFF"/>
                </a:solidFill>
                <a:latin typeface="Poppins"/>
                <a:ea typeface="Poppins"/>
                <a:cs typeface="Poppins"/>
                <a:sym typeface="Poppins"/>
              </a:rPr>
              <a:t>s </a:t>
            </a:r>
            <a:r>
              <a:rPr lang="en-US" sz="1730">
                <a:solidFill>
                  <a:srgbClr val="FFFFFF"/>
                </a:solidFill>
                <a:latin typeface="Poppins"/>
                <a:ea typeface="Poppins"/>
                <a:cs typeface="Poppins"/>
                <a:sym typeface="Poppins"/>
              </a:rPr>
              <a:t>v</a:t>
            </a:r>
            <a:r>
              <a:rPr lang="en-US" sz="1730">
                <a:solidFill>
                  <a:srgbClr val="FFFFFF"/>
                </a:solidFill>
                <a:latin typeface="Poppins"/>
                <a:ea typeface="Poppins"/>
                <a:cs typeface="Poppins"/>
                <a:sym typeface="Poppins"/>
              </a:rPr>
              <a:t>o</a:t>
            </a:r>
            <a:r>
              <a:rPr lang="en-US" sz="1730">
                <a:solidFill>
                  <a:srgbClr val="FFFFFF"/>
                </a:solidFill>
                <a:latin typeface="Poppins"/>
                <a:ea typeface="Poppins"/>
                <a:cs typeface="Poppins"/>
                <a:sym typeface="Poppins"/>
              </a:rPr>
              <a:t>lume, discounting, or a temporary dip in demand. </a:t>
            </a:r>
            <a:r>
              <a:rPr lang="en-US" sz="1730" b="true">
                <a:solidFill>
                  <a:srgbClr val="FFFFFF"/>
                </a:solidFill>
                <a:latin typeface="Poppins Bold"/>
                <a:ea typeface="Poppins Bold"/>
                <a:cs typeface="Poppins Bold"/>
                <a:sym typeface="Poppins Bold"/>
              </a:rPr>
              <a:t>The increase</a:t>
            </a:r>
            <a:r>
              <a:rPr lang="en-US" sz="1730">
                <a:solidFill>
                  <a:srgbClr val="FFFFFF"/>
                </a:solidFill>
                <a:latin typeface="Poppins"/>
                <a:ea typeface="Poppins"/>
                <a:cs typeface="Poppins"/>
                <a:sym typeface="Poppins"/>
              </a:rPr>
              <a:t> toward the end of the year could be linked to </a:t>
            </a:r>
            <a:r>
              <a:rPr lang="en-US" sz="1730" u="sng">
                <a:solidFill>
                  <a:srgbClr val="FFFFFF"/>
                </a:solidFill>
                <a:latin typeface="Poppins"/>
                <a:ea typeface="Poppins"/>
                <a:cs typeface="Poppins"/>
                <a:sym typeface="Poppins"/>
              </a:rPr>
              <a:t>holiday shopping seasons</a:t>
            </a:r>
            <a:r>
              <a:rPr lang="en-US" sz="1730">
                <a:solidFill>
                  <a:srgbClr val="FFFFFF"/>
                </a:solidFill>
                <a:latin typeface="Poppins"/>
                <a:ea typeface="Poppins"/>
                <a:cs typeface="Poppins"/>
                <a:sym typeface="Poppins"/>
              </a:rPr>
              <a:t>, suggesting seasonal demand patterns.</a:t>
            </a:r>
          </a:p>
          <a:p>
            <a:pPr algn="ctr">
              <a:lnSpc>
                <a:spcPts val="1868"/>
              </a:lnSpc>
              <a:spcBef>
                <a:spcPct val="0"/>
              </a:spcBef>
            </a:pPr>
          </a:p>
        </p:txBody>
      </p:sp>
      <p:sp>
        <p:nvSpPr>
          <p:cNvPr name="TextBox 29" id="29"/>
          <p:cNvSpPr txBox="true"/>
          <p:nvPr/>
        </p:nvSpPr>
        <p:spPr>
          <a:xfrm rot="0">
            <a:off x="2854181" y="4273522"/>
            <a:ext cx="5765431" cy="1536367"/>
          </a:xfrm>
          <a:prstGeom prst="rect">
            <a:avLst/>
          </a:prstGeom>
        </p:spPr>
        <p:txBody>
          <a:bodyPr anchor="t" rtlCol="false" tIns="0" lIns="0" bIns="0" rIns="0">
            <a:spAutoFit/>
          </a:bodyPr>
          <a:lstStyle/>
          <a:p>
            <a:pPr algn="ctr">
              <a:lnSpc>
                <a:spcPts val="1551"/>
              </a:lnSpc>
            </a:pPr>
            <a:r>
              <a:rPr lang="en-US" sz="1436" b="true">
                <a:solidFill>
                  <a:srgbClr val="FFFFFF"/>
                </a:solidFill>
                <a:latin typeface="Poppins Bold"/>
                <a:ea typeface="Poppins Bold"/>
                <a:cs typeface="Poppins Bold"/>
                <a:sym typeface="Poppins Bold"/>
              </a:rPr>
              <a:t>The average price difference</a:t>
            </a:r>
            <a:r>
              <a:rPr lang="en-US" sz="1436">
                <a:solidFill>
                  <a:srgbClr val="FFFFFF"/>
                </a:solidFill>
                <a:latin typeface="Poppins"/>
                <a:ea typeface="Poppins"/>
                <a:cs typeface="Poppins"/>
                <a:sym typeface="Poppins"/>
              </a:rPr>
              <a:t> for ROG laptops </a:t>
            </a:r>
            <a:r>
              <a:rPr lang="en-US" sz="1436" b="true">
                <a:solidFill>
                  <a:srgbClr val="FFFFFF"/>
                </a:solidFill>
                <a:latin typeface="Poppins Bold"/>
                <a:ea typeface="Poppins Bold"/>
                <a:cs typeface="Poppins Bold"/>
                <a:sym typeface="Poppins Bold"/>
              </a:rPr>
              <a:t>was lowest in February and March</a:t>
            </a:r>
            <a:r>
              <a:rPr lang="en-US" sz="1436">
                <a:solidFill>
                  <a:srgbClr val="FFFFFF"/>
                </a:solidFill>
                <a:latin typeface="Poppins"/>
                <a:ea typeface="Poppins"/>
                <a:cs typeface="Poppins"/>
                <a:sym typeface="Poppins"/>
              </a:rPr>
              <a:t>, </a:t>
            </a:r>
            <a:r>
              <a:rPr lang="en-US" sz="1436" u="sng">
                <a:solidFill>
                  <a:srgbClr val="FFFFFF"/>
                </a:solidFill>
                <a:latin typeface="Poppins"/>
                <a:ea typeface="Poppins"/>
                <a:cs typeface="Poppins"/>
                <a:sym typeface="Poppins"/>
              </a:rPr>
              <a:t>indicating minimal discounting during those months.</a:t>
            </a:r>
            <a:r>
              <a:rPr lang="en-US" sz="1436">
                <a:solidFill>
                  <a:srgbClr val="FFFFFF"/>
                </a:solidFill>
                <a:latin typeface="Poppins"/>
                <a:ea typeface="Poppins"/>
                <a:cs typeface="Poppins"/>
                <a:sym typeface="Poppins"/>
              </a:rPr>
              <a:t> </a:t>
            </a:r>
            <a:r>
              <a:rPr lang="en-US" sz="1436" b="true">
                <a:solidFill>
                  <a:srgbClr val="FFFFFF"/>
                </a:solidFill>
                <a:latin typeface="Poppins Bold"/>
                <a:ea typeface="Poppins Bold"/>
                <a:cs typeface="Poppins Bold"/>
                <a:sym typeface="Poppins Bold"/>
              </a:rPr>
              <a:t>The highest differences appeared in October and December,</a:t>
            </a:r>
            <a:r>
              <a:rPr lang="en-US" sz="1436">
                <a:solidFill>
                  <a:srgbClr val="FFFFFF"/>
                </a:solidFill>
                <a:latin typeface="Poppins"/>
                <a:ea typeface="Poppins"/>
                <a:cs typeface="Poppins"/>
                <a:sym typeface="Poppins"/>
              </a:rPr>
              <a:t> </a:t>
            </a:r>
            <a:r>
              <a:rPr lang="en-US" sz="1436" u="sng">
                <a:solidFill>
                  <a:srgbClr val="FFFFFF"/>
                </a:solidFill>
                <a:latin typeface="Poppins"/>
                <a:ea typeface="Poppins"/>
                <a:cs typeface="Poppins"/>
                <a:sym typeface="Poppins"/>
              </a:rPr>
              <a:t>likely due to seasonal promotions or holiday discounts. </a:t>
            </a:r>
            <a:r>
              <a:rPr lang="en-US" sz="1436" b="true">
                <a:solidFill>
                  <a:srgbClr val="FFFFFF"/>
                </a:solidFill>
                <a:latin typeface="Poppins Bold"/>
                <a:ea typeface="Poppins Bold"/>
                <a:cs typeface="Poppins Bold"/>
                <a:sym typeface="Poppins Bold"/>
              </a:rPr>
              <a:t>From June to September, there wa</a:t>
            </a:r>
            <a:r>
              <a:rPr lang="en-US" b="true" sz="1436" u="none">
                <a:solidFill>
                  <a:srgbClr val="FFFFFF"/>
                </a:solidFill>
                <a:latin typeface="Poppins Bold"/>
                <a:ea typeface="Poppins Bold"/>
                <a:cs typeface="Poppins Bold"/>
                <a:sym typeface="Poppins Bold"/>
              </a:rPr>
              <a:t>s</a:t>
            </a:r>
            <a:r>
              <a:rPr lang="en-US" sz="1436" b="true">
                <a:solidFill>
                  <a:srgbClr val="FFFFFF"/>
                </a:solidFill>
                <a:latin typeface="Poppins Bold"/>
                <a:ea typeface="Poppins Bold"/>
                <a:cs typeface="Poppins Bold"/>
                <a:sym typeface="Poppins Bold"/>
              </a:rPr>
              <a:t> a steady incr</a:t>
            </a:r>
            <a:r>
              <a:rPr lang="en-US" b="true" sz="1436" u="none">
                <a:solidFill>
                  <a:srgbClr val="FFFFFF"/>
                </a:solidFill>
                <a:latin typeface="Poppins Bold"/>
                <a:ea typeface="Poppins Bold"/>
                <a:cs typeface="Poppins Bold"/>
                <a:sym typeface="Poppins Bold"/>
              </a:rPr>
              <a:t>eas</a:t>
            </a:r>
            <a:r>
              <a:rPr lang="en-US" sz="1436" b="true">
                <a:solidFill>
                  <a:srgbClr val="FFFFFF"/>
                </a:solidFill>
                <a:latin typeface="Poppins Bold"/>
                <a:ea typeface="Poppins Bold"/>
                <a:cs typeface="Poppins Bold"/>
                <a:sym typeface="Poppins Bold"/>
              </a:rPr>
              <a:t>e in price differe</a:t>
            </a:r>
            <a:r>
              <a:rPr lang="en-US" b="true" sz="1436" u="none">
                <a:solidFill>
                  <a:srgbClr val="FFFFFF"/>
                </a:solidFill>
                <a:latin typeface="Poppins Bold"/>
                <a:ea typeface="Poppins Bold"/>
                <a:cs typeface="Poppins Bold"/>
                <a:sym typeface="Poppins Bold"/>
              </a:rPr>
              <a:t>n</a:t>
            </a:r>
            <a:r>
              <a:rPr lang="en-US" sz="1436" b="true">
                <a:solidFill>
                  <a:srgbClr val="FFFFFF"/>
                </a:solidFill>
                <a:latin typeface="Poppins Bold"/>
                <a:ea typeface="Poppins Bold"/>
                <a:cs typeface="Poppins Bold"/>
                <a:sym typeface="Poppins Bold"/>
              </a:rPr>
              <a:t>ce</a:t>
            </a:r>
            <a:r>
              <a:rPr lang="en-US" b="true" sz="1436" u="none">
                <a:solidFill>
                  <a:srgbClr val="FFFFFF"/>
                </a:solidFill>
                <a:latin typeface="Poppins Bold"/>
                <a:ea typeface="Poppins Bold"/>
                <a:cs typeface="Poppins Bold"/>
                <a:sym typeface="Poppins Bold"/>
              </a:rPr>
              <a:t>s</a:t>
            </a:r>
            <a:r>
              <a:rPr lang="en-US" sz="1436">
                <a:solidFill>
                  <a:srgbClr val="FFFFFF"/>
                </a:solidFill>
                <a:latin typeface="Poppins"/>
                <a:ea typeface="Poppins"/>
                <a:cs typeface="Poppins"/>
                <a:sym typeface="Poppins"/>
              </a:rPr>
              <a:t>, </a:t>
            </a:r>
            <a:r>
              <a:rPr lang="en-US" sz="1436" u="sng">
                <a:solidFill>
                  <a:srgbClr val="FFFFFF"/>
                </a:solidFill>
                <a:latin typeface="Poppins"/>
                <a:ea typeface="Poppins"/>
                <a:cs typeface="Poppins"/>
                <a:sym typeface="Poppins"/>
              </a:rPr>
              <a:t>suggesting a period of adjusted pricing, possibly in response to market trends or competitive pressure.</a:t>
            </a:r>
          </a:p>
        </p:txBody>
      </p:sp>
      <p:sp>
        <p:nvSpPr>
          <p:cNvPr name="TextBox 30" id="30"/>
          <p:cNvSpPr txBox="true"/>
          <p:nvPr/>
        </p:nvSpPr>
        <p:spPr>
          <a:xfrm rot="0">
            <a:off x="9298625" y="6013234"/>
            <a:ext cx="6504956" cy="1083754"/>
          </a:xfrm>
          <a:prstGeom prst="rect">
            <a:avLst/>
          </a:prstGeom>
        </p:spPr>
        <p:txBody>
          <a:bodyPr anchor="t" rtlCol="false" tIns="0" lIns="0" bIns="0" rIns="0">
            <a:spAutoFit/>
          </a:bodyPr>
          <a:lstStyle/>
          <a:p>
            <a:pPr algn="ctr">
              <a:lnSpc>
                <a:spcPts val="1750"/>
              </a:lnSpc>
            </a:pPr>
            <a:r>
              <a:rPr lang="en-US" sz="1620" b="true">
                <a:solidFill>
                  <a:srgbClr val="FFFFFF"/>
                </a:solidFill>
                <a:latin typeface="Poppins Bold"/>
                <a:ea typeface="Poppins Bold"/>
                <a:cs typeface="Poppins Bold"/>
                <a:sym typeface="Poppins Bold"/>
              </a:rPr>
              <a:t>The average of sales rank</a:t>
            </a:r>
            <a:r>
              <a:rPr lang="en-US" sz="1620">
                <a:solidFill>
                  <a:srgbClr val="FFFFFF"/>
                </a:solidFill>
                <a:latin typeface="Poppins"/>
                <a:ea typeface="Poppins"/>
                <a:cs typeface="Poppins"/>
                <a:sym typeface="Poppins"/>
              </a:rPr>
              <a:t> had </a:t>
            </a:r>
            <a:r>
              <a:rPr lang="en-US" sz="1620" b="true">
                <a:solidFill>
                  <a:srgbClr val="FFFFFF"/>
                </a:solidFill>
                <a:latin typeface="Poppins Bold"/>
                <a:ea typeface="Poppins Bold"/>
                <a:cs typeface="Poppins Bold"/>
                <a:sym typeface="Poppins Bold"/>
              </a:rPr>
              <a:t>the worst performance occurred in February and June</a:t>
            </a:r>
            <a:r>
              <a:rPr lang="en-US" sz="1620">
                <a:solidFill>
                  <a:srgbClr val="FFFFFF"/>
                </a:solidFill>
                <a:latin typeface="Poppins"/>
                <a:ea typeface="Poppins"/>
                <a:cs typeface="Poppins"/>
                <a:sym typeface="Poppins"/>
              </a:rPr>
              <a:t>, w</a:t>
            </a:r>
            <a:r>
              <a:rPr lang="en-US" sz="1620" u="none">
                <a:solidFill>
                  <a:srgbClr val="FFFFFF"/>
                </a:solidFill>
                <a:latin typeface="Poppins"/>
                <a:ea typeface="Poppins"/>
                <a:cs typeface="Poppins"/>
                <a:sym typeface="Poppins"/>
              </a:rPr>
              <a:t>it</a:t>
            </a:r>
            <a:r>
              <a:rPr lang="en-US" sz="1620">
                <a:solidFill>
                  <a:srgbClr val="FFFFFF"/>
                </a:solidFill>
                <a:latin typeface="Poppins"/>
                <a:ea typeface="Poppins"/>
                <a:cs typeface="Poppins"/>
                <a:sym typeface="Poppins"/>
              </a:rPr>
              <a:t>h</a:t>
            </a:r>
            <a:r>
              <a:rPr lang="en-US" sz="1620" u="none">
                <a:solidFill>
                  <a:srgbClr val="FFFFFF"/>
                </a:solidFill>
                <a:latin typeface="Poppins"/>
                <a:ea typeface="Poppins"/>
                <a:cs typeface="Poppins"/>
                <a:sym typeface="Poppins"/>
              </a:rPr>
              <a:t> </a:t>
            </a:r>
            <a:r>
              <a:rPr lang="en-US" sz="1620">
                <a:solidFill>
                  <a:srgbClr val="FFFFFF"/>
                </a:solidFill>
                <a:latin typeface="Poppins"/>
                <a:ea typeface="Poppins"/>
                <a:cs typeface="Poppins"/>
                <a:sym typeface="Poppins"/>
              </a:rPr>
              <a:t>r</a:t>
            </a:r>
            <a:r>
              <a:rPr lang="en-US" sz="1620" u="none">
                <a:solidFill>
                  <a:srgbClr val="FFFFFF"/>
                </a:solidFill>
                <a:latin typeface="Poppins"/>
                <a:ea typeface="Poppins"/>
                <a:cs typeface="Poppins"/>
                <a:sym typeface="Poppins"/>
              </a:rPr>
              <a:t>a</a:t>
            </a:r>
            <a:r>
              <a:rPr lang="en-US" sz="1620">
                <a:solidFill>
                  <a:srgbClr val="FFFFFF"/>
                </a:solidFill>
                <a:latin typeface="Poppins"/>
                <a:ea typeface="Poppins"/>
                <a:cs typeface="Poppins"/>
                <a:sym typeface="Poppins"/>
              </a:rPr>
              <a:t>nk</a:t>
            </a:r>
            <a:r>
              <a:rPr lang="en-US" sz="1620" u="none">
                <a:solidFill>
                  <a:srgbClr val="FFFFFF"/>
                </a:solidFill>
                <a:latin typeface="Poppins"/>
                <a:ea typeface="Poppins"/>
                <a:cs typeface="Poppins"/>
                <a:sym typeface="Poppins"/>
              </a:rPr>
              <a:t>s </a:t>
            </a:r>
            <a:r>
              <a:rPr lang="en-US" sz="1620">
                <a:solidFill>
                  <a:srgbClr val="FFFFFF"/>
                </a:solidFill>
                <a:latin typeface="Poppins"/>
                <a:ea typeface="Poppins"/>
                <a:cs typeface="Poppins"/>
                <a:sym typeface="Poppins"/>
              </a:rPr>
              <a:t>ab</a:t>
            </a:r>
            <a:r>
              <a:rPr lang="en-US" sz="1620" u="none">
                <a:solidFill>
                  <a:srgbClr val="FFFFFF"/>
                </a:solidFill>
                <a:latin typeface="Poppins"/>
                <a:ea typeface="Poppins"/>
                <a:cs typeface="Poppins"/>
                <a:sym typeface="Poppins"/>
              </a:rPr>
              <a:t>o</a:t>
            </a:r>
            <a:r>
              <a:rPr lang="en-US" sz="1620">
                <a:solidFill>
                  <a:srgbClr val="FFFFFF"/>
                </a:solidFill>
                <a:latin typeface="Poppins"/>
                <a:ea typeface="Poppins"/>
                <a:cs typeface="Poppins"/>
                <a:sym typeface="Poppins"/>
              </a:rPr>
              <a:t>v</a:t>
            </a:r>
            <a:r>
              <a:rPr lang="en-US" sz="1620" u="none">
                <a:solidFill>
                  <a:srgbClr val="FFFFFF"/>
                </a:solidFill>
                <a:latin typeface="Poppins"/>
                <a:ea typeface="Poppins"/>
                <a:cs typeface="Poppins"/>
                <a:sym typeface="Poppins"/>
              </a:rPr>
              <a:t>e </a:t>
            </a:r>
            <a:r>
              <a:rPr lang="en-US" sz="1620">
                <a:solidFill>
                  <a:srgbClr val="FFFFFF"/>
                </a:solidFill>
                <a:latin typeface="Poppins"/>
                <a:ea typeface="Poppins"/>
                <a:cs typeface="Poppins"/>
                <a:sym typeface="Poppins"/>
              </a:rPr>
              <a:t>300</a:t>
            </a:r>
            <a:r>
              <a:rPr lang="en-US" sz="1620" u="none">
                <a:solidFill>
                  <a:srgbClr val="FFFFFF"/>
                </a:solidFill>
                <a:latin typeface="Poppins"/>
                <a:ea typeface="Poppins"/>
                <a:cs typeface="Poppins"/>
                <a:sym typeface="Poppins"/>
              </a:rPr>
              <a:t>.</a:t>
            </a:r>
            <a:r>
              <a:rPr lang="en-US" sz="1620">
                <a:solidFill>
                  <a:srgbClr val="FFFFFF"/>
                </a:solidFill>
                <a:latin typeface="Poppins"/>
                <a:ea typeface="Poppins"/>
                <a:cs typeface="Poppins"/>
                <a:sym typeface="Poppins"/>
              </a:rPr>
              <a:t> </a:t>
            </a:r>
            <a:r>
              <a:rPr lang="en-US" sz="1620" b="true">
                <a:solidFill>
                  <a:srgbClr val="FFFFFF"/>
                </a:solidFill>
                <a:latin typeface="Poppins Bold"/>
                <a:ea typeface="Poppins Bold"/>
                <a:cs typeface="Poppins Bold"/>
                <a:sym typeface="Poppins Bold"/>
              </a:rPr>
              <a:t>The best months were April and December </a:t>
            </a:r>
            <a:r>
              <a:rPr lang="en-US" sz="1620">
                <a:solidFill>
                  <a:srgbClr val="FFFFFF"/>
                </a:solidFill>
                <a:latin typeface="Poppins"/>
                <a:ea typeface="Poppins"/>
                <a:cs typeface="Poppins"/>
                <a:sym typeface="Poppins"/>
              </a:rPr>
              <a:t>l</a:t>
            </a:r>
            <a:r>
              <a:rPr lang="en-US" sz="1620" u="sng">
                <a:solidFill>
                  <a:srgbClr val="FFFFFF"/>
                </a:solidFill>
                <a:latin typeface="Poppins"/>
                <a:ea typeface="Poppins"/>
                <a:cs typeface="Poppins"/>
                <a:sym typeface="Poppins"/>
              </a:rPr>
              <a:t>ikely due to holiday demand</a:t>
            </a:r>
            <a:r>
              <a:rPr lang="en-US" sz="1620">
                <a:solidFill>
                  <a:srgbClr val="FFFFFF"/>
                </a:solidFill>
                <a:latin typeface="Poppins"/>
                <a:ea typeface="Poppins"/>
                <a:cs typeface="Poppins"/>
                <a:sym typeface="Poppins"/>
              </a:rPr>
              <a:t>, wh</a:t>
            </a:r>
            <a:r>
              <a:rPr lang="en-US" sz="1620" u="none">
                <a:solidFill>
                  <a:srgbClr val="FFFFFF"/>
                </a:solidFill>
                <a:latin typeface="Poppins"/>
                <a:ea typeface="Poppins"/>
                <a:cs typeface="Poppins"/>
                <a:sym typeface="Poppins"/>
              </a:rPr>
              <a:t>e</a:t>
            </a:r>
            <a:r>
              <a:rPr lang="en-US" sz="1620">
                <a:solidFill>
                  <a:srgbClr val="FFFFFF"/>
                </a:solidFill>
                <a:latin typeface="Poppins"/>
                <a:ea typeface="Poppins"/>
                <a:cs typeface="Poppins"/>
                <a:sym typeface="Poppins"/>
              </a:rPr>
              <a:t>r</a:t>
            </a:r>
            <a:r>
              <a:rPr lang="en-US" sz="1620" u="none">
                <a:solidFill>
                  <a:srgbClr val="FFFFFF"/>
                </a:solidFill>
                <a:latin typeface="Poppins"/>
                <a:ea typeface="Poppins"/>
                <a:cs typeface="Poppins"/>
                <a:sym typeface="Poppins"/>
              </a:rPr>
              <a:t>e t</a:t>
            </a:r>
            <a:r>
              <a:rPr lang="en-US" sz="1620">
                <a:solidFill>
                  <a:srgbClr val="FFFFFF"/>
                </a:solidFill>
                <a:latin typeface="Poppins"/>
                <a:ea typeface="Poppins"/>
                <a:cs typeface="Poppins"/>
                <a:sym typeface="Poppins"/>
              </a:rPr>
              <a:t>h</a:t>
            </a:r>
            <a:r>
              <a:rPr lang="en-US" sz="1620" u="none">
                <a:solidFill>
                  <a:srgbClr val="FFFFFF"/>
                </a:solidFill>
                <a:latin typeface="Poppins"/>
                <a:ea typeface="Poppins"/>
                <a:cs typeface="Poppins"/>
                <a:sym typeface="Poppins"/>
              </a:rPr>
              <a:t>e r</a:t>
            </a:r>
            <a:r>
              <a:rPr lang="en-US" sz="1620">
                <a:solidFill>
                  <a:srgbClr val="FFFFFF"/>
                </a:solidFill>
                <a:latin typeface="Poppins"/>
                <a:ea typeface="Poppins"/>
                <a:cs typeface="Poppins"/>
                <a:sym typeface="Poppins"/>
              </a:rPr>
              <a:t>a</a:t>
            </a:r>
            <a:r>
              <a:rPr lang="en-US" sz="1620" u="none">
                <a:solidFill>
                  <a:srgbClr val="FFFFFF"/>
                </a:solidFill>
                <a:latin typeface="Poppins"/>
                <a:ea typeface="Poppins"/>
                <a:cs typeface="Poppins"/>
                <a:sym typeface="Poppins"/>
              </a:rPr>
              <a:t>n</a:t>
            </a:r>
            <a:r>
              <a:rPr lang="en-US" sz="1620">
                <a:solidFill>
                  <a:srgbClr val="FFFFFF"/>
                </a:solidFill>
                <a:latin typeface="Poppins"/>
                <a:ea typeface="Poppins"/>
                <a:cs typeface="Poppins"/>
                <a:sym typeface="Poppins"/>
              </a:rPr>
              <a:t>k</a:t>
            </a:r>
            <a:r>
              <a:rPr lang="en-US" sz="1620" u="none">
                <a:solidFill>
                  <a:srgbClr val="FFFFFF"/>
                </a:solidFill>
                <a:latin typeface="Poppins"/>
                <a:ea typeface="Poppins"/>
                <a:cs typeface="Poppins"/>
                <a:sym typeface="Poppins"/>
              </a:rPr>
              <a:t> </a:t>
            </a:r>
            <a:r>
              <a:rPr lang="en-US" sz="1620">
                <a:solidFill>
                  <a:srgbClr val="FFFFFF"/>
                </a:solidFill>
                <a:latin typeface="Poppins"/>
                <a:ea typeface="Poppins"/>
                <a:cs typeface="Poppins"/>
                <a:sym typeface="Poppins"/>
              </a:rPr>
              <a:t>d</a:t>
            </a:r>
            <a:r>
              <a:rPr lang="en-US" sz="1620" u="none">
                <a:solidFill>
                  <a:srgbClr val="FFFFFF"/>
                </a:solidFill>
                <a:latin typeface="Poppins"/>
                <a:ea typeface="Poppins"/>
                <a:cs typeface="Poppins"/>
                <a:sym typeface="Poppins"/>
              </a:rPr>
              <a:t>ro</a:t>
            </a:r>
            <a:r>
              <a:rPr lang="en-US" sz="1620">
                <a:solidFill>
                  <a:srgbClr val="FFFFFF"/>
                </a:solidFill>
                <a:latin typeface="Poppins"/>
                <a:ea typeface="Poppins"/>
                <a:cs typeface="Poppins"/>
                <a:sym typeface="Poppins"/>
              </a:rPr>
              <a:t>ppe</a:t>
            </a:r>
            <a:r>
              <a:rPr lang="en-US" sz="1620" u="none">
                <a:solidFill>
                  <a:srgbClr val="FFFFFF"/>
                </a:solidFill>
                <a:latin typeface="Poppins"/>
                <a:ea typeface="Poppins"/>
                <a:cs typeface="Poppins"/>
                <a:sym typeface="Poppins"/>
              </a:rPr>
              <a:t>d c</a:t>
            </a:r>
            <a:r>
              <a:rPr lang="en-US" sz="1620">
                <a:solidFill>
                  <a:srgbClr val="FFFFFF"/>
                </a:solidFill>
                <a:latin typeface="Poppins"/>
                <a:ea typeface="Poppins"/>
                <a:cs typeface="Poppins"/>
                <a:sym typeface="Poppins"/>
              </a:rPr>
              <a:t>l</a:t>
            </a:r>
            <a:r>
              <a:rPr lang="en-US" sz="1620" u="none">
                <a:solidFill>
                  <a:srgbClr val="FFFFFF"/>
                </a:solidFill>
                <a:latin typeface="Poppins"/>
                <a:ea typeface="Poppins"/>
                <a:cs typeface="Poppins"/>
                <a:sym typeface="Poppins"/>
              </a:rPr>
              <a:t>os</a:t>
            </a:r>
            <a:r>
              <a:rPr lang="en-US" sz="1620">
                <a:solidFill>
                  <a:srgbClr val="FFFFFF"/>
                </a:solidFill>
                <a:latin typeface="Poppins"/>
                <a:ea typeface="Poppins"/>
                <a:cs typeface="Poppins"/>
                <a:sym typeface="Poppins"/>
              </a:rPr>
              <a:t>er to 150, </a:t>
            </a:r>
            <a:r>
              <a:rPr lang="en-US" sz="1620" u="sng">
                <a:solidFill>
                  <a:srgbClr val="FFFFFF"/>
                </a:solidFill>
                <a:latin typeface="Poppins"/>
                <a:ea typeface="Poppins"/>
                <a:cs typeface="Poppins"/>
                <a:sym typeface="Poppins"/>
              </a:rPr>
              <a:t>indicating stronger sales. </a:t>
            </a:r>
          </a:p>
        </p:txBody>
      </p:sp>
      <p:sp>
        <p:nvSpPr>
          <p:cNvPr name="Freeform 31" id="31"/>
          <p:cNvSpPr/>
          <p:nvPr/>
        </p:nvSpPr>
        <p:spPr>
          <a:xfrm flipH="false" flipV="false" rot="0">
            <a:off x="9144000" y="5565103"/>
            <a:ext cx="6814206" cy="1933531"/>
          </a:xfrm>
          <a:custGeom>
            <a:avLst/>
            <a:gdLst/>
            <a:ahLst/>
            <a:cxnLst/>
            <a:rect r="r" b="b" t="t" l="l"/>
            <a:pathLst>
              <a:path h="1933531" w="6814206">
                <a:moveTo>
                  <a:pt x="0" y="0"/>
                </a:moveTo>
                <a:lnTo>
                  <a:pt x="6814206" y="0"/>
                </a:lnTo>
                <a:lnTo>
                  <a:pt x="6814206" y="1933530"/>
                </a:lnTo>
                <a:lnTo>
                  <a:pt x="0" y="19335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2" id="32"/>
          <p:cNvSpPr txBox="true"/>
          <p:nvPr/>
        </p:nvSpPr>
        <p:spPr>
          <a:xfrm rot="0">
            <a:off x="2539636" y="7649302"/>
            <a:ext cx="6135230" cy="1230084"/>
          </a:xfrm>
          <a:prstGeom prst="rect">
            <a:avLst/>
          </a:prstGeom>
        </p:spPr>
        <p:txBody>
          <a:bodyPr anchor="t" rtlCol="false" tIns="0" lIns="0" bIns="0" rIns="0">
            <a:spAutoFit/>
          </a:bodyPr>
          <a:lstStyle/>
          <a:p>
            <a:pPr algn="ctr">
              <a:lnSpc>
                <a:spcPts val="1650"/>
              </a:lnSpc>
            </a:pPr>
            <a:r>
              <a:rPr lang="en-US" sz="1528" b="true">
                <a:solidFill>
                  <a:srgbClr val="FFFFFF"/>
                </a:solidFill>
                <a:latin typeface="Poppins Bold"/>
                <a:ea typeface="Poppins Bold"/>
                <a:cs typeface="Poppins Bold"/>
                <a:sym typeface="Poppins Bold"/>
              </a:rPr>
              <a:t>The rank vs price ratio peaked in March </a:t>
            </a:r>
            <a:r>
              <a:rPr lang="en-US" b="true" sz="1528" u="none">
                <a:solidFill>
                  <a:srgbClr val="FFFFFF"/>
                </a:solidFill>
                <a:latin typeface="Poppins Bold"/>
                <a:ea typeface="Poppins Bold"/>
                <a:cs typeface="Poppins Bold"/>
                <a:sym typeface="Poppins Bold"/>
              </a:rPr>
              <a:t>an</a:t>
            </a:r>
            <a:r>
              <a:rPr lang="en-US" sz="1528" b="true">
                <a:solidFill>
                  <a:srgbClr val="FFFFFF"/>
                </a:solidFill>
                <a:latin typeface="Poppins Bold"/>
                <a:ea typeface="Poppins Bold"/>
                <a:cs typeface="Poppins Bold"/>
                <a:sym typeface="Poppins Bold"/>
              </a:rPr>
              <a:t>d</a:t>
            </a:r>
            <a:r>
              <a:rPr lang="en-US" b="true" sz="1528" u="none">
                <a:solidFill>
                  <a:srgbClr val="FFFFFF"/>
                </a:solidFill>
                <a:latin typeface="Poppins Bold"/>
                <a:ea typeface="Poppins Bold"/>
                <a:cs typeface="Poppins Bold"/>
                <a:sym typeface="Poppins Bold"/>
              </a:rPr>
              <a:t> </a:t>
            </a:r>
            <a:r>
              <a:rPr lang="en-US" sz="1528" b="true">
                <a:solidFill>
                  <a:srgbClr val="FFFFFF"/>
                </a:solidFill>
                <a:latin typeface="Poppins Bold"/>
                <a:ea typeface="Poppins Bold"/>
                <a:cs typeface="Poppins Bold"/>
                <a:sym typeface="Poppins Bold"/>
              </a:rPr>
              <a:t>Ju</a:t>
            </a:r>
            <a:r>
              <a:rPr lang="en-US" b="true" sz="1528" u="none">
                <a:solidFill>
                  <a:srgbClr val="FFFFFF"/>
                </a:solidFill>
                <a:latin typeface="Poppins Bold"/>
                <a:ea typeface="Poppins Bold"/>
                <a:cs typeface="Poppins Bold"/>
                <a:sym typeface="Poppins Bold"/>
              </a:rPr>
              <a:t>n</a:t>
            </a:r>
            <a:r>
              <a:rPr lang="en-US" sz="1528" b="true">
                <a:solidFill>
                  <a:srgbClr val="FFFFFF"/>
                </a:solidFill>
                <a:latin typeface="Poppins Bold"/>
                <a:ea typeface="Poppins Bold"/>
                <a:cs typeface="Poppins Bold"/>
                <a:sym typeface="Poppins Bold"/>
              </a:rPr>
              <a:t>e</a:t>
            </a:r>
            <a:r>
              <a:rPr lang="en-US" sz="1528">
                <a:solidFill>
                  <a:srgbClr val="FFFFFF"/>
                </a:solidFill>
                <a:latin typeface="Poppins"/>
                <a:ea typeface="Poppins"/>
                <a:cs typeface="Poppins"/>
                <a:sym typeface="Poppins"/>
              </a:rPr>
              <a:t>, </a:t>
            </a:r>
            <a:r>
              <a:rPr lang="en-US" sz="1528" u="sng">
                <a:solidFill>
                  <a:srgbClr val="FFFFFF"/>
                </a:solidFill>
                <a:latin typeface="Poppins"/>
                <a:ea typeface="Poppins"/>
                <a:cs typeface="Poppins"/>
                <a:sym typeface="Poppins"/>
              </a:rPr>
              <a:t>implying those months had the least favorable balance between price and performance</a:t>
            </a:r>
            <a:r>
              <a:rPr lang="en-US" sz="1528">
                <a:solidFill>
                  <a:srgbClr val="FFFFFF"/>
                </a:solidFill>
                <a:latin typeface="Poppins"/>
                <a:ea typeface="Poppins"/>
                <a:cs typeface="Poppins"/>
                <a:sym typeface="Poppins"/>
              </a:rPr>
              <a:t>.</a:t>
            </a:r>
            <a:r>
              <a:rPr lang="en-US" sz="1528" u="none">
                <a:solidFill>
                  <a:srgbClr val="FFFFFF"/>
                </a:solidFill>
                <a:latin typeface="Poppins"/>
                <a:ea typeface="Poppins"/>
                <a:cs typeface="Poppins"/>
                <a:sym typeface="Poppins"/>
              </a:rPr>
              <a:t> </a:t>
            </a:r>
            <a:r>
              <a:rPr lang="en-US" sz="1528">
                <a:solidFill>
                  <a:srgbClr val="FFFFFF"/>
                </a:solidFill>
                <a:latin typeface="Poppins"/>
                <a:ea typeface="Poppins"/>
                <a:cs typeface="Poppins"/>
                <a:sym typeface="Poppins"/>
              </a:rPr>
              <a:t>C</a:t>
            </a:r>
            <a:r>
              <a:rPr lang="en-US" sz="1528" u="none">
                <a:solidFill>
                  <a:srgbClr val="FFFFFF"/>
                </a:solidFill>
                <a:latin typeface="Poppins"/>
                <a:ea typeface="Poppins"/>
                <a:cs typeface="Poppins"/>
                <a:sym typeface="Poppins"/>
              </a:rPr>
              <a:t>o</a:t>
            </a:r>
            <a:r>
              <a:rPr lang="en-US" sz="1528">
                <a:solidFill>
                  <a:srgbClr val="FFFFFF"/>
                </a:solidFill>
                <a:latin typeface="Poppins"/>
                <a:ea typeface="Poppins"/>
                <a:cs typeface="Poppins"/>
                <a:sym typeface="Poppins"/>
              </a:rPr>
              <a:t>nve</a:t>
            </a:r>
            <a:r>
              <a:rPr lang="en-US" sz="1528" u="none">
                <a:solidFill>
                  <a:srgbClr val="FFFFFF"/>
                </a:solidFill>
                <a:latin typeface="Poppins"/>
                <a:ea typeface="Poppins"/>
                <a:cs typeface="Poppins"/>
                <a:sym typeface="Poppins"/>
              </a:rPr>
              <a:t>r</a:t>
            </a:r>
            <a:r>
              <a:rPr lang="en-US" sz="1528">
                <a:solidFill>
                  <a:srgbClr val="FFFFFF"/>
                </a:solidFill>
                <a:latin typeface="Poppins"/>
                <a:ea typeface="Poppins"/>
                <a:cs typeface="Poppins"/>
                <a:sym typeface="Poppins"/>
              </a:rPr>
              <a:t>se</a:t>
            </a:r>
            <a:r>
              <a:rPr lang="en-US" sz="1528" u="none">
                <a:solidFill>
                  <a:srgbClr val="FFFFFF"/>
                </a:solidFill>
                <a:latin typeface="Poppins"/>
                <a:ea typeface="Poppins"/>
                <a:cs typeface="Poppins"/>
                <a:sym typeface="Poppins"/>
              </a:rPr>
              <a:t>ly</a:t>
            </a:r>
            <a:r>
              <a:rPr lang="en-US" sz="1528">
                <a:solidFill>
                  <a:srgbClr val="FFFFFF"/>
                </a:solidFill>
                <a:latin typeface="Poppins"/>
                <a:ea typeface="Poppins"/>
                <a:cs typeface="Poppins"/>
                <a:sym typeface="Poppins"/>
              </a:rPr>
              <a:t>,</a:t>
            </a:r>
            <a:r>
              <a:rPr lang="en-US" sz="1528" u="none">
                <a:solidFill>
                  <a:srgbClr val="FFFFFF"/>
                </a:solidFill>
                <a:latin typeface="Poppins"/>
                <a:ea typeface="Poppins"/>
                <a:cs typeface="Poppins"/>
                <a:sym typeface="Poppins"/>
              </a:rPr>
              <a:t> </a:t>
            </a:r>
            <a:r>
              <a:rPr lang="en-US" sz="1528" b="true">
                <a:solidFill>
                  <a:srgbClr val="FFFFFF"/>
                </a:solidFill>
                <a:latin typeface="Poppins Bold"/>
                <a:ea typeface="Poppins Bold"/>
                <a:cs typeface="Poppins Bold"/>
                <a:sym typeface="Poppins Bold"/>
              </a:rPr>
              <a:t>Apr</a:t>
            </a:r>
            <a:r>
              <a:rPr lang="en-US" b="true" sz="1528" u="none">
                <a:solidFill>
                  <a:srgbClr val="FFFFFF"/>
                </a:solidFill>
                <a:latin typeface="Poppins Bold"/>
                <a:ea typeface="Poppins Bold"/>
                <a:cs typeface="Poppins Bold"/>
                <a:sym typeface="Poppins Bold"/>
              </a:rPr>
              <a:t>i</a:t>
            </a:r>
            <a:r>
              <a:rPr lang="en-US" sz="1528" b="true">
                <a:solidFill>
                  <a:srgbClr val="FFFFFF"/>
                </a:solidFill>
                <a:latin typeface="Poppins Bold"/>
                <a:ea typeface="Poppins Bold"/>
                <a:cs typeface="Poppins Bold"/>
                <a:sym typeface="Poppins Bold"/>
              </a:rPr>
              <a:t>l</a:t>
            </a:r>
            <a:r>
              <a:rPr lang="en-US" b="true" sz="1528" u="none">
                <a:solidFill>
                  <a:srgbClr val="FFFFFF"/>
                </a:solidFill>
                <a:latin typeface="Poppins Bold"/>
                <a:ea typeface="Poppins Bold"/>
                <a:cs typeface="Poppins Bold"/>
                <a:sym typeface="Poppins Bold"/>
              </a:rPr>
              <a:t> </a:t>
            </a:r>
            <a:r>
              <a:rPr lang="en-US" sz="1528" b="true">
                <a:solidFill>
                  <a:srgbClr val="FFFFFF"/>
                </a:solidFill>
                <a:latin typeface="Poppins Bold"/>
                <a:ea typeface="Poppins Bold"/>
                <a:cs typeface="Poppins Bold"/>
                <a:sym typeface="Poppins Bold"/>
              </a:rPr>
              <a:t>and December had the lowest r</a:t>
            </a:r>
            <a:r>
              <a:rPr lang="en-US" b="true" sz="1528" u="none">
                <a:solidFill>
                  <a:srgbClr val="FFFFFF"/>
                </a:solidFill>
                <a:latin typeface="Poppins Bold"/>
                <a:ea typeface="Poppins Bold"/>
                <a:cs typeface="Poppins Bold"/>
                <a:sym typeface="Poppins Bold"/>
              </a:rPr>
              <a:t>at</a:t>
            </a:r>
            <a:r>
              <a:rPr lang="en-US" sz="1528" b="true">
                <a:solidFill>
                  <a:srgbClr val="FFFFFF"/>
                </a:solidFill>
                <a:latin typeface="Poppins Bold"/>
                <a:ea typeface="Poppins Bold"/>
                <a:cs typeface="Poppins Bold"/>
                <a:sym typeface="Poppins Bold"/>
              </a:rPr>
              <a:t>io</a:t>
            </a:r>
            <a:r>
              <a:rPr lang="en-US" b="true" sz="1528" u="none">
                <a:solidFill>
                  <a:srgbClr val="FFFFFF"/>
                </a:solidFill>
                <a:latin typeface="Poppins Bold"/>
                <a:ea typeface="Poppins Bold"/>
                <a:cs typeface="Poppins Bold"/>
                <a:sym typeface="Poppins Bold"/>
              </a:rPr>
              <a:t>s</a:t>
            </a:r>
            <a:r>
              <a:rPr lang="en-US" sz="1528">
                <a:solidFill>
                  <a:srgbClr val="FFFFFF"/>
                </a:solidFill>
                <a:latin typeface="Poppins"/>
                <a:ea typeface="Poppins"/>
                <a:cs typeface="Poppins"/>
                <a:sym typeface="Poppins"/>
              </a:rPr>
              <a:t>, </a:t>
            </a:r>
            <a:r>
              <a:rPr lang="en-US" sz="1528" u="sng">
                <a:solidFill>
                  <a:srgbClr val="FFFFFF"/>
                </a:solidFill>
                <a:latin typeface="Poppins"/>
                <a:ea typeface="Poppins"/>
                <a:cs typeface="Poppins"/>
                <a:sym typeface="Poppins"/>
              </a:rPr>
              <a:t>suggesting that ROG laptops were more competitively priced or had stronger performance during those periods like the holidays.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419807" y="2453442"/>
            <a:ext cx="3227981" cy="2503422"/>
            <a:chOff x="0" y="0"/>
            <a:chExt cx="1686890" cy="1308248"/>
          </a:xfrm>
        </p:grpSpPr>
        <p:sp>
          <p:nvSpPr>
            <p:cNvPr name="Freeform 3" id="3"/>
            <p:cNvSpPr/>
            <p:nvPr/>
          </p:nvSpPr>
          <p:spPr>
            <a:xfrm flipH="false" flipV="false" rot="0">
              <a:off x="0" y="0"/>
              <a:ext cx="1686890" cy="1308248"/>
            </a:xfrm>
            <a:custGeom>
              <a:avLst/>
              <a:gdLst/>
              <a:ahLst/>
              <a:cxnLst/>
              <a:rect r="r" b="b" t="t" l="l"/>
              <a:pathLst>
                <a:path h="1308248" w="1686890">
                  <a:moveTo>
                    <a:pt x="59959" y="0"/>
                  </a:moveTo>
                  <a:lnTo>
                    <a:pt x="1626931" y="0"/>
                  </a:lnTo>
                  <a:cubicBezTo>
                    <a:pt x="1642833" y="0"/>
                    <a:pt x="1658084" y="6317"/>
                    <a:pt x="1669329" y="17562"/>
                  </a:cubicBezTo>
                  <a:cubicBezTo>
                    <a:pt x="1680573" y="28806"/>
                    <a:pt x="1686890" y="44057"/>
                    <a:pt x="1686890" y="59959"/>
                  </a:cubicBezTo>
                  <a:lnTo>
                    <a:pt x="1686890" y="1248288"/>
                  </a:lnTo>
                  <a:cubicBezTo>
                    <a:pt x="1686890" y="1264190"/>
                    <a:pt x="1680573" y="1279441"/>
                    <a:pt x="1669329" y="1290686"/>
                  </a:cubicBezTo>
                  <a:cubicBezTo>
                    <a:pt x="1658084" y="1301931"/>
                    <a:pt x="1642833" y="1308248"/>
                    <a:pt x="1626931" y="1308248"/>
                  </a:cubicBezTo>
                  <a:lnTo>
                    <a:pt x="59959" y="1308248"/>
                  </a:lnTo>
                  <a:cubicBezTo>
                    <a:pt x="26845" y="1308248"/>
                    <a:pt x="0" y="1281403"/>
                    <a:pt x="0" y="1248288"/>
                  </a:cubicBezTo>
                  <a:lnTo>
                    <a:pt x="0" y="59959"/>
                  </a:lnTo>
                  <a:cubicBezTo>
                    <a:pt x="0" y="44057"/>
                    <a:pt x="6317" y="28806"/>
                    <a:pt x="17562" y="17562"/>
                  </a:cubicBezTo>
                  <a:cubicBezTo>
                    <a:pt x="28806" y="6317"/>
                    <a:pt x="44057" y="0"/>
                    <a:pt x="59959" y="0"/>
                  </a:cubicBezTo>
                  <a:close/>
                </a:path>
              </a:pathLst>
            </a:custGeom>
            <a:solidFill>
              <a:srgbClr val="2A3066">
                <a:alpha val="55686"/>
              </a:srgbClr>
            </a:solidFill>
          </p:spPr>
        </p:sp>
        <p:sp>
          <p:nvSpPr>
            <p:cNvPr name="TextBox 4" id="4"/>
            <p:cNvSpPr txBox="true"/>
            <p:nvPr/>
          </p:nvSpPr>
          <p:spPr>
            <a:xfrm>
              <a:off x="0" y="-66675"/>
              <a:ext cx="1686890" cy="1374923"/>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5" id="5"/>
          <p:cNvSpPr/>
          <p:nvPr/>
        </p:nvSpPr>
        <p:spPr>
          <a:xfrm flipH="false" flipV="false" rot="0">
            <a:off x="1980488"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sp>
        <p:nvSpPr>
          <p:cNvPr name="AutoShape 6" id="6"/>
          <p:cNvSpPr/>
          <p:nvPr/>
        </p:nvSpPr>
        <p:spPr>
          <a:xfrm>
            <a:off x="5647788" y="3705153"/>
            <a:ext cx="2596213" cy="0"/>
          </a:xfrm>
          <a:prstGeom prst="line">
            <a:avLst/>
          </a:prstGeom>
          <a:ln cap="flat" w="38100">
            <a:solidFill>
              <a:srgbClr val="FFFFFF"/>
            </a:solidFill>
            <a:prstDash val="solid"/>
            <a:headEnd type="none" len="sm" w="sm"/>
            <a:tailEnd type="none" len="sm" w="sm"/>
          </a:ln>
        </p:spPr>
      </p:sp>
      <p:sp>
        <p:nvSpPr>
          <p:cNvPr name="Freeform 7" id="7"/>
          <p:cNvSpPr/>
          <p:nvPr/>
        </p:nvSpPr>
        <p:spPr>
          <a:xfrm flipH="false" flipV="false" rot="0">
            <a:off x="8244001" y="2667309"/>
            <a:ext cx="8267827" cy="2345996"/>
          </a:xfrm>
          <a:custGeom>
            <a:avLst/>
            <a:gdLst/>
            <a:ahLst/>
            <a:cxnLst/>
            <a:rect r="r" b="b" t="t" l="l"/>
            <a:pathLst>
              <a:path h="2345996" w="8267827">
                <a:moveTo>
                  <a:pt x="0" y="0"/>
                </a:moveTo>
                <a:lnTo>
                  <a:pt x="8267827" y="0"/>
                </a:lnTo>
                <a:lnTo>
                  <a:pt x="8267827" y="2345996"/>
                </a:lnTo>
                <a:lnTo>
                  <a:pt x="0" y="23459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2204495" y="6393147"/>
            <a:ext cx="3227981" cy="2503422"/>
            <a:chOff x="0" y="0"/>
            <a:chExt cx="1686890" cy="1308248"/>
          </a:xfrm>
        </p:grpSpPr>
        <p:sp>
          <p:nvSpPr>
            <p:cNvPr name="Freeform 9" id="9"/>
            <p:cNvSpPr/>
            <p:nvPr/>
          </p:nvSpPr>
          <p:spPr>
            <a:xfrm flipH="false" flipV="false" rot="0">
              <a:off x="0" y="0"/>
              <a:ext cx="1686890" cy="1308248"/>
            </a:xfrm>
            <a:custGeom>
              <a:avLst/>
              <a:gdLst/>
              <a:ahLst/>
              <a:cxnLst/>
              <a:rect r="r" b="b" t="t" l="l"/>
              <a:pathLst>
                <a:path h="1308248" w="1686890">
                  <a:moveTo>
                    <a:pt x="59959" y="0"/>
                  </a:moveTo>
                  <a:lnTo>
                    <a:pt x="1626931" y="0"/>
                  </a:lnTo>
                  <a:cubicBezTo>
                    <a:pt x="1642833" y="0"/>
                    <a:pt x="1658084" y="6317"/>
                    <a:pt x="1669329" y="17562"/>
                  </a:cubicBezTo>
                  <a:cubicBezTo>
                    <a:pt x="1680573" y="28806"/>
                    <a:pt x="1686890" y="44057"/>
                    <a:pt x="1686890" y="59959"/>
                  </a:cubicBezTo>
                  <a:lnTo>
                    <a:pt x="1686890" y="1248288"/>
                  </a:lnTo>
                  <a:cubicBezTo>
                    <a:pt x="1686890" y="1264190"/>
                    <a:pt x="1680573" y="1279441"/>
                    <a:pt x="1669329" y="1290686"/>
                  </a:cubicBezTo>
                  <a:cubicBezTo>
                    <a:pt x="1658084" y="1301931"/>
                    <a:pt x="1642833" y="1308248"/>
                    <a:pt x="1626931" y="1308248"/>
                  </a:cubicBezTo>
                  <a:lnTo>
                    <a:pt x="59959" y="1308248"/>
                  </a:lnTo>
                  <a:cubicBezTo>
                    <a:pt x="26845" y="1308248"/>
                    <a:pt x="0" y="1281403"/>
                    <a:pt x="0" y="1248288"/>
                  </a:cubicBezTo>
                  <a:lnTo>
                    <a:pt x="0" y="59959"/>
                  </a:lnTo>
                  <a:cubicBezTo>
                    <a:pt x="0" y="44057"/>
                    <a:pt x="6317" y="28806"/>
                    <a:pt x="17562" y="17562"/>
                  </a:cubicBezTo>
                  <a:cubicBezTo>
                    <a:pt x="28806" y="6317"/>
                    <a:pt x="44057" y="0"/>
                    <a:pt x="59959" y="0"/>
                  </a:cubicBezTo>
                  <a:close/>
                </a:path>
              </a:pathLst>
            </a:custGeom>
            <a:solidFill>
              <a:srgbClr val="2A3066">
                <a:alpha val="55686"/>
              </a:srgbClr>
            </a:solidFill>
          </p:spPr>
        </p:sp>
        <p:sp>
          <p:nvSpPr>
            <p:cNvPr name="TextBox 10" id="10"/>
            <p:cNvSpPr txBox="true"/>
            <p:nvPr/>
          </p:nvSpPr>
          <p:spPr>
            <a:xfrm>
              <a:off x="0" y="-66675"/>
              <a:ext cx="1686890" cy="1374923"/>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AutoShape 11" id="11"/>
          <p:cNvSpPr/>
          <p:nvPr/>
        </p:nvSpPr>
        <p:spPr>
          <a:xfrm>
            <a:off x="9608282" y="7625808"/>
            <a:ext cx="2596213" cy="0"/>
          </a:xfrm>
          <a:prstGeom prst="line">
            <a:avLst/>
          </a:prstGeom>
          <a:ln cap="flat" w="38100">
            <a:solidFill>
              <a:srgbClr val="FFFFFF"/>
            </a:solidFill>
            <a:prstDash val="solid"/>
            <a:headEnd type="none" len="sm" w="sm"/>
            <a:tailEnd type="none" len="sm" w="sm"/>
          </a:ln>
        </p:spPr>
      </p:sp>
      <p:sp>
        <p:nvSpPr>
          <p:cNvPr name="Freeform 12" id="12"/>
          <p:cNvSpPr/>
          <p:nvPr/>
        </p:nvSpPr>
        <p:spPr>
          <a:xfrm flipH="false" flipV="false" rot="0">
            <a:off x="1428150" y="6613995"/>
            <a:ext cx="8267827" cy="2345996"/>
          </a:xfrm>
          <a:custGeom>
            <a:avLst/>
            <a:gdLst/>
            <a:ahLst/>
            <a:cxnLst/>
            <a:rect r="r" b="b" t="t" l="l"/>
            <a:pathLst>
              <a:path h="2345996" w="8267827">
                <a:moveTo>
                  <a:pt x="0" y="0"/>
                </a:moveTo>
                <a:lnTo>
                  <a:pt x="8267827" y="0"/>
                </a:lnTo>
                <a:lnTo>
                  <a:pt x="8267827" y="2345996"/>
                </a:lnTo>
                <a:lnTo>
                  <a:pt x="0" y="23459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2426502" y="6751239"/>
            <a:ext cx="2783967" cy="1787238"/>
          </a:xfrm>
          <a:custGeom>
            <a:avLst/>
            <a:gdLst/>
            <a:ahLst/>
            <a:cxnLst/>
            <a:rect r="r" b="b" t="t" l="l"/>
            <a:pathLst>
              <a:path h="1787238" w="2783967">
                <a:moveTo>
                  <a:pt x="0" y="0"/>
                </a:moveTo>
                <a:lnTo>
                  <a:pt x="2783967" y="0"/>
                </a:lnTo>
                <a:lnTo>
                  <a:pt x="2783967" y="1787238"/>
                </a:lnTo>
                <a:lnTo>
                  <a:pt x="0" y="1787238"/>
                </a:lnTo>
                <a:lnTo>
                  <a:pt x="0" y="0"/>
                </a:lnTo>
                <a:close/>
              </a:path>
            </a:pathLst>
          </a:custGeom>
          <a:blipFill>
            <a:blip r:embed="rId6"/>
            <a:stretch>
              <a:fillRect l="0" t="0" r="0" b="0"/>
            </a:stretch>
          </a:blipFill>
        </p:spPr>
      </p:sp>
      <p:sp>
        <p:nvSpPr>
          <p:cNvPr name="Freeform 14" id="14"/>
          <p:cNvSpPr/>
          <p:nvPr/>
        </p:nvSpPr>
        <p:spPr>
          <a:xfrm flipH="false" flipV="false" rot="0">
            <a:off x="2641814" y="2810909"/>
            <a:ext cx="2783967" cy="1788488"/>
          </a:xfrm>
          <a:custGeom>
            <a:avLst/>
            <a:gdLst/>
            <a:ahLst/>
            <a:cxnLst/>
            <a:rect r="r" b="b" t="t" l="l"/>
            <a:pathLst>
              <a:path h="1788488" w="2783967">
                <a:moveTo>
                  <a:pt x="0" y="0"/>
                </a:moveTo>
                <a:lnTo>
                  <a:pt x="2783967" y="0"/>
                </a:lnTo>
                <a:lnTo>
                  <a:pt x="2783967" y="1788488"/>
                </a:lnTo>
                <a:lnTo>
                  <a:pt x="0" y="1788488"/>
                </a:lnTo>
                <a:lnTo>
                  <a:pt x="0" y="0"/>
                </a:lnTo>
                <a:close/>
              </a:path>
            </a:pathLst>
          </a:custGeom>
          <a:blipFill>
            <a:blip r:embed="rId7"/>
            <a:stretch>
              <a:fillRect l="0" t="0" r="0" b="0"/>
            </a:stretch>
          </a:blipFill>
        </p:spPr>
      </p:sp>
      <p:sp>
        <p:nvSpPr>
          <p:cNvPr name="TextBox 15" id="15"/>
          <p:cNvSpPr txBox="true"/>
          <p:nvPr/>
        </p:nvSpPr>
        <p:spPr>
          <a:xfrm rot="0">
            <a:off x="2435607"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Visualisations and Insights from Power BI</a:t>
            </a:r>
          </a:p>
        </p:txBody>
      </p:sp>
      <p:sp>
        <p:nvSpPr>
          <p:cNvPr name="TextBox 16" id="16"/>
          <p:cNvSpPr txBox="true"/>
          <p:nvPr/>
        </p:nvSpPr>
        <p:spPr>
          <a:xfrm rot="0">
            <a:off x="2435607"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Asus TUF Laptop</a:t>
            </a:r>
          </a:p>
        </p:txBody>
      </p:sp>
      <p:sp>
        <p:nvSpPr>
          <p:cNvPr name="TextBox 17" id="17"/>
          <p:cNvSpPr txBox="true"/>
          <p:nvPr/>
        </p:nvSpPr>
        <p:spPr>
          <a:xfrm rot="0">
            <a:off x="9186750" y="3112516"/>
            <a:ext cx="6382329" cy="1514256"/>
          </a:xfrm>
          <a:prstGeom prst="rect">
            <a:avLst/>
          </a:prstGeom>
        </p:spPr>
        <p:txBody>
          <a:bodyPr anchor="t" rtlCol="false" tIns="0" lIns="0" bIns="0" rIns="0">
            <a:spAutoFit/>
          </a:bodyPr>
          <a:lstStyle/>
          <a:p>
            <a:pPr algn="ctr">
              <a:lnSpc>
                <a:spcPts val="2009"/>
              </a:lnSpc>
              <a:spcBef>
                <a:spcPct val="0"/>
              </a:spcBef>
            </a:pPr>
            <a:r>
              <a:rPr lang="en-US" sz="1860">
                <a:solidFill>
                  <a:srgbClr val="FFFFFF"/>
                </a:solidFill>
                <a:latin typeface="Poppins"/>
                <a:ea typeface="Poppins"/>
                <a:cs typeface="Poppins"/>
                <a:sym typeface="Poppins"/>
              </a:rPr>
              <a:t>This value reflects </a:t>
            </a:r>
            <a:r>
              <a:rPr lang="en-US" b="true" sz="1860">
                <a:solidFill>
                  <a:srgbClr val="FFFFFF"/>
                </a:solidFill>
                <a:latin typeface="Poppins Bold"/>
                <a:ea typeface="Poppins Bold"/>
                <a:cs typeface="Poppins Bold"/>
                <a:sym typeface="Poppins Bold"/>
              </a:rPr>
              <a:t>the cumulative total of all recorded TUF laptop prices over the analysis period.</a:t>
            </a:r>
            <a:r>
              <a:rPr lang="en-US" sz="1860">
                <a:solidFill>
                  <a:srgbClr val="FFFFFF"/>
                </a:solidFill>
                <a:latin typeface="Poppins"/>
                <a:ea typeface="Poppins"/>
                <a:cs typeface="Poppins"/>
                <a:sym typeface="Poppins"/>
              </a:rPr>
              <a:t> Assuming each price point is equal to ASUS selling a minimum of one laptop per day, this value can be interpreted as the estimated minimum total sales revenue for the product across the year. </a:t>
            </a:r>
          </a:p>
        </p:txBody>
      </p:sp>
      <p:sp>
        <p:nvSpPr>
          <p:cNvPr name="TextBox 18" id="18"/>
          <p:cNvSpPr txBox="true"/>
          <p:nvPr/>
        </p:nvSpPr>
        <p:spPr>
          <a:xfrm rot="0">
            <a:off x="1707048" y="5042589"/>
            <a:ext cx="4423723" cy="276006"/>
          </a:xfrm>
          <a:prstGeom prst="rect">
            <a:avLst/>
          </a:prstGeom>
        </p:spPr>
        <p:txBody>
          <a:bodyPr anchor="t" rtlCol="false" tIns="0" lIns="0" bIns="0" rIns="0">
            <a:spAutoFit/>
          </a:bodyPr>
          <a:lstStyle/>
          <a:p>
            <a:pPr algn="ctr">
              <a:lnSpc>
                <a:spcPts val="2009"/>
              </a:lnSpc>
              <a:spcBef>
                <a:spcPct val="0"/>
              </a:spcBef>
            </a:pPr>
            <a:r>
              <a:rPr lang="en-US" sz="1860">
                <a:solidFill>
                  <a:srgbClr val="FFFFFF"/>
                </a:solidFill>
                <a:latin typeface="Poppins"/>
                <a:ea typeface="Poppins"/>
                <a:cs typeface="Poppins"/>
                <a:sym typeface="Poppins"/>
              </a:rPr>
              <a:t>Data Card for ‘Total Sales’ Measure</a:t>
            </a:r>
          </a:p>
        </p:txBody>
      </p:sp>
      <p:sp>
        <p:nvSpPr>
          <p:cNvPr name="TextBox 19" id="19"/>
          <p:cNvSpPr txBox="true"/>
          <p:nvPr/>
        </p:nvSpPr>
        <p:spPr>
          <a:xfrm rot="0">
            <a:off x="11491736" y="8982294"/>
            <a:ext cx="4579441" cy="276006"/>
          </a:xfrm>
          <a:prstGeom prst="rect">
            <a:avLst/>
          </a:prstGeom>
        </p:spPr>
        <p:txBody>
          <a:bodyPr anchor="t" rtlCol="false" tIns="0" lIns="0" bIns="0" rIns="0">
            <a:spAutoFit/>
          </a:bodyPr>
          <a:lstStyle/>
          <a:p>
            <a:pPr algn="ctr">
              <a:lnSpc>
                <a:spcPts val="2009"/>
              </a:lnSpc>
              <a:spcBef>
                <a:spcPct val="0"/>
              </a:spcBef>
            </a:pPr>
            <a:r>
              <a:rPr lang="en-US" sz="1860">
                <a:solidFill>
                  <a:srgbClr val="FFFFFF"/>
                </a:solidFill>
                <a:latin typeface="Poppins"/>
                <a:ea typeface="Poppins"/>
                <a:cs typeface="Poppins"/>
                <a:sym typeface="Poppins"/>
              </a:rPr>
              <a:t>Data Card for ‘Average Price’ Measure</a:t>
            </a:r>
          </a:p>
        </p:txBody>
      </p:sp>
      <p:sp>
        <p:nvSpPr>
          <p:cNvPr name="TextBox 20" id="20"/>
          <p:cNvSpPr txBox="true"/>
          <p:nvPr/>
        </p:nvSpPr>
        <p:spPr>
          <a:xfrm rot="0">
            <a:off x="2419807" y="7312567"/>
            <a:ext cx="6382329" cy="948852"/>
          </a:xfrm>
          <a:prstGeom prst="rect">
            <a:avLst/>
          </a:prstGeom>
        </p:spPr>
        <p:txBody>
          <a:bodyPr anchor="t" rtlCol="false" tIns="0" lIns="0" bIns="0" rIns="0">
            <a:spAutoFit/>
          </a:bodyPr>
          <a:lstStyle/>
          <a:p>
            <a:pPr algn="ctr">
              <a:lnSpc>
                <a:spcPts val="2441"/>
              </a:lnSpc>
              <a:spcBef>
                <a:spcPct val="0"/>
              </a:spcBef>
            </a:pPr>
            <a:r>
              <a:rPr lang="en-US" sz="2260">
                <a:solidFill>
                  <a:srgbClr val="FFFFFF"/>
                </a:solidFill>
                <a:latin typeface="Poppins"/>
                <a:ea typeface="Poppins"/>
                <a:cs typeface="Poppins"/>
                <a:sym typeface="Poppins"/>
              </a:rPr>
              <a:t>The value indicates </a:t>
            </a:r>
            <a:r>
              <a:rPr lang="en-US" sz="2260">
                <a:solidFill>
                  <a:srgbClr val="FFFFFF"/>
                </a:solidFill>
                <a:latin typeface="Poppins"/>
                <a:ea typeface="Poppins"/>
                <a:cs typeface="Poppins"/>
                <a:sym typeface="Poppins"/>
              </a:rPr>
              <a:t>that t</a:t>
            </a:r>
            <a:r>
              <a:rPr lang="en-US" sz="2260">
                <a:solidFill>
                  <a:srgbClr val="FFFFFF"/>
                </a:solidFill>
                <a:latin typeface="Poppins"/>
                <a:ea typeface="Poppins"/>
                <a:cs typeface="Poppins"/>
                <a:sym typeface="Poppins"/>
              </a:rPr>
              <a:t>he</a:t>
            </a:r>
            <a:r>
              <a:rPr lang="en-US" sz="2260">
                <a:solidFill>
                  <a:srgbClr val="FFFFFF"/>
                </a:solidFill>
                <a:latin typeface="Poppins"/>
                <a:ea typeface="Poppins"/>
                <a:cs typeface="Poppins"/>
                <a:sym typeface="Poppins"/>
              </a:rPr>
              <a:t> a</a:t>
            </a:r>
            <a:r>
              <a:rPr lang="en-US" sz="2260">
                <a:solidFill>
                  <a:srgbClr val="FFFFFF"/>
                </a:solidFill>
                <a:latin typeface="Poppins"/>
                <a:ea typeface="Poppins"/>
                <a:cs typeface="Poppins"/>
                <a:sym typeface="Poppins"/>
              </a:rPr>
              <a:t>v</a:t>
            </a:r>
            <a:r>
              <a:rPr lang="en-US" sz="2260">
                <a:solidFill>
                  <a:srgbClr val="FFFFFF"/>
                </a:solidFill>
                <a:latin typeface="Poppins"/>
                <a:ea typeface="Poppins"/>
                <a:cs typeface="Poppins"/>
                <a:sym typeface="Poppins"/>
              </a:rPr>
              <a:t>er</a:t>
            </a:r>
            <a:r>
              <a:rPr lang="en-US" sz="2260">
                <a:solidFill>
                  <a:srgbClr val="FFFFFF"/>
                </a:solidFill>
                <a:latin typeface="Poppins"/>
                <a:ea typeface="Poppins"/>
                <a:cs typeface="Poppins"/>
                <a:sym typeface="Poppins"/>
              </a:rPr>
              <a:t>ag</a:t>
            </a:r>
            <a:r>
              <a:rPr lang="en-US" sz="2260">
                <a:solidFill>
                  <a:srgbClr val="FFFFFF"/>
                </a:solidFill>
                <a:latin typeface="Poppins"/>
                <a:ea typeface="Poppins"/>
                <a:cs typeface="Poppins"/>
                <a:sym typeface="Poppins"/>
              </a:rPr>
              <a:t>e </a:t>
            </a:r>
            <a:r>
              <a:rPr lang="en-US" sz="2260">
                <a:solidFill>
                  <a:srgbClr val="FFFFFF"/>
                </a:solidFill>
                <a:latin typeface="Poppins"/>
                <a:ea typeface="Poppins"/>
                <a:cs typeface="Poppins"/>
                <a:sym typeface="Poppins"/>
              </a:rPr>
              <a:t>new</a:t>
            </a:r>
            <a:r>
              <a:rPr lang="en-US" sz="2260">
                <a:solidFill>
                  <a:srgbClr val="FFFFFF"/>
                </a:solidFill>
                <a:latin typeface="Poppins"/>
                <a:ea typeface="Poppins"/>
                <a:cs typeface="Poppins"/>
                <a:sym typeface="Poppins"/>
              </a:rPr>
              <a:t> price o</a:t>
            </a:r>
            <a:r>
              <a:rPr lang="en-US" sz="2260">
                <a:solidFill>
                  <a:srgbClr val="FFFFFF"/>
                </a:solidFill>
                <a:latin typeface="Poppins"/>
                <a:ea typeface="Poppins"/>
                <a:cs typeface="Poppins"/>
                <a:sym typeface="Poppins"/>
              </a:rPr>
              <a:t>f</a:t>
            </a:r>
            <a:r>
              <a:rPr lang="en-US" sz="2260">
                <a:solidFill>
                  <a:srgbClr val="FFFFFF"/>
                </a:solidFill>
                <a:latin typeface="Poppins"/>
                <a:ea typeface="Poppins"/>
                <a:cs typeface="Poppins"/>
                <a:sym typeface="Poppins"/>
              </a:rPr>
              <a:t> the TUF </a:t>
            </a:r>
            <a:r>
              <a:rPr lang="en-US" sz="2260">
                <a:solidFill>
                  <a:srgbClr val="FFFFFF"/>
                </a:solidFill>
                <a:latin typeface="Poppins"/>
                <a:ea typeface="Poppins"/>
                <a:cs typeface="Poppins"/>
                <a:sym typeface="Poppins"/>
              </a:rPr>
              <a:t>m</a:t>
            </a:r>
            <a:r>
              <a:rPr lang="en-US" sz="2260">
                <a:solidFill>
                  <a:srgbClr val="FFFFFF"/>
                </a:solidFill>
                <a:latin typeface="Poppins"/>
                <a:ea typeface="Poppins"/>
                <a:cs typeface="Poppins"/>
                <a:sym typeface="Poppins"/>
              </a:rPr>
              <a:t>od</a:t>
            </a:r>
            <a:r>
              <a:rPr lang="en-US" sz="2260">
                <a:solidFill>
                  <a:srgbClr val="FFFFFF"/>
                </a:solidFill>
                <a:latin typeface="Poppins"/>
                <a:ea typeface="Poppins"/>
                <a:cs typeface="Poppins"/>
                <a:sym typeface="Poppins"/>
              </a:rPr>
              <a:t>el across all recorded entries is approximately $1,280.</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1980488" y="2998184"/>
            <a:ext cx="5965365" cy="4134487"/>
            <a:chOff x="0" y="0"/>
            <a:chExt cx="2831022" cy="1962130"/>
          </a:xfrm>
        </p:grpSpPr>
        <p:sp>
          <p:nvSpPr>
            <p:cNvPr name="Freeform 3" id="3"/>
            <p:cNvSpPr/>
            <p:nvPr/>
          </p:nvSpPr>
          <p:spPr>
            <a:xfrm flipH="false" flipV="false" rot="0">
              <a:off x="0" y="0"/>
              <a:ext cx="2831022" cy="1962130"/>
            </a:xfrm>
            <a:custGeom>
              <a:avLst/>
              <a:gdLst/>
              <a:ahLst/>
              <a:cxnLst/>
              <a:rect r="r" b="b" t="t" l="l"/>
              <a:pathLst>
                <a:path h="1962130" w="2831022">
                  <a:moveTo>
                    <a:pt x="32445" y="0"/>
                  </a:moveTo>
                  <a:lnTo>
                    <a:pt x="2798576" y="0"/>
                  </a:lnTo>
                  <a:cubicBezTo>
                    <a:pt x="2807182" y="0"/>
                    <a:pt x="2815434" y="3418"/>
                    <a:pt x="2821519" y="9503"/>
                  </a:cubicBezTo>
                  <a:cubicBezTo>
                    <a:pt x="2827603" y="15588"/>
                    <a:pt x="2831022" y="23840"/>
                    <a:pt x="2831022" y="32445"/>
                  </a:cubicBezTo>
                  <a:lnTo>
                    <a:pt x="2831022" y="1929685"/>
                  </a:lnTo>
                  <a:cubicBezTo>
                    <a:pt x="2831022" y="1947604"/>
                    <a:pt x="2816496" y="1962130"/>
                    <a:pt x="2798576" y="1962130"/>
                  </a:cubicBezTo>
                  <a:lnTo>
                    <a:pt x="32445" y="1962130"/>
                  </a:lnTo>
                  <a:cubicBezTo>
                    <a:pt x="23840" y="1962130"/>
                    <a:pt x="15588" y="1958712"/>
                    <a:pt x="9503" y="1952627"/>
                  </a:cubicBezTo>
                  <a:cubicBezTo>
                    <a:pt x="3418" y="1946543"/>
                    <a:pt x="0" y="1938290"/>
                    <a:pt x="0" y="1929685"/>
                  </a:cubicBezTo>
                  <a:lnTo>
                    <a:pt x="0" y="32445"/>
                  </a:lnTo>
                  <a:cubicBezTo>
                    <a:pt x="0" y="23840"/>
                    <a:pt x="3418" y="15588"/>
                    <a:pt x="9503" y="9503"/>
                  </a:cubicBezTo>
                  <a:cubicBezTo>
                    <a:pt x="15588" y="3418"/>
                    <a:pt x="23840" y="0"/>
                    <a:pt x="32445" y="0"/>
                  </a:cubicBezTo>
                  <a:close/>
                </a:path>
              </a:pathLst>
            </a:custGeom>
            <a:solidFill>
              <a:srgbClr val="2A3066">
                <a:alpha val="55686"/>
              </a:srgbClr>
            </a:solidFill>
          </p:spPr>
        </p:sp>
        <p:sp>
          <p:nvSpPr>
            <p:cNvPr name="TextBox 4" id="4"/>
            <p:cNvSpPr txBox="true"/>
            <p:nvPr/>
          </p:nvSpPr>
          <p:spPr>
            <a:xfrm>
              <a:off x="0" y="-66675"/>
              <a:ext cx="2831022" cy="202880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5" id="5"/>
          <p:cNvSpPr/>
          <p:nvPr/>
        </p:nvSpPr>
        <p:spPr>
          <a:xfrm flipH="false" flipV="false" rot="0">
            <a:off x="1980488"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sp>
        <p:nvSpPr>
          <p:cNvPr name="AutoShape 6" id="6"/>
          <p:cNvSpPr/>
          <p:nvPr/>
        </p:nvSpPr>
        <p:spPr>
          <a:xfrm flipH="true">
            <a:off x="4963171" y="7132671"/>
            <a:ext cx="0" cy="517381"/>
          </a:xfrm>
          <a:prstGeom prst="line">
            <a:avLst/>
          </a:prstGeom>
          <a:ln cap="flat" w="47625">
            <a:solidFill>
              <a:srgbClr val="FFFFFF"/>
            </a:solidFill>
            <a:prstDash val="solid"/>
            <a:headEnd type="none" len="sm" w="sm"/>
            <a:tailEnd type="none" len="sm" w="sm"/>
          </a:ln>
        </p:spPr>
      </p:sp>
      <p:sp>
        <p:nvSpPr>
          <p:cNvPr name="Freeform 7" id="7"/>
          <p:cNvSpPr/>
          <p:nvPr/>
        </p:nvSpPr>
        <p:spPr>
          <a:xfrm flipH="false" flipV="false" rot="0">
            <a:off x="2411331" y="7650052"/>
            <a:ext cx="5103680" cy="1448169"/>
          </a:xfrm>
          <a:custGeom>
            <a:avLst/>
            <a:gdLst/>
            <a:ahLst/>
            <a:cxnLst/>
            <a:rect r="r" b="b" t="t" l="l"/>
            <a:pathLst>
              <a:path h="1448169" w="5103680">
                <a:moveTo>
                  <a:pt x="0" y="0"/>
                </a:moveTo>
                <a:lnTo>
                  <a:pt x="5103680" y="0"/>
                </a:lnTo>
                <a:lnTo>
                  <a:pt x="5103680" y="1448169"/>
                </a:lnTo>
                <a:lnTo>
                  <a:pt x="0" y="14481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flipV="true">
            <a:off x="14051990" y="3778254"/>
            <a:ext cx="15351" cy="830455"/>
          </a:xfrm>
          <a:prstGeom prst="line">
            <a:avLst/>
          </a:prstGeom>
          <a:ln cap="flat" w="47625">
            <a:solidFill>
              <a:srgbClr val="FFFFFF"/>
            </a:solidFill>
            <a:prstDash val="solid"/>
            <a:headEnd type="none" len="sm" w="sm"/>
            <a:tailEnd type="none" len="sm" w="sm"/>
          </a:ln>
        </p:spPr>
      </p:sp>
      <p:sp>
        <p:nvSpPr>
          <p:cNvPr name="Freeform 9" id="9"/>
          <p:cNvSpPr/>
          <p:nvPr/>
        </p:nvSpPr>
        <p:spPr>
          <a:xfrm flipH="false" flipV="false" rot="0">
            <a:off x="11361157" y="2242495"/>
            <a:ext cx="5412368" cy="1535759"/>
          </a:xfrm>
          <a:custGeom>
            <a:avLst/>
            <a:gdLst/>
            <a:ahLst/>
            <a:cxnLst/>
            <a:rect r="r" b="b" t="t" l="l"/>
            <a:pathLst>
              <a:path h="1535759" w="5412368">
                <a:moveTo>
                  <a:pt x="0" y="0"/>
                </a:moveTo>
                <a:lnTo>
                  <a:pt x="5412368" y="0"/>
                </a:lnTo>
                <a:lnTo>
                  <a:pt x="5412368" y="1535759"/>
                </a:lnTo>
                <a:lnTo>
                  <a:pt x="0" y="15357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271048" y="3159076"/>
            <a:ext cx="5384246" cy="3812702"/>
          </a:xfrm>
          <a:custGeom>
            <a:avLst/>
            <a:gdLst/>
            <a:ahLst/>
            <a:cxnLst/>
            <a:rect r="r" b="b" t="t" l="l"/>
            <a:pathLst>
              <a:path h="3812702" w="5384246">
                <a:moveTo>
                  <a:pt x="0" y="0"/>
                </a:moveTo>
                <a:lnTo>
                  <a:pt x="5384246" y="0"/>
                </a:lnTo>
                <a:lnTo>
                  <a:pt x="5384246" y="3812703"/>
                </a:lnTo>
                <a:lnTo>
                  <a:pt x="0" y="3812703"/>
                </a:lnTo>
                <a:lnTo>
                  <a:pt x="0" y="0"/>
                </a:lnTo>
                <a:close/>
              </a:path>
            </a:pathLst>
          </a:custGeom>
          <a:blipFill>
            <a:blip r:embed="rId6"/>
            <a:stretch>
              <a:fillRect l="0" t="0" r="0" b="0"/>
            </a:stretch>
          </a:blipFill>
        </p:spPr>
      </p:sp>
      <p:grpSp>
        <p:nvGrpSpPr>
          <p:cNvPr name="Group 11" id="11"/>
          <p:cNvGrpSpPr/>
          <p:nvPr/>
        </p:nvGrpSpPr>
        <p:grpSpPr>
          <a:xfrm rot="0">
            <a:off x="11069307" y="4608710"/>
            <a:ext cx="5965365" cy="4134487"/>
            <a:chOff x="0" y="0"/>
            <a:chExt cx="2831022" cy="1962130"/>
          </a:xfrm>
        </p:grpSpPr>
        <p:sp>
          <p:nvSpPr>
            <p:cNvPr name="Freeform 12" id="12"/>
            <p:cNvSpPr/>
            <p:nvPr/>
          </p:nvSpPr>
          <p:spPr>
            <a:xfrm flipH="false" flipV="false" rot="0">
              <a:off x="0" y="0"/>
              <a:ext cx="2831022" cy="1962130"/>
            </a:xfrm>
            <a:custGeom>
              <a:avLst/>
              <a:gdLst/>
              <a:ahLst/>
              <a:cxnLst/>
              <a:rect r="r" b="b" t="t" l="l"/>
              <a:pathLst>
                <a:path h="1962130" w="2831022">
                  <a:moveTo>
                    <a:pt x="32445" y="0"/>
                  </a:moveTo>
                  <a:lnTo>
                    <a:pt x="2798576" y="0"/>
                  </a:lnTo>
                  <a:cubicBezTo>
                    <a:pt x="2807182" y="0"/>
                    <a:pt x="2815434" y="3418"/>
                    <a:pt x="2821519" y="9503"/>
                  </a:cubicBezTo>
                  <a:cubicBezTo>
                    <a:pt x="2827603" y="15588"/>
                    <a:pt x="2831022" y="23840"/>
                    <a:pt x="2831022" y="32445"/>
                  </a:cubicBezTo>
                  <a:lnTo>
                    <a:pt x="2831022" y="1929685"/>
                  </a:lnTo>
                  <a:cubicBezTo>
                    <a:pt x="2831022" y="1947604"/>
                    <a:pt x="2816496" y="1962130"/>
                    <a:pt x="2798576" y="1962130"/>
                  </a:cubicBezTo>
                  <a:lnTo>
                    <a:pt x="32445" y="1962130"/>
                  </a:lnTo>
                  <a:cubicBezTo>
                    <a:pt x="23840" y="1962130"/>
                    <a:pt x="15588" y="1958712"/>
                    <a:pt x="9503" y="1952627"/>
                  </a:cubicBezTo>
                  <a:cubicBezTo>
                    <a:pt x="3418" y="1946543"/>
                    <a:pt x="0" y="1938290"/>
                    <a:pt x="0" y="1929685"/>
                  </a:cubicBezTo>
                  <a:lnTo>
                    <a:pt x="0" y="32445"/>
                  </a:lnTo>
                  <a:cubicBezTo>
                    <a:pt x="0" y="23840"/>
                    <a:pt x="3418" y="15588"/>
                    <a:pt x="9503" y="9503"/>
                  </a:cubicBezTo>
                  <a:cubicBezTo>
                    <a:pt x="15588" y="3418"/>
                    <a:pt x="23840" y="0"/>
                    <a:pt x="32445" y="0"/>
                  </a:cubicBezTo>
                  <a:close/>
                </a:path>
              </a:pathLst>
            </a:custGeom>
            <a:solidFill>
              <a:srgbClr val="2A3066">
                <a:alpha val="55686"/>
              </a:srgbClr>
            </a:solidFill>
          </p:spPr>
        </p:sp>
        <p:sp>
          <p:nvSpPr>
            <p:cNvPr name="TextBox 13" id="13"/>
            <p:cNvSpPr txBox="true"/>
            <p:nvPr/>
          </p:nvSpPr>
          <p:spPr>
            <a:xfrm>
              <a:off x="0" y="-66675"/>
              <a:ext cx="2831022" cy="202880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14" id="14"/>
          <p:cNvSpPr/>
          <p:nvPr/>
        </p:nvSpPr>
        <p:spPr>
          <a:xfrm flipH="false" flipV="false" rot="0">
            <a:off x="11199541" y="4911153"/>
            <a:ext cx="5735600" cy="3529600"/>
          </a:xfrm>
          <a:custGeom>
            <a:avLst/>
            <a:gdLst/>
            <a:ahLst/>
            <a:cxnLst/>
            <a:rect r="r" b="b" t="t" l="l"/>
            <a:pathLst>
              <a:path h="3529600" w="5735600">
                <a:moveTo>
                  <a:pt x="0" y="0"/>
                </a:moveTo>
                <a:lnTo>
                  <a:pt x="5735600" y="0"/>
                </a:lnTo>
                <a:lnTo>
                  <a:pt x="5735600" y="3529600"/>
                </a:lnTo>
                <a:lnTo>
                  <a:pt x="0" y="3529600"/>
                </a:lnTo>
                <a:lnTo>
                  <a:pt x="0" y="0"/>
                </a:lnTo>
                <a:close/>
              </a:path>
            </a:pathLst>
          </a:custGeom>
          <a:blipFill>
            <a:blip r:embed="rId7"/>
            <a:stretch>
              <a:fillRect l="0" t="0" r="0" b="0"/>
            </a:stretch>
          </a:blipFill>
        </p:spPr>
      </p:sp>
      <p:sp>
        <p:nvSpPr>
          <p:cNvPr name="TextBox 15" id="15"/>
          <p:cNvSpPr txBox="true"/>
          <p:nvPr/>
        </p:nvSpPr>
        <p:spPr>
          <a:xfrm rot="0">
            <a:off x="2435607"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Visualisations and Insights from Power BI</a:t>
            </a:r>
          </a:p>
        </p:txBody>
      </p:sp>
      <p:sp>
        <p:nvSpPr>
          <p:cNvPr name="TextBox 16" id="16"/>
          <p:cNvSpPr txBox="true"/>
          <p:nvPr/>
        </p:nvSpPr>
        <p:spPr>
          <a:xfrm rot="0">
            <a:off x="2435607"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Asus TUF Laptop</a:t>
            </a:r>
          </a:p>
        </p:txBody>
      </p:sp>
      <p:sp>
        <p:nvSpPr>
          <p:cNvPr name="TextBox 17" id="17"/>
          <p:cNvSpPr txBox="true"/>
          <p:nvPr/>
        </p:nvSpPr>
        <p:spPr>
          <a:xfrm rot="0">
            <a:off x="2993284" y="7939069"/>
            <a:ext cx="3939773" cy="879660"/>
          </a:xfrm>
          <a:prstGeom prst="rect">
            <a:avLst/>
          </a:prstGeom>
        </p:spPr>
        <p:txBody>
          <a:bodyPr anchor="t" rtlCol="false" tIns="0" lIns="0" bIns="0" rIns="0">
            <a:spAutoFit/>
          </a:bodyPr>
          <a:lstStyle/>
          <a:p>
            <a:pPr algn="ctr">
              <a:lnSpc>
                <a:spcPts val="2263"/>
              </a:lnSpc>
              <a:spcBef>
                <a:spcPct val="0"/>
              </a:spcBef>
            </a:pPr>
            <a:r>
              <a:rPr lang="en-US" sz="2095">
                <a:solidFill>
                  <a:srgbClr val="FFFFFF"/>
                </a:solidFill>
                <a:latin typeface="Poppins"/>
                <a:ea typeface="Poppins"/>
                <a:cs typeface="Poppins"/>
                <a:sym typeface="Poppins"/>
              </a:rPr>
              <a:t>This line chart displ</a:t>
            </a:r>
            <a:r>
              <a:rPr lang="en-US" sz="2095">
                <a:solidFill>
                  <a:srgbClr val="FFFFFF"/>
                </a:solidFill>
                <a:latin typeface="Poppins"/>
                <a:ea typeface="Poppins"/>
                <a:cs typeface="Poppins"/>
                <a:sym typeface="Poppins"/>
              </a:rPr>
              <a:t>ays t</a:t>
            </a:r>
            <a:r>
              <a:rPr lang="en-US" sz="2095">
                <a:solidFill>
                  <a:srgbClr val="FFFFFF"/>
                </a:solidFill>
                <a:latin typeface="Poppins"/>
                <a:ea typeface="Poppins"/>
                <a:cs typeface="Poppins"/>
                <a:sym typeface="Poppins"/>
              </a:rPr>
              <a:t>he</a:t>
            </a:r>
            <a:r>
              <a:rPr lang="en-US" sz="2095">
                <a:solidFill>
                  <a:srgbClr val="FFFFFF"/>
                </a:solidFill>
                <a:latin typeface="Poppins"/>
                <a:ea typeface="Poppins"/>
                <a:cs typeface="Poppins"/>
                <a:sym typeface="Poppins"/>
              </a:rPr>
              <a:t> a</a:t>
            </a:r>
            <a:r>
              <a:rPr lang="en-US" sz="2095">
                <a:solidFill>
                  <a:srgbClr val="FFFFFF"/>
                </a:solidFill>
                <a:latin typeface="Poppins"/>
                <a:ea typeface="Poppins"/>
                <a:cs typeface="Poppins"/>
                <a:sym typeface="Poppins"/>
              </a:rPr>
              <a:t>v</a:t>
            </a:r>
            <a:r>
              <a:rPr lang="en-US" sz="2095">
                <a:solidFill>
                  <a:srgbClr val="FFFFFF"/>
                </a:solidFill>
                <a:latin typeface="Poppins"/>
                <a:ea typeface="Poppins"/>
                <a:cs typeface="Poppins"/>
                <a:sym typeface="Poppins"/>
              </a:rPr>
              <a:t>er</a:t>
            </a:r>
            <a:r>
              <a:rPr lang="en-US" sz="2095">
                <a:solidFill>
                  <a:srgbClr val="FFFFFF"/>
                </a:solidFill>
                <a:latin typeface="Poppins"/>
                <a:ea typeface="Poppins"/>
                <a:cs typeface="Poppins"/>
                <a:sym typeface="Poppins"/>
              </a:rPr>
              <a:t>ag</a:t>
            </a:r>
            <a:r>
              <a:rPr lang="en-US" sz="2095">
                <a:solidFill>
                  <a:srgbClr val="FFFFFF"/>
                </a:solidFill>
                <a:latin typeface="Poppins"/>
                <a:ea typeface="Poppins"/>
                <a:cs typeface="Poppins"/>
                <a:sym typeface="Poppins"/>
              </a:rPr>
              <a:t>e </a:t>
            </a:r>
            <a:r>
              <a:rPr lang="en-US" sz="2095">
                <a:solidFill>
                  <a:srgbClr val="FFFFFF"/>
                </a:solidFill>
                <a:latin typeface="Poppins"/>
                <a:ea typeface="Poppins"/>
                <a:cs typeface="Poppins"/>
                <a:sym typeface="Poppins"/>
              </a:rPr>
              <a:t>new</a:t>
            </a:r>
            <a:r>
              <a:rPr lang="en-US" sz="2095">
                <a:solidFill>
                  <a:srgbClr val="FFFFFF"/>
                </a:solidFill>
                <a:latin typeface="Poppins"/>
                <a:ea typeface="Poppins"/>
                <a:cs typeface="Poppins"/>
                <a:sym typeface="Poppins"/>
              </a:rPr>
              <a:t> price o</a:t>
            </a:r>
            <a:r>
              <a:rPr lang="en-US" sz="2095">
                <a:solidFill>
                  <a:srgbClr val="FFFFFF"/>
                </a:solidFill>
                <a:latin typeface="Poppins"/>
                <a:ea typeface="Poppins"/>
                <a:cs typeface="Poppins"/>
                <a:sym typeface="Poppins"/>
              </a:rPr>
              <a:t>f</a:t>
            </a:r>
            <a:r>
              <a:rPr lang="en-US" sz="2095">
                <a:solidFill>
                  <a:srgbClr val="FFFFFF"/>
                </a:solidFill>
                <a:latin typeface="Poppins"/>
                <a:ea typeface="Poppins"/>
                <a:cs typeface="Poppins"/>
                <a:sym typeface="Poppins"/>
              </a:rPr>
              <a:t> the TUF </a:t>
            </a:r>
            <a:r>
              <a:rPr lang="en-US" sz="2095">
                <a:solidFill>
                  <a:srgbClr val="FFFFFF"/>
                </a:solidFill>
                <a:latin typeface="Poppins"/>
                <a:ea typeface="Poppins"/>
                <a:cs typeface="Poppins"/>
                <a:sym typeface="Poppins"/>
              </a:rPr>
              <a:t>laptop by month.</a:t>
            </a:r>
          </a:p>
        </p:txBody>
      </p:sp>
      <p:sp>
        <p:nvSpPr>
          <p:cNvPr name="TextBox 18" id="18"/>
          <p:cNvSpPr txBox="true"/>
          <p:nvPr/>
        </p:nvSpPr>
        <p:spPr>
          <a:xfrm rot="0">
            <a:off x="11566515" y="2399717"/>
            <a:ext cx="5001653" cy="1221315"/>
          </a:xfrm>
          <a:prstGeom prst="rect">
            <a:avLst/>
          </a:prstGeom>
        </p:spPr>
        <p:txBody>
          <a:bodyPr anchor="t" rtlCol="false" tIns="0" lIns="0" bIns="0" rIns="0">
            <a:spAutoFit/>
          </a:bodyPr>
          <a:lstStyle/>
          <a:p>
            <a:pPr algn="ctr">
              <a:lnSpc>
                <a:spcPts val="1913"/>
              </a:lnSpc>
              <a:spcBef>
                <a:spcPct val="0"/>
              </a:spcBef>
            </a:pPr>
            <a:r>
              <a:rPr lang="en-US" sz="1771">
                <a:solidFill>
                  <a:srgbClr val="FFFFFF"/>
                </a:solidFill>
                <a:latin typeface="Poppins"/>
                <a:ea typeface="Poppins"/>
                <a:cs typeface="Poppins"/>
                <a:sym typeface="Poppins"/>
              </a:rPr>
              <a:t>This c</a:t>
            </a:r>
            <a:r>
              <a:rPr lang="en-US" sz="1771">
                <a:solidFill>
                  <a:srgbClr val="FFFFFF"/>
                </a:solidFill>
                <a:latin typeface="Poppins"/>
                <a:ea typeface="Poppins"/>
                <a:cs typeface="Poppins"/>
                <a:sym typeface="Poppins"/>
              </a:rPr>
              <a:t>hart shows t</a:t>
            </a:r>
            <a:r>
              <a:rPr lang="en-US" sz="1771">
                <a:solidFill>
                  <a:srgbClr val="FFFFFF"/>
                </a:solidFill>
                <a:latin typeface="Poppins"/>
                <a:ea typeface="Poppins"/>
                <a:cs typeface="Poppins"/>
                <a:sym typeface="Poppins"/>
              </a:rPr>
              <a:t>he</a:t>
            </a:r>
            <a:r>
              <a:rPr lang="en-US" sz="1771">
                <a:solidFill>
                  <a:srgbClr val="FFFFFF"/>
                </a:solidFill>
                <a:latin typeface="Poppins"/>
                <a:ea typeface="Poppins"/>
                <a:cs typeface="Poppins"/>
                <a:sym typeface="Poppins"/>
              </a:rPr>
              <a:t> a</a:t>
            </a:r>
            <a:r>
              <a:rPr lang="en-US" sz="1771">
                <a:solidFill>
                  <a:srgbClr val="FFFFFF"/>
                </a:solidFill>
                <a:latin typeface="Poppins"/>
                <a:ea typeface="Poppins"/>
                <a:cs typeface="Poppins"/>
                <a:sym typeface="Poppins"/>
              </a:rPr>
              <a:t>v</a:t>
            </a:r>
            <a:r>
              <a:rPr lang="en-US" sz="1771">
                <a:solidFill>
                  <a:srgbClr val="FFFFFF"/>
                </a:solidFill>
                <a:latin typeface="Poppins"/>
                <a:ea typeface="Poppins"/>
                <a:cs typeface="Poppins"/>
                <a:sym typeface="Poppins"/>
              </a:rPr>
              <a:t>er</a:t>
            </a:r>
            <a:r>
              <a:rPr lang="en-US" sz="1771">
                <a:solidFill>
                  <a:srgbClr val="FFFFFF"/>
                </a:solidFill>
                <a:latin typeface="Poppins"/>
                <a:ea typeface="Poppins"/>
                <a:cs typeface="Poppins"/>
                <a:sym typeface="Poppins"/>
              </a:rPr>
              <a:t>ag</a:t>
            </a:r>
            <a:r>
              <a:rPr lang="en-US" sz="1771">
                <a:solidFill>
                  <a:srgbClr val="FFFFFF"/>
                </a:solidFill>
                <a:latin typeface="Poppins"/>
                <a:ea typeface="Poppins"/>
                <a:cs typeface="Poppins"/>
                <a:sym typeface="Poppins"/>
              </a:rPr>
              <a:t>e price difference for the TUF laptop by </a:t>
            </a:r>
            <a:r>
              <a:rPr lang="en-US" sz="1771">
                <a:solidFill>
                  <a:srgbClr val="FFFFFF"/>
                </a:solidFill>
                <a:latin typeface="Poppins"/>
                <a:ea typeface="Poppins"/>
                <a:cs typeface="Poppins"/>
                <a:sym typeface="Poppins"/>
              </a:rPr>
              <a:t>m</a:t>
            </a:r>
            <a:r>
              <a:rPr lang="en-US" sz="1771">
                <a:solidFill>
                  <a:srgbClr val="FFFFFF"/>
                </a:solidFill>
                <a:latin typeface="Poppins"/>
                <a:ea typeface="Poppins"/>
                <a:cs typeface="Poppins"/>
                <a:sym typeface="Poppins"/>
              </a:rPr>
              <a:t>onth. Th</a:t>
            </a:r>
            <a:r>
              <a:rPr lang="en-US" sz="1771">
                <a:solidFill>
                  <a:srgbClr val="FFFFFF"/>
                </a:solidFill>
                <a:latin typeface="Poppins"/>
                <a:ea typeface="Poppins"/>
                <a:cs typeface="Poppins"/>
                <a:sym typeface="Poppins"/>
              </a:rPr>
              <a:t>e values are mostly negative, meaning the new price was consistently lower than the list price.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1980488" y="2998184"/>
            <a:ext cx="5965365" cy="4134487"/>
            <a:chOff x="0" y="0"/>
            <a:chExt cx="2831022" cy="1962130"/>
          </a:xfrm>
        </p:grpSpPr>
        <p:sp>
          <p:nvSpPr>
            <p:cNvPr name="Freeform 3" id="3"/>
            <p:cNvSpPr/>
            <p:nvPr/>
          </p:nvSpPr>
          <p:spPr>
            <a:xfrm flipH="false" flipV="false" rot="0">
              <a:off x="0" y="0"/>
              <a:ext cx="2831022" cy="1962130"/>
            </a:xfrm>
            <a:custGeom>
              <a:avLst/>
              <a:gdLst/>
              <a:ahLst/>
              <a:cxnLst/>
              <a:rect r="r" b="b" t="t" l="l"/>
              <a:pathLst>
                <a:path h="1962130" w="2831022">
                  <a:moveTo>
                    <a:pt x="32445" y="0"/>
                  </a:moveTo>
                  <a:lnTo>
                    <a:pt x="2798576" y="0"/>
                  </a:lnTo>
                  <a:cubicBezTo>
                    <a:pt x="2807182" y="0"/>
                    <a:pt x="2815434" y="3418"/>
                    <a:pt x="2821519" y="9503"/>
                  </a:cubicBezTo>
                  <a:cubicBezTo>
                    <a:pt x="2827603" y="15588"/>
                    <a:pt x="2831022" y="23840"/>
                    <a:pt x="2831022" y="32445"/>
                  </a:cubicBezTo>
                  <a:lnTo>
                    <a:pt x="2831022" y="1929685"/>
                  </a:lnTo>
                  <a:cubicBezTo>
                    <a:pt x="2831022" y="1947604"/>
                    <a:pt x="2816496" y="1962130"/>
                    <a:pt x="2798576" y="1962130"/>
                  </a:cubicBezTo>
                  <a:lnTo>
                    <a:pt x="32445" y="1962130"/>
                  </a:lnTo>
                  <a:cubicBezTo>
                    <a:pt x="23840" y="1962130"/>
                    <a:pt x="15588" y="1958712"/>
                    <a:pt x="9503" y="1952627"/>
                  </a:cubicBezTo>
                  <a:cubicBezTo>
                    <a:pt x="3418" y="1946543"/>
                    <a:pt x="0" y="1938290"/>
                    <a:pt x="0" y="1929685"/>
                  </a:cubicBezTo>
                  <a:lnTo>
                    <a:pt x="0" y="32445"/>
                  </a:lnTo>
                  <a:cubicBezTo>
                    <a:pt x="0" y="23840"/>
                    <a:pt x="3418" y="15588"/>
                    <a:pt x="9503" y="9503"/>
                  </a:cubicBezTo>
                  <a:cubicBezTo>
                    <a:pt x="15588" y="3418"/>
                    <a:pt x="23840" y="0"/>
                    <a:pt x="32445" y="0"/>
                  </a:cubicBezTo>
                  <a:close/>
                </a:path>
              </a:pathLst>
            </a:custGeom>
            <a:solidFill>
              <a:srgbClr val="2A3066">
                <a:alpha val="55686"/>
              </a:srgbClr>
            </a:solidFill>
          </p:spPr>
        </p:sp>
        <p:sp>
          <p:nvSpPr>
            <p:cNvPr name="TextBox 4" id="4"/>
            <p:cNvSpPr txBox="true"/>
            <p:nvPr/>
          </p:nvSpPr>
          <p:spPr>
            <a:xfrm>
              <a:off x="0" y="-66675"/>
              <a:ext cx="2831022" cy="202880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5" id="5"/>
          <p:cNvSpPr/>
          <p:nvPr/>
        </p:nvSpPr>
        <p:spPr>
          <a:xfrm flipH="false" flipV="false" rot="0">
            <a:off x="1980488"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sp>
        <p:nvSpPr>
          <p:cNvPr name="AutoShape 6" id="6"/>
          <p:cNvSpPr/>
          <p:nvPr/>
        </p:nvSpPr>
        <p:spPr>
          <a:xfrm flipH="true">
            <a:off x="4963171" y="7132671"/>
            <a:ext cx="0" cy="517381"/>
          </a:xfrm>
          <a:prstGeom prst="line">
            <a:avLst/>
          </a:prstGeom>
          <a:ln cap="flat" w="47625">
            <a:solidFill>
              <a:srgbClr val="FFFFFF"/>
            </a:solidFill>
            <a:prstDash val="solid"/>
            <a:headEnd type="none" len="sm" w="sm"/>
            <a:tailEnd type="none" len="sm" w="sm"/>
          </a:ln>
        </p:spPr>
      </p:sp>
      <p:sp>
        <p:nvSpPr>
          <p:cNvPr name="Freeform 7" id="7"/>
          <p:cNvSpPr/>
          <p:nvPr/>
        </p:nvSpPr>
        <p:spPr>
          <a:xfrm flipH="false" flipV="false" rot="0">
            <a:off x="2411331" y="7650052"/>
            <a:ext cx="5103680" cy="1448169"/>
          </a:xfrm>
          <a:custGeom>
            <a:avLst/>
            <a:gdLst/>
            <a:ahLst/>
            <a:cxnLst/>
            <a:rect r="r" b="b" t="t" l="l"/>
            <a:pathLst>
              <a:path h="1448169" w="5103680">
                <a:moveTo>
                  <a:pt x="0" y="0"/>
                </a:moveTo>
                <a:lnTo>
                  <a:pt x="5103680" y="0"/>
                </a:lnTo>
                <a:lnTo>
                  <a:pt x="5103680" y="1448169"/>
                </a:lnTo>
                <a:lnTo>
                  <a:pt x="0" y="14481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flipV="true">
            <a:off x="14051990" y="3778254"/>
            <a:ext cx="15351" cy="830455"/>
          </a:xfrm>
          <a:prstGeom prst="line">
            <a:avLst/>
          </a:prstGeom>
          <a:ln cap="flat" w="47625">
            <a:solidFill>
              <a:srgbClr val="FFFFFF"/>
            </a:solidFill>
            <a:prstDash val="solid"/>
            <a:headEnd type="none" len="sm" w="sm"/>
            <a:tailEnd type="none" len="sm" w="sm"/>
          </a:ln>
        </p:spPr>
      </p:sp>
      <p:sp>
        <p:nvSpPr>
          <p:cNvPr name="Freeform 9" id="9"/>
          <p:cNvSpPr/>
          <p:nvPr/>
        </p:nvSpPr>
        <p:spPr>
          <a:xfrm flipH="false" flipV="false" rot="0">
            <a:off x="11361157" y="2242495"/>
            <a:ext cx="5412368" cy="1535759"/>
          </a:xfrm>
          <a:custGeom>
            <a:avLst/>
            <a:gdLst/>
            <a:ahLst/>
            <a:cxnLst/>
            <a:rect r="r" b="b" t="t" l="l"/>
            <a:pathLst>
              <a:path h="1535759" w="5412368">
                <a:moveTo>
                  <a:pt x="0" y="0"/>
                </a:moveTo>
                <a:lnTo>
                  <a:pt x="5412368" y="0"/>
                </a:lnTo>
                <a:lnTo>
                  <a:pt x="5412368" y="1535759"/>
                </a:lnTo>
                <a:lnTo>
                  <a:pt x="0" y="15357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1069307" y="4608710"/>
            <a:ext cx="5965365" cy="4134487"/>
            <a:chOff x="0" y="0"/>
            <a:chExt cx="2831022" cy="1962130"/>
          </a:xfrm>
        </p:grpSpPr>
        <p:sp>
          <p:nvSpPr>
            <p:cNvPr name="Freeform 11" id="11"/>
            <p:cNvSpPr/>
            <p:nvPr/>
          </p:nvSpPr>
          <p:spPr>
            <a:xfrm flipH="false" flipV="false" rot="0">
              <a:off x="0" y="0"/>
              <a:ext cx="2831022" cy="1962130"/>
            </a:xfrm>
            <a:custGeom>
              <a:avLst/>
              <a:gdLst/>
              <a:ahLst/>
              <a:cxnLst/>
              <a:rect r="r" b="b" t="t" l="l"/>
              <a:pathLst>
                <a:path h="1962130" w="2831022">
                  <a:moveTo>
                    <a:pt x="32445" y="0"/>
                  </a:moveTo>
                  <a:lnTo>
                    <a:pt x="2798576" y="0"/>
                  </a:lnTo>
                  <a:cubicBezTo>
                    <a:pt x="2807182" y="0"/>
                    <a:pt x="2815434" y="3418"/>
                    <a:pt x="2821519" y="9503"/>
                  </a:cubicBezTo>
                  <a:cubicBezTo>
                    <a:pt x="2827603" y="15588"/>
                    <a:pt x="2831022" y="23840"/>
                    <a:pt x="2831022" y="32445"/>
                  </a:cubicBezTo>
                  <a:lnTo>
                    <a:pt x="2831022" y="1929685"/>
                  </a:lnTo>
                  <a:cubicBezTo>
                    <a:pt x="2831022" y="1947604"/>
                    <a:pt x="2816496" y="1962130"/>
                    <a:pt x="2798576" y="1962130"/>
                  </a:cubicBezTo>
                  <a:lnTo>
                    <a:pt x="32445" y="1962130"/>
                  </a:lnTo>
                  <a:cubicBezTo>
                    <a:pt x="23840" y="1962130"/>
                    <a:pt x="15588" y="1958712"/>
                    <a:pt x="9503" y="1952627"/>
                  </a:cubicBezTo>
                  <a:cubicBezTo>
                    <a:pt x="3418" y="1946543"/>
                    <a:pt x="0" y="1938290"/>
                    <a:pt x="0" y="1929685"/>
                  </a:cubicBezTo>
                  <a:lnTo>
                    <a:pt x="0" y="32445"/>
                  </a:lnTo>
                  <a:cubicBezTo>
                    <a:pt x="0" y="23840"/>
                    <a:pt x="3418" y="15588"/>
                    <a:pt x="9503" y="9503"/>
                  </a:cubicBezTo>
                  <a:cubicBezTo>
                    <a:pt x="15588" y="3418"/>
                    <a:pt x="23840" y="0"/>
                    <a:pt x="32445" y="0"/>
                  </a:cubicBezTo>
                  <a:close/>
                </a:path>
              </a:pathLst>
            </a:custGeom>
            <a:solidFill>
              <a:srgbClr val="2A3066">
                <a:alpha val="55686"/>
              </a:srgbClr>
            </a:solidFill>
          </p:spPr>
        </p:sp>
        <p:sp>
          <p:nvSpPr>
            <p:cNvPr name="TextBox 12" id="12"/>
            <p:cNvSpPr txBox="true"/>
            <p:nvPr/>
          </p:nvSpPr>
          <p:spPr>
            <a:xfrm>
              <a:off x="0" y="-66675"/>
              <a:ext cx="2831022" cy="202880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13" id="13"/>
          <p:cNvSpPr/>
          <p:nvPr/>
        </p:nvSpPr>
        <p:spPr>
          <a:xfrm flipH="false" flipV="false" rot="0">
            <a:off x="2133602" y="3310696"/>
            <a:ext cx="5659138" cy="3570358"/>
          </a:xfrm>
          <a:custGeom>
            <a:avLst/>
            <a:gdLst/>
            <a:ahLst/>
            <a:cxnLst/>
            <a:rect r="r" b="b" t="t" l="l"/>
            <a:pathLst>
              <a:path h="3570358" w="5659138">
                <a:moveTo>
                  <a:pt x="0" y="0"/>
                </a:moveTo>
                <a:lnTo>
                  <a:pt x="5659138" y="0"/>
                </a:lnTo>
                <a:lnTo>
                  <a:pt x="5659138" y="3570358"/>
                </a:lnTo>
                <a:lnTo>
                  <a:pt x="0" y="3570358"/>
                </a:lnTo>
                <a:lnTo>
                  <a:pt x="0" y="0"/>
                </a:lnTo>
                <a:close/>
              </a:path>
            </a:pathLst>
          </a:custGeom>
          <a:blipFill>
            <a:blip r:embed="rId6"/>
            <a:stretch>
              <a:fillRect l="0" t="0" r="0" b="0"/>
            </a:stretch>
          </a:blipFill>
        </p:spPr>
      </p:sp>
      <p:sp>
        <p:nvSpPr>
          <p:cNvPr name="Freeform 14" id="14"/>
          <p:cNvSpPr/>
          <p:nvPr/>
        </p:nvSpPr>
        <p:spPr>
          <a:xfrm flipH="false" flipV="false" rot="0">
            <a:off x="11288195" y="4780283"/>
            <a:ext cx="5558293" cy="3791341"/>
          </a:xfrm>
          <a:custGeom>
            <a:avLst/>
            <a:gdLst/>
            <a:ahLst/>
            <a:cxnLst/>
            <a:rect r="r" b="b" t="t" l="l"/>
            <a:pathLst>
              <a:path h="3791341" w="5558293">
                <a:moveTo>
                  <a:pt x="0" y="0"/>
                </a:moveTo>
                <a:lnTo>
                  <a:pt x="5558292" y="0"/>
                </a:lnTo>
                <a:lnTo>
                  <a:pt x="5558292" y="3791341"/>
                </a:lnTo>
                <a:lnTo>
                  <a:pt x="0" y="3791341"/>
                </a:lnTo>
                <a:lnTo>
                  <a:pt x="0" y="0"/>
                </a:lnTo>
                <a:close/>
              </a:path>
            </a:pathLst>
          </a:custGeom>
          <a:blipFill>
            <a:blip r:embed="rId7"/>
            <a:stretch>
              <a:fillRect l="0" t="0" r="0" b="0"/>
            </a:stretch>
          </a:blipFill>
        </p:spPr>
      </p:sp>
      <p:sp>
        <p:nvSpPr>
          <p:cNvPr name="TextBox 15" id="15"/>
          <p:cNvSpPr txBox="true"/>
          <p:nvPr/>
        </p:nvSpPr>
        <p:spPr>
          <a:xfrm rot="0">
            <a:off x="2435607"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Visualisations and Insights from Power BI</a:t>
            </a:r>
          </a:p>
        </p:txBody>
      </p:sp>
      <p:sp>
        <p:nvSpPr>
          <p:cNvPr name="TextBox 16" id="16"/>
          <p:cNvSpPr txBox="true"/>
          <p:nvPr/>
        </p:nvSpPr>
        <p:spPr>
          <a:xfrm rot="0">
            <a:off x="2435607"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Asus TUF Laptop</a:t>
            </a:r>
          </a:p>
        </p:txBody>
      </p:sp>
      <p:sp>
        <p:nvSpPr>
          <p:cNvPr name="TextBox 17" id="17"/>
          <p:cNvSpPr txBox="true"/>
          <p:nvPr/>
        </p:nvSpPr>
        <p:spPr>
          <a:xfrm rot="0">
            <a:off x="2596004" y="8029825"/>
            <a:ext cx="4734334" cy="713372"/>
          </a:xfrm>
          <a:prstGeom prst="rect">
            <a:avLst/>
          </a:prstGeom>
        </p:spPr>
        <p:txBody>
          <a:bodyPr anchor="t" rtlCol="false" tIns="0" lIns="0" bIns="0" rIns="0">
            <a:spAutoFit/>
          </a:bodyPr>
          <a:lstStyle/>
          <a:p>
            <a:pPr algn="ctr">
              <a:lnSpc>
                <a:spcPts val="1811"/>
              </a:lnSpc>
              <a:spcBef>
                <a:spcPct val="0"/>
              </a:spcBef>
            </a:pPr>
            <a:r>
              <a:rPr lang="en-US" sz="1676">
                <a:solidFill>
                  <a:srgbClr val="FFFFFF"/>
                </a:solidFill>
                <a:latin typeface="Poppins"/>
                <a:ea typeface="Poppins"/>
                <a:cs typeface="Poppins"/>
                <a:sym typeface="Poppins"/>
              </a:rPr>
              <a:t>This line chart s</a:t>
            </a:r>
            <a:r>
              <a:rPr lang="en-US" sz="1676">
                <a:solidFill>
                  <a:srgbClr val="FFFFFF"/>
                </a:solidFill>
                <a:latin typeface="Poppins"/>
                <a:ea typeface="Poppins"/>
                <a:cs typeface="Poppins"/>
                <a:sym typeface="Poppins"/>
              </a:rPr>
              <a:t>hows t</a:t>
            </a:r>
            <a:r>
              <a:rPr lang="en-US" sz="1676">
                <a:solidFill>
                  <a:srgbClr val="FFFFFF"/>
                </a:solidFill>
                <a:latin typeface="Poppins"/>
                <a:ea typeface="Poppins"/>
                <a:cs typeface="Poppins"/>
                <a:sym typeface="Poppins"/>
              </a:rPr>
              <a:t>he</a:t>
            </a:r>
            <a:r>
              <a:rPr lang="en-US" sz="1676">
                <a:solidFill>
                  <a:srgbClr val="FFFFFF"/>
                </a:solidFill>
                <a:latin typeface="Poppins"/>
                <a:ea typeface="Poppins"/>
                <a:cs typeface="Poppins"/>
                <a:sym typeface="Poppins"/>
              </a:rPr>
              <a:t> a</a:t>
            </a:r>
            <a:r>
              <a:rPr lang="en-US" sz="1676">
                <a:solidFill>
                  <a:srgbClr val="FFFFFF"/>
                </a:solidFill>
                <a:latin typeface="Poppins"/>
                <a:ea typeface="Poppins"/>
                <a:cs typeface="Poppins"/>
                <a:sym typeface="Poppins"/>
              </a:rPr>
              <a:t>v</a:t>
            </a:r>
            <a:r>
              <a:rPr lang="en-US" sz="1676">
                <a:solidFill>
                  <a:srgbClr val="FFFFFF"/>
                </a:solidFill>
                <a:latin typeface="Poppins"/>
                <a:ea typeface="Poppins"/>
                <a:cs typeface="Poppins"/>
                <a:sym typeface="Poppins"/>
              </a:rPr>
              <a:t>er</a:t>
            </a:r>
            <a:r>
              <a:rPr lang="en-US" sz="1676">
                <a:solidFill>
                  <a:srgbClr val="FFFFFF"/>
                </a:solidFill>
                <a:latin typeface="Poppins"/>
                <a:ea typeface="Poppins"/>
                <a:cs typeface="Poppins"/>
                <a:sym typeface="Poppins"/>
              </a:rPr>
              <a:t>ag</a:t>
            </a:r>
            <a:r>
              <a:rPr lang="en-US" sz="1676">
                <a:solidFill>
                  <a:srgbClr val="FFFFFF"/>
                </a:solidFill>
                <a:latin typeface="Poppins"/>
                <a:ea typeface="Poppins"/>
                <a:cs typeface="Poppins"/>
                <a:sym typeface="Poppins"/>
              </a:rPr>
              <a:t>e sal</a:t>
            </a:r>
            <a:r>
              <a:rPr lang="en-US" sz="1676">
                <a:solidFill>
                  <a:srgbClr val="FFFFFF"/>
                </a:solidFill>
                <a:latin typeface="Poppins"/>
                <a:ea typeface="Poppins"/>
                <a:cs typeface="Poppins"/>
                <a:sym typeface="Poppins"/>
              </a:rPr>
              <a:t>es</a:t>
            </a:r>
            <a:r>
              <a:rPr lang="en-US" sz="1676">
                <a:solidFill>
                  <a:srgbClr val="FFFFFF"/>
                </a:solidFill>
                <a:latin typeface="Poppins"/>
                <a:ea typeface="Poppins"/>
                <a:cs typeface="Poppins"/>
                <a:sym typeface="Poppins"/>
              </a:rPr>
              <a:t> rank o</a:t>
            </a:r>
            <a:r>
              <a:rPr lang="en-US" sz="1676">
                <a:solidFill>
                  <a:srgbClr val="FFFFFF"/>
                </a:solidFill>
                <a:latin typeface="Poppins"/>
                <a:ea typeface="Poppins"/>
                <a:cs typeface="Poppins"/>
                <a:sym typeface="Poppins"/>
              </a:rPr>
              <a:t>f</a:t>
            </a:r>
            <a:r>
              <a:rPr lang="en-US" sz="1676">
                <a:solidFill>
                  <a:srgbClr val="FFFFFF"/>
                </a:solidFill>
                <a:latin typeface="Poppins"/>
                <a:ea typeface="Poppins"/>
                <a:cs typeface="Poppins"/>
                <a:sym typeface="Poppins"/>
              </a:rPr>
              <a:t> the TUF </a:t>
            </a:r>
            <a:r>
              <a:rPr lang="en-US" sz="1676">
                <a:solidFill>
                  <a:srgbClr val="FFFFFF"/>
                </a:solidFill>
                <a:latin typeface="Poppins"/>
                <a:ea typeface="Poppins"/>
                <a:cs typeface="Poppins"/>
                <a:sym typeface="Poppins"/>
              </a:rPr>
              <a:t>laptop by month, where a higher rank indicates lower sales performance. </a:t>
            </a:r>
          </a:p>
        </p:txBody>
      </p:sp>
      <p:sp>
        <p:nvSpPr>
          <p:cNvPr name="TextBox 18" id="18"/>
          <p:cNvSpPr txBox="true"/>
          <p:nvPr/>
        </p:nvSpPr>
        <p:spPr>
          <a:xfrm rot="0">
            <a:off x="11551164" y="2519149"/>
            <a:ext cx="5001653" cy="982452"/>
          </a:xfrm>
          <a:prstGeom prst="rect">
            <a:avLst/>
          </a:prstGeom>
        </p:spPr>
        <p:txBody>
          <a:bodyPr anchor="t" rtlCol="false" tIns="0" lIns="0" bIns="0" rIns="0">
            <a:spAutoFit/>
          </a:bodyPr>
          <a:lstStyle/>
          <a:p>
            <a:pPr algn="ctr">
              <a:lnSpc>
                <a:spcPts val="1913"/>
              </a:lnSpc>
              <a:spcBef>
                <a:spcPct val="0"/>
              </a:spcBef>
            </a:pPr>
            <a:r>
              <a:rPr lang="en-US" sz="1771">
                <a:solidFill>
                  <a:srgbClr val="FFFFFF"/>
                </a:solidFill>
                <a:latin typeface="Poppins"/>
                <a:ea typeface="Poppins"/>
                <a:cs typeface="Poppins"/>
                <a:sym typeface="Poppins"/>
              </a:rPr>
              <a:t>This bar chart s</a:t>
            </a:r>
            <a:r>
              <a:rPr lang="en-US" sz="1771">
                <a:solidFill>
                  <a:srgbClr val="FFFFFF"/>
                </a:solidFill>
                <a:latin typeface="Poppins"/>
                <a:ea typeface="Poppins"/>
                <a:cs typeface="Poppins"/>
                <a:sym typeface="Poppins"/>
              </a:rPr>
              <a:t>hows t</a:t>
            </a:r>
            <a:r>
              <a:rPr lang="en-US" sz="1771">
                <a:solidFill>
                  <a:srgbClr val="FFFFFF"/>
                </a:solidFill>
                <a:latin typeface="Poppins"/>
                <a:ea typeface="Poppins"/>
                <a:cs typeface="Poppins"/>
                <a:sym typeface="Poppins"/>
              </a:rPr>
              <a:t>he</a:t>
            </a:r>
            <a:r>
              <a:rPr lang="en-US" sz="1771">
                <a:solidFill>
                  <a:srgbClr val="FFFFFF"/>
                </a:solidFill>
                <a:latin typeface="Poppins"/>
                <a:ea typeface="Poppins"/>
                <a:cs typeface="Poppins"/>
                <a:sym typeface="Poppins"/>
              </a:rPr>
              <a:t> a</a:t>
            </a:r>
            <a:r>
              <a:rPr lang="en-US" sz="1771">
                <a:solidFill>
                  <a:srgbClr val="FFFFFF"/>
                </a:solidFill>
                <a:latin typeface="Poppins"/>
                <a:ea typeface="Poppins"/>
                <a:cs typeface="Poppins"/>
                <a:sym typeface="Poppins"/>
              </a:rPr>
              <a:t>v</a:t>
            </a:r>
            <a:r>
              <a:rPr lang="en-US" sz="1771">
                <a:solidFill>
                  <a:srgbClr val="FFFFFF"/>
                </a:solidFill>
                <a:latin typeface="Poppins"/>
                <a:ea typeface="Poppins"/>
                <a:cs typeface="Poppins"/>
                <a:sym typeface="Poppins"/>
              </a:rPr>
              <a:t>er</a:t>
            </a:r>
            <a:r>
              <a:rPr lang="en-US" sz="1771">
                <a:solidFill>
                  <a:srgbClr val="FFFFFF"/>
                </a:solidFill>
                <a:latin typeface="Poppins"/>
                <a:ea typeface="Poppins"/>
                <a:cs typeface="Poppins"/>
                <a:sym typeface="Poppins"/>
              </a:rPr>
              <a:t>ag</a:t>
            </a:r>
            <a:r>
              <a:rPr lang="en-US" sz="1771">
                <a:solidFill>
                  <a:srgbClr val="FFFFFF"/>
                </a:solidFill>
                <a:latin typeface="Poppins"/>
                <a:ea typeface="Poppins"/>
                <a:cs typeface="Poppins"/>
                <a:sym typeface="Poppins"/>
              </a:rPr>
              <a:t>e Rank vs Pric</a:t>
            </a:r>
            <a:r>
              <a:rPr lang="en-US" sz="1771">
                <a:solidFill>
                  <a:srgbClr val="FFFFFF"/>
                </a:solidFill>
                <a:latin typeface="Poppins"/>
                <a:ea typeface="Poppins"/>
                <a:cs typeface="Poppins"/>
                <a:sym typeface="Poppins"/>
              </a:rPr>
              <a:t>e</a:t>
            </a:r>
            <a:r>
              <a:rPr lang="en-US" sz="1771">
                <a:solidFill>
                  <a:srgbClr val="FFFFFF"/>
                </a:solidFill>
                <a:latin typeface="Poppins"/>
                <a:ea typeface="Poppins"/>
                <a:cs typeface="Poppins"/>
                <a:sym typeface="Poppins"/>
              </a:rPr>
              <a:t> ratio </a:t>
            </a:r>
            <a:r>
              <a:rPr lang="en-US" sz="1771">
                <a:solidFill>
                  <a:srgbClr val="FFFFFF"/>
                </a:solidFill>
                <a:latin typeface="Poppins"/>
                <a:ea typeface="Poppins"/>
                <a:cs typeface="Poppins"/>
                <a:sym typeface="Poppins"/>
              </a:rPr>
              <a:t>for</a:t>
            </a:r>
            <a:r>
              <a:rPr lang="en-US" sz="1771">
                <a:solidFill>
                  <a:srgbClr val="FFFFFF"/>
                </a:solidFill>
                <a:latin typeface="Poppins"/>
                <a:ea typeface="Poppins"/>
                <a:cs typeface="Poppins"/>
                <a:sym typeface="Poppins"/>
              </a:rPr>
              <a:t> the TUF </a:t>
            </a:r>
            <a:r>
              <a:rPr lang="en-US" sz="1771">
                <a:solidFill>
                  <a:srgbClr val="FFFFFF"/>
                </a:solidFill>
                <a:latin typeface="Poppins"/>
                <a:ea typeface="Poppins"/>
                <a:cs typeface="Poppins"/>
                <a:sym typeface="Poppins"/>
              </a:rPr>
              <a:t>laptop by month. A higher value means the product had a worse sales rank relative to its price.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1980488"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sp>
        <p:nvSpPr>
          <p:cNvPr name="AutoShape 3" id="3"/>
          <p:cNvSpPr/>
          <p:nvPr/>
        </p:nvSpPr>
        <p:spPr>
          <a:xfrm flipV="true">
            <a:off x="3360080" y="3056513"/>
            <a:ext cx="5783920" cy="23012"/>
          </a:xfrm>
          <a:prstGeom prst="line">
            <a:avLst/>
          </a:prstGeom>
          <a:ln cap="flat" w="38100">
            <a:solidFill>
              <a:srgbClr val="FFFFFF"/>
            </a:solidFill>
            <a:prstDash val="solid"/>
            <a:headEnd type="none" len="sm" w="sm"/>
            <a:tailEnd type="none" len="sm" w="sm"/>
          </a:ln>
        </p:spPr>
      </p:sp>
      <p:sp>
        <p:nvSpPr>
          <p:cNvPr name="Freeform 4" id="4"/>
          <p:cNvSpPr/>
          <p:nvPr/>
        </p:nvSpPr>
        <p:spPr>
          <a:xfrm flipH="false" flipV="false" rot="0">
            <a:off x="9144000" y="2089748"/>
            <a:ext cx="6814206" cy="1933531"/>
          </a:xfrm>
          <a:custGeom>
            <a:avLst/>
            <a:gdLst/>
            <a:ahLst/>
            <a:cxnLst/>
            <a:rect r="r" b="b" t="t" l="l"/>
            <a:pathLst>
              <a:path h="1933531" w="6814206">
                <a:moveTo>
                  <a:pt x="0" y="0"/>
                </a:moveTo>
                <a:lnTo>
                  <a:pt x="6814206" y="0"/>
                </a:lnTo>
                <a:lnTo>
                  <a:pt x="6814206" y="1933531"/>
                </a:lnTo>
                <a:lnTo>
                  <a:pt x="0" y="19335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435607"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Insights</a:t>
            </a:r>
          </a:p>
        </p:txBody>
      </p:sp>
      <p:sp>
        <p:nvSpPr>
          <p:cNvPr name="TextBox 6" id="6"/>
          <p:cNvSpPr txBox="true"/>
          <p:nvPr/>
        </p:nvSpPr>
        <p:spPr>
          <a:xfrm rot="0">
            <a:off x="2435607"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Asus TUFLaptop</a:t>
            </a:r>
          </a:p>
        </p:txBody>
      </p:sp>
      <p:grpSp>
        <p:nvGrpSpPr>
          <p:cNvPr name="Group 7" id="7"/>
          <p:cNvGrpSpPr/>
          <p:nvPr/>
        </p:nvGrpSpPr>
        <p:grpSpPr>
          <a:xfrm rot="0">
            <a:off x="2419807" y="2598265"/>
            <a:ext cx="940273" cy="962521"/>
            <a:chOff x="0" y="0"/>
            <a:chExt cx="794013" cy="812800"/>
          </a:xfrm>
        </p:grpSpPr>
        <p:sp>
          <p:nvSpPr>
            <p:cNvPr name="Freeform 8" id="8"/>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9" id="9"/>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10" id="10"/>
          <p:cNvSpPr txBox="true"/>
          <p:nvPr/>
        </p:nvSpPr>
        <p:spPr>
          <a:xfrm rot="0">
            <a:off x="2586754" y="2753637"/>
            <a:ext cx="606379" cy="661301"/>
          </a:xfrm>
          <a:prstGeom prst="rect">
            <a:avLst/>
          </a:prstGeom>
        </p:spPr>
        <p:txBody>
          <a:bodyPr anchor="t" rtlCol="false" tIns="0" lIns="0" bIns="0" rIns="0">
            <a:spAutoFit/>
          </a:bodyPr>
          <a:lstStyle/>
          <a:p>
            <a:pPr algn="ctr">
              <a:lnSpc>
                <a:spcPts val="4784"/>
              </a:lnSpc>
            </a:pPr>
            <a:r>
              <a:rPr lang="en-US" sz="4430">
                <a:solidFill>
                  <a:srgbClr val="FFFFFF"/>
                </a:solidFill>
                <a:latin typeface="Poppins"/>
                <a:ea typeface="Poppins"/>
                <a:cs typeface="Poppins"/>
                <a:sym typeface="Poppins"/>
              </a:rPr>
              <a:t>1</a:t>
            </a:r>
          </a:p>
        </p:txBody>
      </p:sp>
      <p:sp>
        <p:nvSpPr>
          <p:cNvPr name="Freeform 11" id="11"/>
          <p:cNvSpPr/>
          <p:nvPr/>
        </p:nvSpPr>
        <p:spPr>
          <a:xfrm flipH="false" flipV="false" rot="0">
            <a:off x="9144000" y="5565103"/>
            <a:ext cx="6814206" cy="1933531"/>
          </a:xfrm>
          <a:custGeom>
            <a:avLst/>
            <a:gdLst/>
            <a:ahLst/>
            <a:cxnLst/>
            <a:rect r="r" b="b" t="t" l="l"/>
            <a:pathLst>
              <a:path h="1933531" w="6814206">
                <a:moveTo>
                  <a:pt x="0" y="0"/>
                </a:moveTo>
                <a:lnTo>
                  <a:pt x="6814206" y="0"/>
                </a:lnTo>
                <a:lnTo>
                  <a:pt x="6814206" y="1933530"/>
                </a:lnTo>
                <a:lnTo>
                  <a:pt x="0" y="19335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2329794" y="4070178"/>
            <a:ext cx="6814206" cy="1933531"/>
          </a:xfrm>
          <a:custGeom>
            <a:avLst/>
            <a:gdLst/>
            <a:ahLst/>
            <a:cxnLst/>
            <a:rect r="r" b="b" t="t" l="l"/>
            <a:pathLst>
              <a:path h="1933531" w="6814206">
                <a:moveTo>
                  <a:pt x="0" y="0"/>
                </a:moveTo>
                <a:lnTo>
                  <a:pt x="6814206" y="0"/>
                </a:lnTo>
                <a:lnTo>
                  <a:pt x="6814206" y="1933531"/>
                </a:lnTo>
                <a:lnTo>
                  <a:pt x="0" y="19335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3" id="13"/>
          <p:cNvSpPr/>
          <p:nvPr/>
        </p:nvSpPr>
        <p:spPr>
          <a:xfrm flipH="true">
            <a:off x="9144000" y="5019522"/>
            <a:ext cx="5873933" cy="17421"/>
          </a:xfrm>
          <a:prstGeom prst="line">
            <a:avLst/>
          </a:prstGeom>
          <a:ln cap="flat" w="38100">
            <a:solidFill>
              <a:srgbClr val="FFFFFF"/>
            </a:solidFill>
            <a:prstDash val="solid"/>
            <a:headEnd type="none" len="sm" w="sm"/>
            <a:tailEnd type="none" len="sm" w="sm"/>
          </a:ln>
        </p:spPr>
      </p:sp>
      <p:grpSp>
        <p:nvGrpSpPr>
          <p:cNvPr name="Group 14" id="14"/>
          <p:cNvGrpSpPr/>
          <p:nvPr/>
        </p:nvGrpSpPr>
        <p:grpSpPr>
          <a:xfrm rot="-10800000">
            <a:off x="15017933" y="4538261"/>
            <a:ext cx="940273" cy="962521"/>
            <a:chOff x="0" y="0"/>
            <a:chExt cx="794013" cy="812800"/>
          </a:xfrm>
        </p:grpSpPr>
        <p:sp>
          <p:nvSpPr>
            <p:cNvPr name="Freeform 15" id="15"/>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16" id="16"/>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17" id="17"/>
          <p:cNvSpPr txBox="true"/>
          <p:nvPr/>
        </p:nvSpPr>
        <p:spPr>
          <a:xfrm rot="0">
            <a:off x="15327183" y="4503107"/>
            <a:ext cx="321773" cy="851855"/>
          </a:xfrm>
          <a:prstGeom prst="rect">
            <a:avLst/>
          </a:prstGeom>
        </p:spPr>
        <p:txBody>
          <a:bodyPr anchor="t" rtlCol="false" tIns="0" lIns="0" bIns="0" rIns="0">
            <a:spAutoFit/>
          </a:bodyPr>
          <a:lstStyle/>
          <a:p>
            <a:pPr algn="ctr">
              <a:lnSpc>
                <a:spcPts val="7137"/>
              </a:lnSpc>
              <a:spcBef>
                <a:spcPct val="0"/>
              </a:spcBef>
            </a:pPr>
            <a:r>
              <a:rPr lang="en-US" sz="4430">
                <a:solidFill>
                  <a:srgbClr val="FFFFFF"/>
                </a:solidFill>
                <a:latin typeface="Open Sans"/>
                <a:ea typeface="Open Sans"/>
                <a:cs typeface="Open Sans"/>
                <a:sym typeface="Open Sans"/>
              </a:rPr>
              <a:t>2</a:t>
            </a:r>
          </a:p>
        </p:txBody>
      </p:sp>
      <p:sp>
        <p:nvSpPr>
          <p:cNvPr name="AutoShape 18" id="18"/>
          <p:cNvSpPr/>
          <p:nvPr/>
        </p:nvSpPr>
        <p:spPr>
          <a:xfrm>
            <a:off x="3360080" y="6531868"/>
            <a:ext cx="5783920" cy="0"/>
          </a:xfrm>
          <a:prstGeom prst="line">
            <a:avLst/>
          </a:prstGeom>
          <a:ln cap="flat" w="38100">
            <a:solidFill>
              <a:srgbClr val="FFFFFF"/>
            </a:solidFill>
            <a:prstDash val="solid"/>
            <a:headEnd type="none" len="sm" w="sm"/>
            <a:tailEnd type="none" len="sm" w="sm"/>
          </a:ln>
        </p:spPr>
      </p:sp>
      <p:grpSp>
        <p:nvGrpSpPr>
          <p:cNvPr name="Group 19" id="19"/>
          <p:cNvGrpSpPr/>
          <p:nvPr/>
        </p:nvGrpSpPr>
        <p:grpSpPr>
          <a:xfrm rot="0">
            <a:off x="2419807" y="6050608"/>
            <a:ext cx="940273" cy="962521"/>
            <a:chOff x="0" y="0"/>
            <a:chExt cx="794013" cy="812800"/>
          </a:xfrm>
        </p:grpSpPr>
        <p:sp>
          <p:nvSpPr>
            <p:cNvPr name="Freeform 20" id="20"/>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21" id="21"/>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22" id="22"/>
          <p:cNvSpPr txBox="true"/>
          <p:nvPr/>
        </p:nvSpPr>
        <p:spPr>
          <a:xfrm rot="0">
            <a:off x="2586754" y="6205980"/>
            <a:ext cx="606379" cy="661301"/>
          </a:xfrm>
          <a:prstGeom prst="rect">
            <a:avLst/>
          </a:prstGeom>
        </p:spPr>
        <p:txBody>
          <a:bodyPr anchor="t" rtlCol="false" tIns="0" lIns="0" bIns="0" rIns="0">
            <a:spAutoFit/>
          </a:bodyPr>
          <a:lstStyle/>
          <a:p>
            <a:pPr algn="ctr">
              <a:lnSpc>
                <a:spcPts val="4784"/>
              </a:lnSpc>
            </a:pPr>
            <a:r>
              <a:rPr lang="en-US" sz="4430">
                <a:solidFill>
                  <a:srgbClr val="FFFFFF"/>
                </a:solidFill>
                <a:latin typeface="Poppins"/>
                <a:ea typeface="Poppins"/>
                <a:cs typeface="Poppins"/>
                <a:sym typeface="Poppins"/>
              </a:rPr>
              <a:t>3</a:t>
            </a:r>
          </a:p>
        </p:txBody>
      </p:sp>
      <p:sp>
        <p:nvSpPr>
          <p:cNvPr name="Freeform 23" id="23"/>
          <p:cNvSpPr/>
          <p:nvPr/>
        </p:nvSpPr>
        <p:spPr>
          <a:xfrm flipH="false" flipV="false" rot="0">
            <a:off x="2200148" y="7251253"/>
            <a:ext cx="6814206" cy="1933531"/>
          </a:xfrm>
          <a:custGeom>
            <a:avLst/>
            <a:gdLst/>
            <a:ahLst/>
            <a:cxnLst/>
            <a:rect r="r" b="b" t="t" l="l"/>
            <a:pathLst>
              <a:path h="1933531" w="6814206">
                <a:moveTo>
                  <a:pt x="0" y="0"/>
                </a:moveTo>
                <a:lnTo>
                  <a:pt x="6814206" y="0"/>
                </a:lnTo>
                <a:lnTo>
                  <a:pt x="6814206" y="1933531"/>
                </a:lnTo>
                <a:lnTo>
                  <a:pt x="0" y="19335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4" id="24"/>
          <p:cNvSpPr/>
          <p:nvPr/>
        </p:nvSpPr>
        <p:spPr>
          <a:xfrm flipH="true">
            <a:off x="8914069" y="8471865"/>
            <a:ext cx="6103864" cy="0"/>
          </a:xfrm>
          <a:prstGeom prst="line">
            <a:avLst/>
          </a:prstGeom>
          <a:ln cap="flat" w="38100">
            <a:solidFill>
              <a:srgbClr val="FFFFFF"/>
            </a:solidFill>
            <a:prstDash val="solid"/>
            <a:headEnd type="none" len="sm" w="sm"/>
            <a:tailEnd type="none" len="sm" w="sm"/>
          </a:ln>
        </p:spPr>
      </p:sp>
      <p:grpSp>
        <p:nvGrpSpPr>
          <p:cNvPr name="Group 25" id="25"/>
          <p:cNvGrpSpPr/>
          <p:nvPr/>
        </p:nvGrpSpPr>
        <p:grpSpPr>
          <a:xfrm rot="-10800000">
            <a:off x="15017933" y="7990604"/>
            <a:ext cx="940273" cy="962521"/>
            <a:chOff x="0" y="0"/>
            <a:chExt cx="794013" cy="812800"/>
          </a:xfrm>
        </p:grpSpPr>
        <p:sp>
          <p:nvSpPr>
            <p:cNvPr name="Freeform 26" id="26"/>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27" id="27"/>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28" id="28"/>
          <p:cNvSpPr txBox="true"/>
          <p:nvPr/>
        </p:nvSpPr>
        <p:spPr>
          <a:xfrm rot="0">
            <a:off x="15327183" y="7955450"/>
            <a:ext cx="321773" cy="851855"/>
          </a:xfrm>
          <a:prstGeom prst="rect">
            <a:avLst/>
          </a:prstGeom>
        </p:spPr>
        <p:txBody>
          <a:bodyPr anchor="t" rtlCol="false" tIns="0" lIns="0" bIns="0" rIns="0">
            <a:spAutoFit/>
          </a:bodyPr>
          <a:lstStyle/>
          <a:p>
            <a:pPr algn="ctr">
              <a:lnSpc>
                <a:spcPts val="7137"/>
              </a:lnSpc>
              <a:spcBef>
                <a:spcPct val="0"/>
              </a:spcBef>
            </a:pPr>
            <a:r>
              <a:rPr lang="en-US" sz="4430">
                <a:solidFill>
                  <a:srgbClr val="FFFFFF"/>
                </a:solidFill>
                <a:latin typeface="Open Sans"/>
                <a:ea typeface="Open Sans"/>
                <a:cs typeface="Open Sans"/>
                <a:sym typeface="Open Sans"/>
              </a:rPr>
              <a:t>4</a:t>
            </a:r>
          </a:p>
        </p:txBody>
      </p:sp>
      <p:sp>
        <p:nvSpPr>
          <p:cNvPr name="TextBox 29" id="29"/>
          <p:cNvSpPr txBox="true"/>
          <p:nvPr/>
        </p:nvSpPr>
        <p:spPr>
          <a:xfrm rot="0">
            <a:off x="9494228" y="2473288"/>
            <a:ext cx="6154728" cy="1212474"/>
          </a:xfrm>
          <a:prstGeom prst="rect">
            <a:avLst/>
          </a:prstGeom>
        </p:spPr>
        <p:txBody>
          <a:bodyPr anchor="t" rtlCol="false" tIns="0" lIns="0" bIns="0" rIns="0">
            <a:spAutoFit/>
          </a:bodyPr>
          <a:lstStyle/>
          <a:p>
            <a:pPr algn="ctr">
              <a:lnSpc>
                <a:spcPts val="1937"/>
              </a:lnSpc>
            </a:pPr>
            <a:r>
              <a:rPr lang="en-US" sz="1794" b="true">
                <a:solidFill>
                  <a:srgbClr val="FFFFFF"/>
                </a:solidFill>
                <a:latin typeface="Poppins Bold"/>
                <a:ea typeface="Poppins Bold"/>
                <a:cs typeface="Poppins Bold"/>
                <a:sym typeface="Poppins Bold"/>
              </a:rPr>
              <a:t>Prices were lower from January to April</a:t>
            </a:r>
            <a:r>
              <a:rPr lang="en-US" sz="1794">
                <a:solidFill>
                  <a:srgbClr val="FFFFFF"/>
                </a:solidFill>
                <a:latin typeface="Poppins"/>
                <a:ea typeface="Poppins"/>
                <a:cs typeface="Poppins"/>
                <a:sym typeface="Poppins"/>
              </a:rPr>
              <a:t>, </a:t>
            </a:r>
            <a:r>
              <a:rPr lang="en-US" sz="1794" b="true">
                <a:solidFill>
                  <a:srgbClr val="FFFFFF"/>
                </a:solidFill>
                <a:latin typeface="Poppins Bold"/>
                <a:ea typeface="Poppins Bold"/>
                <a:cs typeface="Poppins Bold"/>
                <a:sym typeface="Poppins Bold"/>
              </a:rPr>
              <a:t>then rose sharply in May and June</a:t>
            </a:r>
            <a:r>
              <a:rPr lang="en-US" sz="1794">
                <a:solidFill>
                  <a:srgbClr val="FFFFFF"/>
                </a:solidFill>
                <a:latin typeface="Poppins"/>
                <a:ea typeface="Poppins"/>
                <a:cs typeface="Poppins"/>
                <a:sym typeface="Poppins"/>
              </a:rPr>
              <a:t>, peaking around $1,400. They stayed stable through October, before </a:t>
            </a:r>
            <a:r>
              <a:rPr lang="en-US" sz="1794" b="true">
                <a:solidFill>
                  <a:srgbClr val="FFFFFF"/>
                </a:solidFill>
                <a:latin typeface="Poppins Bold"/>
                <a:ea typeface="Poppins Bold"/>
                <a:cs typeface="Poppins Bold"/>
                <a:sym typeface="Poppins Bold"/>
              </a:rPr>
              <a:t>dropping in November and December,</a:t>
            </a:r>
            <a:r>
              <a:rPr lang="en-US" sz="1794">
                <a:solidFill>
                  <a:srgbClr val="FFFFFF"/>
                </a:solidFill>
                <a:latin typeface="Poppins"/>
                <a:ea typeface="Poppins"/>
                <a:cs typeface="Poppins"/>
                <a:sym typeface="Poppins"/>
              </a:rPr>
              <a:t> </a:t>
            </a:r>
            <a:r>
              <a:rPr lang="en-US" sz="1794" u="sng">
                <a:solidFill>
                  <a:srgbClr val="FFFFFF"/>
                </a:solidFill>
                <a:latin typeface="Poppins"/>
                <a:ea typeface="Poppins"/>
                <a:cs typeface="Poppins"/>
                <a:sym typeface="Poppins"/>
              </a:rPr>
              <a:t>likely due to holiday discounts.</a:t>
            </a:r>
          </a:p>
        </p:txBody>
      </p:sp>
      <p:sp>
        <p:nvSpPr>
          <p:cNvPr name="TextBox 30" id="30"/>
          <p:cNvSpPr txBox="true"/>
          <p:nvPr/>
        </p:nvSpPr>
        <p:spPr>
          <a:xfrm rot="0">
            <a:off x="2488548" y="4515749"/>
            <a:ext cx="6454096" cy="1255501"/>
          </a:xfrm>
          <a:prstGeom prst="rect">
            <a:avLst/>
          </a:prstGeom>
        </p:spPr>
        <p:txBody>
          <a:bodyPr anchor="t" rtlCol="false" tIns="0" lIns="0" bIns="0" rIns="0">
            <a:spAutoFit/>
          </a:bodyPr>
          <a:lstStyle/>
          <a:p>
            <a:pPr algn="ctr">
              <a:lnSpc>
                <a:spcPts val="1623"/>
              </a:lnSpc>
            </a:pPr>
            <a:r>
              <a:rPr lang="en-US" sz="1503">
                <a:solidFill>
                  <a:srgbClr val="FFFFFF"/>
                </a:solidFill>
                <a:latin typeface="Poppins"/>
                <a:ea typeface="Poppins"/>
                <a:cs typeface="Poppins"/>
                <a:sym typeface="Poppins"/>
              </a:rPr>
              <a:t>For </a:t>
            </a:r>
            <a:r>
              <a:rPr lang="en-US" sz="1503" b="true">
                <a:solidFill>
                  <a:srgbClr val="FFFFFF"/>
                </a:solidFill>
                <a:latin typeface="Poppins Bold"/>
                <a:ea typeface="Poppins Bold"/>
                <a:cs typeface="Poppins Bold"/>
                <a:sym typeface="Poppins Bold"/>
              </a:rPr>
              <a:t>the difference between the list and new price,</a:t>
            </a:r>
            <a:r>
              <a:rPr lang="en-US" sz="1503">
                <a:solidFill>
                  <a:srgbClr val="FFFFFF"/>
                </a:solidFill>
                <a:latin typeface="Poppins"/>
                <a:ea typeface="Poppins"/>
                <a:cs typeface="Poppins"/>
                <a:sym typeface="Poppins"/>
              </a:rPr>
              <a:t> </a:t>
            </a:r>
            <a:r>
              <a:rPr lang="en-US" sz="1503" b="true">
                <a:solidFill>
                  <a:srgbClr val="FFFFFF"/>
                </a:solidFill>
                <a:latin typeface="Poppins Bold"/>
                <a:ea typeface="Poppins Bold"/>
                <a:cs typeface="Poppins Bold"/>
                <a:sym typeface="Poppins Bold"/>
              </a:rPr>
              <a:t>the largest discounts occurred from June to November</a:t>
            </a:r>
            <a:r>
              <a:rPr lang="en-US" sz="1503">
                <a:solidFill>
                  <a:srgbClr val="FFFFFF"/>
                </a:solidFill>
                <a:latin typeface="Poppins"/>
                <a:ea typeface="Poppins"/>
                <a:cs typeface="Poppins"/>
                <a:sym typeface="Poppins"/>
              </a:rPr>
              <a:t>, </a:t>
            </a:r>
            <a:r>
              <a:rPr lang="en-US" sz="1503" b="true">
                <a:solidFill>
                  <a:srgbClr val="FFFFFF"/>
                </a:solidFill>
                <a:latin typeface="Poppins Bold"/>
                <a:ea typeface="Poppins Bold"/>
                <a:cs typeface="Poppins Bold"/>
                <a:sym typeface="Poppins Bold"/>
              </a:rPr>
              <a:t>with August and October hitting around –200</a:t>
            </a:r>
            <a:r>
              <a:rPr lang="en-US" sz="1503">
                <a:solidFill>
                  <a:srgbClr val="FFFFFF"/>
                </a:solidFill>
                <a:latin typeface="Poppins"/>
                <a:ea typeface="Poppins"/>
                <a:cs typeface="Poppins"/>
                <a:sym typeface="Poppins"/>
              </a:rPr>
              <a:t>, </a:t>
            </a:r>
            <a:r>
              <a:rPr lang="en-US" sz="1503" u="sng">
                <a:solidFill>
                  <a:srgbClr val="FFFFFF"/>
                </a:solidFill>
                <a:latin typeface="Poppins"/>
                <a:ea typeface="Poppins"/>
                <a:cs typeface="Poppins"/>
                <a:sym typeface="Poppins"/>
              </a:rPr>
              <a:t>indicating aggressive markdowns. This suggests extended promotional pricing during the second half of the year.</a:t>
            </a:r>
          </a:p>
          <a:p>
            <a:pPr algn="ctr">
              <a:lnSpc>
                <a:spcPts val="1623"/>
              </a:lnSpc>
            </a:pPr>
          </a:p>
        </p:txBody>
      </p:sp>
      <p:sp>
        <p:nvSpPr>
          <p:cNvPr name="TextBox 31" id="31"/>
          <p:cNvSpPr txBox="true"/>
          <p:nvPr/>
        </p:nvSpPr>
        <p:spPr>
          <a:xfrm rot="0">
            <a:off x="9315450" y="5871818"/>
            <a:ext cx="6504956" cy="1329625"/>
          </a:xfrm>
          <a:prstGeom prst="rect">
            <a:avLst/>
          </a:prstGeom>
        </p:spPr>
        <p:txBody>
          <a:bodyPr anchor="t" rtlCol="false" tIns="0" lIns="0" bIns="0" rIns="0">
            <a:spAutoFit/>
          </a:bodyPr>
          <a:lstStyle/>
          <a:p>
            <a:pPr algn="ctr">
              <a:lnSpc>
                <a:spcPts val="1750"/>
              </a:lnSpc>
            </a:pPr>
            <a:r>
              <a:rPr lang="en-US" sz="1620" b="true">
                <a:solidFill>
                  <a:srgbClr val="FFFFFF"/>
                </a:solidFill>
                <a:latin typeface="Poppins Bold"/>
                <a:ea typeface="Poppins Bold"/>
                <a:cs typeface="Poppins Bold"/>
                <a:sym typeface="Poppins Bold"/>
              </a:rPr>
              <a:t>TUF’s sales rank </a:t>
            </a:r>
            <a:r>
              <a:rPr lang="en-US" sz="1620">
                <a:solidFill>
                  <a:srgbClr val="FFFFFF"/>
                </a:solidFill>
                <a:latin typeface="Poppins"/>
                <a:ea typeface="Poppins"/>
                <a:cs typeface="Poppins"/>
                <a:sym typeface="Poppins"/>
              </a:rPr>
              <a:t>performed</a:t>
            </a:r>
            <a:r>
              <a:rPr lang="en-US" sz="1620" b="true">
                <a:solidFill>
                  <a:srgbClr val="FFFFFF"/>
                </a:solidFill>
                <a:latin typeface="Poppins Bold"/>
                <a:ea typeface="Poppins Bold"/>
                <a:cs typeface="Poppins Bold"/>
                <a:sym typeface="Poppins Bold"/>
              </a:rPr>
              <a:t> best in April, with the lowest average rank, and worst in December,</a:t>
            </a:r>
            <a:r>
              <a:rPr lang="en-US" sz="1620" u="sng">
                <a:solidFill>
                  <a:srgbClr val="FFFFFF"/>
                </a:solidFill>
                <a:latin typeface="Poppins"/>
                <a:ea typeface="Poppins"/>
                <a:cs typeface="Poppins"/>
                <a:sym typeface="Poppins"/>
              </a:rPr>
              <a:t> where the rank peaked above 60,000</a:t>
            </a:r>
            <a:r>
              <a:rPr lang="en-US" b="true" sz="1620" u="none">
                <a:solidFill>
                  <a:srgbClr val="FFFFFF"/>
                </a:solidFill>
                <a:latin typeface="Poppins Bold"/>
                <a:ea typeface="Poppins Bold"/>
                <a:cs typeface="Poppins Bold"/>
                <a:sym typeface="Poppins Bold"/>
              </a:rPr>
              <a:t>.</a:t>
            </a:r>
            <a:r>
              <a:rPr lang="en-US" sz="1620" b="true">
                <a:solidFill>
                  <a:srgbClr val="FFFFFF"/>
                </a:solidFill>
                <a:latin typeface="Poppins Bold"/>
                <a:ea typeface="Poppins Bold"/>
                <a:cs typeface="Poppins Bold"/>
                <a:sym typeface="Poppins Bold"/>
              </a:rPr>
              <a:t> </a:t>
            </a:r>
            <a:r>
              <a:rPr lang="en-US" sz="1620">
                <a:solidFill>
                  <a:srgbClr val="FFFFFF"/>
                </a:solidFill>
                <a:latin typeface="Poppins"/>
                <a:ea typeface="Poppins"/>
                <a:cs typeface="Poppins"/>
                <a:sym typeface="Poppins"/>
              </a:rPr>
              <a:t>After a mid-year dip in rank,</a:t>
            </a:r>
            <a:r>
              <a:rPr lang="en-US" sz="1620" u="none">
                <a:solidFill>
                  <a:srgbClr val="FFFFFF"/>
                </a:solidFill>
                <a:latin typeface="Poppins"/>
                <a:ea typeface="Poppins"/>
                <a:cs typeface="Poppins"/>
                <a:sym typeface="Poppins"/>
              </a:rPr>
              <a:t> t</a:t>
            </a:r>
            <a:r>
              <a:rPr lang="en-US" sz="1620">
                <a:solidFill>
                  <a:srgbClr val="FFFFFF"/>
                </a:solidFill>
                <a:latin typeface="Poppins"/>
                <a:ea typeface="Poppins"/>
                <a:cs typeface="Poppins"/>
                <a:sym typeface="Poppins"/>
              </a:rPr>
              <a:t>h</a:t>
            </a:r>
            <a:r>
              <a:rPr lang="en-US" sz="1620" u="none">
                <a:solidFill>
                  <a:srgbClr val="FFFFFF"/>
                </a:solidFill>
                <a:latin typeface="Poppins"/>
                <a:ea typeface="Poppins"/>
                <a:cs typeface="Poppins"/>
                <a:sym typeface="Poppins"/>
              </a:rPr>
              <a:t>e tren</a:t>
            </a:r>
            <a:r>
              <a:rPr lang="en-US" sz="1620">
                <a:solidFill>
                  <a:srgbClr val="FFFFFF"/>
                </a:solidFill>
                <a:latin typeface="Poppins"/>
                <a:ea typeface="Poppins"/>
                <a:cs typeface="Poppins"/>
                <a:sym typeface="Poppins"/>
              </a:rPr>
              <a:t>d g</a:t>
            </a:r>
            <a:r>
              <a:rPr lang="en-US" sz="1620" u="none">
                <a:solidFill>
                  <a:srgbClr val="FFFFFF"/>
                </a:solidFill>
                <a:latin typeface="Poppins"/>
                <a:ea typeface="Poppins"/>
                <a:cs typeface="Poppins"/>
                <a:sym typeface="Poppins"/>
              </a:rPr>
              <a:t>radual</a:t>
            </a:r>
            <a:r>
              <a:rPr lang="en-US" sz="1620">
                <a:solidFill>
                  <a:srgbClr val="FFFFFF"/>
                </a:solidFill>
                <a:latin typeface="Poppins"/>
                <a:ea typeface="Poppins"/>
                <a:cs typeface="Poppins"/>
                <a:sym typeface="Poppins"/>
              </a:rPr>
              <a:t>ly w</a:t>
            </a:r>
            <a:r>
              <a:rPr lang="en-US" sz="1620" u="none">
                <a:solidFill>
                  <a:srgbClr val="FFFFFF"/>
                </a:solidFill>
                <a:latin typeface="Poppins"/>
                <a:ea typeface="Poppins"/>
                <a:cs typeface="Poppins"/>
                <a:sym typeface="Poppins"/>
              </a:rPr>
              <a:t>ors</a:t>
            </a:r>
            <a:r>
              <a:rPr lang="en-US" sz="1620">
                <a:solidFill>
                  <a:srgbClr val="FFFFFF"/>
                </a:solidFill>
                <a:latin typeface="Poppins"/>
                <a:ea typeface="Poppins"/>
                <a:cs typeface="Poppins"/>
                <a:sym typeface="Poppins"/>
              </a:rPr>
              <a:t>ened toward the e</a:t>
            </a:r>
            <a:r>
              <a:rPr lang="en-US" sz="1620" u="none">
                <a:solidFill>
                  <a:srgbClr val="FFFFFF"/>
                </a:solidFill>
                <a:latin typeface="Poppins"/>
                <a:ea typeface="Poppins"/>
                <a:cs typeface="Poppins"/>
                <a:sym typeface="Poppins"/>
              </a:rPr>
              <a:t>nd o</a:t>
            </a:r>
            <a:r>
              <a:rPr lang="en-US" sz="1620">
                <a:solidFill>
                  <a:srgbClr val="FFFFFF"/>
                </a:solidFill>
                <a:latin typeface="Poppins"/>
                <a:ea typeface="Poppins"/>
                <a:cs typeface="Poppins"/>
                <a:sym typeface="Poppins"/>
              </a:rPr>
              <a:t>f th</a:t>
            </a:r>
            <a:r>
              <a:rPr lang="en-US" sz="1620" u="none">
                <a:solidFill>
                  <a:srgbClr val="FFFFFF"/>
                </a:solidFill>
                <a:latin typeface="Poppins"/>
                <a:ea typeface="Poppins"/>
                <a:cs typeface="Poppins"/>
                <a:sym typeface="Poppins"/>
              </a:rPr>
              <a:t>e </a:t>
            </a:r>
            <a:r>
              <a:rPr lang="en-US" sz="1620">
                <a:solidFill>
                  <a:srgbClr val="FFFFFF"/>
                </a:solidFill>
                <a:latin typeface="Poppins"/>
                <a:ea typeface="Poppins"/>
                <a:cs typeface="Poppins"/>
                <a:sym typeface="Poppins"/>
              </a:rPr>
              <a:t>y</a:t>
            </a:r>
            <a:r>
              <a:rPr lang="en-US" sz="1620" u="none">
                <a:solidFill>
                  <a:srgbClr val="FFFFFF"/>
                </a:solidFill>
                <a:latin typeface="Poppins"/>
                <a:ea typeface="Poppins"/>
                <a:cs typeface="Poppins"/>
                <a:sym typeface="Poppins"/>
              </a:rPr>
              <a:t>e</a:t>
            </a:r>
            <a:r>
              <a:rPr lang="en-US" sz="1620">
                <a:solidFill>
                  <a:srgbClr val="FFFFFF"/>
                </a:solidFill>
                <a:latin typeface="Poppins"/>
                <a:ea typeface="Poppins"/>
                <a:cs typeface="Poppins"/>
                <a:sym typeface="Poppins"/>
              </a:rPr>
              <a:t>ar indicating that there were better promotions for other products that sold more in the holiday season</a:t>
            </a:r>
          </a:p>
        </p:txBody>
      </p:sp>
      <p:sp>
        <p:nvSpPr>
          <p:cNvPr name="TextBox 32" id="32"/>
          <p:cNvSpPr txBox="true"/>
          <p:nvPr/>
        </p:nvSpPr>
        <p:spPr>
          <a:xfrm rot="0">
            <a:off x="2396469" y="7746553"/>
            <a:ext cx="6374433" cy="956723"/>
          </a:xfrm>
          <a:prstGeom prst="rect">
            <a:avLst/>
          </a:prstGeom>
        </p:spPr>
        <p:txBody>
          <a:bodyPr anchor="t" rtlCol="false" tIns="0" lIns="0" bIns="0" rIns="0">
            <a:spAutoFit/>
          </a:bodyPr>
          <a:lstStyle/>
          <a:p>
            <a:pPr algn="ctr">
              <a:lnSpc>
                <a:spcPts val="1815"/>
              </a:lnSpc>
            </a:pPr>
            <a:r>
              <a:rPr lang="en-US" sz="1680" b="true">
                <a:solidFill>
                  <a:srgbClr val="FFFFFF"/>
                </a:solidFill>
                <a:latin typeface="Poppins Bold"/>
                <a:ea typeface="Poppins Bold"/>
                <a:cs typeface="Poppins Bold"/>
                <a:sym typeface="Poppins Bold"/>
              </a:rPr>
              <a:t>The ratio of rank vs. price </a:t>
            </a:r>
            <a:r>
              <a:rPr lang="en-US" sz="1680">
                <a:solidFill>
                  <a:srgbClr val="FFFFFF"/>
                </a:solidFill>
                <a:latin typeface="Poppins"/>
                <a:ea typeface="Poppins"/>
                <a:cs typeface="Poppins"/>
                <a:sym typeface="Poppins"/>
              </a:rPr>
              <a:t>was l</a:t>
            </a:r>
            <a:r>
              <a:rPr lang="en-US" sz="1680" b="true">
                <a:solidFill>
                  <a:srgbClr val="FFFFFF"/>
                </a:solidFill>
                <a:latin typeface="Poppins Bold"/>
                <a:ea typeface="Poppins Bold"/>
                <a:cs typeface="Poppins Bold"/>
                <a:sym typeface="Poppins Bold"/>
              </a:rPr>
              <a:t>owest in April</a:t>
            </a:r>
            <a:r>
              <a:rPr lang="en-US" sz="1680">
                <a:solidFill>
                  <a:srgbClr val="FFFFFF"/>
                </a:solidFill>
                <a:latin typeface="Poppins"/>
                <a:ea typeface="Poppins"/>
                <a:cs typeface="Poppins"/>
                <a:sym typeface="Poppins"/>
              </a:rPr>
              <a:t>, </a:t>
            </a:r>
            <a:r>
              <a:rPr lang="en-US" sz="1680" u="sng">
                <a:solidFill>
                  <a:srgbClr val="FFFFFF"/>
                </a:solidFill>
                <a:latin typeface="Poppins"/>
                <a:ea typeface="Poppins"/>
                <a:cs typeface="Poppins"/>
                <a:sym typeface="Poppins"/>
              </a:rPr>
              <a:t>indicating strong performance for its price</a:t>
            </a:r>
            <a:r>
              <a:rPr lang="en-US" sz="1680">
                <a:solidFill>
                  <a:srgbClr val="FFFFFF"/>
                </a:solidFill>
                <a:latin typeface="Poppins"/>
                <a:ea typeface="Poppins"/>
                <a:cs typeface="Poppins"/>
                <a:sym typeface="Poppins"/>
              </a:rPr>
              <a:t>,</a:t>
            </a:r>
            <a:r>
              <a:rPr lang="en-US" sz="1680" u="none">
                <a:solidFill>
                  <a:srgbClr val="FFFFFF"/>
                </a:solidFill>
                <a:latin typeface="Poppins"/>
                <a:ea typeface="Poppins"/>
                <a:cs typeface="Poppins"/>
                <a:sym typeface="Poppins"/>
              </a:rPr>
              <a:t> and </a:t>
            </a:r>
            <a:r>
              <a:rPr lang="en-US" sz="1680" b="true">
                <a:solidFill>
                  <a:srgbClr val="FFFFFF"/>
                </a:solidFill>
                <a:latin typeface="Poppins Bold"/>
                <a:ea typeface="Poppins Bold"/>
                <a:cs typeface="Poppins Bold"/>
                <a:sym typeface="Poppins Bold"/>
              </a:rPr>
              <a:t>high</a:t>
            </a:r>
            <a:r>
              <a:rPr lang="en-US" b="true" sz="1680" u="none">
                <a:solidFill>
                  <a:srgbClr val="FFFFFF"/>
                </a:solidFill>
                <a:latin typeface="Poppins Bold"/>
                <a:ea typeface="Poppins Bold"/>
                <a:cs typeface="Poppins Bold"/>
                <a:sym typeface="Poppins Bold"/>
              </a:rPr>
              <a:t>e</a:t>
            </a:r>
            <a:r>
              <a:rPr lang="en-US" sz="1680" b="true">
                <a:solidFill>
                  <a:srgbClr val="FFFFFF"/>
                </a:solidFill>
                <a:latin typeface="Poppins Bold"/>
                <a:ea typeface="Poppins Bold"/>
                <a:cs typeface="Poppins Bold"/>
                <a:sym typeface="Poppins Bold"/>
              </a:rPr>
              <a:t>st</a:t>
            </a:r>
            <a:r>
              <a:rPr lang="en-US" b="true" sz="1680" u="none">
                <a:solidFill>
                  <a:srgbClr val="FFFFFF"/>
                </a:solidFill>
                <a:latin typeface="Poppins Bold"/>
                <a:ea typeface="Poppins Bold"/>
                <a:cs typeface="Poppins Bold"/>
                <a:sym typeface="Poppins Bold"/>
              </a:rPr>
              <a:t> i</a:t>
            </a:r>
            <a:r>
              <a:rPr lang="en-US" sz="1680" b="true">
                <a:solidFill>
                  <a:srgbClr val="FFFFFF"/>
                </a:solidFill>
                <a:latin typeface="Poppins Bold"/>
                <a:ea typeface="Poppins Bold"/>
                <a:cs typeface="Poppins Bold"/>
                <a:sym typeface="Poppins Bold"/>
              </a:rPr>
              <a:t>n December</a:t>
            </a:r>
            <a:r>
              <a:rPr lang="en-US" sz="1680">
                <a:solidFill>
                  <a:srgbClr val="FFFFFF"/>
                </a:solidFill>
                <a:latin typeface="Poppins"/>
                <a:ea typeface="Poppins"/>
                <a:cs typeface="Poppins"/>
                <a:sym typeface="Poppins"/>
              </a:rPr>
              <a:t>, </a:t>
            </a:r>
            <a:r>
              <a:rPr lang="en-US" sz="1680" u="sng">
                <a:solidFill>
                  <a:srgbClr val="FFFFFF"/>
                </a:solidFill>
                <a:latin typeface="Poppins"/>
                <a:ea typeface="Poppins"/>
                <a:cs typeface="Poppins"/>
                <a:sym typeface="Poppins"/>
              </a:rPr>
              <a:t>suggesting poor performance despite a relatively higher price</a:t>
            </a:r>
            <a:r>
              <a:rPr lang="en-US" sz="1680">
                <a:solidFill>
                  <a:srgbClr val="FFFFFF"/>
                </a:solidFill>
                <a:latin typeface="Poppins"/>
                <a:ea typeface="Poppins"/>
                <a:cs typeface="Poppins"/>
                <a:sym typeface="Poppins"/>
              </a:rPr>
              <a:t>.</a:t>
            </a:r>
            <a:r>
              <a:rPr lang="en-US" sz="1680" u="none">
                <a:solidFill>
                  <a:srgbClr val="FFFFFF"/>
                </a:solidFill>
                <a:latin typeface="Poppins"/>
                <a:ea typeface="Poppins"/>
                <a:cs typeface="Poppins"/>
                <a:sym typeface="Poppins"/>
              </a:rPr>
              <a:t>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419807" y="2453442"/>
            <a:ext cx="3227981" cy="2503422"/>
            <a:chOff x="0" y="0"/>
            <a:chExt cx="1686890" cy="1308248"/>
          </a:xfrm>
        </p:grpSpPr>
        <p:sp>
          <p:nvSpPr>
            <p:cNvPr name="Freeform 3" id="3"/>
            <p:cNvSpPr/>
            <p:nvPr/>
          </p:nvSpPr>
          <p:spPr>
            <a:xfrm flipH="false" flipV="false" rot="0">
              <a:off x="0" y="0"/>
              <a:ext cx="1686890" cy="1308248"/>
            </a:xfrm>
            <a:custGeom>
              <a:avLst/>
              <a:gdLst/>
              <a:ahLst/>
              <a:cxnLst/>
              <a:rect r="r" b="b" t="t" l="l"/>
              <a:pathLst>
                <a:path h="1308248" w="1686890">
                  <a:moveTo>
                    <a:pt x="59959" y="0"/>
                  </a:moveTo>
                  <a:lnTo>
                    <a:pt x="1626931" y="0"/>
                  </a:lnTo>
                  <a:cubicBezTo>
                    <a:pt x="1642833" y="0"/>
                    <a:pt x="1658084" y="6317"/>
                    <a:pt x="1669329" y="17562"/>
                  </a:cubicBezTo>
                  <a:cubicBezTo>
                    <a:pt x="1680573" y="28806"/>
                    <a:pt x="1686890" y="44057"/>
                    <a:pt x="1686890" y="59959"/>
                  </a:cubicBezTo>
                  <a:lnTo>
                    <a:pt x="1686890" y="1248288"/>
                  </a:lnTo>
                  <a:cubicBezTo>
                    <a:pt x="1686890" y="1264190"/>
                    <a:pt x="1680573" y="1279441"/>
                    <a:pt x="1669329" y="1290686"/>
                  </a:cubicBezTo>
                  <a:cubicBezTo>
                    <a:pt x="1658084" y="1301931"/>
                    <a:pt x="1642833" y="1308248"/>
                    <a:pt x="1626931" y="1308248"/>
                  </a:cubicBezTo>
                  <a:lnTo>
                    <a:pt x="59959" y="1308248"/>
                  </a:lnTo>
                  <a:cubicBezTo>
                    <a:pt x="26845" y="1308248"/>
                    <a:pt x="0" y="1281403"/>
                    <a:pt x="0" y="1248288"/>
                  </a:cubicBezTo>
                  <a:lnTo>
                    <a:pt x="0" y="59959"/>
                  </a:lnTo>
                  <a:cubicBezTo>
                    <a:pt x="0" y="44057"/>
                    <a:pt x="6317" y="28806"/>
                    <a:pt x="17562" y="17562"/>
                  </a:cubicBezTo>
                  <a:cubicBezTo>
                    <a:pt x="28806" y="6317"/>
                    <a:pt x="44057" y="0"/>
                    <a:pt x="59959" y="0"/>
                  </a:cubicBezTo>
                  <a:close/>
                </a:path>
              </a:pathLst>
            </a:custGeom>
            <a:solidFill>
              <a:srgbClr val="2A3066">
                <a:alpha val="55686"/>
              </a:srgbClr>
            </a:solidFill>
          </p:spPr>
        </p:sp>
        <p:sp>
          <p:nvSpPr>
            <p:cNvPr name="TextBox 4" id="4"/>
            <p:cNvSpPr txBox="true"/>
            <p:nvPr/>
          </p:nvSpPr>
          <p:spPr>
            <a:xfrm>
              <a:off x="0" y="-66675"/>
              <a:ext cx="1686890" cy="1374923"/>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5" id="5"/>
          <p:cNvSpPr/>
          <p:nvPr/>
        </p:nvSpPr>
        <p:spPr>
          <a:xfrm flipH="false" flipV="false" rot="0">
            <a:off x="1980488"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sp>
        <p:nvSpPr>
          <p:cNvPr name="AutoShape 6" id="6"/>
          <p:cNvSpPr/>
          <p:nvPr/>
        </p:nvSpPr>
        <p:spPr>
          <a:xfrm>
            <a:off x="5647788" y="3705153"/>
            <a:ext cx="2596213" cy="0"/>
          </a:xfrm>
          <a:prstGeom prst="line">
            <a:avLst/>
          </a:prstGeom>
          <a:ln cap="flat" w="38100">
            <a:solidFill>
              <a:srgbClr val="FFFFFF"/>
            </a:solidFill>
            <a:prstDash val="solid"/>
            <a:headEnd type="none" len="sm" w="sm"/>
            <a:tailEnd type="none" len="sm" w="sm"/>
          </a:ln>
        </p:spPr>
      </p:sp>
      <p:sp>
        <p:nvSpPr>
          <p:cNvPr name="Freeform 7" id="7"/>
          <p:cNvSpPr/>
          <p:nvPr/>
        </p:nvSpPr>
        <p:spPr>
          <a:xfrm flipH="false" flipV="false" rot="0">
            <a:off x="8244001" y="2667309"/>
            <a:ext cx="8267827" cy="2345996"/>
          </a:xfrm>
          <a:custGeom>
            <a:avLst/>
            <a:gdLst/>
            <a:ahLst/>
            <a:cxnLst/>
            <a:rect r="r" b="b" t="t" l="l"/>
            <a:pathLst>
              <a:path h="2345996" w="8267827">
                <a:moveTo>
                  <a:pt x="0" y="0"/>
                </a:moveTo>
                <a:lnTo>
                  <a:pt x="8267827" y="0"/>
                </a:lnTo>
                <a:lnTo>
                  <a:pt x="8267827" y="2345996"/>
                </a:lnTo>
                <a:lnTo>
                  <a:pt x="0" y="23459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2204495" y="6393147"/>
            <a:ext cx="3227981" cy="2503422"/>
            <a:chOff x="0" y="0"/>
            <a:chExt cx="1686890" cy="1308248"/>
          </a:xfrm>
        </p:grpSpPr>
        <p:sp>
          <p:nvSpPr>
            <p:cNvPr name="Freeform 9" id="9"/>
            <p:cNvSpPr/>
            <p:nvPr/>
          </p:nvSpPr>
          <p:spPr>
            <a:xfrm flipH="false" flipV="false" rot="0">
              <a:off x="0" y="0"/>
              <a:ext cx="1686890" cy="1308248"/>
            </a:xfrm>
            <a:custGeom>
              <a:avLst/>
              <a:gdLst/>
              <a:ahLst/>
              <a:cxnLst/>
              <a:rect r="r" b="b" t="t" l="l"/>
              <a:pathLst>
                <a:path h="1308248" w="1686890">
                  <a:moveTo>
                    <a:pt x="59959" y="0"/>
                  </a:moveTo>
                  <a:lnTo>
                    <a:pt x="1626931" y="0"/>
                  </a:lnTo>
                  <a:cubicBezTo>
                    <a:pt x="1642833" y="0"/>
                    <a:pt x="1658084" y="6317"/>
                    <a:pt x="1669329" y="17562"/>
                  </a:cubicBezTo>
                  <a:cubicBezTo>
                    <a:pt x="1680573" y="28806"/>
                    <a:pt x="1686890" y="44057"/>
                    <a:pt x="1686890" y="59959"/>
                  </a:cubicBezTo>
                  <a:lnTo>
                    <a:pt x="1686890" y="1248288"/>
                  </a:lnTo>
                  <a:cubicBezTo>
                    <a:pt x="1686890" y="1264190"/>
                    <a:pt x="1680573" y="1279441"/>
                    <a:pt x="1669329" y="1290686"/>
                  </a:cubicBezTo>
                  <a:cubicBezTo>
                    <a:pt x="1658084" y="1301931"/>
                    <a:pt x="1642833" y="1308248"/>
                    <a:pt x="1626931" y="1308248"/>
                  </a:cubicBezTo>
                  <a:lnTo>
                    <a:pt x="59959" y="1308248"/>
                  </a:lnTo>
                  <a:cubicBezTo>
                    <a:pt x="26845" y="1308248"/>
                    <a:pt x="0" y="1281403"/>
                    <a:pt x="0" y="1248288"/>
                  </a:cubicBezTo>
                  <a:lnTo>
                    <a:pt x="0" y="59959"/>
                  </a:lnTo>
                  <a:cubicBezTo>
                    <a:pt x="0" y="44057"/>
                    <a:pt x="6317" y="28806"/>
                    <a:pt x="17562" y="17562"/>
                  </a:cubicBezTo>
                  <a:cubicBezTo>
                    <a:pt x="28806" y="6317"/>
                    <a:pt x="44057" y="0"/>
                    <a:pt x="59959" y="0"/>
                  </a:cubicBezTo>
                  <a:close/>
                </a:path>
              </a:pathLst>
            </a:custGeom>
            <a:solidFill>
              <a:srgbClr val="2A3066">
                <a:alpha val="55686"/>
              </a:srgbClr>
            </a:solidFill>
          </p:spPr>
        </p:sp>
        <p:sp>
          <p:nvSpPr>
            <p:cNvPr name="TextBox 10" id="10"/>
            <p:cNvSpPr txBox="true"/>
            <p:nvPr/>
          </p:nvSpPr>
          <p:spPr>
            <a:xfrm>
              <a:off x="0" y="-66675"/>
              <a:ext cx="1686890" cy="1374923"/>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AutoShape 11" id="11"/>
          <p:cNvSpPr/>
          <p:nvPr/>
        </p:nvSpPr>
        <p:spPr>
          <a:xfrm>
            <a:off x="9608282" y="7625808"/>
            <a:ext cx="2596213" cy="0"/>
          </a:xfrm>
          <a:prstGeom prst="line">
            <a:avLst/>
          </a:prstGeom>
          <a:ln cap="flat" w="38100">
            <a:solidFill>
              <a:srgbClr val="FFFFFF"/>
            </a:solidFill>
            <a:prstDash val="solid"/>
            <a:headEnd type="none" len="sm" w="sm"/>
            <a:tailEnd type="none" len="sm" w="sm"/>
          </a:ln>
        </p:spPr>
      </p:sp>
      <p:sp>
        <p:nvSpPr>
          <p:cNvPr name="Freeform 12" id="12"/>
          <p:cNvSpPr/>
          <p:nvPr/>
        </p:nvSpPr>
        <p:spPr>
          <a:xfrm flipH="false" flipV="false" rot="0">
            <a:off x="1428150" y="6613995"/>
            <a:ext cx="8267827" cy="2345996"/>
          </a:xfrm>
          <a:custGeom>
            <a:avLst/>
            <a:gdLst/>
            <a:ahLst/>
            <a:cxnLst/>
            <a:rect r="r" b="b" t="t" l="l"/>
            <a:pathLst>
              <a:path h="2345996" w="8267827">
                <a:moveTo>
                  <a:pt x="0" y="0"/>
                </a:moveTo>
                <a:lnTo>
                  <a:pt x="8267827" y="0"/>
                </a:lnTo>
                <a:lnTo>
                  <a:pt x="8267827" y="2345996"/>
                </a:lnTo>
                <a:lnTo>
                  <a:pt x="0" y="23459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2603256" y="2822843"/>
            <a:ext cx="2861083" cy="1764620"/>
          </a:xfrm>
          <a:custGeom>
            <a:avLst/>
            <a:gdLst/>
            <a:ahLst/>
            <a:cxnLst/>
            <a:rect r="r" b="b" t="t" l="l"/>
            <a:pathLst>
              <a:path h="1764620" w="2861083">
                <a:moveTo>
                  <a:pt x="0" y="0"/>
                </a:moveTo>
                <a:lnTo>
                  <a:pt x="2861083" y="0"/>
                </a:lnTo>
                <a:lnTo>
                  <a:pt x="2861083" y="1764620"/>
                </a:lnTo>
                <a:lnTo>
                  <a:pt x="0" y="1764620"/>
                </a:lnTo>
                <a:lnTo>
                  <a:pt x="0" y="0"/>
                </a:lnTo>
                <a:close/>
              </a:path>
            </a:pathLst>
          </a:custGeom>
          <a:blipFill>
            <a:blip r:embed="rId6"/>
            <a:stretch>
              <a:fillRect l="0" t="0" r="0" b="0"/>
            </a:stretch>
          </a:blipFill>
        </p:spPr>
      </p:sp>
      <p:sp>
        <p:nvSpPr>
          <p:cNvPr name="Freeform 14" id="14"/>
          <p:cNvSpPr/>
          <p:nvPr/>
        </p:nvSpPr>
        <p:spPr>
          <a:xfrm flipH="false" flipV="false" rot="0">
            <a:off x="12387944" y="6710261"/>
            <a:ext cx="2861083" cy="1831093"/>
          </a:xfrm>
          <a:custGeom>
            <a:avLst/>
            <a:gdLst/>
            <a:ahLst/>
            <a:cxnLst/>
            <a:rect r="r" b="b" t="t" l="l"/>
            <a:pathLst>
              <a:path h="1831093" w="2861083">
                <a:moveTo>
                  <a:pt x="0" y="0"/>
                </a:moveTo>
                <a:lnTo>
                  <a:pt x="2861083" y="0"/>
                </a:lnTo>
                <a:lnTo>
                  <a:pt x="2861083" y="1831094"/>
                </a:lnTo>
                <a:lnTo>
                  <a:pt x="0" y="1831094"/>
                </a:lnTo>
                <a:lnTo>
                  <a:pt x="0" y="0"/>
                </a:lnTo>
                <a:close/>
              </a:path>
            </a:pathLst>
          </a:custGeom>
          <a:blipFill>
            <a:blip r:embed="rId7"/>
            <a:stretch>
              <a:fillRect l="0" t="0" r="0" b="0"/>
            </a:stretch>
          </a:blipFill>
        </p:spPr>
      </p:sp>
      <p:sp>
        <p:nvSpPr>
          <p:cNvPr name="TextBox 15" id="15"/>
          <p:cNvSpPr txBox="true"/>
          <p:nvPr/>
        </p:nvSpPr>
        <p:spPr>
          <a:xfrm rot="0">
            <a:off x="2435607"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Visualisations and Insights from Power BI</a:t>
            </a:r>
          </a:p>
        </p:txBody>
      </p:sp>
      <p:sp>
        <p:nvSpPr>
          <p:cNvPr name="TextBox 16" id="16"/>
          <p:cNvSpPr txBox="true"/>
          <p:nvPr/>
        </p:nvSpPr>
        <p:spPr>
          <a:xfrm rot="0">
            <a:off x="2435607"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Asus Zephyrus Laptop</a:t>
            </a:r>
          </a:p>
        </p:txBody>
      </p:sp>
      <p:sp>
        <p:nvSpPr>
          <p:cNvPr name="TextBox 17" id="17"/>
          <p:cNvSpPr txBox="true"/>
          <p:nvPr/>
        </p:nvSpPr>
        <p:spPr>
          <a:xfrm rot="0">
            <a:off x="9186750" y="3112516"/>
            <a:ext cx="6382329" cy="1514256"/>
          </a:xfrm>
          <a:prstGeom prst="rect">
            <a:avLst/>
          </a:prstGeom>
        </p:spPr>
        <p:txBody>
          <a:bodyPr anchor="t" rtlCol="false" tIns="0" lIns="0" bIns="0" rIns="0">
            <a:spAutoFit/>
          </a:bodyPr>
          <a:lstStyle/>
          <a:p>
            <a:pPr algn="ctr">
              <a:lnSpc>
                <a:spcPts val="2009"/>
              </a:lnSpc>
              <a:spcBef>
                <a:spcPct val="0"/>
              </a:spcBef>
            </a:pPr>
            <a:r>
              <a:rPr lang="en-US" sz="1860">
                <a:solidFill>
                  <a:srgbClr val="FFFFFF"/>
                </a:solidFill>
                <a:latin typeface="Poppins"/>
                <a:ea typeface="Poppins"/>
                <a:cs typeface="Poppins"/>
                <a:sym typeface="Poppins"/>
              </a:rPr>
              <a:t>This value reflects </a:t>
            </a:r>
            <a:r>
              <a:rPr lang="en-US" b="true" sz="1860">
                <a:solidFill>
                  <a:srgbClr val="FFFFFF"/>
                </a:solidFill>
                <a:latin typeface="Poppins Bold"/>
                <a:ea typeface="Poppins Bold"/>
                <a:cs typeface="Poppins Bold"/>
                <a:sym typeface="Poppins Bold"/>
              </a:rPr>
              <a:t>the cumulative total of all recorded Zephyrus laptop prices over the analysis period.</a:t>
            </a:r>
            <a:r>
              <a:rPr lang="en-US" sz="1860">
                <a:solidFill>
                  <a:srgbClr val="FFFFFF"/>
                </a:solidFill>
                <a:latin typeface="Poppins"/>
                <a:ea typeface="Poppins"/>
                <a:cs typeface="Poppins"/>
                <a:sym typeface="Poppins"/>
              </a:rPr>
              <a:t> Assuming each price point is equal to ASUS selling a minimum of one laptop per day, this value can be interpreted as the estimated minimum total sales revenue for the product across the year. </a:t>
            </a:r>
          </a:p>
        </p:txBody>
      </p:sp>
      <p:sp>
        <p:nvSpPr>
          <p:cNvPr name="TextBox 18" id="18"/>
          <p:cNvSpPr txBox="true"/>
          <p:nvPr/>
        </p:nvSpPr>
        <p:spPr>
          <a:xfrm rot="0">
            <a:off x="1707048" y="5042589"/>
            <a:ext cx="4423723" cy="276006"/>
          </a:xfrm>
          <a:prstGeom prst="rect">
            <a:avLst/>
          </a:prstGeom>
        </p:spPr>
        <p:txBody>
          <a:bodyPr anchor="t" rtlCol="false" tIns="0" lIns="0" bIns="0" rIns="0">
            <a:spAutoFit/>
          </a:bodyPr>
          <a:lstStyle/>
          <a:p>
            <a:pPr algn="ctr">
              <a:lnSpc>
                <a:spcPts val="2009"/>
              </a:lnSpc>
              <a:spcBef>
                <a:spcPct val="0"/>
              </a:spcBef>
            </a:pPr>
            <a:r>
              <a:rPr lang="en-US" sz="1860">
                <a:solidFill>
                  <a:srgbClr val="FFFFFF"/>
                </a:solidFill>
                <a:latin typeface="Poppins"/>
                <a:ea typeface="Poppins"/>
                <a:cs typeface="Poppins"/>
                <a:sym typeface="Poppins"/>
              </a:rPr>
              <a:t>Data Card for ‘Total Sales’ Measure</a:t>
            </a:r>
          </a:p>
        </p:txBody>
      </p:sp>
      <p:sp>
        <p:nvSpPr>
          <p:cNvPr name="TextBox 19" id="19"/>
          <p:cNvSpPr txBox="true"/>
          <p:nvPr/>
        </p:nvSpPr>
        <p:spPr>
          <a:xfrm rot="0">
            <a:off x="11491736" y="8982294"/>
            <a:ext cx="4579441" cy="276006"/>
          </a:xfrm>
          <a:prstGeom prst="rect">
            <a:avLst/>
          </a:prstGeom>
        </p:spPr>
        <p:txBody>
          <a:bodyPr anchor="t" rtlCol="false" tIns="0" lIns="0" bIns="0" rIns="0">
            <a:spAutoFit/>
          </a:bodyPr>
          <a:lstStyle/>
          <a:p>
            <a:pPr algn="ctr">
              <a:lnSpc>
                <a:spcPts val="2009"/>
              </a:lnSpc>
              <a:spcBef>
                <a:spcPct val="0"/>
              </a:spcBef>
            </a:pPr>
            <a:r>
              <a:rPr lang="en-US" sz="1860">
                <a:solidFill>
                  <a:srgbClr val="FFFFFF"/>
                </a:solidFill>
                <a:latin typeface="Poppins"/>
                <a:ea typeface="Poppins"/>
                <a:cs typeface="Poppins"/>
                <a:sym typeface="Poppins"/>
              </a:rPr>
              <a:t>Data Card for ‘Average Price’ Measure</a:t>
            </a:r>
          </a:p>
        </p:txBody>
      </p:sp>
      <p:sp>
        <p:nvSpPr>
          <p:cNvPr name="TextBox 20" id="20"/>
          <p:cNvSpPr txBox="true"/>
          <p:nvPr/>
        </p:nvSpPr>
        <p:spPr>
          <a:xfrm rot="0">
            <a:off x="2419807" y="7312567"/>
            <a:ext cx="6382329" cy="948852"/>
          </a:xfrm>
          <a:prstGeom prst="rect">
            <a:avLst/>
          </a:prstGeom>
        </p:spPr>
        <p:txBody>
          <a:bodyPr anchor="t" rtlCol="false" tIns="0" lIns="0" bIns="0" rIns="0">
            <a:spAutoFit/>
          </a:bodyPr>
          <a:lstStyle/>
          <a:p>
            <a:pPr algn="ctr">
              <a:lnSpc>
                <a:spcPts val="2441"/>
              </a:lnSpc>
              <a:spcBef>
                <a:spcPct val="0"/>
              </a:spcBef>
            </a:pPr>
            <a:r>
              <a:rPr lang="en-US" sz="2260">
                <a:solidFill>
                  <a:srgbClr val="FFFFFF"/>
                </a:solidFill>
                <a:latin typeface="Poppins"/>
                <a:ea typeface="Poppins"/>
                <a:cs typeface="Poppins"/>
                <a:sym typeface="Poppins"/>
              </a:rPr>
              <a:t>The value indicates </a:t>
            </a:r>
            <a:r>
              <a:rPr lang="en-US" sz="2260">
                <a:solidFill>
                  <a:srgbClr val="FFFFFF"/>
                </a:solidFill>
                <a:latin typeface="Poppins"/>
                <a:ea typeface="Poppins"/>
                <a:cs typeface="Poppins"/>
                <a:sym typeface="Poppins"/>
              </a:rPr>
              <a:t>that t</a:t>
            </a:r>
            <a:r>
              <a:rPr lang="en-US" sz="2260">
                <a:solidFill>
                  <a:srgbClr val="FFFFFF"/>
                </a:solidFill>
                <a:latin typeface="Poppins"/>
                <a:ea typeface="Poppins"/>
                <a:cs typeface="Poppins"/>
                <a:sym typeface="Poppins"/>
              </a:rPr>
              <a:t>he</a:t>
            </a:r>
            <a:r>
              <a:rPr lang="en-US" sz="2260">
                <a:solidFill>
                  <a:srgbClr val="FFFFFF"/>
                </a:solidFill>
                <a:latin typeface="Poppins"/>
                <a:ea typeface="Poppins"/>
                <a:cs typeface="Poppins"/>
                <a:sym typeface="Poppins"/>
              </a:rPr>
              <a:t> a</a:t>
            </a:r>
            <a:r>
              <a:rPr lang="en-US" sz="2260">
                <a:solidFill>
                  <a:srgbClr val="FFFFFF"/>
                </a:solidFill>
                <a:latin typeface="Poppins"/>
                <a:ea typeface="Poppins"/>
                <a:cs typeface="Poppins"/>
                <a:sym typeface="Poppins"/>
              </a:rPr>
              <a:t>v</a:t>
            </a:r>
            <a:r>
              <a:rPr lang="en-US" sz="2260">
                <a:solidFill>
                  <a:srgbClr val="FFFFFF"/>
                </a:solidFill>
                <a:latin typeface="Poppins"/>
                <a:ea typeface="Poppins"/>
                <a:cs typeface="Poppins"/>
                <a:sym typeface="Poppins"/>
              </a:rPr>
              <a:t>er</a:t>
            </a:r>
            <a:r>
              <a:rPr lang="en-US" sz="2260">
                <a:solidFill>
                  <a:srgbClr val="FFFFFF"/>
                </a:solidFill>
                <a:latin typeface="Poppins"/>
                <a:ea typeface="Poppins"/>
                <a:cs typeface="Poppins"/>
                <a:sym typeface="Poppins"/>
              </a:rPr>
              <a:t>ag</a:t>
            </a:r>
            <a:r>
              <a:rPr lang="en-US" sz="2260">
                <a:solidFill>
                  <a:srgbClr val="FFFFFF"/>
                </a:solidFill>
                <a:latin typeface="Poppins"/>
                <a:ea typeface="Poppins"/>
                <a:cs typeface="Poppins"/>
                <a:sym typeface="Poppins"/>
              </a:rPr>
              <a:t>e </a:t>
            </a:r>
            <a:r>
              <a:rPr lang="en-US" sz="2260">
                <a:solidFill>
                  <a:srgbClr val="FFFFFF"/>
                </a:solidFill>
                <a:latin typeface="Poppins"/>
                <a:ea typeface="Poppins"/>
                <a:cs typeface="Poppins"/>
                <a:sym typeface="Poppins"/>
              </a:rPr>
              <a:t>new</a:t>
            </a:r>
            <a:r>
              <a:rPr lang="en-US" sz="2260">
                <a:solidFill>
                  <a:srgbClr val="FFFFFF"/>
                </a:solidFill>
                <a:latin typeface="Poppins"/>
                <a:ea typeface="Poppins"/>
                <a:cs typeface="Poppins"/>
                <a:sym typeface="Poppins"/>
              </a:rPr>
              <a:t> price o</a:t>
            </a:r>
            <a:r>
              <a:rPr lang="en-US" sz="2260">
                <a:solidFill>
                  <a:srgbClr val="FFFFFF"/>
                </a:solidFill>
                <a:latin typeface="Poppins"/>
                <a:ea typeface="Poppins"/>
                <a:cs typeface="Poppins"/>
                <a:sym typeface="Poppins"/>
              </a:rPr>
              <a:t>f</a:t>
            </a:r>
            <a:r>
              <a:rPr lang="en-US" sz="2260">
                <a:solidFill>
                  <a:srgbClr val="FFFFFF"/>
                </a:solidFill>
                <a:latin typeface="Poppins"/>
                <a:ea typeface="Poppins"/>
                <a:cs typeface="Poppins"/>
                <a:sym typeface="Poppins"/>
              </a:rPr>
              <a:t> the Zephyrus </a:t>
            </a:r>
            <a:r>
              <a:rPr lang="en-US" sz="2260">
                <a:solidFill>
                  <a:srgbClr val="FFFFFF"/>
                </a:solidFill>
                <a:latin typeface="Poppins"/>
                <a:ea typeface="Poppins"/>
                <a:cs typeface="Poppins"/>
                <a:sym typeface="Poppins"/>
              </a:rPr>
              <a:t>m</a:t>
            </a:r>
            <a:r>
              <a:rPr lang="en-US" sz="2260">
                <a:solidFill>
                  <a:srgbClr val="FFFFFF"/>
                </a:solidFill>
                <a:latin typeface="Poppins"/>
                <a:ea typeface="Poppins"/>
                <a:cs typeface="Poppins"/>
                <a:sym typeface="Poppins"/>
              </a:rPr>
              <a:t>od</a:t>
            </a:r>
            <a:r>
              <a:rPr lang="en-US" sz="2260">
                <a:solidFill>
                  <a:srgbClr val="FFFFFF"/>
                </a:solidFill>
                <a:latin typeface="Poppins"/>
                <a:ea typeface="Poppins"/>
                <a:cs typeface="Poppins"/>
                <a:sym typeface="Poppins"/>
              </a:rPr>
              <a:t>el across all recorded entries is approximately $1,280.</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1980488" y="2998184"/>
            <a:ext cx="5965365" cy="4134487"/>
            <a:chOff x="0" y="0"/>
            <a:chExt cx="2831022" cy="1962130"/>
          </a:xfrm>
        </p:grpSpPr>
        <p:sp>
          <p:nvSpPr>
            <p:cNvPr name="Freeform 3" id="3"/>
            <p:cNvSpPr/>
            <p:nvPr/>
          </p:nvSpPr>
          <p:spPr>
            <a:xfrm flipH="false" flipV="false" rot="0">
              <a:off x="0" y="0"/>
              <a:ext cx="2831022" cy="1962130"/>
            </a:xfrm>
            <a:custGeom>
              <a:avLst/>
              <a:gdLst/>
              <a:ahLst/>
              <a:cxnLst/>
              <a:rect r="r" b="b" t="t" l="l"/>
              <a:pathLst>
                <a:path h="1962130" w="2831022">
                  <a:moveTo>
                    <a:pt x="32445" y="0"/>
                  </a:moveTo>
                  <a:lnTo>
                    <a:pt x="2798576" y="0"/>
                  </a:lnTo>
                  <a:cubicBezTo>
                    <a:pt x="2807182" y="0"/>
                    <a:pt x="2815434" y="3418"/>
                    <a:pt x="2821519" y="9503"/>
                  </a:cubicBezTo>
                  <a:cubicBezTo>
                    <a:pt x="2827603" y="15588"/>
                    <a:pt x="2831022" y="23840"/>
                    <a:pt x="2831022" y="32445"/>
                  </a:cubicBezTo>
                  <a:lnTo>
                    <a:pt x="2831022" y="1929685"/>
                  </a:lnTo>
                  <a:cubicBezTo>
                    <a:pt x="2831022" y="1947604"/>
                    <a:pt x="2816496" y="1962130"/>
                    <a:pt x="2798576" y="1962130"/>
                  </a:cubicBezTo>
                  <a:lnTo>
                    <a:pt x="32445" y="1962130"/>
                  </a:lnTo>
                  <a:cubicBezTo>
                    <a:pt x="23840" y="1962130"/>
                    <a:pt x="15588" y="1958712"/>
                    <a:pt x="9503" y="1952627"/>
                  </a:cubicBezTo>
                  <a:cubicBezTo>
                    <a:pt x="3418" y="1946543"/>
                    <a:pt x="0" y="1938290"/>
                    <a:pt x="0" y="1929685"/>
                  </a:cubicBezTo>
                  <a:lnTo>
                    <a:pt x="0" y="32445"/>
                  </a:lnTo>
                  <a:cubicBezTo>
                    <a:pt x="0" y="23840"/>
                    <a:pt x="3418" y="15588"/>
                    <a:pt x="9503" y="9503"/>
                  </a:cubicBezTo>
                  <a:cubicBezTo>
                    <a:pt x="15588" y="3418"/>
                    <a:pt x="23840" y="0"/>
                    <a:pt x="32445" y="0"/>
                  </a:cubicBezTo>
                  <a:close/>
                </a:path>
              </a:pathLst>
            </a:custGeom>
            <a:solidFill>
              <a:srgbClr val="2A3066">
                <a:alpha val="55686"/>
              </a:srgbClr>
            </a:solidFill>
          </p:spPr>
        </p:sp>
        <p:sp>
          <p:nvSpPr>
            <p:cNvPr name="TextBox 4" id="4"/>
            <p:cNvSpPr txBox="true"/>
            <p:nvPr/>
          </p:nvSpPr>
          <p:spPr>
            <a:xfrm>
              <a:off x="0" y="-66675"/>
              <a:ext cx="2831022" cy="202880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5" id="5"/>
          <p:cNvSpPr/>
          <p:nvPr/>
        </p:nvSpPr>
        <p:spPr>
          <a:xfrm flipH="false" flipV="false" rot="0">
            <a:off x="1980488"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sp>
        <p:nvSpPr>
          <p:cNvPr name="AutoShape 6" id="6"/>
          <p:cNvSpPr/>
          <p:nvPr/>
        </p:nvSpPr>
        <p:spPr>
          <a:xfrm flipH="true">
            <a:off x="4960725" y="7132671"/>
            <a:ext cx="2446" cy="517381"/>
          </a:xfrm>
          <a:prstGeom prst="line">
            <a:avLst/>
          </a:prstGeom>
          <a:ln cap="flat" w="47625">
            <a:solidFill>
              <a:srgbClr val="FFFFFF"/>
            </a:solidFill>
            <a:prstDash val="solid"/>
            <a:headEnd type="none" len="sm" w="sm"/>
            <a:tailEnd type="none" len="sm" w="sm"/>
          </a:ln>
        </p:spPr>
      </p:sp>
      <p:sp>
        <p:nvSpPr>
          <p:cNvPr name="Freeform 7" id="7"/>
          <p:cNvSpPr/>
          <p:nvPr/>
        </p:nvSpPr>
        <p:spPr>
          <a:xfrm flipH="false" flipV="false" rot="0">
            <a:off x="1980488" y="7650052"/>
            <a:ext cx="5960474" cy="1691284"/>
          </a:xfrm>
          <a:custGeom>
            <a:avLst/>
            <a:gdLst/>
            <a:ahLst/>
            <a:cxnLst/>
            <a:rect r="r" b="b" t="t" l="l"/>
            <a:pathLst>
              <a:path h="1691284" w="5960474">
                <a:moveTo>
                  <a:pt x="0" y="0"/>
                </a:moveTo>
                <a:lnTo>
                  <a:pt x="5960474" y="0"/>
                </a:lnTo>
                <a:lnTo>
                  <a:pt x="5960474" y="1691284"/>
                </a:lnTo>
                <a:lnTo>
                  <a:pt x="0" y="16912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flipV="true">
            <a:off x="14051990" y="3778254"/>
            <a:ext cx="15351" cy="830455"/>
          </a:xfrm>
          <a:prstGeom prst="line">
            <a:avLst/>
          </a:prstGeom>
          <a:ln cap="flat" w="47625">
            <a:solidFill>
              <a:srgbClr val="FFFFFF"/>
            </a:solidFill>
            <a:prstDash val="solid"/>
            <a:headEnd type="none" len="sm" w="sm"/>
            <a:tailEnd type="none" len="sm" w="sm"/>
          </a:ln>
        </p:spPr>
      </p:sp>
      <p:sp>
        <p:nvSpPr>
          <p:cNvPr name="Freeform 9" id="9"/>
          <p:cNvSpPr/>
          <p:nvPr/>
        </p:nvSpPr>
        <p:spPr>
          <a:xfrm flipH="false" flipV="false" rot="0">
            <a:off x="11361157" y="2242495"/>
            <a:ext cx="5412368" cy="1535759"/>
          </a:xfrm>
          <a:custGeom>
            <a:avLst/>
            <a:gdLst/>
            <a:ahLst/>
            <a:cxnLst/>
            <a:rect r="r" b="b" t="t" l="l"/>
            <a:pathLst>
              <a:path h="1535759" w="5412368">
                <a:moveTo>
                  <a:pt x="0" y="0"/>
                </a:moveTo>
                <a:lnTo>
                  <a:pt x="5412368" y="0"/>
                </a:lnTo>
                <a:lnTo>
                  <a:pt x="5412368" y="1535759"/>
                </a:lnTo>
                <a:lnTo>
                  <a:pt x="0" y="15357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271048" y="3159076"/>
            <a:ext cx="5384246" cy="3812702"/>
          </a:xfrm>
          <a:custGeom>
            <a:avLst/>
            <a:gdLst/>
            <a:ahLst/>
            <a:cxnLst/>
            <a:rect r="r" b="b" t="t" l="l"/>
            <a:pathLst>
              <a:path h="3812702" w="5384246">
                <a:moveTo>
                  <a:pt x="0" y="0"/>
                </a:moveTo>
                <a:lnTo>
                  <a:pt x="5384246" y="0"/>
                </a:lnTo>
                <a:lnTo>
                  <a:pt x="5384246" y="3812703"/>
                </a:lnTo>
                <a:lnTo>
                  <a:pt x="0" y="3812703"/>
                </a:lnTo>
                <a:lnTo>
                  <a:pt x="0" y="0"/>
                </a:lnTo>
                <a:close/>
              </a:path>
            </a:pathLst>
          </a:custGeom>
          <a:blipFill>
            <a:blip r:embed="rId6"/>
            <a:stretch>
              <a:fillRect l="0" t="0" r="0" b="0"/>
            </a:stretch>
          </a:blipFill>
        </p:spPr>
      </p:sp>
      <p:grpSp>
        <p:nvGrpSpPr>
          <p:cNvPr name="Group 11" id="11"/>
          <p:cNvGrpSpPr/>
          <p:nvPr/>
        </p:nvGrpSpPr>
        <p:grpSpPr>
          <a:xfrm rot="0">
            <a:off x="11069307" y="4608710"/>
            <a:ext cx="5965365" cy="4134487"/>
            <a:chOff x="0" y="0"/>
            <a:chExt cx="2831022" cy="1962130"/>
          </a:xfrm>
        </p:grpSpPr>
        <p:sp>
          <p:nvSpPr>
            <p:cNvPr name="Freeform 12" id="12"/>
            <p:cNvSpPr/>
            <p:nvPr/>
          </p:nvSpPr>
          <p:spPr>
            <a:xfrm flipH="false" flipV="false" rot="0">
              <a:off x="0" y="0"/>
              <a:ext cx="2831022" cy="1962130"/>
            </a:xfrm>
            <a:custGeom>
              <a:avLst/>
              <a:gdLst/>
              <a:ahLst/>
              <a:cxnLst/>
              <a:rect r="r" b="b" t="t" l="l"/>
              <a:pathLst>
                <a:path h="1962130" w="2831022">
                  <a:moveTo>
                    <a:pt x="32445" y="0"/>
                  </a:moveTo>
                  <a:lnTo>
                    <a:pt x="2798576" y="0"/>
                  </a:lnTo>
                  <a:cubicBezTo>
                    <a:pt x="2807182" y="0"/>
                    <a:pt x="2815434" y="3418"/>
                    <a:pt x="2821519" y="9503"/>
                  </a:cubicBezTo>
                  <a:cubicBezTo>
                    <a:pt x="2827603" y="15588"/>
                    <a:pt x="2831022" y="23840"/>
                    <a:pt x="2831022" y="32445"/>
                  </a:cubicBezTo>
                  <a:lnTo>
                    <a:pt x="2831022" y="1929685"/>
                  </a:lnTo>
                  <a:cubicBezTo>
                    <a:pt x="2831022" y="1947604"/>
                    <a:pt x="2816496" y="1962130"/>
                    <a:pt x="2798576" y="1962130"/>
                  </a:cubicBezTo>
                  <a:lnTo>
                    <a:pt x="32445" y="1962130"/>
                  </a:lnTo>
                  <a:cubicBezTo>
                    <a:pt x="23840" y="1962130"/>
                    <a:pt x="15588" y="1958712"/>
                    <a:pt x="9503" y="1952627"/>
                  </a:cubicBezTo>
                  <a:cubicBezTo>
                    <a:pt x="3418" y="1946543"/>
                    <a:pt x="0" y="1938290"/>
                    <a:pt x="0" y="1929685"/>
                  </a:cubicBezTo>
                  <a:lnTo>
                    <a:pt x="0" y="32445"/>
                  </a:lnTo>
                  <a:cubicBezTo>
                    <a:pt x="0" y="23840"/>
                    <a:pt x="3418" y="15588"/>
                    <a:pt x="9503" y="9503"/>
                  </a:cubicBezTo>
                  <a:cubicBezTo>
                    <a:pt x="15588" y="3418"/>
                    <a:pt x="23840" y="0"/>
                    <a:pt x="32445" y="0"/>
                  </a:cubicBezTo>
                  <a:close/>
                </a:path>
              </a:pathLst>
            </a:custGeom>
            <a:solidFill>
              <a:srgbClr val="2A3066">
                <a:alpha val="55686"/>
              </a:srgbClr>
            </a:solidFill>
          </p:spPr>
        </p:sp>
        <p:sp>
          <p:nvSpPr>
            <p:cNvPr name="TextBox 13" id="13"/>
            <p:cNvSpPr txBox="true"/>
            <p:nvPr/>
          </p:nvSpPr>
          <p:spPr>
            <a:xfrm>
              <a:off x="0" y="-66675"/>
              <a:ext cx="2831022" cy="202880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14" id="14"/>
          <p:cNvSpPr/>
          <p:nvPr/>
        </p:nvSpPr>
        <p:spPr>
          <a:xfrm flipH="false" flipV="false" rot="0">
            <a:off x="11238168" y="4832417"/>
            <a:ext cx="5627643" cy="3663277"/>
          </a:xfrm>
          <a:custGeom>
            <a:avLst/>
            <a:gdLst/>
            <a:ahLst/>
            <a:cxnLst/>
            <a:rect r="r" b="b" t="t" l="l"/>
            <a:pathLst>
              <a:path h="3663277" w="5627643">
                <a:moveTo>
                  <a:pt x="0" y="0"/>
                </a:moveTo>
                <a:lnTo>
                  <a:pt x="5627644" y="0"/>
                </a:lnTo>
                <a:lnTo>
                  <a:pt x="5627644" y="3663277"/>
                </a:lnTo>
                <a:lnTo>
                  <a:pt x="0" y="3663277"/>
                </a:lnTo>
                <a:lnTo>
                  <a:pt x="0" y="0"/>
                </a:lnTo>
                <a:close/>
              </a:path>
            </a:pathLst>
          </a:custGeom>
          <a:blipFill>
            <a:blip r:embed="rId7"/>
            <a:stretch>
              <a:fillRect l="0" t="0" r="0" b="0"/>
            </a:stretch>
          </a:blipFill>
        </p:spPr>
      </p:sp>
      <p:sp>
        <p:nvSpPr>
          <p:cNvPr name="TextBox 15" id="15"/>
          <p:cNvSpPr txBox="true"/>
          <p:nvPr/>
        </p:nvSpPr>
        <p:spPr>
          <a:xfrm rot="0">
            <a:off x="2435607"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Visualisations and Insights from Power BI</a:t>
            </a:r>
          </a:p>
        </p:txBody>
      </p:sp>
      <p:sp>
        <p:nvSpPr>
          <p:cNvPr name="TextBox 16" id="16"/>
          <p:cNvSpPr txBox="true"/>
          <p:nvPr/>
        </p:nvSpPr>
        <p:spPr>
          <a:xfrm rot="0">
            <a:off x="2435607"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Asus Zephyrus Laptop</a:t>
            </a:r>
          </a:p>
        </p:txBody>
      </p:sp>
      <p:sp>
        <p:nvSpPr>
          <p:cNvPr name="TextBox 17" id="17"/>
          <p:cNvSpPr txBox="true"/>
          <p:nvPr/>
        </p:nvSpPr>
        <p:spPr>
          <a:xfrm rot="0">
            <a:off x="2125768" y="8024965"/>
            <a:ext cx="5674806" cy="643561"/>
          </a:xfrm>
          <a:prstGeom prst="rect">
            <a:avLst/>
          </a:prstGeom>
        </p:spPr>
        <p:txBody>
          <a:bodyPr anchor="t" rtlCol="false" tIns="0" lIns="0" bIns="0" rIns="0">
            <a:spAutoFit/>
          </a:bodyPr>
          <a:lstStyle/>
          <a:p>
            <a:pPr algn="ctr">
              <a:lnSpc>
                <a:spcPts val="2406"/>
              </a:lnSpc>
            </a:pPr>
            <a:r>
              <a:rPr lang="en-US" sz="2228">
                <a:solidFill>
                  <a:srgbClr val="FFFFFF"/>
                </a:solidFill>
                <a:latin typeface="Poppins"/>
                <a:ea typeface="Poppins"/>
                <a:cs typeface="Poppins"/>
                <a:sym typeface="Poppins"/>
              </a:rPr>
              <a:t>This line chart shows </a:t>
            </a:r>
            <a:r>
              <a:rPr lang="en-US" sz="2228">
                <a:solidFill>
                  <a:srgbClr val="FFFFFF"/>
                </a:solidFill>
                <a:latin typeface="Poppins"/>
                <a:ea typeface="Poppins"/>
                <a:cs typeface="Poppins"/>
                <a:sym typeface="Poppins"/>
              </a:rPr>
              <a:t>th</a:t>
            </a:r>
            <a:r>
              <a:rPr lang="en-US" sz="2228">
                <a:solidFill>
                  <a:srgbClr val="FFFFFF"/>
                </a:solidFill>
                <a:latin typeface="Poppins"/>
                <a:ea typeface="Poppins"/>
                <a:cs typeface="Poppins"/>
                <a:sym typeface="Poppins"/>
              </a:rPr>
              <a:t>e</a:t>
            </a:r>
            <a:r>
              <a:rPr lang="en-US" sz="2228">
                <a:solidFill>
                  <a:srgbClr val="FFFFFF"/>
                </a:solidFill>
                <a:latin typeface="Poppins"/>
                <a:ea typeface="Poppins"/>
                <a:cs typeface="Poppins"/>
                <a:sym typeface="Poppins"/>
              </a:rPr>
              <a:t> sum of </a:t>
            </a:r>
            <a:r>
              <a:rPr lang="en-US" sz="2228">
                <a:solidFill>
                  <a:srgbClr val="FFFFFF"/>
                </a:solidFill>
                <a:latin typeface="Poppins"/>
                <a:ea typeface="Poppins"/>
                <a:cs typeface="Poppins"/>
                <a:sym typeface="Poppins"/>
              </a:rPr>
              <a:t>new</a:t>
            </a:r>
            <a:r>
              <a:rPr lang="en-US" sz="2228">
                <a:solidFill>
                  <a:srgbClr val="FFFFFF"/>
                </a:solidFill>
                <a:latin typeface="Poppins"/>
                <a:ea typeface="Poppins"/>
                <a:cs typeface="Poppins"/>
                <a:sym typeface="Poppins"/>
              </a:rPr>
              <a:t> price for the Zephyrus </a:t>
            </a:r>
            <a:r>
              <a:rPr lang="en-US" sz="2228">
                <a:solidFill>
                  <a:srgbClr val="FFFFFF"/>
                </a:solidFill>
                <a:latin typeface="Poppins"/>
                <a:ea typeface="Poppins"/>
                <a:cs typeface="Poppins"/>
                <a:sym typeface="Poppins"/>
              </a:rPr>
              <a:t>laptop by month.</a:t>
            </a:r>
          </a:p>
        </p:txBody>
      </p:sp>
      <p:sp>
        <p:nvSpPr>
          <p:cNvPr name="TextBox 18" id="18"/>
          <p:cNvSpPr txBox="true"/>
          <p:nvPr/>
        </p:nvSpPr>
        <p:spPr>
          <a:xfrm rot="0">
            <a:off x="11566515" y="2638580"/>
            <a:ext cx="5001653" cy="830147"/>
          </a:xfrm>
          <a:prstGeom prst="rect">
            <a:avLst/>
          </a:prstGeom>
        </p:spPr>
        <p:txBody>
          <a:bodyPr anchor="t" rtlCol="false" tIns="0" lIns="0" bIns="0" rIns="0">
            <a:spAutoFit/>
          </a:bodyPr>
          <a:lstStyle/>
          <a:p>
            <a:pPr algn="ctr">
              <a:lnSpc>
                <a:spcPts val="2129"/>
              </a:lnSpc>
              <a:spcBef>
                <a:spcPct val="0"/>
              </a:spcBef>
            </a:pPr>
            <a:r>
              <a:rPr lang="en-US" sz="1971">
                <a:solidFill>
                  <a:srgbClr val="FFFFFF"/>
                </a:solidFill>
                <a:latin typeface="Poppins"/>
                <a:ea typeface="Poppins"/>
                <a:cs typeface="Poppins"/>
                <a:sym typeface="Poppins"/>
              </a:rPr>
              <a:t>This bar chart s</a:t>
            </a:r>
            <a:r>
              <a:rPr lang="en-US" sz="1971">
                <a:solidFill>
                  <a:srgbClr val="FFFFFF"/>
                </a:solidFill>
                <a:latin typeface="Poppins"/>
                <a:ea typeface="Poppins"/>
                <a:cs typeface="Poppins"/>
                <a:sym typeface="Poppins"/>
              </a:rPr>
              <a:t>hows t</a:t>
            </a:r>
            <a:r>
              <a:rPr lang="en-US" sz="1971">
                <a:solidFill>
                  <a:srgbClr val="FFFFFF"/>
                </a:solidFill>
                <a:latin typeface="Poppins"/>
                <a:ea typeface="Poppins"/>
                <a:cs typeface="Poppins"/>
                <a:sym typeface="Poppins"/>
              </a:rPr>
              <a:t>he</a:t>
            </a:r>
            <a:r>
              <a:rPr lang="en-US" sz="1971">
                <a:solidFill>
                  <a:srgbClr val="FFFFFF"/>
                </a:solidFill>
                <a:latin typeface="Poppins"/>
                <a:ea typeface="Poppins"/>
                <a:cs typeface="Poppins"/>
                <a:sym typeface="Poppins"/>
              </a:rPr>
              <a:t> a</a:t>
            </a:r>
            <a:r>
              <a:rPr lang="en-US" sz="1971">
                <a:solidFill>
                  <a:srgbClr val="FFFFFF"/>
                </a:solidFill>
                <a:latin typeface="Poppins"/>
                <a:ea typeface="Poppins"/>
                <a:cs typeface="Poppins"/>
                <a:sym typeface="Poppins"/>
              </a:rPr>
              <a:t>v</a:t>
            </a:r>
            <a:r>
              <a:rPr lang="en-US" sz="1971">
                <a:solidFill>
                  <a:srgbClr val="FFFFFF"/>
                </a:solidFill>
                <a:latin typeface="Poppins"/>
                <a:ea typeface="Poppins"/>
                <a:cs typeface="Poppins"/>
                <a:sym typeface="Poppins"/>
              </a:rPr>
              <a:t>er</a:t>
            </a:r>
            <a:r>
              <a:rPr lang="en-US" sz="1971">
                <a:solidFill>
                  <a:srgbClr val="FFFFFF"/>
                </a:solidFill>
                <a:latin typeface="Poppins"/>
                <a:ea typeface="Poppins"/>
                <a:cs typeface="Poppins"/>
                <a:sym typeface="Poppins"/>
              </a:rPr>
              <a:t>ag</a:t>
            </a:r>
            <a:r>
              <a:rPr lang="en-US" sz="1971">
                <a:solidFill>
                  <a:srgbClr val="FFFFFF"/>
                </a:solidFill>
                <a:latin typeface="Poppins"/>
                <a:ea typeface="Poppins"/>
                <a:cs typeface="Poppins"/>
                <a:sym typeface="Poppins"/>
              </a:rPr>
              <a:t>e price dif</a:t>
            </a:r>
            <a:r>
              <a:rPr lang="en-US" sz="1971">
                <a:solidFill>
                  <a:srgbClr val="FFFFFF"/>
                </a:solidFill>
                <a:latin typeface="Poppins"/>
                <a:ea typeface="Poppins"/>
                <a:cs typeface="Poppins"/>
                <a:sym typeface="Poppins"/>
              </a:rPr>
              <a:t>f</a:t>
            </a:r>
            <a:r>
              <a:rPr lang="en-US" sz="1971">
                <a:solidFill>
                  <a:srgbClr val="FFFFFF"/>
                </a:solidFill>
                <a:latin typeface="Poppins"/>
                <a:ea typeface="Poppins"/>
                <a:cs typeface="Poppins"/>
                <a:sym typeface="Poppins"/>
              </a:rPr>
              <a:t>er</a:t>
            </a:r>
            <a:r>
              <a:rPr lang="en-US" sz="1971">
                <a:solidFill>
                  <a:srgbClr val="FFFFFF"/>
                </a:solidFill>
                <a:latin typeface="Poppins"/>
                <a:ea typeface="Poppins"/>
                <a:cs typeface="Poppins"/>
                <a:sym typeface="Poppins"/>
              </a:rPr>
              <a:t>ence for the Zephyrus laptop by month.</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1980488" y="2998184"/>
            <a:ext cx="5965365" cy="4134487"/>
            <a:chOff x="0" y="0"/>
            <a:chExt cx="2831022" cy="1962130"/>
          </a:xfrm>
        </p:grpSpPr>
        <p:sp>
          <p:nvSpPr>
            <p:cNvPr name="Freeform 3" id="3"/>
            <p:cNvSpPr/>
            <p:nvPr/>
          </p:nvSpPr>
          <p:spPr>
            <a:xfrm flipH="false" flipV="false" rot="0">
              <a:off x="0" y="0"/>
              <a:ext cx="2831022" cy="1962130"/>
            </a:xfrm>
            <a:custGeom>
              <a:avLst/>
              <a:gdLst/>
              <a:ahLst/>
              <a:cxnLst/>
              <a:rect r="r" b="b" t="t" l="l"/>
              <a:pathLst>
                <a:path h="1962130" w="2831022">
                  <a:moveTo>
                    <a:pt x="32445" y="0"/>
                  </a:moveTo>
                  <a:lnTo>
                    <a:pt x="2798576" y="0"/>
                  </a:lnTo>
                  <a:cubicBezTo>
                    <a:pt x="2807182" y="0"/>
                    <a:pt x="2815434" y="3418"/>
                    <a:pt x="2821519" y="9503"/>
                  </a:cubicBezTo>
                  <a:cubicBezTo>
                    <a:pt x="2827603" y="15588"/>
                    <a:pt x="2831022" y="23840"/>
                    <a:pt x="2831022" y="32445"/>
                  </a:cubicBezTo>
                  <a:lnTo>
                    <a:pt x="2831022" y="1929685"/>
                  </a:lnTo>
                  <a:cubicBezTo>
                    <a:pt x="2831022" y="1947604"/>
                    <a:pt x="2816496" y="1962130"/>
                    <a:pt x="2798576" y="1962130"/>
                  </a:cubicBezTo>
                  <a:lnTo>
                    <a:pt x="32445" y="1962130"/>
                  </a:lnTo>
                  <a:cubicBezTo>
                    <a:pt x="23840" y="1962130"/>
                    <a:pt x="15588" y="1958712"/>
                    <a:pt x="9503" y="1952627"/>
                  </a:cubicBezTo>
                  <a:cubicBezTo>
                    <a:pt x="3418" y="1946543"/>
                    <a:pt x="0" y="1938290"/>
                    <a:pt x="0" y="1929685"/>
                  </a:cubicBezTo>
                  <a:lnTo>
                    <a:pt x="0" y="32445"/>
                  </a:lnTo>
                  <a:cubicBezTo>
                    <a:pt x="0" y="23840"/>
                    <a:pt x="3418" y="15588"/>
                    <a:pt x="9503" y="9503"/>
                  </a:cubicBezTo>
                  <a:cubicBezTo>
                    <a:pt x="15588" y="3418"/>
                    <a:pt x="23840" y="0"/>
                    <a:pt x="32445" y="0"/>
                  </a:cubicBezTo>
                  <a:close/>
                </a:path>
              </a:pathLst>
            </a:custGeom>
            <a:solidFill>
              <a:srgbClr val="2A3066">
                <a:alpha val="55686"/>
              </a:srgbClr>
            </a:solidFill>
          </p:spPr>
        </p:sp>
        <p:sp>
          <p:nvSpPr>
            <p:cNvPr name="TextBox 4" id="4"/>
            <p:cNvSpPr txBox="true"/>
            <p:nvPr/>
          </p:nvSpPr>
          <p:spPr>
            <a:xfrm>
              <a:off x="0" y="-66675"/>
              <a:ext cx="2831022" cy="202880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5" id="5"/>
          <p:cNvSpPr/>
          <p:nvPr/>
        </p:nvSpPr>
        <p:spPr>
          <a:xfrm flipH="false" flipV="false" rot="0">
            <a:off x="1980488"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sp>
        <p:nvSpPr>
          <p:cNvPr name="AutoShape 6" id="6"/>
          <p:cNvSpPr/>
          <p:nvPr/>
        </p:nvSpPr>
        <p:spPr>
          <a:xfrm flipH="true">
            <a:off x="4960725" y="7132671"/>
            <a:ext cx="2446" cy="517381"/>
          </a:xfrm>
          <a:prstGeom prst="line">
            <a:avLst/>
          </a:prstGeom>
          <a:ln cap="flat" w="47625">
            <a:solidFill>
              <a:srgbClr val="FFFFFF"/>
            </a:solidFill>
            <a:prstDash val="solid"/>
            <a:headEnd type="none" len="sm" w="sm"/>
            <a:tailEnd type="none" len="sm" w="sm"/>
          </a:ln>
        </p:spPr>
      </p:sp>
      <p:sp>
        <p:nvSpPr>
          <p:cNvPr name="Freeform 7" id="7"/>
          <p:cNvSpPr/>
          <p:nvPr/>
        </p:nvSpPr>
        <p:spPr>
          <a:xfrm flipH="false" flipV="false" rot="0">
            <a:off x="1980488" y="7650052"/>
            <a:ext cx="5960474" cy="1691284"/>
          </a:xfrm>
          <a:custGeom>
            <a:avLst/>
            <a:gdLst/>
            <a:ahLst/>
            <a:cxnLst/>
            <a:rect r="r" b="b" t="t" l="l"/>
            <a:pathLst>
              <a:path h="1691284" w="5960474">
                <a:moveTo>
                  <a:pt x="0" y="0"/>
                </a:moveTo>
                <a:lnTo>
                  <a:pt x="5960474" y="0"/>
                </a:lnTo>
                <a:lnTo>
                  <a:pt x="5960474" y="1691284"/>
                </a:lnTo>
                <a:lnTo>
                  <a:pt x="0" y="16912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flipV="true">
            <a:off x="14051990" y="3778254"/>
            <a:ext cx="15351" cy="830455"/>
          </a:xfrm>
          <a:prstGeom prst="line">
            <a:avLst/>
          </a:prstGeom>
          <a:ln cap="flat" w="47625">
            <a:solidFill>
              <a:srgbClr val="FFFFFF"/>
            </a:solidFill>
            <a:prstDash val="solid"/>
            <a:headEnd type="none" len="sm" w="sm"/>
            <a:tailEnd type="none" len="sm" w="sm"/>
          </a:ln>
        </p:spPr>
      </p:sp>
      <p:sp>
        <p:nvSpPr>
          <p:cNvPr name="Freeform 9" id="9"/>
          <p:cNvSpPr/>
          <p:nvPr/>
        </p:nvSpPr>
        <p:spPr>
          <a:xfrm flipH="false" flipV="false" rot="0">
            <a:off x="11361157" y="2242495"/>
            <a:ext cx="5412368" cy="1535759"/>
          </a:xfrm>
          <a:custGeom>
            <a:avLst/>
            <a:gdLst/>
            <a:ahLst/>
            <a:cxnLst/>
            <a:rect r="r" b="b" t="t" l="l"/>
            <a:pathLst>
              <a:path h="1535759" w="5412368">
                <a:moveTo>
                  <a:pt x="0" y="0"/>
                </a:moveTo>
                <a:lnTo>
                  <a:pt x="5412368" y="0"/>
                </a:lnTo>
                <a:lnTo>
                  <a:pt x="5412368" y="1535759"/>
                </a:lnTo>
                <a:lnTo>
                  <a:pt x="0" y="15357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1069307" y="4608710"/>
            <a:ext cx="5965365" cy="4134487"/>
            <a:chOff x="0" y="0"/>
            <a:chExt cx="2831022" cy="1962130"/>
          </a:xfrm>
        </p:grpSpPr>
        <p:sp>
          <p:nvSpPr>
            <p:cNvPr name="Freeform 11" id="11"/>
            <p:cNvSpPr/>
            <p:nvPr/>
          </p:nvSpPr>
          <p:spPr>
            <a:xfrm flipH="false" flipV="false" rot="0">
              <a:off x="0" y="0"/>
              <a:ext cx="2831022" cy="1962130"/>
            </a:xfrm>
            <a:custGeom>
              <a:avLst/>
              <a:gdLst/>
              <a:ahLst/>
              <a:cxnLst/>
              <a:rect r="r" b="b" t="t" l="l"/>
              <a:pathLst>
                <a:path h="1962130" w="2831022">
                  <a:moveTo>
                    <a:pt x="32445" y="0"/>
                  </a:moveTo>
                  <a:lnTo>
                    <a:pt x="2798576" y="0"/>
                  </a:lnTo>
                  <a:cubicBezTo>
                    <a:pt x="2807182" y="0"/>
                    <a:pt x="2815434" y="3418"/>
                    <a:pt x="2821519" y="9503"/>
                  </a:cubicBezTo>
                  <a:cubicBezTo>
                    <a:pt x="2827603" y="15588"/>
                    <a:pt x="2831022" y="23840"/>
                    <a:pt x="2831022" y="32445"/>
                  </a:cubicBezTo>
                  <a:lnTo>
                    <a:pt x="2831022" y="1929685"/>
                  </a:lnTo>
                  <a:cubicBezTo>
                    <a:pt x="2831022" y="1947604"/>
                    <a:pt x="2816496" y="1962130"/>
                    <a:pt x="2798576" y="1962130"/>
                  </a:cubicBezTo>
                  <a:lnTo>
                    <a:pt x="32445" y="1962130"/>
                  </a:lnTo>
                  <a:cubicBezTo>
                    <a:pt x="23840" y="1962130"/>
                    <a:pt x="15588" y="1958712"/>
                    <a:pt x="9503" y="1952627"/>
                  </a:cubicBezTo>
                  <a:cubicBezTo>
                    <a:pt x="3418" y="1946543"/>
                    <a:pt x="0" y="1938290"/>
                    <a:pt x="0" y="1929685"/>
                  </a:cubicBezTo>
                  <a:lnTo>
                    <a:pt x="0" y="32445"/>
                  </a:lnTo>
                  <a:cubicBezTo>
                    <a:pt x="0" y="23840"/>
                    <a:pt x="3418" y="15588"/>
                    <a:pt x="9503" y="9503"/>
                  </a:cubicBezTo>
                  <a:cubicBezTo>
                    <a:pt x="15588" y="3418"/>
                    <a:pt x="23840" y="0"/>
                    <a:pt x="32445" y="0"/>
                  </a:cubicBezTo>
                  <a:close/>
                </a:path>
              </a:pathLst>
            </a:custGeom>
            <a:solidFill>
              <a:srgbClr val="2A3066">
                <a:alpha val="55686"/>
              </a:srgbClr>
            </a:solidFill>
          </p:spPr>
        </p:sp>
        <p:sp>
          <p:nvSpPr>
            <p:cNvPr name="TextBox 12" id="12"/>
            <p:cNvSpPr txBox="true"/>
            <p:nvPr/>
          </p:nvSpPr>
          <p:spPr>
            <a:xfrm>
              <a:off x="0" y="-66675"/>
              <a:ext cx="2831022" cy="202880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13" id="13"/>
          <p:cNvSpPr/>
          <p:nvPr/>
        </p:nvSpPr>
        <p:spPr>
          <a:xfrm flipH="false" flipV="false" rot="0">
            <a:off x="2125768" y="3300711"/>
            <a:ext cx="5674806" cy="3532660"/>
          </a:xfrm>
          <a:custGeom>
            <a:avLst/>
            <a:gdLst/>
            <a:ahLst/>
            <a:cxnLst/>
            <a:rect r="r" b="b" t="t" l="l"/>
            <a:pathLst>
              <a:path h="3532660" w="5674806">
                <a:moveTo>
                  <a:pt x="0" y="0"/>
                </a:moveTo>
                <a:lnTo>
                  <a:pt x="5674806" y="0"/>
                </a:lnTo>
                <a:lnTo>
                  <a:pt x="5674806" y="3532660"/>
                </a:lnTo>
                <a:lnTo>
                  <a:pt x="0" y="3532660"/>
                </a:lnTo>
                <a:lnTo>
                  <a:pt x="0" y="0"/>
                </a:lnTo>
                <a:close/>
              </a:path>
            </a:pathLst>
          </a:custGeom>
          <a:blipFill>
            <a:blip r:embed="rId6"/>
            <a:stretch>
              <a:fillRect l="0" t="0" r="0" b="0"/>
            </a:stretch>
          </a:blipFill>
        </p:spPr>
      </p:sp>
      <p:sp>
        <p:nvSpPr>
          <p:cNvPr name="Freeform 14" id="14"/>
          <p:cNvSpPr/>
          <p:nvPr/>
        </p:nvSpPr>
        <p:spPr>
          <a:xfrm flipH="false" flipV="false" rot="0">
            <a:off x="11361157" y="4741128"/>
            <a:ext cx="5412368" cy="3869650"/>
          </a:xfrm>
          <a:custGeom>
            <a:avLst/>
            <a:gdLst/>
            <a:ahLst/>
            <a:cxnLst/>
            <a:rect r="r" b="b" t="t" l="l"/>
            <a:pathLst>
              <a:path h="3869650" w="5412368">
                <a:moveTo>
                  <a:pt x="0" y="0"/>
                </a:moveTo>
                <a:lnTo>
                  <a:pt x="5412368" y="0"/>
                </a:lnTo>
                <a:lnTo>
                  <a:pt x="5412368" y="3869650"/>
                </a:lnTo>
                <a:lnTo>
                  <a:pt x="0" y="3869650"/>
                </a:lnTo>
                <a:lnTo>
                  <a:pt x="0" y="0"/>
                </a:lnTo>
                <a:close/>
              </a:path>
            </a:pathLst>
          </a:custGeom>
          <a:blipFill>
            <a:blip r:embed="rId7"/>
            <a:stretch>
              <a:fillRect l="0" t="0" r="0" b="0"/>
            </a:stretch>
          </a:blipFill>
        </p:spPr>
      </p:sp>
      <p:sp>
        <p:nvSpPr>
          <p:cNvPr name="TextBox 15" id="15"/>
          <p:cNvSpPr txBox="true"/>
          <p:nvPr/>
        </p:nvSpPr>
        <p:spPr>
          <a:xfrm rot="0">
            <a:off x="2435607"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Visualisations and Insights from Power BI</a:t>
            </a:r>
          </a:p>
        </p:txBody>
      </p:sp>
      <p:sp>
        <p:nvSpPr>
          <p:cNvPr name="TextBox 16" id="16"/>
          <p:cNvSpPr txBox="true"/>
          <p:nvPr/>
        </p:nvSpPr>
        <p:spPr>
          <a:xfrm rot="0">
            <a:off x="2435607"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Asus ZephyrusLaptop</a:t>
            </a:r>
          </a:p>
        </p:txBody>
      </p:sp>
      <p:sp>
        <p:nvSpPr>
          <p:cNvPr name="TextBox 17" id="17"/>
          <p:cNvSpPr txBox="true"/>
          <p:nvPr/>
        </p:nvSpPr>
        <p:spPr>
          <a:xfrm rot="0">
            <a:off x="2125768" y="8203251"/>
            <a:ext cx="5674806" cy="594412"/>
          </a:xfrm>
          <a:prstGeom prst="rect">
            <a:avLst/>
          </a:prstGeom>
        </p:spPr>
        <p:txBody>
          <a:bodyPr anchor="t" rtlCol="false" tIns="0" lIns="0" bIns="0" rIns="0">
            <a:spAutoFit/>
          </a:bodyPr>
          <a:lstStyle/>
          <a:p>
            <a:pPr algn="ctr">
              <a:lnSpc>
                <a:spcPts val="2298"/>
              </a:lnSpc>
            </a:pPr>
            <a:r>
              <a:rPr lang="en-US" sz="2128">
                <a:solidFill>
                  <a:srgbClr val="FFFFFF"/>
                </a:solidFill>
                <a:latin typeface="Poppins"/>
                <a:ea typeface="Poppins"/>
                <a:cs typeface="Poppins"/>
                <a:sym typeface="Poppins"/>
              </a:rPr>
              <a:t>This line chart displays </a:t>
            </a:r>
            <a:r>
              <a:rPr lang="en-US" sz="2128">
                <a:solidFill>
                  <a:srgbClr val="FFFFFF"/>
                </a:solidFill>
                <a:latin typeface="Poppins"/>
                <a:ea typeface="Poppins"/>
                <a:cs typeface="Poppins"/>
                <a:sym typeface="Poppins"/>
              </a:rPr>
              <a:t>th</a:t>
            </a:r>
            <a:r>
              <a:rPr lang="en-US" sz="2128">
                <a:solidFill>
                  <a:srgbClr val="FFFFFF"/>
                </a:solidFill>
                <a:latin typeface="Poppins"/>
                <a:ea typeface="Poppins"/>
                <a:cs typeface="Poppins"/>
                <a:sym typeface="Poppins"/>
              </a:rPr>
              <a:t>e</a:t>
            </a:r>
            <a:r>
              <a:rPr lang="en-US" sz="2128">
                <a:solidFill>
                  <a:srgbClr val="FFFFFF"/>
                </a:solidFill>
                <a:latin typeface="Poppins"/>
                <a:ea typeface="Poppins"/>
                <a:cs typeface="Poppins"/>
                <a:sym typeface="Poppins"/>
              </a:rPr>
              <a:t> av</a:t>
            </a:r>
            <a:r>
              <a:rPr lang="en-US" sz="2128">
                <a:solidFill>
                  <a:srgbClr val="FFFFFF"/>
                </a:solidFill>
                <a:latin typeface="Poppins"/>
                <a:ea typeface="Poppins"/>
                <a:cs typeface="Poppins"/>
                <a:sym typeface="Poppins"/>
              </a:rPr>
              <a:t>e</a:t>
            </a:r>
            <a:r>
              <a:rPr lang="en-US" sz="2128">
                <a:solidFill>
                  <a:srgbClr val="FFFFFF"/>
                </a:solidFill>
                <a:latin typeface="Poppins"/>
                <a:ea typeface="Poppins"/>
                <a:cs typeface="Poppins"/>
                <a:sym typeface="Poppins"/>
              </a:rPr>
              <a:t>rage sales rank o</a:t>
            </a:r>
            <a:r>
              <a:rPr lang="en-US" sz="2128">
                <a:solidFill>
                  <a:srgbClr val="FFFFFF"/>
                </a:solidFill>
                <a:latin typeface="Poppins"/>
                <a:ea typeface="Poppins"/>
                <a:cs typeface="Poppins"/>
                <a:sym typeface="Poppins"/>
              </a:rPr>
              <a:t>f</a:t>
            </a:r>
            <a:r>
              <a:rPr lang="en-US" sz="2128">
                <a:solidFill>
                  <a:srgbClr val="FFFFFF"/>
                </a:solidFill>
                <a:latin typeface="Poppins"/>
                <a:ea typeface="Poppins"/>
                <a:cs typeface="Poppins"/>
                <a:sym typeface="Poppins"/>
              </a:rPr>
              <a:t> the Zephyrus </a:t>
            </a:r>
            <a:r>
              <a:rPr lang="en-US" sz="2128">
                <a:solidFill>
                  <a:srgbClr val="FFFFFF"/>
                </a:solidFill>
                <a:latin typeface="Poppins"/>
                <a:ea typeface="Poppins"/>
                <a:cs typeface="Poppins"/>
                <a:sym typeface="Poppins"/>
              </a:rPr>
              <a:t>laptop by month.</a:t>
            </a:r>
          </a:p>
        </p:txBody>
      </p:sp>
      <p:sp>
        <p:nvSpPr>
          <p:cNvPr name="TextBox 18" id="18"/>
          <p:cNvSpPr txBox="true"/>
          <p:nvPr/>
        </p:nvSpPr>
        <p:spPr>
          <a:xfrm rot="0">
            <a:off x="11566515" y="2580252"/>
            <a:ext cx="5001653" cy="860246"/>
          </a:xfrm>
          <a:prstGeom prst="rect">
            <a:avLst/>
          </a:prstGeom>
        </p:spPr>
        <p:txBody>
          <a:bodyPr anchor="t" rtlCol="false" tIns="0" lIns="0" bIns="0" rIns="0">
            <a:spAutoFit/>
          </a:bodyPr>
          <a:lstStyle/>
          <a:p>
            <a:pPr algn="ctr">
              <a:lnSpc>
                <a:spcPts val="2237"/>
              </a:lnSpc>
              <a:spcBef>
                <a:spcPct val="0"/>
              </a:spcBef>
            </a:pPr>
            <a:r>
              <a:rPr lang="en-US" sz="2071">
                <a:solidFill>
                  <a:srgbClr val="FFFFFF"/>
                </a:solidFill>
                <a:latin typeface="Poppins"/>
                <a:ea typeface="Poppins"/>
                <a:cs typeface="Poppins"/>
                <a:sym typeface="Poppins"/>
              </a:rPr>
              <a:t>This bar chart s</a:t>
            </a:r>
            <a:r>
              <a:rPr lang="en-US" sz="2071">
                <a:solidFill>
                  <a:srgbClr val="FFFFFF"/>
                </a:solidFill>
                <a:latin typeface="Poppins"/>
                <a:ea typeface="Poppins"/>
                <a:cs typeface="Poppins"/>
                <a:sym typeface="Poppins"/>
              </a:rPr>
              <a:t>hows t</a:t>
            </a:r>
            <a:r>
              <a:rPr lang="en-US" sz="2071">
                <a:solidFill>
                  <a:srgbClr val="FFFFFF"/>
                </a:solidFill>
                <a:latin typeface="Poppins"/>
                <a:ea typeface="Poppins"/>
                <a:cs typeface="Poppins"/>
                <a:sym typeface="Poppins"/>
              </a:rPr>
              <a:t>he</a:t>
            </a:r>
            <a:r>
              <a:rPr lang="en-US" sz="2071">
                <a:solidFill>
                  <a:srgbClr val="FFFFFF"/>
                </a:solidFill>
                <a:latin typeface="Poppins"/>
                <a:ea typeface="Poppins"/>
                <a:cs typeface="Poppins"/>
                <a:sym typeface="Poppins"/>
              </a:rPr>
              <a:t> a</a:t>
            </a:r>
            <a:r>
              <a:rPr lang="en-US" sz="2071">
                <a:solidFill>
                  <a:srgbClr val="FFFFFF"/>
                </a:solidFill>
                <a:latin typeface="Poppins"/>
                <a:ea typeface="Poppins"/>
                <a:cs typeface="Poppins"/>
                <a:sym typeface="Poppins"/>
              </a:rPr>
              <a:t>v</a:t>
            </a:r>
            <a:r>
              <a:rPr lang="en-US" sz="2071">
                <a:solidFill>
                  <a:srgbClr val="FFFFFF"/>
                </a:solidFill>
                <a:latin typeface="Poppins"/>
                <a:ea typeface="Poppins"/>
                <a:cs typeface="Poppins"/>
                <a:sym typeface="Poppins"/>
              </a:rPr>
              <a:t>er</a:t>
            </a:r>
            <a:r>
              <a:rPr lang="en-US" sz="2071">
                <a:solidFill>
                  <a:srgbClr val="FFFFFF"/>
                </a:solidFill>
                <a:latin typeface="Poppins"/>
                <a:ea typeface="Poppins"/>
                <a:cs typeface="Poppins"/>
                <a:sym typeface="Poppins"/>
              </a:rPr>
              <a:t>ag</a:t>
            </a:r>
            <a:r>
              <a:rPr lang="en-US" sz="2071">
                <a:solidFill>
                  <a:srgbClr val="FFFFFF"/>
                </a:solidFill>
                <a:latin typeface="Poppins"/>
                <a:ea typeface="Poppins"/>
                <a:cs typeface="Poppins"/>
                <a:sym typeface="Poppins"/>
              </a:rPr>
              <a:t>e Ra</a:t>
            </a:r>
            <a:r>
              <a:rPr lang="en-US" sz="2071">
                <a:solidFill>
                  <a:srgbClr val="FFFFFF"/>
                </a:solidFill>
                <a:latin typeface="Poppins"/>
                <a:ea typeface="Poppins"/>
                <a:cs typeface="Poppins"/>
                <a:sym typeface="Poppins"/>
              </a:rPr>
              <a:t>nk vs</a:t>
            </a:r>
            <a:r>
              <a:rPr lang="en-US" sz="2071">
                <a:solidFill>
                  <a:srgbClr val="FFFFFF"/>
                </a:solidFill>
                <a:latin typeface="Poppins"/>
                <a:ea typeface="Poppins"/>
                <a:cs typeface="Poppins"/>
                <a:sym typeface="Poppins"/>
              </a:rPr>
              <a:t> Price ratio </a:t>
            </a:r>
            <a:r>
              <a:rPr lang="en-US" sz="2071">
                <a:solidFill>
                  <a:srgbClr val="FFFFFF"/>
                </a:solidFill>
                <a:latin typeface="Poppins"/>
                <a:ea typeface="Poppins"/>
                <a:cs typeface="Poppins"/>
                <a:sym typeface="Poppins"/>
              </a:rPr>
              <a:t>for</a:t>
            </a:r>
            <a:r>
              <a:rPr lang="en-US" sz="2071">
                <a:solidFill>
                  <a:srgbClr val="FFFFFF"/>
                </a:solidFill>
                <a:latin typeface="Poppins"/>
                <a:ea typeface="Poppins"/>
                <a:cs typeface="Poppins"/>
                <a:sym typeface="Poppins"/>
              </a:rPr>
              <a:t> the Z</a:t>
            </a:r>
            <a:r>
              <a:rPr lang="en-US" sz="2071">
                <a:solidFill>
                  <a:srgbClr val="FFFFFF"/>
                </a:solidFill>
                <a:latin typeface="Poppins"/>
                <a:ea typeface="Poppins"/>
                <a:cs typeface="Poppins"/>
                <a:sym typeface="Poppins"/>
              </a:rPr>
              <a:t>ephyrus laptop by month.</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1980488"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sp>
        <p:nvSpPr>
          <p:cNvPr name="AutoShape 3" id="3"/>
          <p:cNvSpPr/>
          <p:nvPr/>
        </p:nvSpPr>
        <p:spPr>
          <a:xfrm flipV="true">
            <a:off x="3360080" y="3056513"/>
            <a:ext cx="5783920" cy="23012"/>
          </a:xfrm>
          <a:prstGeom prst="line">
            <a:avLst/>
          </a:prstGeom>
          <a:ln cap="flat" w="38100">
            <a:solidFill>
              <a:srgbClr val="FFFFFF"/>
            </a:solidFill>
            <a:prstDash val="solid"/>
            <a:headEnd type="none" len="sm" w="sm"/>
            <a:tailEnd type="none" len="sm" w="sm"/>
          </a:ln>
        </p:spPr>
      </p:sp>
      <p:sp>
        <p:nvSpPr>
          <p:cNvPr name="Freeform 4" id="4"/>
          <p:cNvSpPr/>
          <p:nvPr/>
        </p:nvSpPr>
        <p:spPr>
          <a:xfrm flipH="false" flipV="false" rot="0">
            <a:off x="9144000" y="2089748"/>
            <a:ext cx="6814206" cy="1933531"/>
          </a:xfrm>
          <a:custGeom>
            <a:avLst/>
            <a:gdLst/>
            <a:ahLst/>
            <a:cxnLst/>
            <a:rect r="r" b="b" t="t" l="l"/>
            <a:pathLst>
              <a:path h="1933531" w="6814206">
                <a:moveTo>
                  <a:pt x="0" y="0"/>
                </a:moveTo>
                <a:lnTo>
                  <a:pt x="6814206" y="0"/>
                </a:lnTo>
                <a:lnTo>
                  <a:pt x="6814206" y="1933531"/>
                </a:lnTo>
                <a:lnTo>
                  <a:pt x="0" y="19335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435607"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Insights</a:t>
            </a:r>
          </a:p>
        </p:txBody>
      </p:sp>
      <p:sp>
        <p:nvSpPr>
          <p:cNvPr name="TextBox 6" id="6"/>
          <p:cNvSpPr txBox="true"/>
          <p:nvPr/>
        </p:nvSpPr>
        <p:spPr>
          <a:xfrm rot="0">
            <a:off x="2435607"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Asus ZephyrusLaptop</a:t>
            </a:r>
          </a:p>
        </p:txBody>
      </p:sp>
      <p:grpSp>
        <p:nvGrpSpPr>
          <p:cNvPr name="Group 7" id="7"/>
          <p:cNvGrpSpPr/>
          <p:nvPr/>
        </p:nvGrpSpPr>
        <p:grpSpPr>
          <a:xfrm rot="0">
            <a:off x="2419807" y="2598265"/>
            <a:ext cx="940273" cy="962521"/>
            <a:chOff x="0" y="0"/>
            <a:chExt cx="794013" cy="812800"/>
          </a:xfrm>
        </p:grpSpPr>
        <p:sp>
          <p:nvSpPr>
            <p:cNvPr name="Freeform 8" id="8"/>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9" id="9"/>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10" id="10"/>
          <p:cNvSpPr txBox="true"/>
          <p:nvPr/>
        </p:nvSpPr>
        <p:spPr>
          <a:xfrm rot="0">
            <a:off x="2586754" y="2753637"/>
            <a:ext cx="606379" cy="661301"/>
          </a:xfrm>
          <a:prstGeom prst="rect">
            <a:avLst/>
          </a:prstGeom>
        </p:spPr>
        <p:txBody>
          <a:bodyPr anchor="t" rtlCol="false" tIns="0" lIns="0" bIns="0" rIns="0">
            <a:spAutoFit/>
          </a:bodyPr>
          <a:lstStyle/>
          <a:p>
            <a:pPr algn="ctr">
              <a:lnSpc>
                <a:spcPts val="4784"/>
              </a:lnSpc>
            </a:pPr>
            <a:r>
              <a:rPr lang="en-US" sz="4430">
                <a:solidFill>
                  <a:srgbClr val="FFFFFF"/>
                </a:solidFill>
                <a:latin typeface="Poppins"/>
                <a:ea typeface="Poppins"/>
                <a:cs typeface="Poppins"/>
                <a:sym typeface="Poppins"/>
              </a:rPr>
              <a:t>1</a:t>
            </a:r>
          </a:p>
        </p:txBody>
      </p:sp>
      <p:sp>
        <p:nvSpPr>
          <p:cNvPr name="Freeform 11" id="11"/>
          <p:cNvSpPr/>
          <p:nvPr/>
        </p:nvSpPr>
        <p:spPr>
          <a:xfrm flipH="false" flipV="false" rot="0">
            <a:off x="9144000" y="5565103"/>
            <a:ext cx="6814206" cy="1933531"/>
          </a:xfrm>
          <a:custGeom>
            <a:avLst/>
            <a:gdLst/>
            <a:ahLst/>
            <a:cxnLst/>
            <a:rect r="r" b="b" t="t" l="l"/>
            <a:pathLst>
              <a:path h="1933531" w="6814206">
                <a:moveTo>
                  <a:pt x="0" y="0"/>
                </a:moveTo>
                <a:lnTo>
                  <a:pt x="6814206" y="0"/>
                </a:lnTo>
                <a:lnTo>
                  <a:pt x="6814206" y="1933530"/>
                </a:lnTo>
                <a:lnTo>
                  <a:pt x="0" y="19335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2329794" y="4070178"/>
            <a:ext cx="6814206" cy="1933531"/>
          </a:xfrm>
          <a:custGeom>
            <a:avLst/>
            <a:gdLst/>
            <a:ahLst/>
            <a:cxnLst/>
            <a:rect r="r" b="b" t="t" l="l"/>
            <a:pathLst>
              <a:path h="1933531" w="6814206">
                <a:moveTo>
                  <a:pt x="0" y="0"/>
                </a:moveTo>
                <a:lnTo>
                  <a:pt x="6814206" y="0"/>
                </a:lnTo>
                <a:lnTo>
                  <a:pt x="6814206" y="1933531"/>
                </a:lnTo>
                <a:lnTo>
                  <a:pt x="0" y="19335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3" id="13"/>
          <p:cNvSpPr/>
          <p:nvPr/>
        </p:nvSpPr>
        <p:spPr>
          <a:xfrm flipH="true">
            <a:off x="9144000" y="5019522"/>
            <a:ext cx="5873933" cy="17421"/>
          </a:xfrm>
          <a:prstGeom prst="line">
            <a:avLst/>
          </a:prstGeom>
          <a:ln cap="flat" w="38100">
            <a:solidFill>
              <a:srgbClr val="FFFFFF"/>
            </a:solidFill>
            <a:prstDash val="solid"/>
            <a:headEnd type="none" len="sm" w="sm"/>
            <a:tailEnd type="none" len="sm" w="sm"/>
          </a:ln>
        </p:spPr>
      </p:sp>
      <p:grpSp>
        <p:nvGrpSpPr>
          <p:cNvPr name="Group 14" id="14"/>
          <p:cNvGrpSpPr/>
          <p:nvPr/>
        </p:nvGrpSpPr>
        <p:grpSpPr>
          <a:xfrm rot="-10800000">
            <a:off x="15017933" y="4538261"/>
            <a:ext cx="940273" cy="962521"/>
            <a:chOff x="0" y="0"/>
            <a:chExt cx="794013" cy="812800"/>
          </a:xfrm>
        </p:grpSpPr>
        <p:sp>
          <p:nvSpPr>
            <p:cNvPr name="Freeform 15" id="15"/>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16" id="16"/>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17" id="17"/>
          <p:cNvSpPr txBox="true"/>
          <p:nvPr/>
        </p:nvSpPr>
        <p:spPr>
          <a:xfrm rot="0">
            <a:off x="15327183" y="4503107"/>
            <a:ext cx="321773" cy="851855"/>
          </a:xfrm>
          <a:prstGeom prst="rect">
            <a:avLst/>
          </a:prstGeom>
        </p:spPr>
        <p:txBody>
          <a:bodyPr anchor="t" rtlCol="false" tIns="0" lIns="0" bIns="0" rIns="0">
            <a:spAutoFit/>
          </a:bodyPr>
          <a:lstStyle/>
          <a:p>
            <a:pPr algn="ctr">
              <a:lnSpc>
                <a:spcPts val="7137"/>
              </a:lnSpc>
              <a:spcBef>
                <a:spcPct val="0"/>
              </a:spcBef>
            </a:pPr>
            <a:r>
              <a:rPr lang="en-US" sz="4430">
                <a:solidFill>
                  <a:srgbClr val="FFFFFF"/>
                </a:solidFill>
                <a:latin typeface="Open Sans"/>
                <a:ea typeface="Open Sans"/>
                <a:cs typeface="Open Sans"/>
                <a:sym typeface="Open Sans"/>
              </a:rPr>
              <a:t>2</a:t>
            </a:r>
          </a:p>
        </p:txBody>
      </p:sp>
      <p:sp>
        <p:nvSpPr>
          <p:cNvPr name="AutoShape 18" id="18"/>
          <p:cNvSpPr/>
          <p:nvPr/>
        </p:nvSpPr>
        <p:spPr>
          <a:xfrm>
            <a:off x="3360080" y="6531868"/>
            <a:ext cx="5783920" cy="0"/>
          </a:xfrm>
          <a:prstGeom prst="line">
            <a:avLst/>
          </a:prstGeom>
          <a:ln cap="flat" w="38100">
            <a:solidFill>
              <a:srgbClr val="FFFFFF"/>
            </a:solidFill>
            <a:prstDash val="solid"/>
            <a:headEnd type="none" len="sm" w="sm"/>
            <a:tailEnd type="none" len="sm" w="sm"/>
          </a:ln>
        </p:spPr>
      </p:sp>
      <p:grpSp>
        <p:nvGrpSpPr>
          <p:cNvPr name="Group 19" id="19"/>
          <p:cNvGrpSpPr/>
          <p:nvPr/>
        </p:nvGrpSpPr>
        <p:grpSpPr>
          <a:xfrm rot="0">
            <a:off x="2419807" y="6050608"/>
            <a:ext cx="940273" cy="962521"/>
            <a:chOff x="0" y="0"/>
            <a:chExt cx="794013" cy="812800"/>
          </a:xfrm>
        </p:grpSpPr>
        <p:sp>
          <p:nvSpPr>
            <p:cNvPr name="Freeform 20" id="20"/>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21" id="21"/>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22" id="22"/>
          <p:cNvSpPr txBox="true"/>
          <p:nvPr/>
        </p:nvSpPr>
        <p:spPr>
          <a:xfrm rot="0">
            <a:off x="2586754" y="6205980"/>
            <a:ext cx="606379" cy="661301"/>
          </a:xfrm>
          <a:prstGeom prst="rect">
            <a:avLst/>
          </a:prstGeom>
        </p:spPr>
        <p:txBody>
          <a:bodyPr anchor="t" rtlCol="false" tIns="0" lIns="0" bIns="0" rIns="0">
            <a:spAutoFit/>
          </a:bodyPr>
          <a:lstStyle/>
          <a:p>
            <a:pPr algn="ctr">
              <a:lnSpc>
                <a:spcPts val="4784"/>
              </a:lnSpc>
            </a:pPr>
            <a:r>
              <a:rPr lang="en-US" sz="4430">
                <a:solidFill>
                  <a:srgbClr val="FFFFFF"/>
                </a:solidFill>
                <a:latin typeface="Poppins"/>
                <a:ea typeface="Poppins"/>
                <a:cs typeface="Poppins"/>
                <a:sym typeface="Poppins"/>
              </a:rPr>
              <a:t>3</a:t>
            </a:r>
          </a:p>
        </p:txBody>
      </p:sp>
      <p:sp>
        <p:nvSpPr>
          <p:cNvPr name="Freeform 23" id="23"/>
          <p:cNvSpPr/>
          <p:nvPr/>
        </p:nvSpPr>
        <p:spPr>
          <a:xfrm flipH="false" flipV="false" rot="0">
            <a:off x="2200148" y="7251253"/>
            <a:ext cx="6814206" cy="1933531"/>
          </a:xfrm>
          <a:custGeom>
            <a:avLst/>
            <a:gdLst/>
            <a:ahLst/>
            <a:cxnLst/>
            <a:rect r="r" b="b" t="t" l="l"/>
            <a:pathLst>
              <a:path h="1933531" w="6814206">
                <a:moveTo>
                  <a:pt x="0" y="0"/>
                </a:moveTo>
                <a:lnTo>
                  <a:pt x="6814206" y="0"/>
                </a:lnTo>
                <a:lnTo>
                  <a:pt x="6814206" y="1933531"/>
                </a:lnTo>
                <a:lnTo>
                  <a:pt x="0" y="19335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4" id="24"/>
          <p:cNvSpPr/>
          <p:nvPr/>
        </p:nvSpPr>
        <p:spPr>
          <a:xfrm flipH="true">
            <a:off x="8914069" y="8471865"/>
            <a:ext cx="6103864" cy="0"/>
          </a:xfrm>
          <a:prstGeom prst="line">
            <a:avLst/>
          </a:prstGeom>
          <a:ln cap="flat" w="38100">
            <a:solidFill>
              <a:srgbClr val="FFFFFF"/>
            </a:solidFill>
            <a:prstDash val="solid"/>
            <a:headEnd type="none" len="sm" w="sm"/>
            <a:tailEnd type="none" len="sm" w="sm"/>
          </a:ln>
        </p:spPr>
      </p:sp>
      <p:grpSp>
        <p:nvGrpSpPr>
          <p:cNvPr name="Group 25" id="25"/>
          <p:cNvGrpSpPr/>
          <p:nvPr/>
        </p:nvGrpSpPr>
        <p:grpSpPr>
          <a:xfrm rot="-10800000">
            <a:off x="15017933" y="7990604"/>
            <a:ext cx="940273" cy="962521"/>
            <a:chOff x="0" y="0"/>
            <a:chExt cx="794013" cy="812800"/>
          </a:xfrm>
        </p:grpSpPr>
        <p:sp>
          <p:nvSpPr>
            <p:cNvPr name="Freeform 26" id="26"/>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27" id="27"/>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28" id="28"/>
          <p:cNvSpPr txBox="true"/>
          <p:nvPr/>
        </p:nvSpPr>
        <p:spPr>
          <a:xfrm rot="0">
            <a:off x="15327183" y="7955450"/>
            <a:ext cx="321773" cy="851855"/>
          </a:xfrm>
          <a:prstGeom prst="rect">
            <a:avLst/>
          </a:prstGeom>
        </p:spPr>
        <p:txBody>
          <a:bodyPr anchor="t" rtlCol="false" tIns="0" lIns="0" bIns="0" rIns="0">
            <a:spAutoFit/>
          </a:bodyPr>
          <a:lstStyle/>
          <a:p>
            <a:pPr algn="ctr">
              <a:lnSpc>
                <a:spcPts val="7137"/>
              </a:lnSpc>
              <a:spcBef>
                <a:spcPct val="0"/>
              </a:spcBef>
            </a:pPr>
            <a:r>
              <a:rPr lang="en-US" sz="4430">
                <a:solidFill>
                  <a:srgbClr val="FFFFFF"/>
                </a:solidFill>
                <a:latin typeface="Open Sans"/>
                <a:ea typeface="Open Sans"/>
                <a:cs typeface="Open Sans"/>
                <a:sym typeface="Open Sans"/>
              </a:rPr>
              <a:t>4</a:t>
            </a:r>
          </a:p>
        </p:txBody>
      </p:sp>
      <p:sp>
        <p:nvSpPr>
          <p:cNvPr name="TextBox 29" id="29"/>
          <p:cNvSpPr txBox="true"/>
          <p:nvPr/>
        </p:nvSpPr>
        <p:spPr>
          <a:xfrm rot="0">
            <a:off x="9583134" y="2283039"/>
            <a:ext cx="5935937" cy="1617048"/>
          </a:xfrm>
          <a:prstGeom prst="rect">
            <a:avLst/>
          </a:prstGeom>
        </p:spPr>
        <p:txBody>
          <a:bodyPr anchor="t" rtlCol="false" tIns="0" lIns="0" bIns="0" rIns="0">
            <a:spAutoFit/>
          </a:bodyPr>
          <a:lstStyle/>
          <a:p>
            <a:pPr algn="ctr">
              <a:lnSpc>
                <a:spcPts val="1868"/>
              </a:lnSpc>
            </a:pPr>
            <a:r>
              <a:rPr lang="en-US" sz="1730">
                <a:solidFill>
                  <a:srgbClr val="FFFFFF"/>
                </a:solidFill>
                <a:latin typeface="Poppins"/>
                <a:ea typeface="Poppins"/>
                <a:cs typeface="Poppins"/>
                <a:sym typeface="Poppins"/>
              </a:rPr>
              <a:t>Sales were </a:t>
            </a:r>
            <a:r>
              <a:rPr lang="en-US" sz="1730" b="true">
                <a:solidFill>
                  <a:srgbClr val="FFFFFF"/>
                </a:solidFill>
                <a:latin typeface="Poppins Bold"/>
                <a:ea typeface="Poppins Bold"/>
                <a:cs typeface="Poppins Bold"/>
                <a:sym typeface="Poppins Bold"/>
              </a:rPr>
              <a:t>strong from January to May</a:t>
            </a:r>
            <a:r>
              <a:rPr lang="en-US" sz="1730">
                <a:solidFill>
                  <a:srgbClr val="FFFFFF"/>
                </a:solidFill>
                <a:latin typeface="Poppins"/>
                <a:ea typeface="Poppins"/>
                <a:cs typeface="Poppins"/>
                <a:sym typeface="Poppins"/>
              </a:rPr>
              <a:t>, then </a:t>
            </a:r>
            <a:r>
              <a:rPr lang="en-US" sz="1730" b="true">
                <a:solidFill>
                  <a:srgbClr val="FFFFFF"/>
                </a:solidFill>
                <a:latin typeface="Poppins Bold"/>
                <a:ea typeface="Poppins Bold"/>
                <a:cs typeface="Poppins Bold"/>
                <a:sym typeface="Poppins Bold"/>
              </a:rPr>
              <a:t>dropped sharply in June, hitting the lowest point of the year</a:t>
            </a:r>
            <a:r>
              <a:rPr lang="en-US" sz="1730">
                <a:solidFill>
                  <a:srgbClr val="FFFFFF"/>
                </a:solidFill>
                <a:latin typeface="Poppins"/>
                <a:ea typeface="Poppins"/>
                <a:cs typeface="Poppins"/>
                <a:sym typeface="Poppins"/>
              </a:rPr>
              <a:t>. The total rebounded in July and August, and remained relatively stable from September to December. </a:t>
            </a:r>
            <a:r>
              <a:rPr lang="en-US" sz="1730" u="sng">
                <a:solidFill>
                  <a:srgbClr val="FFFFFF"/>
                </a:solidFill>
                <a:latin typeface="Poppins"/>
                <a:ea typeface="Poppins"/>
                <a:cs typeface="Poppins"/>
                <a:sym typeface="Poppins"/>
              </a:rPr>
              <a:t>This indicates a mid-year sales dip, followed by steady recovery, possibly due to restocking or renewed demand</a:t>
            </a:r>
            <a:r>
              <a:rPr lang="en-US" b="true" sz="1730" u="sng">
                <a:solidFill>
                  <a:srgbClr val="FFFFFF"/>
                </a:solidFill>
                <a:latin typeface="Poppins Bold"/>
                <a:ea typeface="Poppins Bold"/>
                <a:cs typeface="Poppins Bold"/>
                <a:sym typeface="Poppins Bold"/>
              </a:rPr>
              <a:t>.</a:t>
            </a:r>
          </a:p>
        </p:txBody>
      </p:sp>
      <p:sp>
        <p:nvSpPr>
          <p:cNvPr name="TextBox 30" id="30"/>
          <p:cNvSpPr txBox="true"/>
          <p:nvPr/>
        </p:nvSpPr>
        <p:spPr>
          <a:xfrm rot="0">
            <a:off x="2549325" y="4411046"/>
            <a:ext cx="6289819" cy="1271658"/>
          </a:xfrm>
          <a:prstGeom prst="rect">
            <a:avLst/>
          </a:prstGeom>
        </p:spPr>
        <p:txBody>
          <a:bodyPr anchor="t" rtlCol="false" tIns="0" lIns="0" bIns="0" rIns="0">
            <a:spAutoFit/>
          </a:bodyPr>
          <a:lstStyle/>
          <a:p>
            <a:pPr algn="ctr">
              <a:lnSpc>
                <a:spcPts val="1692"/>
              </a:lnSpc>
            </a:pPr>
            <a:r>
              <a:rPr lang="en-US" sz="1567" b="true">
                <a:solidFill>
                  <a:srgbClr val="FFFFFF"/>
                </a:solidFill>
                <a:latin typeface="Poppins Bold"/>
                <a:ea typeface="Poppins Bold"/>
                <a:cs typeface="Poppins Bold"/>
                <a:sym typeface="Poppins Bold"/>
              </a:rPr>
              <a:t>The average price difference</a:t>
            </a:r>
            <a:r>
              <a:rPr lang="en-US" sz="1567">
                <a:solidFill>
                  <a:srgbClr val="FFFFFF"/>
                </a:solidFill>
                <a:latin typeface="Poppins"/>
                <a:ea typeface="Poppins"/>
                <a:cs typeface="Poppins"/>
                <a:sym typeface="Poppins"/>
              </a:rPr>
              <a:t> </a:t>
            </a:r>
            <a:r>
              <a:rPr lang="en-US" sz="1567">
                <a:solidFill>
                  <a:srgbClr val="FFFFFF"/>
                </a:solidFill>
                <a:latin typeface="Poppins"/>
                <a:ea typeface="Poppins"/>
                <a:cs typeface="Poppins"/>
                <a:sym typeface="Poppins"/>
              </a:rPr>
              <a:t>was </a:t>
            </a:r>
            <a:r>
              <a:rPr lang="en-US" sz="1567">
                <a:solidFill>
                  <a:srgbClr val="FFFFFF"/>
                </a:solidFill>
                <a:latin typeface="Poppins"/>
                <a:ea typeface="Poppins"/>
                <a:cs typeface="Poppins"/>
                <a:sym typeface="Poppins"/>
              </a:rPr>
              <a:t>fa</a:t>
            </a:r>
            <a:r>
              <a:rPr lang="en-US" sz="1567">
                <a:solidFill>
                  <a:srgbClr val="FFFFFF"/>
                </a:solidFill>
                <a:latin typeface="Poppins"/>
                <a:ea typeface="Poppins"/>
                <a:cs typeface="Poppins"/>
                <a:sym typeface="Poppins"/>
              </a:rPr>
              <a:t>ir</a:t>
            </a:r>
            <a:r>
              <a:rPr lang="en-US" sz="1567">
                <a:solidFill>
                  <a:srgbClr val="FFFFFF"/>
                </a:solidFill>
                <a:latin typeface="Poppins"/>
                <a:ea typeface="Poppins"/>
                <a:cs typeface="Poppins"/>
                <a:sym typeface="Poppins"/>
              </a:rPr>
              <a:t>l</a:t>
            </a:r>
            <a:r>
              <a:rPr lang="en-US" sz="1567">
                <a:solidFill>
                  <a:srgbClr val="FFFFFF"/>
                </a:solidFill>
                <a:latin typeface="Poppins"/>
                <a:ea typeface="Poppins"/>
                <a:cs typeface="Poppins"/>
                <a:sym typeface="Poppins"/>
              </a:rPr>
              <a:t>y </a:t>
            </a:r>
            <a:r>
              <a:rPr lang="en-US" sz="1567" b="true">
                <a:solidFill>
                  <a:srgbClr val="FFFFFF"/>
                </a:solidFill>
                <a:latin typeface="Poppins Bold"/>
                <a:ea typeface="Poppins Bold"/>
                <a:cs typeface="Poppins Bold"/>
                <a:sym typeface="Poppins Bold"/>
              </a:rPr>
              <a:t>co</a:t>
            </a:r>
            <a:r>
              <a:rPr lang="en-US" b="true" sz="1567" u="none">
                <a:solidFill>
                  <a:srgbClr val="FFFFFF"/>
                </a:solidFill>
                <a:latin typeface="Poppins Bold"/>
                <a:ea typeface="Poppins Bold"/>
                <a:cs typeface="Poppins Bold"/>
                <a:sym typeface="Poppins Bold"/>
              </a:rPr>
              <a:t>n</a:t>
            </a:r>
            <a:r>
              <a:rPr lang="en-US" sz="1567" b="true">
                <a:solidFill>
                  <a:srgbClr val="FFFFFF"/>
                </a:solidFill>
                <a:latin typeface="Poppins Bold"/>
                <a:ea typeface="Poppins Bold"/>
                <a:cs typeface="Poppins Bold"/>
                <a:sym typeface="Poppins Bold"/>
              </a:rPr>
              <a:t>s</a:t>
            </a:r>
            <a:r>
              <a:rPr lang="en-US" b="true" sz="1567" u="none">
                <a:solidFill>
                  <a:srgbClr val="FFFFFF"/>
                </a:solidFill>
                <a:latin typeface="Poppins Bold"/>
                <a:ea typeface="Poppins Bold"/>
                <a:cs typeface="Poppins Bold"/>
                <a:sym typeface="Poppins Bold"/>
              </a:rPr>
              <a:t>i</a:t>
            </a:r>
            <a:r>
              <a:rPr lang="en-US" sz="1567" b="true">
                <a:solidFill>
                  <a:srgbClr val="FFFFFF"/>
                </a:solidFill>
                <a:latin typeface="Poppins Bold"/>
                <a:ea typeface="Poppins Bold"/>
                <a:cs typeface="Poppins Bold"/>
                <a:sym typeface="Poppins Bold"/>
              </a:rPr>
              <a:t>s</a:t>
            </a:r>
            <a:r>
              <a:rPr lang="en-US" b="true" sz="1567" u="none">
                <a:solidFill>
                  <a:srgbClr val="FFFFFF"/>
                </a:solidFill>
                <a:latin typeface="Poppins Bold"/>
                <a:ea typeface="Poppins Bold"/>
                <a:cs typeface="Poppins Bold"/>
                <a:sym typeface="Poppins Bold"/>
              </a:rPr>
              <a:t>t</a:t>
            </a:r>
            <a:r>
              <a:rPr lang="en-US" sz="1567" b="true">
                <a:solidFill>
                  <a:srgbClr val="FFFFFF"/>
                </a:solidFill>
                <a:latin typeface="Poppins Bold"/>
                <a:ea typeface="Poppins Bold"/>
                <a:cs typeface="Poppins Bold"/>
                <a:sym typeface="Poppins Bold"/>
              </a:rPr>
              <a:t>e</a:t>
            </a:r>
            <a:r>
              <a:rPr lang="en-US" b="true" sz="1567" u="none">
                <a:solidFill>
                  <a:srgbClr val="FFFFFF"/>
                </a:solidFill>
                <a:latin typeface="Poppins Bold"/>
                <a:ea typeface="Poppins Bold"/>
                <a:cs typeface="Poppins Bold"/>
                <a:sym typeface="Poppins Bold"/>
              </a:rPr>
              <a:t>n</a:t>
            </a:r>
            <a:r>
              <a:rPr lang="en-US" sz="1567" b="true">
                <a:solidFill>
                  <a:srgbClr val="FFFFFF"/>
                </a:solidFill>
                <a:latin typeface="Poppins Bold"/>
                <a:ea typeface="Poppins Bold"/>
                <a:cs typeface="Poppins Bold"/>
                <a:sym typeface="Poppins Bold"/>
              </a:rPr>
              <a:t>t</a:t>
            </a:r>
            <a:r>
              <a:rPr lang="en-US" b="true" sz="1567" u="none">
                <a:solidFill>
                  <a:srgbClr val="FFFFFF"/>
                </a:solidFill>
                <a:latin typeface="Poppins Bold"/>
                <a:ea typeface="Poppins Bold"/>
                <a:cs typeface="Poppins Bold"/>
                <a:sym typeface="Poppins Bold"/>
              </a:rPr>
              <a:t> </a:t>
            </a:r>
            <a:r>
              <a:rPr lang="en-US" sz="1567" b="true">
                <a:solidFill>
                  <a:srgbClr val="FFFFFF"/>
                </a:solidFill>
                <a:latin typeface="Poppins Bold"/>
                <a:ea typeface="Poppins Bold"/>
                <a:cs typeface="Poppins Bold"/>
                <a:sym typeface="Poppins Bold"/>
              </a:rPr>
              <a:t>fro</a:t>
            </a:r>
            <a:r>
              <a:rPr lang="en-US" b="true" sz="1567" u="none">
                <a:solidFill>
                  <a:srgbClr val="FFFFFF"/>
                </a:solidFill>
                <a:latin typeface="Poppins Bold"/>
                <a:ea typeface="Poppins Bold"/>
                <a:cs typeface="Poppins Bold"/>
                <a:sym typeface="Poppins Bold"/>
              </a:rPr>
              <a:t>m </a:t>
            </a:r>
            <a:r>
              <a:rPr lang="en-US" sz="1567" b="true">
                <a:solidFill>
                  <a:srgbClr val="FFFFFF"/>
                </a:solidFill>
                <a:latin typeface="Poppins Bold"/>
                <a:ea typeface="Poppins Bold"/>
                <a:cs typeface="Poppins Bold"/>
                <a:sym typeface="Poppins Bold"/>
              </a:rPr>
              <a:t>Ja</a:t>
            </a:r>
            <a:r>
              <a:rPr lang="en-US" b="true" sz="1567" u="none">
                <a:solidFill>
                  <a:srgbClr val="FFFFFF"/>
                </a:solidFill>
                <a:latin typeface="Poppins Bold"/>
                <a:ea typeface="Poppins Bold"/>
                <a:cs typeface="Poppins Bold"/>
                <a:sym typeface="Poppins Bold"/>
              </a:rPr>
              <a:t>nu</a:t>
            </a:r>
            <a:r>
              <a:rPr lang="en-US" sz="1567" b="true">
                <a:solidFill>
                  <a:srgbClr val="FFFFFF"/>
                </a:solidFill>
                <a:latin typeface="Poppins Bold"/>
                <a:ea typeface="Poppins Bold"/>
                <a:cs typeface="Poppins Bold"/>
                <a:sym typeface="Poppins Bold"/>
              </a:rPr>
              <a:t>a</a:t>
            </a:r>
            <a:r>
              <a:rPr lang="en-US" b="true" sz="1567" u="none">
                <a:solidFill>
                  <a:srgbClr val="FFFFFF"/>
                </a:solidFill>
                <a:latin typeface="Poppins Bold"/>
                <a:ea typeface="Poppins Bold"/>
                <a:cs typeface="Poppins Bold"/>
                <a:sym typeface="Poppins Bold"/>
              </a:rPr>
              <a:t>r</a:t>
            </a:r>
            <a:r>
              <a:rPr lang="en-US" sz="1567" b="true">
                <a:solidFill>
                  <a:srgbClr val="FFFFFF"/>
                </a:solidFill>
                <a:latin typeface="Poppins Bold"/>
                <a:ea typeface="Poppins Bold"/>
                <a:cs typeface="Poppins Bold"/>
                <a:sym typeface="Poppins Bold"/>
              </a:rPr>
              <a:t>y</a:t>
            </a:r>
            <a:r>
              <a:rPr lang="en-US" b="true" sz="1567" u="none">
                <a:solidFill>
                  <a:srgbClr val="FFFFFF"/>
                </a:solidFill>
                <a:latin typeface="Poppins Bold"/>
                <a:ea typeface="Poppins Bold"/>
                <a:cs typeface="Poppins Bold"/>
                <a:sym typeface="Poppins Bold"/>
              </a:rPr>
              <a:t> to </a:t>
            </a:r>
            <a:r>
              <a:rPr lang="en-US" sz="1567" b="true">
                <a:solidFill>
                  <a:srgbClr val="FFFFFF"/>
                </a:solidFill>
                <a:latin typeface="Poppins Bold"/>
                <a:ea typeface="Poppins Bold"/>
                <a:cs typeface="Poppins Bold"/>
                <a:sym typeface="Poppins Bold"/>
              </a:rPr>
              <a:t>Ju</a:t>
            </a:r>
            <a:r>
              <a:rPr lang="en-US" b="true" sz="1567" u="none">
                <a:solidFill>
                  <a:srgbClr val="FFFFFF"/>
                </a:solidFill>
                <a:latin typeface="Poppins Bold"/>
                <a:ea typeface="Poppins Bold"/>
                <a:cs typeface="Poppins Bold"/>
                <a:sym typeface="Poppins Bold"/>
              </a:rPr>
              <a:t>n</a:t>
            </a:r>
            <a:r>
              <a:rPr lang="en-US" sz="1567" b="true">
                <a:solidFill>
                  <a:srgbClr val="FFFFFF"/>
                </a:solidFill>
                <a:latin typeface="Poppins Bold"/>
                <a:ea typeface="Poppins Bold"/>
                <a:cs typeface="Poppins Bold"/>
                <a:sym typeface="Poppins Bold"/>
              </a:rPr>
              <a:t>e</a:t>
            </a:r>
            <a:r>
              <a:rPr lang="en-US" sz="1567">
                <a:solidFill>
                  <a:srgbClr val="FFFFFF"/>
                </a:solidFill>
                <a:latin typeface="Poppins"/>
                <a:ea typeface="Poppins"/>
                <a:cs typeface="Poppins"/>
                <a:sym typeface="Poppins"/>
              </a:rPr>
              <a:t>,</a:t>
            </a:r>
            <a:r>
              <a:rPr lang="en-US" sz="1567">
                <a:solidFill>
                  <a:srgbClr val="FFFFFF"/>
                </a:solidFill>
                <a:latin typeface="Poppins"/>
                <a:ea typeface="Poppins"/>
                <a:cs typeface="Poppins"/>
                <a:sym typeface="Poppins"/>
              </a:rPr>
              <a:t> t</a:t>
            </a:r>
            <a:r>
              <a:rPr lang="en-US" sz="1567">
                <a:solidFill>
                  <a:srgbClr val="FFFFFF"/>
                </a:solidFill>
                <a:latin typeface="Poppins"/>
                <a:ea typeface="Poppins"/>
                <a:cs typeface="Poppins"/>
                <a:sym typeface="Poppins"/>
              </a:rPr>
              <a:t>h</a:t>
            </a:r>
            <a:r>
              <a:rPr lang="en-US" sz="1567">
                <a:solidFill>
                  <a:srgbClr val="FFFFFF"/>
                </a:solidFill>
                <a:latin typeface="Poppins"/>
                <a:ea typeface="Poppins"/>
                <a:cs typeface="Poppins"/>
                <a:sym typeface="Poppins"/>
              </a:rPr>
              <a:t>en </a:t>
            </a:r>
            <a:r>
              <a:rPr lang="en-US" sz="1567" b="true">
                <a:solidFill>
                  <a:srgbClr val="FFFFFF"/>
                </a:solidFill>
                <a:latin typeface="Poppins Bold"/>
                <a:ea typeface="Poppins Bold"/>
                <a:cs typeface="Poppins Bold"/>
                <a:sym typeface="Poppins Bold"/>
              </a:rPr>
              <a:t>peaked in August and September</a:t>
            </a:r>
            <a:r>
              <a:rPr lang="en-US" sz="1567">
                <a:solidFill>
                  <a:srgbClr val="FFFFFF"/>
                </a:solidFill>
                <a:latin typeface="Poppins"/>
                <a:ea typeface="Poppins"/>
                <a:cs typeface="Poppins"/>
                <a:sym typeface="Poppins"/>
              </a:rPr>
              <a:t>,</a:t>
            </a:r>
            <a:r>
              <a:rPr lang="en-US" sz="1567">
                <a:solidFill>
                  <a:srgbClr val="FFFFFF"/>
                </a:solidFill>
                <a:latin typeface="Poppins"/>
                <a:ea typeface="Poppins"/>
                <a:cs typeface="Poppins"/>
                <a:sym typeface="Poppins"/>
              </a:rPr>
              <a:t> w</a:t>
            </a:r>
            <a:r>
              <a:rPr lang="en-US" sz="1567" u="none">
                <a:solidFill>
                  <a:srgbClr val="FFFFFF"/>
                </a:solidFill>
                <a:latin typeface="Poppins"/>
                <a:ea typeface="Poppins"/>
                <a:cs typeface="Poppins"/>
                <a:sym typeface="Poppins"/>
              </a:rPr>
              <a:t>i</a:t>
            </a:r>
            <a:r>
              <a:rPr lang="en-US" sz="1567">
                <a:solidFill>
                  <a:srgbClr val="FFFFFF"/>
                </a:solidFill>
                <a:latin typeface="Poppins"/>
                <a:ea typeface="Poppins"/>
                <a:cs typeface="Poppins"/>
                <a:sym typeface="Poppins"/>
              </a:rPr>
              <a:t>th va</a:t>
            </a:r>
            <a:r>
              <a:rPr lang="en-US" sz="1567" u="none">
                <a:solidFill>
                  <a:srgbClr val="FFFFFF"/>
                </a:solidFill>
                <a:latin typeface="Poppins"/>
                <a:ea typeface="Poppins"/>
                <a:cs typeface="Poppins"/>
                <a:sym typeface="Poppins"/>
              </a:rPr>
              <a:t>lue</a:t>
            </a:r>
            <a:r>
              <a:rPr lang="en-US" sz="1567">
                <a:solidFill>
                  <a:srgbClr val="FFFFFF"/>
                </a:solidFill>
                <a:latin typeface="Poppins"/>
                <a:ea typeface="Poppins"/>
                <a:cs typeface="Poppins"/>
                <a:sym typeface="Poppins"/>
              </a:rPr>
              <a:t>s</a:t>
            </a:r>
            <a:r>
              <a:rPr lang="en-US" sz="1567" u="none">
                <a:solidFill>
                  <a:srgbClr val="FFFFFF"/>
                </a:solidFill>
                <a:latin typeface="Poppins"/>
                <a:ea typeface="Poppins"/>
                <a:cs typeface="Poppins"/>
                <a:sym typeface="Poppins"/>
              </a:rPr>
              <a:t> </a:t>
            </a:r>
            <a:r>
              <a:rPr lang="en-US" sz="1567">
                <a:solidFill>
                  <a:srgbClr val="FFFFFF"/>
                </a:solidFill>
                <a:latin typeface="Poppins"/>
                <a:ea typeface="Poppins"/>
                <a:cs typeface="Poppins"/>
                <a:sym typeface="Poppins"/>
              </a:rPr>
              <a:t>ab</a:t>
            </a:r>
            <a:r>
              <a:rPr lang="en-US" sz="1567" u="none">
                <a:solidFill>
                  <a:srgbClr val="FFFFFF"/>
                </a:solidFill>
                <a:latin typeface="Poppins"/>
                <a:ea typeface="Poppins"/>
                <a:cs typeface="Poppins"/>
                <a:sym typeface="Poppins"/>
              </a:rPr>
              <a:t>o</a:t>
            </a:r>
            <a:r>
              <a:rPr lang="en-US" sz="1567">
                <a:solidFill>
                  <a:srgbClr val="FFFFFF"/>
                </a:solidFill>
                <a:latin typeface="Poppins"/>
                <a:ea typeface="Poppins"/>
                <a:cs typeface="Poppins"/>
                <a:sym typeface="Poppins"/>
              </a:rPr>
              <a:t>ve</a:t>
            </a:r>
            <a:r>
              <a:rPr lang="en-US" sz="1567" u="none">
                <a:solidFill>
                  <a:srgbClr val="FFFFFF"/>
                </a:solidFill>
                <a:latin typeface="Poppins"/>
                <a:ea typeface="Poppins"/>
                <a:cs typeface="Poppins"/>
                <a:sym typeface="Poppins"/>
              </a:rPr>
              <a:t> </a:t>
            </a:r>
            <a:r>
              <a:rPr lang="en-US" sz="1567">
                <a:solidFill>
                  <a:srgbClr val="FFFFFF"/>
                </a:solidFill>
                <a:latin typeface="Poppins"/>
                <a:ea typeface="Poppins"/>
                <a:cs typeface="Poppins"/>
                <a:sym typeface="Poppins"/>
              </a:rPr>
              <a:t>400, </a:t>
            </a:r>
            <a:r>
              <a:rPr lang="en-US" sz="1567" u="sng">
                <a:solidFill>
                  <a:srgbClr val="FFFFFF"/>
                </a:solidFill>
                <a:latin typeface="Poppins"/>
                <a:ea typeface="Poppins"/>
                <a:cs typeface="Poppins"/>
                <a:sym typeface="Poppins"/>
              </a:rPr>
              <a:t>indicating larger discounts o</a:t>
            </a:r>
            <a:r>
              <a:rPr lang="en-US" sz="1567" u="sng">
                <a:solidFill>
                  <a:srgbClr val="FFFFFF"/>
                </a:solidFill>
                <a:latin typeface="Poppins"/>
                <a:ea typeface="Poppins"/>
                <a:cs typeface="Poppins"/>
                <a:sym typeface="Poppins"/>
              </a:rPr>
              <a:t>r</a:t>
            </a:r>
            <a:r>
              <a:rPr lang="en-US" sz="1567" u="sng">
                <a:solidFill>
                  <a:srgbClr val="FFFFFF"/>
                </a:solidFill>
                <a:latin typeface="Poppins"/>
                <a:ea typeface="Poppins"/>
                <a:cs typeface="Poppins"/>
                <a:sym typeface="Poppins"/>
              </a:rPr>
              <a:t> </a:t>
            </a:r>
            <a:r>
              <a:rPr lang="en-US" sz="1567" u="sng">
                <a:solidFill>
                  <a:srgbClr val="FFFFFF"/>
                </a:solidFill>
                <a:latin typeface="Poppins"/>
                <a:ea typeface="Poppins"/>
                <a:cs typeface="Poppins"/>
                <a:sym typeface="Poppins"/>
              </a:rPr>
              <a:t>m</a:t>
            </a:r>
            <a:r>
              <a:rPr lang="en-US" sz="1567" u="sng">
                <a:solidFill>
                  <a:srgbClr val="FFFFFF"/>
                </a:solidFill>
                <a:latin typeface="Poppins"/>
                <a:ea typeface="Poppins"/>
                <a:cs typeface="Poppins"/>
                <a:sym typeface="Poppins"/>
              </a:rPr>
              <a:t>ark</a:t>
            </a:r>
            <a:r>
              <a:rPr lang="en-US" sz="1567" u="sng">
                <a:solidFill>
                  <a:srgbClr val="FFFFFF"/>
                </a:solidFill>
                <a:latin typeface="Poppins"/>
                <a:ea typeface="Poppins"/>
                <a:cs typeface="Poppins"/>
                <a:sym typeface="Poppins"/>
              </a:rPr>
              <a:t>u</a:t>
            </a:r>
            <a:r>
              <a:rPr lang="en-US" sz="1567" u="sng">
                <a:solidFill>
                  <a:srgbClr val="FFFFFF"/>
                </a:solidFill>
                <a:latin typeface="Poppins"/>
                <a:ea typeface="Poppins"/>
                <a:cs typeface="Poppins"/>
                <a:sym typeface="Poppins"/>
              </a:rPr>
              <a:t>ps</a:t>
            </a:r>
            <a:r>
              <a:rPr lang="en-US" sz="1567">
                <a:solidFill>
                  <a:srgbClr val="FFFFFF"/>
                </a:solidFill>
                <a:latin typeface="Poppins"/>
                <a:ea typeface="Poppins"/>
                <a:cs typeface="Poppins"/>
                <a:sym typeface="Poppins"/>
              </a:rPr>
              <a:t>. Aft</a:t>
            </a:r>
            <a:r>
              <a:rPr lang="en-US" sz="1567">
                <a:solidFill>
                  <a:srgbClr val="FFFFFF"/>
                </a:solidFill>
                <a:latin typeface="Poppins"/>
                <a:ea typeface="Poppins"/>
                <a:cs typeface="Poppins"/>
                <a:sym typeface="Poppins"/>
              </a:rPr>
              <a:t>e</a:t>
            </a:r>
            <a:r>
              <a:rPr lang="en-US" sz="1567">
                <a:solidFill>
                  <a:srgbClr val="FFFFFF"/>
                </a:solidFill>
                <a:latin typeface="Poppins"/>
                <a:ea typeface="Poppins"/>
                <a:cs typeface="Poppins"/>
                <a:sym typeface="Poppins"/>
              </a:rPr>
              <a:t>r</a:t>
            </a:r>
            <a:r>
              <a:rPr lang="en-US" sz="1567">
                <a:solidFill>
                  <a:srgbClr val="FFFFFF"/>
                </a:solidFill>
                <a:latin typeface="Poppins"/>
                <a:ea typeface="Poppins"/>
                <a:cs typeface="Poppins"/>
                <a:sym typeface="Poppins"/>
              </a:rPr>
              <a:t> </a:t>
            </a:r>
            <a:r>
              <a:rPr lang="en-US" sz="1567">
                <a:solidFill>
                  <a:srgbClr val="FFFFFF"/>
                </a:solidFill>
                <a:latin typeface="Poppins"/>
                <a:ea typeface="Poppins"/>
                <a:cs typeface="Poppins"/>
                <a:sym typeface="Poppins"/>
              </a:rPr>
              <a:t>Oc</a:t>
            </a:r>
            <a:r>
              <a:rPr lang="en-US" sz="1567">
                <a:solidFill>
                  <a:srgbClr val="FFFFFF"/>
                </a:solidFill>
                <a:latin typeface="Poppins"/>
                <a:ea typeface="Poppins"/>
                <a:cs typeface="Poppins"/>
                <a:sym typeface="Poppins"/>
              </a:rPr>
              <a:t>tober, the</a:t>
            </a:r>
            <a:r>
              <a:rPr lang="en-US" sz="1567">
                <a:solidFill>
                  <a:srgbClr val="FFFFFF"/>
                </a:solidFill>
                <a:latin typeface="Poppins"/>
                <a:ea typeface="Poppins"/>
                <a:cs typeface="Poppins"/>
                <a:sym typeface="Poppins"/>
              </a:rPr>
              <a:t> diffe</a:t>
            </a:r>
            <a:r>
              <a:rPr lang="en-US" sz="1567">
                <a:solidFill>
                  <a:srgbClr val="FFFFFF"/>
                </a:solidFill>
                <a:latin typeface="Poppins"/>
                <a:ea typeface="Poppins"/>
                <a:cs typeface="Poppins"/>
                <a:sym typeface="Poppins"/>
              </a:rPr>
              <a:t>re</a:t>
            </a:r>
            <a:r>
              <a:rPr lang="en-US" sz="1567">
                <a:solidFill>
                  <a:srgbClr val="FFFFFF"/>
                </a:solidFill>
                <a:latin typeface="Poppins"/>
                <a:ea typeface="Poppins"/>
                <a:cs typeface="Poppins"/>
                <a:sym typeface="Poppins"/>
              </a:rPr>
              <a:t>nce</a:t>
            </a:r>
            <a:r>
              <a:rPr lang="en-US" sz="1567">
                <a:solidFill>
                  <a:srgbClr val="FFFFFF"/>
                </a:solidFill>
                <a:latin typeface="Poppins"/>
                <a:ea typeface="Poppins"/>
                <a:cs typeface="Poppins"/>
                <a:sym typeface="Poppins"/>
              </a:rPr>
              <a:t> </a:t>
            </a:r>
            <a:r>
              <a:rPr lang="en-US" sz="1567">
                <a:solidFill>
                  <a:srgbClr val="FFFFFF"/>
                </a:solidFill>
                <a:latin typeface="Poppins"/>
                <a:ea typeface="Poppins"/>
                <a:cs typeface="Poppins"/>
                <a:sym typeface="Poppins"/>
              </a:rPr>
              <a:t>dropped</a:t>
            </a:r>
            <a:r>
              <a:rPr lang="en-US" sz="1567">
                <a:solidFill>
                  <a:srgbClr val="FFFFFF"/>
                </a:solidFill>
                <a:latin typeface="Poppins"/>
                <a:ea typeface="Poppins"/>
                <a:cs typeface="Poppins"/>
                <a:sym typeface="Poppins"/>
              </a:rPr>
              <a:t> </a:t>
            </a:r>
            <a:r>
              <a:rPr lang="en-US" sz="1567">
                <a:solidFill>
                  <a:srgbClr val="FFFFFF"/>
                </a:solidFill>
                <a:latin typeface="Poppins"/>
                <a:ea typeface="Poppins"/>
                <a:cs typeface="Poppins"/>
                <a:sym typeface="Poppins"/>
              </a:rPr>
              <a:t>b</a:t>
            </a:r>
            <a:r>
              <a:rPr lang="en-US" sz="1567">
                <a:solidFill>
                  <a:srgbClr val="FFFFFF"/>
                </a:solidFill>
                <a:latin typeface="Poppins"/>
                <a:ea typeface="Poppins"/>
                <a:cs typeface="Poppins"/>
                <a:sym typeface="Poppins"/>
              </a:rPr>
              <a:t>a</a:t>
            </a:r>
            <a:r>
              <a:rPr lang="en-US" sz="1567">
                <a:solidFill>
                  <a:srgbClr val="FFFFFF"/>
                </a:solidFill>
                <a:latin typeface="Poppins"/>
                <a:ea typeface="Poppins"/>
                <a:cs typeface="Poppins"/>
                <a:sym typeface="Poppins"/>
              </a:rPr>
              <a:t>ck</a:t>
            </a:r>
            <a:r>
              <a:rPr lang="en-US" sz="1567">
                <a:solidFill>
                  <a:srgbClr val="FFFFFF"/>
                </a:solidFill>
                <a:latin typeface="Poppins"/>
                <a:ea typeface="Poppins"/>
                <a:cs typeface="Poppins"/>
                <a:sym typeface="Poppins"/>
              </a:rPr>
              <a:t> t</a:t>
            </a:r>
            <a:r>
              <a:rPr lang="en-US" sz="1567">
                <a:solidFill>
                  <a:srgbClr val="FFFFFF"/>
                </a:solidFill>
                <a:latin typeface="Poppins"/>
                <a:ea typeface="Poppins"/>
                <a:cs typeface="Poppins"/>
                <a:sym typeface="Poppins"/>
              </a:rPr>
              <a:t>o</a:t>
            </a:r>
            <a:r>
              <a:rPr lang="en-US" sz="1567">
                <a:solidFill>
                  <a:srgbClr val="FFFFFF"/>
                </a:solidFill>
                <a:latin typeface="Poppins"/>
                <a:ea typeface="Poppins"/>
                <a:cs typeface="Poppins"/>
                <a:sym typeface="Poppins"/>
              </a:rPr>
              <a:t> </a:t>
            </a:r>
            <a:r>
              <a:rPr lang="en-US" sz="1567" u="none">
                <a:solidFill>
                  <a:srgbClr val="FFFFFF"/>
                </a:solidFill>
                <a:latin typeface="Poppins"/>
                <a:ea typeface="Poppins"/>
                <a:cs typeface="Poppins"/>
                <a:sym typeface="Poppins"/>
              </a:rPr>
              <a:t>ea</a:t>
            </a:r>
            <a:r>
              <a:rPr lang="en-US" sz="1567">
                <a:solidFill>
                  <a:srgbClr val="FFFFFF"/>
                </a:solidFill>
                <a:latin typeface="Poppins"/>
                <a:ea typeface="Poppins"/>
                <a:cs typeface="Poppins"/>
                <a:sym typeface="Poppins"/>
              </a:rPr>
              <a:t>r</a:t>
            </a:r>
            <a:r>
              <a:rPr lang="en-US" sz="1567">
                <a:solidFill>
                  <a:srgbClr val="FFFFFF"/>
                </a:solidFill>
                <a:latin typeface="Poppins"/>
                <a:ea typeface="Poppins"/>
                <a:cs typeface="Poppins"/>
                <a:sym typeface="Poppins"/>
              </a:rPr>
              <a:t>l</a:t>
            </a:r>
            <a:r>
              <a:rPr lang="en-US" sz="1567">
                <a:solidFill>
                  <a:srgbClr val="FFFFFF"/>
                </a:solidFill>
                <a:latin typeface="Poppins"/>
                <a:ea typeface="Poppins"/>
                <a:cs typeface="Poppins"/>
                <a:sym typeface="Poppins"/>
              </a:rPr>
              <a:t>ie</a:t>
            </a:r>
            <a:r>
              <a:rPr lang="en-US" sz="1567">
                <a:solidFill>
                  <a:srgbClr val="FFFFFF"/>
                </a:solidFill>
                <a:latin typeface="Poppins"/>
                <a:ea typeface="Poppins"/>
                <a:cs typeface="Poppins"/>
                <a:sym typeface="Poppins"/>
              </a:rPr>
              <a:t>r</a:t>
            </a:r>
            <a:r>
              <a:rPr lang="en-US" sz="1567">
                <a:solidFill>
                  <a:srgbClr val="FFFFFF"/>
                </a:solidFill>
                <a:latin typeface="Poppins"/>
                <a:ea typeface="Poppins"/>
                <a:cs typeface="Poppins"/>
                <a:sym typeface="Poppins"/>
              </a:rPr>
              <a:t> </a:t>
            </a:r>
            <a:r>
              <a:rPr lang="en-US" sz="1567">
                <a:solidFill>
                  <a:srgbClr val="FFFFFF"/>
                </a:solidFill>
                <a:latin typeface="Poppins"/>
                <a:ea typeface="Poppins"/>
                <a:cs typeface="Poppins"/>
                <a:sym typeface="Poppins"/>
              </a:rPr>
              <a:t>l</a:t>
            </a:r>
            <a:r>
              <a:rPr lang="en-US" sz="1567">
                <a:solidFill>
                  <a:srgbClr val="FFFFFF"/>
                </a:solidFill>
                <a:latin typeface="Poppins"/>
                <a:ea typeface="Poppins"/>
                <a:cs typeface="Poppins"/>
                <a:sym typeface="Poppins"/>
              </a:rPr>
              <a:t>e</a:t>
            </a:r>
            <a:r>
              <a:rPr lang="en-US" sz="1567">
                <a:solidFill>
                  <a:srgbClr val="FFFFFF"/>
                </a:solidFill>
                <a:latin typeface="Poppins"/>
                <a:ea typeface="Poppins"/>
                <a:cs typeface="Poppins"/>
                <a:sym typeface="Poppins"/>
              </a:rPr>
              <a:t>v</a:t>
            </a:r>
            <a:r>
              <a:rPr lang="en-US" sz="1567">
                <a:solidFill>
                  <a:srgbClr val="FFFFFF"/>
                </a:solidFill>
                <a:latin typeface="Poppins"/>
                <a:ea typeface="Poppins"/>
                <a:cs typeface="Poppins"/>
                <a:sym typeface="Poppins"/>
              </a:rPr>
              <a:t>e</a:t>
            </a:r>
            <a:r>
              <a:rPr lang="en-US" sz="1567">
                <a:solidFill>
                  <a:srgbClr val="FFFFFF"/>
                </a:solidFill>
                <a:latin typeface="Poppins"/>
                <a:ea typeface="Poppins"/>
                <a:cs typeface="Poppins"/>
                <a:sym typeface="Poppins"/>
              </a:rPr>
              <a:t>l</a:t>
            </a:r>
            <a:r>
              <a:rPr lang="en-US" sz="1567" u="none">
                <a:solidFill>
                  <a:srgbClr val="FFFFFF"/>
                </a:solidFill>
                <a:latin typeface="Poppins"/>
                <a:ea typeface="Poppins"/>
                <a:cs typeface="Poppins"/>
                <a:sym typeface="Poppins"/>
              </a:rPr>
              <a:t>s</a:t>
            </a:r>
            <a:r>
              <a:rPr lang="en-US" sz="1567" u="none">
                <a:solidFill>
                  <a:srgbClr val="FFFFFF"/>
                </a:solidFill>
                <a:latin typeface="Poppins"/>
                <a:ea typeface="Poppins"/>
                <a:cs typeface="Poppins"/>
                <a:sym typeface="Poppins"/>
              </a:rPr>
              <a:t>. </a:t>
            </a:r>
            <a:r>
              <a:rPr lang="en-US" sz="1567" u="sng">
                <a:solidFill>
                  <a:srgbClr val="FFFFFF"/>
                </a:solidFill>
                <a:latin typeface="Poppins"/>
                <a:ea typeface="Poppins"/>
                <a:cs typeface="Poppins"/>
                <a:sym typeface="Poppins"/>
              </a:rPr>
              <a:t>This suggests a period of aggressive pricing or promotional activity in late summer.</a:t>
            </a:r>
          </a:p>
        </p:txBody>
      </p:sp>
      <p:sp>
        <p:nvSpPr>
          <p:cNvPr name="TextBox 31" id="31"/>
          <p:cNvSpPr txBox="true"/>
          <p:nvPr/>
        </p:nvSpPr>
        <p:spPr>
          <a:xfrm rot="0">
            <a:off x="9298625" y="5762280"/>
            <a:ext cx="6504956" cy="1548700"/>
          </a:xfrm>
          <a:prstGeom prst="rect">
            <a:avLst/>
          </a:prstGeom>
        </p:spPr>
        <p:txBody>
          <a:bodyPr anchor="t" rtlCol="false" tIns="0" lIns="0" bIns="0" rIns="0">
            <a:spAutoFit/>
          </a:bodyPr>
          <a:lstStyle/>
          <a:p>
            <a:pPr algn="ctr">
              <a:lnSpc>
                <a:spcPts val="1750"/>
              </a:lnSpc>
            </a:pPr>
            <a:r>
              <a:rPr lang="en-US" sz="1620" b="true">
                <a:solidFill>
                  <a:srgbClr val="FFFFFF"/>
                </a:solidFill>
                <a:latin typeface="Poppins Bold"/>
                <a:ea typeface="Poppins Bold"/>
                <a:cs typeface="Poppins Bold"/>
                <a:sym typeface="Poppins Bold"/>
              </a:rPr>
              <a:t>The lowest, best, performance occurred in August and September</a:t>
            </a:r>
            <a:r>
              <a:rPr lang="en-US" sz="1620">
                <a:solidFill>
                  <a:srgbClr val="FFFFFF"/>
                </a:solidFill>
                <a:latin typeface="Poppins"/>
                <a:ea typeface="Poppins"/>
                <a:cs typeface="Poppins"/>
                <a:sym typeface="Poppins"/>
              </a:rPr>
              <a:t>, with ranks around 35K, while </a:t>
            </a:r>
            <a:r>
              <a:rPr lang="en-US" sz="1620" b="true">
                <a:solidFill>
                  <a:srgbClr val="FFFFFF"/>
                </a:solidFill>
                <a:latin typeface="Poppins Bold"/>
                <a:ea typeface="Poppins Bold"/>
                <a:cs typeface="Poppins Bold"/>
                <a:sym typeface="Poppins Bold"/>
              </a:rPr>
              <a:t>the worst performance was in December</a:t>
            </a:r>
            <a:r>
              <a:rPr lang="en-US" sz="1620">
                <a:solidFill>
                  <a:srgbClr val="FFFFFF"/>
                </a:solidFill>
                <a:latin typeface="Poppins"/>
                <a:ea typeface="Poppins"/>
                <a:cs typeface="Poppins"/>
                <a:sym typeface="Poppins"/>
              </a:rPr>
              <a:t>, where</a:t>
            </a:r>
            <a:r>
              <a:rPr lang="en-US" sz="1620" u="none">
                <a:solidFill>
                  <a:srgbClr val="FFFFFF"/>
                </a:solidFill>
                <a:latin typeface="Poppins"/>
                <a:ea typeface="Poppins"/>
                <a:cs typeface="Poppins"/>
                <a:sym typeface="Poppins"/>
              </a:rPr>
              <a:t> </a:t>
            </a:r>
            <a:r>
              <a:rPr lang="en-US" sz="1620">
                <a:solidFill>
                  <a:srgbClr val="FFFFFF"/>
                </a:solidFill>
                <a:latin typeface="Poppins"/>
                <a:ea typeface="Poppins"/>
                <a:cs typeface="Poppins"/>
                <a:sym typeface="Poppins"/>
              </a:rPr>
              <a:t>r</a:t>
            </a:r>
            <a:r>
              <a:rPr lang="en-US" sz="1620" u="none">
                <a:solidFill>
                  <a:srgbClr val="FFFFFF"/>
                </a:solidFill>
                <a:latin typeface="Poppins"/>
                <a:ea typeface="Poppins"/>
                <a:cs typeface="Poppins"/>
                <a:sym typeface="Poppins"/>
              </a:rPr>
              <a:t>a</a:t>
            </a:r>
            <a:r>
              <a:rPr lang="en-US" sz="1620">
                <a:solidFill>
                  <a:srgbClr val="FFFFFF"/>
                </a:solidFill>
                <a:latin typeface="Poppins"/>
                <a:ea typeface="Poppins"/>
                <a:cs typeface="Poppins"/>
                <a:sym typeface="Poppins"/>
              </a:rPr>
              <a:t>nk peaked</a:t>
            </a:r>
            <a:r>
              <a:rPr lang="en-US" sz="1620" u="none">
                <a:solidFill>
                  <a:srgbClr val="FFFFFF"/>
                </a:solidFill>
                <a:latin typeface="Poppins"/>
                <a:ea typeface="Poppins"/>
                <a:cs typeface="Poppins"/>
                <a:sym typeface="Poppins"/>
              </a:rPr>
              <a:t> </a:t>
            </a:r>
            <a:r>
              <a:rPr lang="en-US" sz="1620">
                <a:solidFill>
                  <a:srgbClr val="FFFFFF"/>
                </a:solidFill>
                <a:latin typeface="Poppins"/>
                <a:ea typeface="Poppins"/>
                <a:cs typeface="Poppins"/>
                <a:sym typeface="Poppins"/>
              </a:rPr>
              <a:t>ab</a:t>
            </a:r>
            <a:r>
              <a:rPr lang="en-US" sz="1620" u="none">
                <a:solidFill>
                  <a:srgbClr val="FFFFFF"/>
                </a:solidFill>
                <a:latin typeface="Poppins"/>
                <a:ea typeface="Poppins"/>
                <a:cs typeface="Poppins"/>
                <a:sym typeface="Poppins"/>
              </a:rPr>
              <a:t>o</a:t>
            </a:r>
            <a:r>
              <a:rPr lang="en-US" sz="1620">
                <a:solidFill>
                  <a:srgbClr val="FFFFFF"/>
                </a:solidFill>
                <a:latin typeface="Poppins"/>
                <a:ea typeface="Poppins"/>
                <a:cs typeface="Poppins"/>
                <a:sym typeface="Poppins"/>
              </a:rPr>
              <a:t>v</a:t>
            </a:r>
            <a:r>
              <a:rPr lang="en-US" sz="1620" u="none">
                <a:solidFill>
                  <a:srgbClr val="FFFFFF"/>
                </a:solidFill>
                <a:latin typeface="Poppins"/>
                <a:ea typeface="Poppins"/>
                <a:cs typeface="Poppins"/>
                <a:sym typeface="Poppins"/>
              </a:rPr>
              <a:t>e 85K.</a:t>
            </a:r>
            <a:r>
              <a:rPr lang="en-US" sz="1620">
                <a:solidFill>
                  <a:srgbClr val="FFFFFF"/>
                </a:solidFill>
                <a:latin typeface="Poppins"/>
                <a:ea typeface="Poppins"/>
                <a:cs typeface="Poppins"/>
                <a:sym typeface="Poppins"/>
              </a:rPr>
              <a:t> The sharp improvement in late summer followed by a steep decl</a:t>
            </a:r>
            <a:r>
              <a:rPr lang="en-US" sz="1620" u="none">
                <a:solidFill>
                  <a:srgbClr val="FFFFFF"/>
                </a:solidFill>
                <a:latin typeface="Poppins"/>
                <a:ea typeface="Poppins"/>
                <a:cs typeface="Poppins"/>
                <a:sym typeface="Poppins"/>
              </a:rPr>
              <a:t>i</a:t>
            </a:r>
            <a:r>
              <a:rPr lang="en-US" sz="1620">
                <a:solidFill>
                  <a:srgbClr val="FFFFFF"/>
                </a:solidFill>
                <a:latin typeface="Poppins"/>
                <a:ea typeface="Poppins"/>
                <a:cs typeface="Poppins"/>
                <a:sym typeface="Poppins"/>
              </a:rPr>
              <a:t>n</a:t>
            </a:r>
            <a:r>
              <a:rPr lang="en-US" sz="1620" u="none">
                <a:solidFill>
                  <a:srgbClr val="FFFFFF"/>
                </a:solidFill>
                <a:latin typeface="Poppins"/>
                <a:ea typeface="Poppins"/>
                <a:cs typeface="Poppins"/>
                <a:sym typeface="Poppins"/>
              </a:rPr>
              <a:t>e</a:t>
            </a:r>
            <a:r>
              <a:rPr lang="en-US" sz="1620">
                <a:solidFill>
                  <a:srgbClr val="FFFFFF"/>
                </a:solidFill>
                <a:latin typeface="Poppins"/>
                <a:ea typeface="Poppins"/>
                <a:cs typeface="Poppins"/>
                <a:sym typeface="Poppins"/>
              </a:rPr>
              <a:t> toward </a:t>
            </a:r>
            <a:r>
              <a:rPr lang="en-US" sz="1620" u="none">
                <a:solidFill>
                  <a:srgbClr val="FFFFFF"/>
                </a:solidFill>
                <a:latin typeface="Poppins"/>
                <a:ea typeface="Poppins"/>
                <a:cs typeface="Poppins"/>
                <a:sym typeface="Poppins"/>
              </a:rPr>
              <a:t>y</a:t>
            </a:r>
            <a:r>
              <a:rPr lang="en-US" sz="1620">
                <a:solidFill>
                  <a:srgbClr val="FFFFFF"/>
                </a:solidFill>
                <a:latin typeface="Poppins"/>
                <a:ea typeface="Poppins"/>
                <a:cs typeface="Poppins"/>
                <a:sym typeface="Poppins"/>
              </a:rPr>
              <a:t>ear-end</a:t>
            </a:r>
            <a:r>
              <a:rPr lang="en-US" sz="1620" u="none">
                <a:solidFill>
                  <a:srgbClr val="FFFFFF"/>
                </a:solidFill>
                <a:latin typeface="Poppins"/>
                <a:ea typeface="Poppins"/>
                <a:cs typeface="Poppins"/>
                <a:sym typeface="Poppins"/>
              </a:rPr>
              <a:t> </a:t>
            </a:r>
            <a:r>
              <a:rPr lang="en-US" sz="1620" u="sng">
                <a:solidFill>
                  <a:srgbClr val="FFFFFF"/>
                </a:solidFill>
                <a:latin typeface="Poppins"/>
                <a:ea typeface="Poppins"/>
                <a:cs typeface="Poppins"/>
                <a:sym typeface="Poppins"/>
              </a:rPr>
              <a:t>suggests a temporary boost in demand, possibly due to promotions, followed by reduced competitiveness in the holiday season.</a:t>
            </a:r>
          </a:p>
        </p:txBody>
      </p:sp>
      <p:sp>
        <p:nvSpPr>
          <p:cNvPr name="TextBox 32" id="32"/>
          <p:cNvSpPr txBox="true"/>
          <p:nvPr/>
        </p:nvSpPr>
        <p:spPr>
          <a:xfrm rot="0">
            <a:off x="2549325" y="7565578"/>
            <a:ext cx="6135230" cy="1480621"/>
          </a:xfrm>
          <a:prstGeom prst="rect">
            <a:avLst/>
          </a:prstGeom>
        </p:spPr>
        <p:txBody>
          <a:bodyPr anchor="t" rtlCol="false" tIns="0" lIns="0" bIns="0" rIns="0">
            <a:spAutoFit/>
          </a:bodyPr>
          <a:lstStyle/>
          <a:p>
            <a:pPr algn="ctr">
              <a:lnSpc>
                <a:spcPts val="1650"/>
              </a:lnSpc>
            </a:pPr>
            <a:r>
              <a:rPr lang="en-US" sz="1528" b="true">
                <a:solidFill>
                  <a:srgbClr val="FFFFFF"/>
                </a:solidFill>
                <a:latin typeface="Poppins Bold"/>
                <a:ea typeface="Poppins Bold"/>
                <a:cs typeface="Poppins Bold"/>
                <a:sym typeface="Poppins Bold"/>
              </a:rPr>
              <a:t>The lowest rank vs. price ratios occurred in August </a:t>
            </a:r>
            <a:r>
              <a:rPr lang="en-US" b="true" sz="1528" u="none">
                <a:solidFill>
                  <a:srgbClr val="FFFFFF"/>
                </a:solidFill>
                <a:latin typeface="Poppins Bold"/>
                <a:ea typeface="Poppins Bold"/>
                <a:cs typeface="Poppins Bold"/>
                <a:sym typeface="Poppins Bold"/>
              </a:rPr>
              <a:t>an</a:t>
            </a:r>
            <a:r>
              <a:rPr lang="en-US" sz="1528" b="true">
                <a:solidFill>
                  <a:srgbClr val="FFFFFF"/>
                </a:solidFill>
                <a:latin typeface="Poppins Bold"/>
                <a:ea typeface="Poppins Bold"/>
                <a:cs typeface="Poppins Bold"/>
                <a:sym typeface="Poppins Bold"/>
              </a:rPr>
              <a:t>d</a:t>
            </a:r>
            <a:r>
              <a:rPr lang="en-US" b="true" sz="1528" u="none">
                <a:solidFill>
                  <a:srgbClr val="FFFFFF"/>
                </a:solidFill>
                <a:latin typeface="Poppins Bold"/>
                <a:ea typeface="Poppins Bold"/>
                <a:cs typeface="Poppins Bold"/>
                <a:sym typeface="Poppins Bold"/>
              </a:rPr>
              <a:t> S</a:t>
            </a:r>
            <a:r>
              <a:rPr lang="en-US" sz="1528" b="true">
                <a:solidFill>
                  <a:srgbClr val="FFFFFF"/>
                </a:solidFill>
                <a:latin typeface="Poppins Bold"/>
                <a:ea typeface="Poppins Bold"/>
                <a:cs typeface="Poppins Bold"/>
                <a:sym typeface="Poppins Bold"/>
              </a:rPr>
              <a:t>eptember</a:t>
            </a:r>
            <a:r>
              <a:rPr lang="en-US" sz="1528">
                <a:solidFill>
                  <a:srgbClr val="FFFFFF"/>
                </a:solidFill>
                <a:latin typeface="Poppins"/>
                <a:ea typeface="Poppins"/>
                <a:cs typeface="Poppins"/>
                <a:sym typeface="Poppins"/>
              </a:rPr>
              <a:t>, </a:t>
            </a:r>
            <a:r>
              <a:rPr lang="en-US" sz="1528" u="sng">
                <a:solidFill>
                  <a:srgbClr val="FFFFFF"/>
                </a:solidFill>
                <a:latin typeface="Poppins"/>
                <a:ea typeface="Poppins"/>
                <a:cs typeface="Poppins"/>
                <a:sym typeface="Poppins"/>
              </a:rPr>
              <a:t>indicating the product performed well relative to its price.</a:t>
            </a:r>
            <a:r>
              <a:rPr lang="en-US" sz="1528" u="none">
                <a:solidFill>
                  <a:srgbClr val="FFFFFF"/>
                </a:solidFill>
                <a:latin typeface="Poppins"/>
                <a:ea typeface="Poppins"/>
                <a:cs typeface="Poppins"/>
                <a:sym typeface="Poppins"/>
              </a:rPr>
              <a:t> </a:t>
            </a:r>
            <a:r>
              <a:rPr lang="en-US" sz="1528" b="true">
                <a:solidFill>
                  <a:srgbClr val="FFFFFF"/>
                </a:solidFill>
                <a:latin typeface="Poppins Bold"/>
                <a:ea typeface="Poppins Bold"/>
                <a:cs typeface="Poppins Bold"/>
                <a:sym typeface="Poppins Bold"/>
              </a:rPr>
              <a:t>Th</a:t>
            </a:r>
            <a:r>
              <a:rPr lang="en-US" b="true" sz="1528" u="none">
                <a:solidFill>
                  <a:srgbClr val="FFFFFF"/>
                </a:solidFill>
                <a:latin typeface="Poppins Bold"/>
                <a:ea typeface="Poppins Bold"/>
                <a:cs typeface="Poppins Bold"/>
                <a:sym typeface="Poppins Bold"/>
              </a:rPr>
              <a:t>e </a:t>
            </a:r>
            <a:r>
              <a:rPr lang="en-US" sz="1528" b="true">
                <a:solidFill>
                  <a:srgbClr val="FFFFFF"/>
                </a:solidFill>
                <a:latin typeface="Poppins Bold"/>
                <a:ea typeface="Poppins Bold"/>
                <a:cs typeface="Poppins Bold"/>
                <a:sym typeface="Poppins Bold"/>
              </a:rPr>
              <a:t>high</a:t>
            </a:r>
            <a:r>
              <a:rPr lang="en-US" b="true" sz="1528" u="none">
                <a:solidFill>
                  <a:srgbClr val="FFFFFF"/>
                </a:solidFill>
                <a:latin typeface="Poppins Bold"/>
                <a:ea typeface="Poppins Bold"/>
                <a:cs typeface="Poppins Bold"/>
                <a:sym typeface="Poppins Bold"/>
              </a:rPr>
              <a:t>e</a:t>
            </a:r>
            <a:r>
              <a:rPr lang="en-US" sz="1528" b="true">
                <a:solidFill>
                  <a:srgbClr val="FFFFFF"/>
                </a:solidFill>
                <a:latin typeface="Poppins Bold"/>
                <a:ea typeface="Poppins Bold"/>
                <a:cs typeface="Poppins Bold"/>
                <a:sym typeface="Poppins Bold"/>
              </a:rPr>
              <a:t>s</a:t>
            </a:r>
            <a:r>
              <a:rPr lang="en-US" b="true" sz="1528" u="none">
                <a:solidFill>
                  <a:srgbClr val="FFFFFF"/>
                </a:solidFill>
                <a:latin typeface="Poppins Bold"/>
                <a:ea typeface="Poppins Bold"/>
                <a:cs typeface="Poppins Bold"/>
                <a:sym typeface="Poppins Bold"/>
              </a:rPr>
              <a:t>t r</a:t>
            </a:r>
            <a:r>
              <a:rPr lang="en-US" sz="1528" b="true">
                <a:solidFill>
                  <a:srgbClr val="FFFFFF"/>
                </a:solidFill>
                <a:latin typeface="Poppins Bold"/>
                <a:ea typeface="Poppins Bold"/>
                <a:cs typeface="Poppins Bold"/>
                <a:sym typeface="Poppins Bold"/>
              </a:rPr>
              <a:t>at</a:t>
            </a:r>
            <a:r>
              <a:rPr lang="en-US" b="true" sz="1528" u="none">
                <a:solidFill>
                  <a:srgbClr val="FFFFFF"/>
                </a:solidFill>
                <a:latin typeface="Poppins Bold"/>
                <a:ea typeface="Poppins Bold"/>
                <a:cs typeface="Poppins Bold"/>
                <a:sym typeface="Poppins Bold"/>
              </a:rPr>
              <a:t>i</a:t>
            </a:r>
            <a:r>
              <a:rPr lang="en-US" sz="1528" b="true">
                <a:solidFill>
                  <a:srgbClr val="FFFFFF"/>
                </a:solidFill>
                <a:latin typeface="Poppins Bold"/>
                <a:ea typeface="Poppins Bold"/>
                <a:cs typeface="Poppins Bold"/>
                <a:sym typeface="Poppins Bold"/>
              </a:rPr>
              <a:t>os</a:t>
            </a:r>
            <a:r>
              <a:rPr lang="en-US" b="true" sz="1528" u="none">
                <a:solidFill>
                  <a:srgbClr val="FFFFFF"/>
                </a:solidFill>
                <a:latin typeface="Poppins Bold"/>
                <a:ea typeface="Poppins Bold"/>
                <a:cs typeface="Poppins Bold"/>
                <a:sym typeface="Poppins Bold"/>
              </a:rPr>
              <a:t> a</a:t>
            </a:r>
            <a:r>
              <a:rPr lang="en-US" sz="1528" b="true">
                <a:solidFill>
                  <a:srgbClr val="FFFFFF"/>
                </a:solidFill>
                <a:latin typeface="Poppins Bold"/>
                <a:ea typeface="Poppins Bold"/>
                <a:cs typeface="Poppins Bold"/>
                <a:sym typeface="Poppins Bold"/>
              </a:rPr>
              <a:t>p</a:t>
            </a:r>
            <a:r>
              <a:rPr lang="en-US" b="true" sz="1528" u="none">
                <a:solidFill>
                  <a:srgbClr val="FFFFFF"/>
                </a:solidFill>
                <a:latin typeface="Poppins Bold"/>
                <a:ea typeface="Poppins Bold"/>
                <a:cs typeface="Poppins Bold"/>
                <a:sym typeface="Poppins Bold"/>
              </a:rPr>
              <a:t>pe</a:t>
            </a:r>
            <a:r>
              <a:rPr lang="en-US" sz="1528" b="true">
                <a:solidFill>
                  <a:srgbClr val="FFFFFF"/>
                </a:solidFill>
                <a:latin typeface="Poppins Bold"/>
                <a:ea typeface="Poppins Bold"/>
                <a:cs typeface="Poppins Bold"/>
                <a:sym typeface="Poppins Bold"/>
              </a:rPr>
              <a:t>a</a:t>
            </a:r>
            <a:r>
              <a:rPr lang="en-US" b="true" sz="1528" u="none">
                <a:solidFill>
                  <a:srgbClr val="FFFFFF"/>
                </a:solidFill>
                <a:latin typeface="Poppins Bold"/>
                <a:ea typeface="Poppins Bold"/>
                <a:cs typeface="Poppins Bold"/>
                <a:sym typeface="Poppins Bold"/>
              </a:rPr>
              <a:t>r</a:t>
            </a:r>
            <a:r>
              <a:rPr lang="en-US" sz="1528" b="true">
                <a:solidFill>
                  <a:srgbClr val="FFFFFF"/>
                </a:solidFill>
                <a:latin typeface="Poppins Bold"/>
                <a:ea typeface="Poppins Bold"/>
                <a:cs typeface="Poppins Bold"/>
                <a:sym typeface="Poppins Bold"/>
              </a:rPr>
              <a:t>ed i</a:t>
            </a:r>
            <a:r>
              <a:rPr lang="en-US" b="true" sz="1528" u="none">
                <a:solidFill>
                  <a:srgbClr val="FFFFFF"/>
                </a:solidFill>
                <a:latin typeface="Poppins Bold"/>
                <a:ea typeface="Poppins Bold"/>
                <a:cs typeface="Poppins Bold"/>
                <a:sym typeface="Poppins Bold"/>
              </a:rPr>
              <a:t>n No</a:t>
            </a:r>
            <a:r>
              <a:rPr lang="en-US" sz="1528" b="true">
                <a:solidFill>
                  <a:srgbClr val="FFFFFF"/>
                </a:solidFill>
                <a:latin typeface="Poppins Bold"/>
                <a:ea typeface="Poppins Bold"/>
                <a:cs typeface="Poppins Bold"/>
                <a:sym typeface="Poppins Bold"/>
              </a:rPr>
              <a:t>vember</a:t>
            </a:r>
            <a:r>
              <a:rPr lang="en-US" b="true" sz="1528" u="none">
                <a:solidFill>
                  <a:srgbClr val="FFFFFF"/>
                </a:solidFill>
                <a:latin typeface="Poppins Bold"/>
                <a:ea typeface="Poppins Bold"/>
                <a:cs typeface="Poppins Bold"/>
                <a:sym typeface="Poppins Bold"/>
              </a:rPr>
              <a:t> </a:t>
            </a:r>
            <a:r>
              <a:rPr lang="en-US" sz="1528" b="true">
                <a:solidFill>
                  <a:srgbClr val="FFFFFF"/>
                </a:solidFill>
                <a:latin typeface="Poppins Bold"/>
                <a:ea typeface="Poppins Bold"/>
                <a:cs typeface="Poppins Bold"/>
                <a:sym typeface="Poppins Bold"/>
              </a:rPr>
              <a:t>and December</a:t>
            </a:r>
            <a:r>
              <a:rPr lang="en-US" sz="1528">
                <a:solidFill>
                  <a:srgbClr val="FFFFFF"/>
                </a:solidFill>
                <a:latin typeface="Poppins"/>
                <a:ea typeface="Poppins"/>
                <a:cs typeface="Poppins"/>
                <a:sym typeface="Poppins"/>
              </a:rPr>
              <a:t>, </a:t>
            </a:r>
            <a:r>
              <a:rPr lang="en-US" sz="1528" u="sng">
                <a:solidFill>
                  <a:srgbClr val="FFFFFF"/>
                </a:solidFill>
                <a:latin typeface="Poppins"/>
                <a:ea typeface="Poppins"/>
                <a:cs typeface="Poppins"/>
                <a:sym typeface="Poppins"/>
              </a:rPr>
              <a:t>suggesting poorer sales performance with higher prices</a:t>
            </a:r>
            <a:r>
              <a:rPr lang="en-US" sz="1528">
                <a:solidFill>
                  <a:srgbClr val="FFFFFF"/>
                </a:solidFill>
                <a:latin typeface="Poppins"/>
                <a:ea typeface="Poppins"/>
                <a:cs typeface="Poppins"/>
                <a:sym typeface="Poppins"/>
              </a:rPr>
              <a:t>. This tren</a:t>
            </a:r>
            <a:r>
              <a:rPr lang="en-US" sz="1528" u="none">
                <a:solidFill>
                  <a:srgbClr val="FFFFFF"/>
                </a:solidFill>
                <a:latin typeface="Poppins"/>
                <a:ea typeface="Poppins"/>
                <a:cs typeface="Poppins"/>
                <a:sym typeface="Poppins"/>
              </a:rPr>
              <a:t>d r</a:t>
            </a:r>
            <a:r>
              <a:rPr lang="en-US" sz="1528">
                <a:solidFill>
                  <a:srgbClr val="FFFFFF"/>
                </a:solidFill>
                <a:latin typeface="Poppins"/>
                <a:ea typeface="Poppins"/>
                <a:cs typeface="Poppins"/>
                <a:sym typeface="Poppins"/>
              </a:rPr>
              <a:t>eflects</a:t>
            </a:r>
            <a:r>
              <a:rPr lang="en-US" sz="1528" u="none">
                <a:solidFill>
                  <a:srgbClr val="FFFFFF"/>
                </a:solidFill>
                <a:latin typeface="Poppins"/>
                <a:ea typeface="Poppins"/>
                <a:cs typeface="Poppins"/>
                <a:sym typeface="Poppins"/>
              </a:rPr>
              <a:t> a strong</a:t>
            </a:r>
            <a:r>
              <a:rPr lang="en-US" sz="1528">
                <a:solidFill>
                  <a:srgbClr val="FFFFFF"/>
                </a:solidFill>
                <a:latin typeface="Poppins"/>
                <a:ea typeface="Poppins"/>
                <a:cs typeface="Poppins"/>
                <a:sym typeface="Poppins"/>
              </a:rPr>
              <a:t> mid-y</a:t>
            </a:r>
            <a:r>
              <a:rPr lang="en-US" sz="1528" u="none">
                <a:solidFill>
                  <a:srgbClr val="FFFFFF"/>
                </a:solidFill>
                <a:latin typeface="Poppins"/>
                <a:ea typeface="Poppins"/>
                <a:cs typeface="Poppins"/>
                <a:sym typeface="Poppins"/>
              </a:rPr>
              <a:t>e</a:t>
            </a:r>
            <a:r>
              <a:rPr lang="en-US" sz="1528">
                <a:solidFill>
                  <a:srgbClr val="FFFFFF"/>
                </a:solidFill>
                <a:latin typeface="Poppins"/>
                <a:ea typeface="Poppins"/>
                <a:cs typeface="Poppins"/>
                <a:sym typeface="Poppins"/>
              </a:rPr>
              <a:t>a</a:t>
            </a:r>
            <a:r>
              <a:rPr lang="en-US" sz="1528" u="none">
                <a:solidFill>
                  <a:srgbClr val="FFFFFF"/>
                </a:solidFill>
                <a:latin typeface="Poppins"/>
                <a:ea typeface="Poppins"/>
                <a:cs typeface="Poppins"/>
                <a:sym typeface="Poppins"/>
              </a:rPr>
              <a:t>r performance </a:t>
            </a:r>
            <a:r>
              <a:rPr lang="en-US" sz="1528">
                <a:solidFill>
                  <a:srgbClr val="FFFFFF"/>
                </a:solidFill>
                <a:latin typeface="Poppins"/>
                <a:ea typeface="Poppins"/>
                <a:cs typeface="Poppins"/>
                <a:sym typeface="Poppins"/>
              </a:rPr>
              <a:t>followe</a:t>
            </a:r>
            <a:r>
              <a:rPr lang="en-US" sz="1528" u="none">
                <a:solidFill>
                  <a:srgbClr val="FFFFFF"/>
                </a:solidFill>
                <a:latin typeface="Poppins"/>
                <a:ea typeface="Poppins"/>
                <a:cs typeface="Poppins"/>
                <a:sym typeface="Poppins"/>
              </a:rPr>
              <a:t>d</a:t>
            </a:r>
            <a:r>
              <a:rPr lang="en-US" sz="1528">
                <a:solidFill>
                  <a:srgbClr val="FFFFFF"/>
                </a:solidFill>
                <a:latin typeface="Poppins"/>
                <a:ea typeface="Poppins"/>
                <a:cs typeface="Poppins"/>
                <a:sym typeface="Poppins"/>
              </a:rPr>
              <a:t> by a weaker p</a:t>
            </a:r>
            <a:r>
              <a:rPr lang="en-US" sz="1528" u="none">
                <a:solidFill>
                  <a:srgbClr val="FFFFFF"/>
                </a:solidFill>
                <a:latin typeface="Poppins"/>
                <a:ea typeface="Poppins"/>
                <a:cs typeface="Poppins"/>
                <a:sym typeface="Poppins"/>
              </a:rPr>
              <a:t>ri</a:t>
            </a:r>
            <a:r>
              <a:rPr lang="en-US" sz="1528">
                <a:solidFill>
                  <a:srgbClr val="FFFFFF"/>
                </a:solidFill>
                <a:latin typeface="Poppins"/>
                <a:ea typeface="Poppins"/>
                <a:cs typeface="Poppins"/>
                <a:sym typeface="Poppins"/>
              </a:rPr>
              <a:t>ce-</a:t>
            </a:r>
            <a:r>
              <a:rPr lang="en-US" sz="1528" u="none">
                <a:solidFill>
                  <a:srgbClr val="FFFFFF"/>
                </a:solidFill>
                <a:latin typeface="Poppins"/>
                <a:ea typeface="Poppins"/>
                <a:cs typeface="Poppins"/>
                <a:sym typeface="Poppins"/>
              </a:rPr>
              <a:t>to</a:t>
            </a:r>
            <a:r>
              <a:rPr lang="en-US" sz="1528">
                <a:solidFill>
                  <a:srgbClr val="FFFFFF"/>
                </a:solidFill>
                <a:latin typeface="Poppins"/>
                <a:ea typeface="Poppins"/>
                <a:cs typeface="Poppins"/>
                <a:sym typeface="Poppins"/>
              </a:rPr>
              <a:t>-</a:t>
            </a:r>
            <a:r>
              <a:rPr lang="en-US" sz="1528" u="none">
                <a:solidFill>
                  <a:srgbClr val="FFFFFF"/>
                </a:solidFill>
                <a:latin typeface="Poppins"/>
                <a:ea typeface="Poppins"/>
                <a:cs typeface="Poppins"/>
                <a:sym typeface="Poppins"/>
              </a:rPr>
              <a:t>per</a:t>
            </a:r>
            <a:r>
              <a:rPr lang="en-US" sz="1528">
                <a:solidFill>
                  <a:srgbClr val="FFFFFF"/>
                </a:solidFill>
                <a:latin typeface="Poppins"/>
                <a:ea typeface="Poppins"/>
                <a:cs typeface="Poppins"/>
                <a:sym typeface="Poppins"/>
              </a:rPr>
              <a:t>f</a:t>
            </a:r>
            <a:r>
              <a:rPr lang="en-US" sz="1528" u="none">
                <a:solidFill>
                  <a:srgbClr val="FFFFFF"/>
                </a:solidFill>
                <a:latin typeface="Poppins"/>
                <a:ea typeface="Poppins"/>
                <a:cs typeface="Poppins"/>
                <a:sym typeface="Poppins"/>
              </a:rPr>
              <a:t>o</a:t>
            </a:r>
            <a:r>
              <a:rPr lang="en-US" sz="1528">
                <a:solidFill>
                  <a:srgbClr val="FFFFFF"/>
                </a:solidFill>
                <a:latin typeface="Poppins"/>
                <a:ea typeface="Poppins"/>
                <a:cs typeface="Poppins"/>
                <a:sym typeface="Poppins"/>
              </a:rPr>
              <a:t>rmance</a:t>
            </a:r>
            <a:r>
              <a:rPr lang="en-US" sz="1528" u="none">
                <a:solidFill>
                  <a:srgbClr val="FFFFFF"/>
                </a:solidFill>
                <a:latin typeface="Poppins"/>
                <a:ea typeface="Poppins"/>
                <a:cs typeface="Poppins"/>
                <a:sym typeface="Poppins"/>
              </a:rPr>
              <a:t> </a:t>
            </a:r>
            <a:r>
              <a:rPr lang="en-US" sz="1528">
                <a:solidFill>
                  <a:srgbClr val="FFFFFF"/>
                </a:solidFill>
                <a:latin typeface="Poppins"/>
                <a:ea typeface="Poppins"/>
                <a:cs typeface="Poppins"/>
                <a:sym typeface="Poppins"/>
              </a:rPr>
              <a:t>ba</a:t>
            </a:r>
            <a:r>
              <a:rPr lang="en-US" sz="1528" u="none">
                <a:solidFill>
                  <a:srgbClr val="FFFFFF"/>
                </a:solidFill>
                <a:latin typeface="Poppins"/>
                <a:ea typeface="Poppins"/>
                <a:cs typeface="Poppins"/>
                <a:sym typeface="Poppins"/>
              </a:rPr>
              <a:t>l</a:t>
            </a:r>
            <a:r>
              <a:rPr lang="en-US" sz="1528">
                <a:solidFill>
                  <a:srgbClr val="FFFFFF"/>
                </a:solidFill>
                <a:latin typeface="Poppins"/>
                <a:ea typeface="Poppins"/>
                <a:cs typeface="Poppins"/>
                <a:sym typeface="Poppins"/>
              </a:rPr>
              <a:t>anc</a:t>
            </a:r>
            <a:r>
              <a:rPr lang="en-US" sz="1528" u="none">
                <a:solidFill>
                  <a:srgbClr val="FFFFFF"/>
                </a:solidFill>
                <a:latin typeface="Poppins"/>
                <a:ea typeface="Poppins"/>
                <a:cs typeface="Poppins"/>
                <a:sym typeface="Poppins"/>
              </a:rPr>
              <a:t>e </a:t>
            </a:r>
            <a:r>
              <a:rPr lang="en-US" sz="1528">
                <a:solidFill>
                  <a:srgbClr val="FFFFFF"/>
                </a:solidFill>
                <a:latin typeface="Poppins"/>
                <a:ea typeface="Poppins"/>
                <a:cs typeface="Poppins"/>
                <a:sym typeface="Poppins"/>
              </a:rPr>
              <a:t>a</a:t>
            </a:r>
            <a:r>
              <a:rPr lang="en-US" sz="1528" u="none">
                <a:solidFill>
                  <a:srgbClr val="FFFFFF"/>
                </a:solidFill>
                <a:latin typeface="Poppins"/>
                <a:ea typeface="Poppins"/>
                <a:cs typeface="Poppins"/>
                <a:sym typeface="Poppins"/>
              </a:rPr>
              <a:t>t </a:t>
            </a:r>
            <a:r>
              <a:rPr lang="en-US" sz="1528">
                <a:solidFill>
                  <a:srgbClr val="FFFFFF"/>
                </a:solidFill>
                <a:latin typeface="Poppins"/>
                <a:ea typeface="Poppins"/>
                <a:cs typeface="Poppins"/>
                <a:sym typeface="Poppins"/>
              </a:rPr>
              <a:t>ye</a:t>
            </a:r>
            <a:r>
              <a:rPr lang="en-US" sz="1528" u="none">
                <a:solidFill>
                  <a:srgbClr val="FFFFFF"/>
                </a:solidFill>
                <a:latin typeface="Poppins"/>
                <a:ea typeface="Poppins"/>
                <a:cs typeface="Poppins"/>
                <a:sym typeface="Poppins"/>
              </a:rPr>
              <a:t>a</a:t>
            </a:r>
            <a:r>
              <a:rPr lang="en-US" sz="1528">
                <a:solidFill>
                  <a:srgbClr val="FFFFFF"/>
                </a:solidFill>
                <a:latin typeface="Poppins"/>
                <a:ea typeface="Poppins"/>
                <a:cs typeface="Poppins"/>
                <a:sym typeface="Poppins"/>
              </a:rPr>
              <a:t>r-end</a:t>
            </a:r>
            <a:r>
              <a:rPr lang="en-US" sz="1528" u="none">
                <a:solidFill>
                  <a:srgbClr val="FFFFFF"/>
                </a:solidFill>
                <a:latin typeface="Poppins"/>
                <a:ea typeface="Poppins"/>
                <a:cs typeface="Poppins"/>
                <a:sym typeface="Poppins"/>
              </a:rPr>
              <a:t>.</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1142314"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grpSp>
        <p:nvGrpSpPr>
          <p:cNvPr name="Group 3" id="3"/>
          <p:cNvGrpSpPr/>
          <p:nvPr/>
        </p:nvGrpSpPr>
        <p:grpSpPr>
          <a:xfrm rot="0">
            <a:off x="1142314" y="2137536"/>
            <a:ext cx="4665128" cy="3507499"/>
            <a:chOff x="0" y="0"/>
            <a:chExt cx="2831022" cy="2128517"/>
          </a:xfrm>
        </p:grpSpPr>
        <p:sp>
          <p:nvSpPr>
            <p:cNvPr name="Freeform 4" id="4"/>
            <p:cNvSpPr/>
            <p:nvPr/>
          </p:nvSpPr>
          <p:spPr>
            <a:xfrm flipH="false" flipV="false" rot="0">
              <a:off x="0" y="0"/>
              <a:ext cx="2831022" cy="2128517"/>
            </a:xfrm>
            <a:custGeom>
              <a:avLst/>
              <a:gdLst/>
              <a:ahLst/>
              <a:cxnLst/>
              <a:rect r="r" b="b" t="t" l="l"/>
              <a:pathLst>
                <a:path h="2128517" w="2831022">
                  <a:moveTo>
                    <a:pt x="41488" y="0"/>
                  </a:moveTo>
                  <a:lnTo>
                    <a:pt x="2789534" y="0"/>
                  </a:lnTo>
                  <a:cubicBezTo>
                    <a:pt x="2800537" y="0"/>
                    <a:pt x="2811090" y="4371"/>
                    <a:pt x="2818870" y="12152"/>
                  </a:cubicBezTo>
                  <a:cubicBezTo>
                    <a:pt x="2826651" y="19932"/>
                    <a:pt x="2831022" y="30485"/>
                    <a:pt x="2831022" y="41488"/>
                  </a:cubicBezTo>
                  <a:lnTo>
                    <a:pt x="2831022" y="2087029"/>
                  </a:lnTo>
                  <a:cubicBezTo>
                    <a:pt x="2831022" y="2098032"/>
                    <a:pt x="2826651" y="2108585"/>
                    <a:pt x="2818870" y="2116366"/>
                  </a:cubicBezTo>
                  <a:cubicBezTo>
                    <a:pt x="2811090" y="2124146"/>
                    <a:pt x="2800537" y="2128517"/>
                    <a:pt x="2789534" y="2128517"/>
                  </a:cubicBezTo>
                  <a:lnTo>
                    <a:pt x="41488" y="2128517"/>
                  </a:lnTo>
                  <a:cubicBezTo>
                    <a:pt x="30485" y="2128517"/>
                    <a:pt x="19932" y="2124146"/>
                    <a:pt x="12152" y="2116366"/>
                  </a:cubicBezTo>
                  <a:cubicBezTo>
                    <a:pt x="4371" y="2108585"/>
                    <a:pt x="0" y="2098032"/>
                    <a:pt x="0" y="2087029"/>
                  </a:cubicBezTo>
                  <a:lnTo>
                    <a:pt x="0" y="41488"/>
                  </a:lnTo>
                  <a:cubicBezTo>
                    <a:pt x="0" y="30485"/>
                    <a:pt x="4371" y="19932"/>
                    <a:pt x="12152" y="12152"/>
                  </a:cubicBezTo>
                  <a:cubicBezTo>
                    <a:pt x="19932" y="4371"/>
                    <a:pt x="30485" y="0"/>
                    <a:pt x="41488" y="0"/>
                  </a:cubicBezTo>
                  <a:close/>
                </a:path>
              </a:pathLst>
            </a:custGeom>
            <a:solidFill>
              <a:srgbClr val="2A3066">
                <a:alpha val="55686"/>
              </a:srgbClr>
            </a:solidFill>
          </p:spPr>
        </p:sp>
        <p:sp>
          <p:nvSpPr>
            <p:cNvPr name="TextBox 5" id="5"/>
            <p:cNvSpPr txBox="true"/>
            <p:nvPr/>
          </p:nvSpPr>
          <p:spPr>
            <a:xfrm>
              <a:off x="0" y="-66675"/>
              <a:ext cx="2831022" cy="2195192"/>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6" id="6"/>
          <p:cNvSpPr/>
          <p:nvPr/>
        </p:nvSpPr>
        <p:spPr>
          <a:xfrm flipH="false" flipV="false" rot="0">
            <a:off x="1837220" y="8518448"/>
            <a:ext cx="3316138" cy="940954"/>
          </a:xfrm>
          <a:custGeom>
            <a:avLst/>
            <a:gdLst/>
            <a:ahLst/>
            <a:cxnLst/>
            <a:rect r="r" b="b" t="t" l="l"/>
            <a:pathLst>
              <a:path h="940954" w="3316138">
                <a:moveTo>
                  <a:pt x="0" y="0"/>
                </a:moveTo>
                <a:lnTo>
                  <a:pt x="3316137" y="0"/>
                </a:lnTo>
                <a:lnTo>
                  <a:pt x="3316137" y="940954"/>
                </a:lnTo>
                <a:lnTo>
                  <a:pt x="0" y="9409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7" id="7"/>
          <p:cNvSpPr/>
          <p:nvPr/>
        </p:nvSpPr>
        <p:spPr>
          <a:xfrm flipH="true" flipV="true">
            <a:off x="9157110" y="4075002"/>
            <a:ext cx="0" cy="709202"/>
          </a:xfrm>
          <a:prstGeom prst="line">
            <a:avLst/>
          </a:prstGeom>
          <a:ln cap="flat" w="38100">
            <a:solidFill>
              <a:srgbClr val="FFFFFF"/>
            </a:solidFill>
            <a:prstDash val="solid"/>
            <a:headEnd type="none" len="sm" w="sm"/>
            <a:tailEnd type="none" len="sm" w="sm"/>
          </a:ln>
        </p:spPr>
      </p:sp>
      <p:sp>
        <p:nvSpPr>
          <p:cNvPr name="Freeform 8" id="8"/>
          <p:cNvSpPr/>
          <p:nvPr/>
        </p:nvSpPr>
        <p:spPr>
          <a:xfrm flipH="false" flipV="false" rot="0">
            <a:off x="6846051" y="2763476"/>
            <a:ext cx="4622118" cy="1311526"/>
          </a:xfrm>
          <a:custGeom>
            <a:avLst/>
            <a:gdLst/>
            <a:ahLst/>
            <a:cxnLst/>
            <a:rect r="r" b="b" t="t" l="l"/>
            <a:pathLst>
              <a:path h="1311526" w="4622118">
                <a:moveTo>
                  <a:pt x="0" y="0"/>
                </a:moveTo>
                <a:lnTo>
                  <a:pt x="4622118" y="0"/>
                </a:lnTo>
                <a:lnTo>
                  <a:pt x="4622118" y="1311526"/>
                </a:lnTo>
                <a:lnTo>
                  <a:pt x="0" y="13115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6367377" y="4784204"/>
            <a:ext cx="5579466" cy="3762819"/>
            <a:chOff x="0" y="0"/>
            <a:chExt cx="3100595" cy="2091057"/>
          </a:xfrm>
        </p:grpSpPr>
        <p:sp>
          <p:nvSpPr>
            <p:cNvPr name="Freeform 10" id="10"/>
            <p:cNvSpPr/>
            <p:nvPr/>
          </p:nvSpPr>
          <p:spPr>
            <a:xfrm flipH="false" flipV="false" rot="0">
              <a:off x="0" y="0"/>
              <a:ext cx="3100595" cy="2091057"/>
            </a:xfrm>
            <a:custGeom>
              <a:avLst/>
              <a:gdLst/>
              <a:ahLst/>
              <a:cxnLst/>
              <a:rect r="r" b="b" t="t" l="l"/>
              <a:pathLst>
                <a:path h="2091057" w="3100595">
                  <a:moveTo>
                    <a:pt x="34689" y="0"/>
                  </a:moveTo>
                  <a:lnTo>
                    <a:pt x="3065906" y="0"/>
                  </a:lnTo>
                  <a:cubicBezTo>
                    <a:pt x="3085064" y="0"/>
                    <a:pt x="3100595" y="15531"/>
                    <a:pt x="3100595" y="34689"/>
                  </a:cubicBezTo>
                  <a:lnTo>
                    <a:pt x="3100595" y="2056367"/>
                  </a:lnTo>
                  <a:cubicBezTo>
                    <a:pt x="3100595" y="2075526"/>
                    <a:pt x="3085064" y="2091057"/>
                    <a:pt x="3065906" y="2091057"/>
                  </a:cubicBezTo>
                  <a:lnTo>
                    <a:pt x="34689" y="2091057"/>
                  </a:lnTo>
                  <a:cubicBezTo>
                    <a:pt x="15531" y="2091057"/>
                    <a:pt x="0" y="2075526"/>
                    <a:pt x="0" y="2056367"/>
                  </a:cubicBezTo>
                  <a:lnTo>
                    <a:pt x="0" y="34689"/>
                  </a:lnTo>
                  <a:cubicBezTo>
                    <a:pt x="0" y="15531"/>
                    <a:pt x="15531" y="0"/>
                    <a:pt x="34689" y="0"/>
                  </a:cubicBezTo>
                  <a:close/>
                </a:path>
              </a:pathLst>
            </a:custGeom>
            <a:solidFill>
              <a:srgbClr val="2A3066">
                <a:alpha val="55686"/>
              </a:srgbClr>
            </a:solidFill>
          </p:spPr>
        </p:sp>
        <p:sp>
          <p:nvSpPr>
            <p:cNvPr name="TextBox 11" id="11"/>
            <p:cNvSpPr txBox="true"/>
            <p:nvPr/>
          </p:nvSpPr>
          <p:spPr>
            <a:xfrm>
              <a:off x="0" y="-66675"/>
              <a:ext cx="3100595" cy="2157732"/>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12" id="12"/>
          <p:cNvGrpSpPr/>
          <p:nvPr/>
        </p:nvGrpSpPr>
        <p:grpSpPr>
          <a:xfrm rot="0">
            <a:off x="12177212" y="1721272"/>
            <a:ext cx="5242727" cy="4212880"/>
            <a:chOff x="0" y="0"/>
            <a:chExt cx="3181536" cy="2556576"/>
          </a:xfrm>
        </p:grpSpPr>
        <p:sp>
          <p:nvSpPr>
            <p:cNvPr name="Freeform 13" id="13"/>
            <p:cNvSpPr/>
            <p:nvPr/>
          </p:nvSpPr>
          <p:spPr>
            <a:xfrm flipH="false" flipV="false" rot="0">
              <a:off x="0" y="0"/>
              <a:ext cx="3181536" cy="2556576"/>
            </a:xfrm>
            <a:custGeom>
              <a:avLst/>
              <a:gdLst/>
              <a:ahLst/>
              <a:cxnLst/>
              <a:rect r="r" b="b" t="t" l="l"/>
              <a:pathLst>
                <a:path h="2556576" w="3181536">
                  <a:moveTo>
                    <a:pt x="36917" y="0"/>
                  </a:moveTo>
                  <a:lnTo>
                    <a:pt x="3144619" y="0"/>
                  </a:lnTo>
                  <a:cubicBezTo>
                    <a:pt x="3154410" y="0"/>
                    <a:pt x="3163800" y="3890"/>
                    <a:pt x="3170724" y="10813"/>
                  </a:cubicBezTo>
                  <a:cubicBezTo>
                    <a:pt x="3177647" y="17736"/>
                    <a:pt x="3181536" y="27126"/>
                    <a:pt x="3181536" y="36917"/>
                  </a:cubicBezTo>
                  <a:lnTo>
                    <a:pt x="3181536" y="2519659"/>
                  </a:lnTo>
                  <a:cubicBezTo>
                    <a:pt x="3181536" y="2540048"/>
                    <a:pt x="3165008" y="2556576"/>
                    <a:pt x="3144619" y="2556576"/>
                  </a:cubicBezTo>
                  <a:lnTo>
                    <a:pt x="36917" y="2556576"/>
                  </a:lnTo>
                  <a:cubicBezTo>
                    <a:pt x="16528" y="2556576"/>
                    <a:pt x="0" y="2540048"/>
                    <a:pt x="0" y="2519659"/>
                  </a:cubicBezTo>
                  <a:lnTo>
                    <a:pt x="0" y="36917"/>
                  </a:lnTo>
                  <a:cubicBezTo>
                    <a:pt x="0" y="16528"/>
                    <a:pt x="16528" y="0"/>
                    <a:pt x="36917" y="0"/>
                  </a:cubicBezTo>
                  <a:close/>
                </a:path>
              </a:pathLst>
            </a:custGeom>
            <a:solidFill>
              <a:srgbClr val="2A3066">
                <a:alpha val="55686"/>
              </a:srgbClr>
            </a:solidFill>
          </p:spPr>
        </p:sp>
        <p:sp>
          <p:nvSpPr>
            <p:cNvPr name="TextBox 14" id="14"/>
            <p:cNvSpPr txBox="true"/>
            <p:nvPr/>
          </p:nvSpPr>
          <p:spPr>
            <a:xfrm>
              <a:off x="0" y="-66675"/>
              <a:ext cx="3181536" cy="2623251"/>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AutoShape 15" id="15"/>
          <p:cNvSpPr/>
          <p:nvPr/>
        </p:nvSpPr>
        <p:spPr>
          <a:xfrm>
            <a:off x="14798575" y="5934152"/>
            <a:ext cx="20285" cy="858494"/>
          </a:xfrm>
          <a:prstGeom prst="line">
            <a:avLst/>
          </a:prstGeom>
          <a:ln cap="flat" w="38100">
            <a:solidFill>
              <a:srgbClr val="FFFFFF"/>
            </a:solidFill>
            <a:prstDash val="solid"/>
            <a:headEnd type="none" len="sm" w="sm"/>
            <a:tailEnd type="none" len="sm" w="sm"/>
          </a:ln>
        </p:spPr>
      </p:sp>
      <p:sp>
        <p:nvSpPr>
          <p:cNvPr name="Freeform 16" id="16"/>
          <p:cNvSpPr/>
          <p:nvPr/>
        </p:nvSpPr>
        <p:spPr>
          <a:xfrm flipH="false" flipV="false" rot="0">
            <a:off x="12488209" y="6792647"/>
            <a:ext cx="4661302" cy="1322645"/>
          </a:xfrm>
          <a:custGeom>
            <a:avLst/>
            <a:gdLst/>
            <a:ahLst/>
            <a:cxnLst/>
            <a:rect r="r" b="b" t="t" l="l"/>
            <a:pathLst>
              <a:path h="1322645" w="4661302">
                <a:moveTo>
                  <a:pt x="0" y="0"/>
                </a:moveTo>
                <a:lnTo>
                  <a:pt x="4661302" y="0"/>
                </a:lnTo>
                <a:lnTo>
                  <a:pt x="4661302" y="1322644"/>
                </a:lnTo>
                <a:lnTo>
                  <a:pt x="0" y="13226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343217" y="2234716"/>
            <a:ext cx="4263321" cy="3313138"/>
          </a:xfrm>
          <a:custGeom>
            <a:avLst/>
            <a:gdLst/>
            <a:ahLst/>
            <a:cxnLst/>
            <a:rect r="r" b="b" t="t" l="l"/>
            <a:pathLst>
              <a:path h="3313138" w="4263321">
                <a:moveTo>
                  <a:pt x="0" y="0"/>
                </a:moveTo>
                <a:lnTo>
                  <a:pt x="4263321" y="0"/>
                </a:lnTo>
                <a:lnTo>
                  <a:pt x="4263321" y="3313138"/>
                </a:lnTo>
                <a:lnTo>
                  <a:pt x="0" y="3313138"/>
                </a:lnTo>
                <a:lnTo>
                  <a:pt x="0" y="0"/>
                </a:lnTo>
                <a:close/>
              </a:path>
            </a:pathLst>
          </a:custGeom>
          <a:blipFill>
            <a:blip r:embed="rId6"/>
            <a:stretch>
              <a:fillRect l="0" t="0" r="0" b="0"/>
            </a:stretch>
          </a:blipFill>
        </p:spPr>
      </p:sp>
      <p:sp>
        <p:nvSpPr>
          <p:cNvPr name="Freeform 18" id="18"/>
          <p:cNvSpPr/>
          <p:nvPr/>
        </p:nvSpPr>
        <p:spPr>
          <a:xfrm flipH="false" flipV="false" rot="0">
            <a:off x="6490588" y="5013881"/>
            <a:ext cx="5333044" cy="3303465"/>
          </a:xfrm>
          <a:custGeom>
            <a:avLst/>
            <a:gdLst/>
            <a:ahLst/>
            <a:cxnLst/>
            <a:rect r="r" b="b" t="t" l="l"/>
            <a:pathLst>
              <a:path h="3303465" w="5333044">
                <a:moveTo>
                  <a:pt x="0" y="0"/>
                </a:moveTo>
                <a:lnTo>
                  <a:pt x="5333044" y="0"/>
                </a:lnTo>
                <a:lnTo>
                  <a:pt x="5333044" y="3303465"/>
                </a:lnTo>
                <a:lnTo>
                  <a:pt x="0" y="3303465"/>
                </a:lnTo>
                <a:lnTo>
                  <a:pt x="0" y="0"/>
                </a:lnTo>
                <a:close/>
              </a:path>
            </a:pathLst>
          </a:custGeom>
          <a:blipFill>
            <a:blip r:embed="rId7"/>
            <a:stretch>
              <a:fillRect l="0" t="0" r="0" b="0"/>
            </a:stretch>
          </a:blipFill>
        </p:spPr>
      </p:sp>
      <p:sp>
        <p:nvSpPr>
          <p:cNvPr name="Freeform 19" id="19"/>
          <p:cNvSpPr/>
          <p:nvPr/>
        </p:nvSpPr>
        <p:spPr>
          <a:xfrm flipH="false" flipV="false" rot="0">
            <a:off x="12396176" y="1866860"/>
            <a:ext cx="4797149" cy="3916040"/>
          </a:xfrm>
          <a:custGeom>
            <a:avLst/>
            <a:gdLst/>
            <a:ahLst/>
            <a:cxnLst/>
            <a:rect r="r" b="b" t="t" l="l"/>
            <a:pathLst>
              <a:path h="3916040" w="4797149">
                <a:moveTo>
                  <a:pt x="0" y="0"/>
                </a:moveTo>
                <a:lnTo>
                  <a:pt x="4797149" y="0"/>
                </a:lnTo>
                <a:lnTo>
                  <a:pt x="4797149" y="3916040"/>
                </a:lnTo>
                <a:lnTo>
                  <a:pt x="0" y="3916040"/>
                </a:lnTo>
                <a:lnTo>
                  <a:pt x="0" y="0"/>
                </a:lnTo>
                <a:close/>
              </a:path>
            </a:pathLst>
          </a:custGeom>
          <a:blipFill>
            <a:blip r:embed="rId8"/>
            <a:stretch>
              <a:fillRect l="0" t="0" r="0" b="0"/>
            </a:stretch>
          </a:blipFill>
        </p:spPr>
      </p:sp>
      <p:sp>
        <p:nvSpPr>
          <p:cNvPr name="TextBox 20" id="20"/>
          <p:cNvSpPr txBox="true"/>
          <p:nvPr/>
        </p:nvSpPr>
        <p:spPr>
          <a:xfrm rot="0">
            <a:off x="1897636" y="8746083"/>
            <a:ext cx="3157205" cy="410680"/>
          </a:xfrm>
          <a:prstGeom prst="rect">
            <a:avLst/>
          </a:prstGeom>
        </p:spPr>
        <p:txBody>
          <a:bodyPr anchor="t" rtlCol="false" tIns="0" lIns="0" bIns="0" rIns="0">
            <a:spAutoFit/>
          </a:bodyPr>
          <a:lstStyle/>
          <a:p>
            <a:pPr algn="ctr">
              <a:lnSpc>
                <a:spcPts val="1536"/>
              </a:lnSpc>
            </a:pPr>
            <a:r>
              <a:rPr lang="en-US" sz="1422">
                <a:solidFill>
                  <a:srgbClr val="FFFFFF"/>
                </a:solidFill>
                <a:latin typeface="Poppins"/>
                <a:ea typeface="Poppins"/>
                <a:cs typeface="Poppins"/>
                <a:sym typeface="Poppins"/>
              </a:rPr>
              <a:t>These charts compare </a:t>
            </a:r>
            <a:r>
              <a:rPr lang="en-US" sz="1422">
                <a:solidFill>
                  <a:srgbClr val="FFFFFF"/>
                </a:solidFill>
                <a:latin typeface="Poppins"/>
                <a:ea typeface="Poppins"/>
                <a:cs typeface="Poppins"/>
                <a:sym typeface="Poppins"/>
              </a:rPr>
              <a:t>th</a:t>
            </a:r>
            <a:r>
              <a:rPr lang="en-US" sz="1422">
                <a:solidFill>
                  <a:srgbClr val="FFFFFF"/>
                </a:solidFill>
                <a:latin typeface="Poppins"/>
                <a:ea typeface="Poppins"/>
                <a:cs typeface="Poppins"/>
                <a:sym typeface="Poppins"/>
              </a:rPr>
              <a:t>e</a:t>
            </a:r>
            <a:r>
              <a:rPr lang="en-US" sz="1422">
                <a:solidFill>
                  <a:srgbClr val="FFFFFF"/>
                </a:solidFill>
                <a:latin typeface="Poppins"/>
                <a:ea typeface="Poppins"/>
                <a:cs typeface="Poppins"/>
                <a:sym typeface="Poppins"/>
              </a:rPr>
              <a:t> total sal</a:t>
            </a:r>
            <a:r>
              <a:rPr lang="en-US" sz="1422">
                <a:solidFill>
                  <a:srgbClr val="FFFFFF"/>
                </a:solidFill>
                <a:latin typeface="Poppins"/>
                <a:ea typeface="Poppins"/>
                <a:cs typeface="Poppins"/>
                <a:sym typeface="Poppins"/>
              </a:rPr>
              <a:t>es</a:t>
            </a:r>
            <a:r>
              <a:rPr lang="en-US" sz="1422">
                <a:solidFill>
                  <a:srgbClr val="FFFFFF"/>
                </a:solidFill>
                <a:latin typeface="Poppins"/>
                <a:ea typeface="Poppins"/>
                <a:cs typeface="Poppins"/>
                <a:sym typeface="Poppins"/>
              </a:rPr>
              <a:t> of the three ASUS </a:t>
            </a:r>
            <a:r>
              <a:rPr lang="en-US" sz="1422">
                <a:solidFill>
                  <a:srgbClr val="FFFFFF"/>
                </a:solidFill>
                <a:latin typeface="Poppins"/>
                <a:ea typeface="Poppins"/>
                <a:cs typeface="Poppins"/>
                <a:sym typeface="Poppins"/>
              </a:rPr>
              <a:t>laptops.</a:t>
            </a:r>
          </a:p>
        </p:txBody>
      </p:sp>
      <p:grpSp>
        <p:nvGrpSpPr>
          <p:cNvPr name="Group 21" id="21"/>
          <p:cNvGrpSpPr/>
          <p:nvPr/>
        </p:nvGrpSpPr>
        <p:grpSpPr>
          <a:xfrm rot="0">
            <a:off x="1447203" y="5730760"/>
            <a:ext cx="4055351" cy="2666942"/>
            <a:chOff x="0" y="0"/>
            <a:chExt cx="2460980" cy="1618428"/>
          </a:xfrm>
        </p:grpSpPr>
        <p:sp>
          <p:nvSpPr>
            <p:cNvPr name="Freeform 22" id="22"/>
            <p:cNvSpPr/>
            <p:nvPr/>
          </p:nvSpPr>
          <p:spPr>
            <a:xfrm flipH="false" flipV="false" rot="0">
              <a:off x="0" y="0"/>
              <a:ext cx="2460980" cy="1618428"/>
            </a:xfrm>
            <a:custGeom>
              <a:avLst/>
              <a:gdLst/>
              <a:ahLst/>
              <a:cxnLst/>
              <a:rect r="r" b="b" t="t" l="l"/>
              <a:pathLst>
                <a:path h="1618428" w="2460980">
                  <a:moveTo>
                    <a:pt x="47727" y="0"/>
                  </a:moveTo>
                  <a:lnTo>
                    <a:pt x="2413253" y="0"/>
                  </a:lnTo>
                  <a:cubicBezTo>
                    <a:pt x="2439612" y="0"/>
                    <a:pt x="2460980" y="21368"/>
                    <a:pt x="2460980" y="47727"/>
                  </a:cubicBezTo>
                  <a:lnTo>
                    <a:pt x="2460980" y="1570701"/>
                  </a:lnTo>
                  <a:cubicBezTo>
                    <a:pt x="2460980" y="1583359"/>
                    <a:pt x="2455952" y="1595499"/>
                    <a:pt x="2447001" y="1604449"/>
                  </a:cubicBezTo>
                  <a:cubicBezTo>
                    <a:pt x="2438051" y="1613399"/>
                    <a:pt x="2425911" y="1618428"/>
                    <a:pt x="2413253" y="1618428"/>
                  </a:cubicBezTo>
                  <a:lnTo>
                    <a:pt x="47727" y="1618428"/>
                  </a:lnTo>
                  <a:cubicBezTo>
                    <a:pt x="21368" y="1618428"/>
                    <a:pt x="0" y="1597060"/>
                    <a:pt x="0" y="1570701"/>
                  </a:cubicBezTo>
                  <a:lnTo>
                    <a:pt x="0" y="47727"/>
                  </a:lnTo>
                  <a:cubicBezTo>
                    <a:pt x="0" y="35069"/>
                    <a:pt x="5028" y="22929"/>
                    <a:pt x="13979" y="13979"/>
                  </a:cubicBezTo>
                  <a:cubicBezTo>
                    <a:pt x="22929" y="5028"/>
                    <a:pt x="35069" y="0"/>
                    <a:pt x="47727" y="0"/>
                  </a:cubicBezTo>
                  <a:close/>
                </a:path>
              </a:pathLst>
            </a:custGeom>
            <a:solidFill>
              <a:srgbClr val="2A3066">
                <a:alpha val="55686"/>
              </a:srgbClr>
            </a:solidFill>
          </p:spPr>
        </p:sp>
        <p:sp>
          <p:nvSpPr>
            <p:cNvPr name="TextBox 23" id="23"/>
            <p:cNvSpPr txBox="true"/>
            <p:nvPr/>
          </p:nvSpPr>
          <p:spPr>
            <a:xfrm>
              <a:off x="0" y="-66675"/>
              <a:ext cx="2460980" cy="1685103"/>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24" id="24"/>
          <p:cNvSpPr/>
          <p:nvPr/>
        </p:nvSpPr>
        <p:spPr>
          <a:xfrm flipH="false" flipV="false" rot="0">
            <a:off x="1575637" y="5832473"/>
            <a:ext cx="3792822" cy="2437055"/>
          </a:xfrm>
          <a:custGeom>
            <a:avLst/>
            <a:gdLst/>
            <a:ahLst/>
            <a:cxnLst/>
            <a:rect r="r" b="b" t="t" l="l"/>
            <a:pathLst>
              <a:path h="2437055" w="3792822">
                <a:moveTo>
                  <a:pt x="0" y="0"/>
                </a:moveTo>
                <a:lnTo>
                  <a:pt x="3792822" y="0"/>
                </a:lnTo>
                <a:lnTo>
                  <a:pt x="3792822" y="2437054"/>
                </a:lnTo>
                <a:lnTo>
                  <a:pt x="0" y="2437054"/>
                </a:lnTo>
                <a:lnTo>
                  <a:pt x="0" y="0"/>
                </a:lnTo>
                <a:close/>
              </a:path>
            </a:pathLst>
          </a:custGeom>
          <a:blipFill>
            <a:blip r:embed="rId9"/>
            <a:stretch>
              <a:fillRect l="0" t="0" r="0" b="0"/>
            </a:stretch>
          </a:blipFill>
        </p:spPr>
      </p:sp>
      <p:sp>
        <p:nvSpPr>
          <p:cNvPr name="TextBox 25" id="25"/>
          <p:cNvSpPr txBox="true"/>
          <p:nvPr/>
        </p:nvSpPr>
        <p:spPr>
          <a:xfrm rot="0">
            <a:off x="1597433"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Visualisations and Insights from Power BI</a:t>
            </a:r>
          </a:p>
        </p:txBody>
      </p:sp>
      <p:sp>
        <p:nvSpPr>
          <p:cNvPr name="TextBox 26" id="26"/>
          <p:cNvSpPr txBox="true"/>
          <p:nvPr/>
        </p:nvSpPr>
        <p:spPr>
          <a:xfrm rot="0">
            <a:off x="1597433"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All Products</a:t>
            </a:r>
          </a:p>
        </p:txBody>
      </p:sp>
      <p:sp>
        <p:nvSpPr>
          <p:cNvPr name="TextBox 27" id="27"/>
          <p:cNvSpPr txBox="true"/>
          <p:nvPr/>
        </p:nvSpPr>
        <p:spPr>
          <a:xfrm rot="0">
            <a:off x="7146664" y="3084325"/>
            <a:ext cx="4020891" cy="741578"/>
          </a:xfrm>
          <a:prstGeom prst="rect">
            <a:avLst/>
          </a:prstGeom>
        </p:spPr>
        <p:txBody>
          <a:bodyPr anchor="t" rtlCol="false" tIns="0" lIns="0" bIns="0" rIns="0">
            <a:spAutoFit/>
          </a:bodyPr>
          <a:lstStyle/>
          <a:p>
            <a:pPr algn="ctr">
              <a:lnSpc>
                <a:spcPts val="1927"/>
              </a:lnSpc>
              <a:spcBef>
                <a:spcPct val="0"/>
              </a:spcBef>
            </a:pPr>
            <a:r>
              <a:rPr lang="en-US" sz="1784">
                <a:solidFill>
                  <a:srgbClr val="FFFFFF"/>
                </a:solidFill>
                <a:latin typeface="Poppins"/>
                <a:ea typeface="Poppins"/>
                <a:cs typeface="Poppins"/>
                <a:sym typeface="Poppins"/>
              </a:rPr>
              <a:t>This grouped bar chart c</a:t>
            </a:r>
            <a:r>
              <a:rPr lang="en-US" sz="1784">
                <a:solidFill>
                  <a:srgbClr val="FFFFFF"/>
                </a:solidFill>
                <a:latin typeface="Poppins"/>
                <a:ea typeface="Poppins"/>
                <a:cs typeface="Poppins"/>
                <a:sym typeface="Poppins"/>
              </a:rPr>
              <a:t>ompares t</a:t>
            </a:r>
            <a:r>
              <a:rPr lang="en-US" sz="1784">
                <a:solidFill>
                  <a:srgbClr val="FFFFFF"/>
                </a:solidFill>
                <a:latin typeface="Poppins"/>
                <a:ea typeface="Poppins"/>
                <a:cs typeface="Poppins"/>
                <a:sym typeface="Poppins"/>
              </a:rPr>
              <a:t>he</a:t>
            </a:r>
            <a:r>
              <a:rPr lang="en-US" sz="1784">
                <a:solidFill>
                  <a:srgbClr val="FFFFFF"/>
                </a:solidFill>
                <a:latin typeface="Poppins"/>
                <a:ea typeface="Poppins"/>
                <a:cs typeface="Poppins"/>
                <a:sym typeface="Poppins"/>
              </a:rPr>
              <a:t> a</a:t>
            </a:r>
            <a:r>
              <a:rPr lang="en-US" sz="1784">
                <a:solidFill>
                  <a:srgbClr val="FFFFFF"/>
                </a:solidFill>
                <a:latin typeface="Poppins"/>
                <a:ea typeface="Poppins"/>
                <a:cs typeface="Poppins"/>
                <a:sym typeface="Poppins"/>
              </a:rPr>
              <a:t>v</a:t>
            </a:r>
            <a:r>
              <a:rPr lang="en-US" sz="1784">
                <a:solidFill>
                  <a:srgbClr val="FFFFFF"/>
                </a:solidFill>
                <a:latin typeface="Poppins"/>
                <a:ea typeface="Poppins"/>
                <a:cs typeface="Poppins"/>
                <a:sym typeface="Poppins"/>
              </a:rPr>
              <a:t>er</a:t>
            </a:r>
            <a:r>
              <a:rPr lang="en-US" sz="1784">
                <a:solidFill>
                  <a:srgbClr val="FFFFFF"/>
                </a:solidFill>
                <a:latin typeface="Poppins"/>
                <a:ea typeface="Poppins"/>
                <a:cs typeface="Poppins"/>
                <a:sym typeface="Poppins"/>
              </a:rPr>
              <a:t>ag</a:t>
            </a:r>
            <a:r>
              <a:rPr lang="en-US" sz="1784">
                <a:solidFill>
                  <a:srgbClr val="FFFFFF"/>
                </a:solidFill>
                <a:latin typeface="Poppins"/>
                <a:ea typeface="Poppins"/>
                <a:cs typeface="Poppins"/>
                <a:sym typeface="Poppins"/>
              </a:rPr>
              <a:t>e sales ra</a:t>
            </a:r>
            <a:r>
              <a:rPr lang="en-US" sz="1784">
                <a:solidFill>
                  <a:srgbClr val="FFFFFF"/>
                </a:solidFill>
                <a:latin typeface="Poppins"/>
                <a:ea typeface="Poppins"/>
                <a:cs typeface="Poppins"/>
                <a:sym typeface="Poppins"/>
              </a:rPr>
              <a:t>nk of the laptops across each month. </a:t>
            </a:r>
          </a:p>
        </p:txBody>
      </p:sp>
      <p:sp>
        <p:nvSpPr>
          <p:cNvPr name="TextBox 28" id="28"/>
          <p:cNvSpPr txBox="true"/>
          <p:nvPr/>
        </p:nvSpPr>
        <p:spPr>
          <a:xfrm rot="0">
            <a:off x="12635411" y="7095367"/>
            <a:ext cx="4437900" cy="732127"/>
          </a:xfrm>
          <a:prstGeom prst="rect">
            <a:avLst/>
          </a:prstGeom>
        </p:spPr>
        <p:txBody>
          <a:bodyPr anchor="t" rtlCol="false" tIns="0" lIns="0" bIns="0" rIns="0">
            <a:spAutoFit/>
          </a:bodyPr>
          <a:lstStyle/>
          <a:p>
            <a:pPr algn="ctr">
              <a:lnSpc>
                <a:spcPts val="1882"/>
              </a:lnSpc>
            </a:pPr>
          </a:p>
          <a:p>
            <a:pPr algn="ctr">
              <a:lnSpc>
                <a:spcPts val="1882"/>
              </a:lnSpc>
            </a:pPr>
          </a:p>
          <a:p>
            <a:pPr algn="ctr">
              <a:lnSpc>
                <a:spcPts val="1882"/>
              </a:lnSpc>
            </a:pPr>
          </a:p>
        </p:txBody>
      </p:sp>
      <p:sp>
        <p:nvSpPr>
          <p:cNvPr name="AutoShape 29" id="29"/>
          <p:cNvSpPr/>
          <p:nvPr/>
        </p:nvSpPr>
        <p:spPr>
          <a:xfrm flipV="true">
            <a:off x="3495289" y="8355252"/>
            <a:ext cx="0" cy="163196"/>
          </a:xfrm>
          <a:prstGeom prst="line">
            <a:avLst/>
          </a:prstGeom>
          <a:ln cap="flat" w="38100">
            <a:solidFill>
              <a:srgbClr val="FFFFFF"/>
            </a:solidFill>
            <a:prstDash val="solid"/>
            <a:headEnd type="none" len="sm" w="sm"/>
            <a:tailEnd type="none" len="sm" w="sm"/>
          </a:ln>
        </p:spPr>
      </p:sp>
      <p:sp>
        <p:nvSpPr>
          <p:cNvPr name="TextBox 30" id="30"/>
          <p:cNvSpPr txBox="true"/>
          <p:nvPr/>
        </p:nvSpPr>
        <p:spPr>
          <a:xfrm rot="0">
            <a:off x="12635411" y="6865821"/>
            <a:ext cx="4437900" cy="1034514"/>
          </a:xfrm>
          <a:prstGeom prst="rect">
            <a:avLst/>
          </a:prstGeom>
        </p:spPr>
        <p:txBody>
          <a:bodyPr anchor="t" rtlCol="false" tIns="0" lIns="0" bIns="0" rIns="0">
            <a:spAutoFit/>
          </a:bodyPr>
          <a:lstStyle/>
          <a:p>
            <a:pPr algn="ctr">
              <a:lnSpc>
                <a:spcPts val="2760"/>
              </a:lnSpc>
              <a:spcBef>
                <a:spcPct val="0"/>
              </a:spcBef>
            </a:pPr>
            <a:r>
              <a:rPr lang="en-US" sz="1713">
                <a:solidFill>
                  <a:srgbClr val="FFFFFF"/>
                </a:solidFill>
                <a:latin typeface="Poppins"/>
                <a:ea typeface="Poppins"/>
                <a:cs typeface="Poppins"/>
                <a:sym typeface="Poppins"/>
              </a:rPr>
              <a:t>This stacked bar chart shows the monthly proportion of total sales for all the laptops.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1980488" y="1028700"/>
            <a:ext cx="439319" cy="462475"/>
          </a:xfrm>
          <a:custGeom>
            <a:avLst/>
            <a:gdLst/>
            <a:ahLst/>
            <a:cxnLst/>
            <a:rect r="r" b="b" t="t" l="l"/>
            <a:pathLst>
              <a:path h="462475" w="439319">
                <a:moveTo>
                  <a:pt x="0" y="0"/>
                </a:moveTo>
                <a:lnTo>
                  <a:pt x="439319" y="0"/>
                </a:lnTo>
                <a:lnTo>
                  <a:pt x="439319" y="462475"/>
                </a:lnTo>
                <a:lnTo>
                  <a:pt x="0" y="462475"/>
                </a:lnTo>
                <a:lnTo>
                  <a:pt x="0" y="0"/>
                </a:lnTo>
                <a:close/>
              </a:path>
            </a:pathLst>
          </a:custGeom>
          <a:blipFill>
            <a:blip r:embed="rId3"/>
            <a:stretch>
              <a:fillRect l="0" t="-3943" r="0" b="-3943"/>
            </a:stretch>
          </a:blipFill>
        </p:spPr>
      </p:sp>
      <p:sp>
        <p:nvSpPr>
          <p:cNvPr name="AutoShape 3" id="3"/>
          <p:cNvSpPr/>
          <p:nvPr/>
        </p:nvSpPr>
        <p:spPr>
          <a:xfrm flipV="true">
            <a:off x="3360080" y="3056513"/>
            <a:ext cx="5783920" cy="23012"/>
          </a:xfrm>
          <a:prstGeom prst="line">
            <a:avLst/>
          </a:prstGeom>
          <a:ln cap="flat" w="38100">
            <a:solidFill>
              <a:srgbClr val="FFFFFF"/>
            </a:solidFill>
            <a:prstDash val="solid"/>
            <a:headEnd type="none" len="sm" w="sm"/>
            <a:tailEnd type="none" len="sm" w="sm"/>
          </a:ln>
        </p:spPr>
      </p:sp>
      <p:sp>
        <p:nvSpPr>
          <p:cNvPr name="Freeform 4" id="4"/>
          <p:cNvSpPr/>
          <p:nvPr/>
        </p:nvSpPr>
        <p:spPr>
          <a:xfrm flipH="false" flipV="false" rot="0">
            <a:off x="9144000" y="2089748"/>
            <a:ext cx="6814206" cy="1933531"/>
          </a:xfrm>
          <a:custGeom>
            <a:avLst/>
            <a:gdLst/>
            <a:ahLst/>
            <a:cxnLst/>
            <a:rect r="r" b="b" t="t" l="l"/>
            <a:pathLst>
              <a:path h="1933531" w="6814206">
                <a:moveTo>
                  <a:pt x="0" y="0"/>
                </a:moveTo>
                <a:lnTo>
                  <a:pt x="6814206" y="0"/>
                </a:lnTo>
                <a:lnTo>
                  <a:pt x="6814206" y="1933531"/>
                </a:lnTo>
                <a:lnTo>
                  <a:pt x="0" y="19335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435607" y="1107662"/>
            <a:ext cx="8633700" cy="467104"/>
          </a:xfrm>
          <a:prstGeom prst="rect">
            <a:avLst/>
          </a:prstGeom>
        </p:spPr>
        <p:txBody>
          <a:bodyPr anchor="t" rtlCol="false" tIns="0" lIns="0" bIns="0" rIns="0">
            <a:spAutoFit/>
          </a:bodyPr>
          <a:lstStyle/>
          <a:p>
            <a:pPr algn="l">
              <a:lnSpc>
                <a:spcPts val="3431"/>
              </a:lnSpc>
              <a:spcBef>
                <a:spcPct val="0"/>
              </a:spcBef>
            </a:pPr>
            <a:r>
              <a:rPr lang="en-US" b="true" sz="3177">
                <a:solidFill>
                  <a:srgbClr val="FFFFFF"/>
                </a:solidFill>
                <a:latin typeface="Poppins Bold"/>
                <a:ea typeface="Poppins Bold"/>
                <a:cs typeface="Poppins Bold"/>
                <a:sym typeface="Poppins Bold"/>
              </a:rPr>
              <a:t>Insights</a:t>
            </a:r>
          </a:p>
        </p:txBody>
      </p:sp>
      <p:sp>
        <p:nvSpPr>
          <p:cNvPr name="TextBox 6" id="6"/>
          <p:cNvSpPr txBox="true"/>
          <p:nvPr/>
        </p:nvSpPr>
        <p:spPr>
          <a:xfrm rot="0">
            <a:off x="2435607" y="1584290"/>
            <a:ext cx="8633700" cy="467520"/>
          </a:xfrm>
          <a:prstGeom prst="rect">
            <a:avLst/>
          </a:prstGeom>
        </p:spPr>
        <p:txBody>
          <a:bodyPr anchor="t" rtlCol="false" tIns="0" lIns="0" bIns="0" rIns="0">
            <a:spAutoFit/>
          </a:bodyPr>
          <a:lstStyle/>
          <a:p>
            <a:pPr algn="l">
              <a:lnSpc>
                <a:spcPts val="3431"/>
              </a:lnSpc>
              <a:spcBef>
                <a:spcPct val="0"/>
              </a:spcBef>
            </a:pPr>
            <a:r>
              <a:rPr lang="en-US" sz="3177" i="true" u="sng">
                <a:solidFill>
                  <a:srgbClr val="FFFFFF"/>
                </a:solidFill>
                <a:latin typeface="Poppins Italics"/>
                <a:ea typeface="Poppins Italics"/>
                <a:cs typeface="Poppins Italics"/>
                <a:sym typeface="Poppins Italics"/>
              </a:rPr>
              <a:t>All Products</a:t>
            </a:r>
          </a:p>
        </p:txBody>
      </p:sp>
      <p:grpSp>
        <p:nvGrpSpPr>
          <p:cNvPr name="Group 7" id="7"/>
          <p:cNvGrpSpPr/>
          <p:nvPr/>
        </p:nvGrpSpPr>
        <p:grpSpPr>
          <a:xfrm rot="0">
            <a:off x="2419807" y="2598265"/>
            <a:ext cx="940273" cy="962521"/>
            <a:chOff x="0" y="0"/>
            <a:chExt cx="794013" cy="812800"/>
          </a:xfrm>
        </p:grpSpPr>
        <p:sp>
          <p:nvSpPr>
            <p:cNvPr name="Freeform 8" id="8"/>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9" id="9"/>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10" id="10"/>
          <p:cNvSpPr txBox="true"/>
          <p:nvPr/>
        </p:nvSpPr>
        <p:spPr>
          <a:xfrm rot="0">
            <a:off x="2586754" y="2753637"/>
            <a:ext cx="606379" cy="661301"/>
          </a:xfrm>
          <a:prstGeom prst="rect">
            <a:avLst/>
          </a:prstGeom>
        </p:spPr>
        <p:txBody>
          <a:bodyPr anchor="t" rtlCol="false" tIns="0" lIns="0" bIns="0" rIns="0">
            <a:spAutoFit/>
          </a:bodyPr>
          <a:lstStyle/>
          <a:p>
            <a:pPr algn="ctr">
              <a:lnSpc>
                <a:spcPts val="4784"/>
              </a:lnSpc>
            </a:pPr>
            <a:r>
              <a:rPr lang="en-US" sz="4430">
                <a:solidFill>
                  <a:srgbClr val="FFFFFF"/>
                </a:solidFill>
                <a:latin typeface="Poppins"/>
                <a:ea typeface="Poppins"/>
                <a:cs typeface="Poppins"/>
                <a:sym typeface="Poppins"/>
              </a:rPr>
              <a:t>1</a:t>
            </a:r>
          </a:p>
        </p:txBody>
      </p:sp>
      <p:sp>
        <p:nvSpPr>
          <p:cNvPr name="Freeform 11" id="11"/>
          <p:cNvSpPr/>
          <p:nvPr/>
        </p:nvSpPr>
        <p:spPr>
          <a:xfrm flipH="false" flipV="false" rot="0">
            <a:off x="9144000" y="5565103"/>
            <a:ext cx="6814206" cy="1933531"/>
          </a:xfrm>
          <a:custGeom>
            <a:avLst/>
            <a:gdLst/>
            <a:ahLst/>
            <a:cxnLst/>
            <a:rect r="r" b="b" t="t" l="l"/>
            <a:pathLst>
              <a:path h="1933531" w="6814206">
                <a:moveTo>
                  <a:pt x="0" y="0"/>
                </a:moveTo>
                <a:lnTo>
                  <a:pt x="6814206" y="0"/>
                </a:lnTo>
                <a:lnTo>
                  <a:pt x="6814206" y="1933530"/>
                </a:lnTo>
                <a:lnTo>
                  <a:pt x="0" y="19335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2329794" y="4070178"/>
            <a:ext cx="6814206" cy="1933531"/>
          </a:xfrm>
          <a:custGeom>
            <a:avLst/>
            <a:gdLst/>
            <a:ahLst/>
            <a:cxnLst/>
            <a:rect r="r" b="b" t="t" l="l"/>
            <a:pathLst>
              <a:path h="1933531" w="6814206">
                <a:moveTo>
                  <a:pt x="0" y="0"/>
                </a:moveTo>
                <a:lnTo>
                  <a:pt x="6814206" y="0"/>
                </a:lnTo>
                <a:lnTo>
                  <a:pt x="6814206" y="1933531"/>
                </a:lnTo>
                <a:lnTo>
                  <a:pt x="0" y="19335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3" id="13"/>
          <p:cNvSpPr/>
          <p:nvPr/>
        </p:nvSpPr>
        <p:spPr>
          <a:xfrm flipH="true">
            <a:off x="9144000" y="5019522"/>
            <a:ext cx="5873933" cy="17421"/>
          </a:xfrm>
          <a:prstGeom prst="line">
            <a:avLst/>
          </a:prstGeom>
          <a:ln cap="flat" w="38100">
            <a:solidFill>
              <a:srgbClr val="FFFFFF"/>
            </a:solidFill>
            <a:prstDash val="solid"/>
            <a:headEnd type="none" len="sm" w="sm"/>
            <a:tailEnd type="none" len="sm" w="sm"/>
          </a:ln>
        </p:spPr>
      </p:sp>
      <p:grpSp>
        <p:nvGrpSpPr>
          <p:cNvPr name="Group 14" id="14"/>
          <p:cNvGrpSpPr/>
          <p:nvPr/>
        </p:nvGrpSpPr>
        <p:grpSpPr>
          <a:xfrm rot="-10800000">
            <a:off x="15017933" y="4538261"/>
            <a:ext cx="940273" cy="962521"/>
            <a:chOff x="0" y="0"/>
            <a:chExt cx="794013" cy="812800"/>
          </a:xfrm>
        </p:grpSpPr>
        <p:sp>
          <p:nvSpPr>
            <p:cNvPr name="Freeform 15" id="15"/>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16" id="16"/>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17" id="17"/>
          <p:cNvSpPr txBox="true"/>
          <p:nvPr/>
        </p:nvSpPr>
        <p:spPr>
          <a:xfrm rot="0">
            <a:off x="15327183" y="4503107"/>
            <a:ext cx="321773" cy="851855"/>
          </a:xfrm>
          <a:prstGeom prst="rect">
            <a:avLst/>
          </a:prstGeom>
        </p:spPr>
        <p:txBody>
          <a:bodyPr anchor="t" rtlCol="false" tIns="0" lIns="0" bIns="0" rIns="0">
            <a:spAutoFit/>
          </a:bodyPr>
          <a:lstStyle/>
          <a:p>
            <a:pPr algn="ctr">
              <a:lnSpc>
                <a:spcPts val="7137"/>
              </a:lnSpc>
              <a:spcBef>
                <a:spcPct val="0"/>
              </a:spcBef>
            </a:pPr>
            <a:r>
              <a:rPr lang="en-US" sz="4430">
                <a:solidFill>
                  <a:srgbClr val="FFFFFF"/>
                </a:solidFill>
                <a:latin typeface="Open Sans"/>
                <a:ea typeface="Open Sans"/>
                <a:cs typeface="Open Sans"/>
                <a:sym typeface="Open Sans"/>
              </a:rPr>
              <a:t>2</a:t>
            </a:r>
          </a:p>
        </p:txBody>
      </p:sp>
      <p:sp>
        <p:nvSpPr>
          <p:cNvPr name="AutoShape 18" id="18"/>
          <p:cNvSpPr/>
          <p:nvPr/>
        </p:nvSpPr>
        <p:spPr>
          <a:xfrm>
            <a:off x="3360080" y="6531868"/>
            <a:ext cx="5783920" cy="0"/>
          </a:xfrm>
          <a:prstGeom prst="line">
            <a:avLst/>
          </a:prstGeom>
          <a:ln cap="flat" w="38100">
            <a:solidFill>
              <a:srgbClr val="FFFFFF"/>
            </a:solidFill>
            <a:prstDash val="solid"/>
            <a:headEnd type="none" len="sm" w="sm"/>
            <a:tailEnd type="none" len="sm" w="sm"/>
          </a:ln>
        </p:spPr>
      </p:sp>
      <p:grpSp>
        <p:nvGrpSpPr>
          <p:cNvPr name="Group 19" id="19"/>
          <p:cNvGrpSpPr/>
          <p:nvPr/>
        </p:nvGrpSpPr>
        <p:grpSpPr>
          <a:xfrm rot="0">
            <a:off x="2419807" y="6050608"/>
            <a:ext cx="940273" cy="962521"/>
            <a:chOff x="0" y="0"/>
            <a:chExt cx="794013" cy="812800"/>
          </a:xfrm>
        </p:grpSpPr>
        <p:sp>
          <p:nvSpPr>
            <p:cNvPr name="Freeform 20" id="20"/>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21" id="21"/>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22" id="22"/>
          <p:cNvSpPr txBox="true"/>
          <p:nvPr/>
        </p:nvSpPr>
        <p:spPr>
          <a:xfrm rot="0">
            <a:off x="2586754" y="6205980"/>
            <a:ext cx="606379" cy="661301"/>
          </a:xfrm>
          <a:prstGeom prst="rect">
            <a:avLst/>
          </a:prstGeom>
        </p:spPr>
        <p:txBody>
          <a:bodyPr anchor="t" rtlCol="false" tIns="0" lIns="0" bIns="0" rIns="0">
            <a:spAutoFit/>
          </a:bodyPr>
          <a:lstStyle/>
          <a:p>
            <a:pPr algn="ctr">
              <a:lnSpc>
                <a:spcPts val="4784"/>
              </a:lnSpc>
            </a:pPr>
            <a:r>
              <a:rPr lang="en-US" sz="4430">
                <a:solidFill>
                  <a:srgbClr val="FFFFFF"/>
                </a:solidFill>
                <a:latin typeface="Poppins"/>
                <a:ea typeface="Poppins"/>
                <a:cs typeface="Poppins"/>
                <a:sym typeface="Poppins"/>
              </a:rPr>
              <a:t>3</a:t>
            </a:r>
          </a:p>
        </p:txBody>
      </p:sp>
      <p:sp>
        <p:nvSpPr>
          <p:cNvPr name="Freeform 23" id="23"/>
          <p:cNvSpPr/>
          <p:nvPr/>
        </p:nvSpPr>
        <p:spPr>
          <a:xfrm flipH="false" flipV="false" rot="0">
            <a:off x="2200148" y="7251253"/>
            <a:ext cx="6814206" cy="1933531"/>
          </a:xfrm>
          <a:custGeom>
            <a:avLst/>
            <a:gdLst/>
            <a:ahLst/>
            <a:cxnLst/>
            <a:rect r="r" b="b" t="t" l="l"/>
            <a:pathLst>
              <a:path h="1933531" w="6814206">
                <a:moveTo>
                  <a:pt x="0" y="0"/>
                </a:moveTo>
                <a:lnTo>
                  <a:pt x="6814206" y="0"/>
                </a:lnTo>
                <a:lnTo>
                  <a:pt x="6814206" y="1933531"/>
                </a:lnTo>
                <a:lnTo>
                  <a:pt x="0" y="19335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4" id="24"/>
          <p:cNvSpPr/>
          <p:nvPr/>
        </p:nvSpPr>
        <p:spPr>
          <a:xfrm flipH="true">
            <a:off x="8914069" y="8471865"/>
            <a:ext cx="6103864" cy="0"/>
          </a:xfrm>
          <a:prstGeom prst="line">
            <a:avLst/>
          </a:prstGeom>
          <a:ln cap="flat" w="38100">
            <a:solidFill>
              <a:srgbClr val="FFFFFF"/>
            </a:solidFill>
            <a:prstDash val="solid"/>
            <a:headEnd type="none" len="sm" w="sm"/>
            <a:tailEnd type="none" len="sm" w="sm"/>
          </a:ln>
        </p:spPr>
      </p:sp>
      <p:grpSp>
        <p:nvGrpSpPr>
          <p:cNvPr name="Group 25" id="25"/>
          <p:cNvGrpSpPr/>
          <p:nvPr/>
        </p:nvGrpSpPr>
        <p:grpSpPr>
          <a:xfrm rot="-10800000">
            <a:off x="15017933" y="7990604"/>
            <a:ext cx="940273" cy="962521"/>
            <a:chOff x="0" y="0"/>
            <a:chExt cx="794013" cy="812800"/>
          </a:xfrm>
        </p:grpSpPr>
        <p:sp>
          <p:nvSpPr>
            <p:cNvPr name="Freeform 26" id="26"/>
            <p:cNvSpPr/>
            <p:nvPr/>
          </p:nvSpPr>
          <p:spPr>
            <a:xfrm flipH="false" flipV="false" rot="0">
              <a:off x="0" y="0"/>
              <a:ext cx="794013" cy="812800"/>
            </a:xfrm>
            <a:custGeom>
              <a:avLst/>
              <a:gdLst/>
              <a:ahLst/>
              <a:cxnLst/>
              <a:rect r="r" b="b" t="t" l="l"/>
              <a:pathLst>
                <a:path h="812800" w="794013">
                  <a:moveTo>
                    <a:pt x="397006" y="0"/>
                  </a:moveTo>
                  <a:cubicBezTo>
                    <a:pt x="177746" y="0"/>
                    <a:pt x="0" y="181951"/>
                    <a:pt x="0" y="406400"/>
                  </a:cubicBezTo>
                  <a:cubicBezTo>
                    <a:pt x="0" y="630849"/>
                    <a:pt x="177746" y="812800"/>
                    <a:pt x="397006" y="812800"/>
                  </a:cubicBezTo>
                  <a:cubicBezTo>
                    <a:pt x="616267" y="812800"/>
                    <a:pt x="794013" y="630849"/>
                    <a:pt x="794013" y="406400"/>
                  </a:cubicBezTo>
                  <a:cubicBezTo>
                    <a:pt x="794013" y="181951"/>
                    <a:pt x="616267" y="0"/>
                    <a:pt x="397006" y="0"/>
                  </a:cubicBezTo>
                  <a:close/>
                </a:path>
              </a:pathLst>
            </a:custGeom>
            <a:solidFill>
              <a:srgbClr val="2A3066"/>
            </a:solidFill>
          </p:spPr>
        </p:sp>
        <p:sp>
          <p:nvSpPr>
            <p:cNvPr name="TextBox 27" id="27"/>
            <p:cNvSpPr txBox="true"/>
            <p:nvPr/>
          </p:nvSpPr>
          <p:spPr>
            <a:xfrm>
              <a:off x="74439" y="9525"/>
              <a:ext cx="645135" cy="727075"/>
            </a:xfrm>
            <a:prstGeom prst="rect">
              <a:avLst/>
            </a:prstGeom>
          </p:spPr>
          <p:txBody>
            <a:bodyPr anchor="ctr" rtlCol="false" tIns="50800" lIns="50800" bIns="50800" rIns="50800"/>
            <a:lstStyle/>
            <a:p>
              <a:pPr algn="ctr">
                <a:lnSpc>
                  <a:spcPts val="2921"/>
                </a:lnSpc>
              </a:pPr>
            </a:p>
          </p:txBody>
        </p:sp>
      </p:grpSp>
      <p:sp>
        <p:nvSpPr>
          <p:cNvPr name="TextBox 28" id="28"/>
          <p:cNvSpPr txBox="true"/>
          <p:nvPr/>
        </p:nvSpPr>
        <p:spPr>
          <a:xfrm rot="0">
            <a:off x="15327183" y="7955450"/>
            <a:ext cx="321773" cy="851855"/>
          </a:xfrm>
          <a:prstGeom prst="rect">
            <a:avLst/>
          </a:prstGeom>
        </p:spPr>
        <p:txBody>
          <a:bodyPr anchor="t" rtlCol="false" tIns="0" lIns="0" bIns="0" rIns="0">
            <a:spAutoFit/>
          </a:bodyPr>
          <a:lstStyle/>
          <a:p>
            <a:pPr algn="ctr">
              <a:lnSpc>
                <a:spcPts val="7137"/>
              </a:lnSpc>
              <a:spcBef>
                <a:spcPct val="0"/>
              </a:spcBef>
            </a:pPr>
            <a:r>
              <a:rPr lang="en-US" sz="4430">
                <a:solidFill>
                  <a:srgbClr val="FFFFFF"/>
                </a:solidFill>
                <a:latin typeface="Open Sans"/>
                <a:ea typeface="Open Sans"/>
                <a:cs typeface="Open Sans"/>
                <a:sym typeface="Open Sans"/>
              </a:rPr>
              <a:t>4</a:t>
            </a:r>
          </a:p>
        </p:txBody>
      </p:sp>
      <p:sp>
        <p:nvSpPr>
          <p:cNvPr name="TextBox 29" id="29"/>
          <p:cNvSpPr txBox="true"/>
          <p:nvPr/>
        </p:nvSpPr>
        <p:spPr>
          <a:xfrm rot="0">
            <a:off x="9583134" y="2338665"/>
            <a:ext cx="5935937" cy="1504272"/>
          </a:xfrm>
          <a:prstGeom prst="rect">
            <a:avLst/>
          </a:prstGeom>
        </p:spPr>
        <p:txBody>
          <a:bodyPr anchor="t" rtlCol="false" tIns="0" lIns="0" bIns="0" rIns="0">
            <a:spAutoFit/>
          </a:bodyPr>
          <a:lstStyle/>
          <a:p>
            <a:pPr algn="ctr">
              <a:lnSpc>
                <a:spcPts val="1976"/>
              </a:lnSpc>
            </a:pPr>
            <a:r>
              <a:rPr lang="en-US" sz="1830">
                <a:solidFill>
                  <a:srgbClr val="FFFFFF"/>
                </a:solidFill>
                <a:latin typeface="Poppins"/>
                <a:ea typeface="Poppins"/>
                <a:cs typeface="Poppins"/>
                <a:sym typeface="Poppins"/>
              </a:rPr>
              <a:t> </a:t>
            </a:r>
            <a:r>
              <a:rPr lang="en-US" sz="1830" b="true">
                <a:solidFill>
                  <a:srgbClr val="FFFFFF"/>
                </a:solidFill>
                <a:latin typeface="Poppins Bold"/>
                <a:ea typeface="Poppins Bold"/>
                <a:cs typeface="Poppins Bold"/>
                <a:sym typeface="Poppins Bold"/>
              </a:rPr>
              <a:t>ROG leads the sales</a:t>
            </a:r>
            <a:r>
              <a:rPr lang="en-US" sz="1830">
                <a:solidFill>
                  <a:srgbClr val="FFFFFF"/>
                </a:solidFill>
                <a:latin typeface="Poppins"/>
                <a:ea typeface="Poppins"/>
                <a:cs typeface="Poppins"/>
                <a:sym typeface="Poppins"/>
              </a:rPr>
              <a:t> </a:t>
            </a:r>
            <a:r>
              <a:rPr lang="en-US" sz="1830">
                <a:solidFill>
                  <a:srgbClr val="FFFFFF"/>
                </a:solidFill>
                <a:latin typeface="Poppins"/>
                <a:ea typeface="Poppins"/>
                <a:cs typeface="Poppins"/>
                <a:sym typeface="Poppins"/>
              </a:rPr>
              <a:t>s</a:t>
            </a:r>
            <a:r>
              <a:rPr lang="en-US" sz="1830">
                <a:solidFill>
                  <a:srgbClr val="FFFFFF"/>
                </a:solidFill>
                <a:latin typeface="Poppins"/>
                <a:ea typeface="Poppins"/>
                <a:cs typeface="Poppins"/>
                <a:sym typeface="Poppins"/>
              </a:rPr>
              <a:t>i</a:t>
            </a:r>
            <a:r>
              <a:rPr lang="en-US" sz="1830">
                <a:solidFill>
                  <a:srgbClr val="FFFFFF"/>
                </a:solidFill>
                <a:latin typeface="Poppins"/>
                <a:ea typeface="Poppins"/>
                <a:cs typeface="Poppins"/>
                <a:sym typeface="Poppins"/>
              </a:rPr>
              <a:t>g</a:t>
            </a:r>
            <a:r>
              <a:rPr lang="en-US" sz="1830">
                <a:solidFill>
                  <a:srgbClr val="FFFFFF"/>
                </a:solidFill>
                <a:latin typeface="Poppins"/>
                <a:ea typeface="Poppins"/>
                <a:cs typeface="Poppins"/>
                <a:sym typeface="Poppins"/>
              </a:rPr>
              <a:t>ni</a:t>
            </a:r>
            <a:r>
              <a:rPr lang="en-US" sz="1830">
                <a:solidFill>
                  <a:srgbClr val="FFFFFF"/>
                </a:solidFill>
                <a:latin typeface="Poppins"/>
                <a:ea typeface="Poppins"/>
                <a:cs typeface="Poppins"/>
                <a:sym typeface="Poppins"/>
              </a:rPr>
              <a:t>f</a:t>
            </a:r>
            <a:r>
              <a:rPr lang="en-US" sz="1830">
                <a:solidFill>
                  <a:srgbClr val="FFFFFF"/>
                </a:solidFill>
                <a:latin typeface="Poppins"/>
                <a:ea typeface="Poppins"/>
                <a:cs typeface="Poppins"/>
                <a:sym typeface="Poppins"/>
              </a:rPr>
              <a:t>ic</a:t>
            </a:r>
            <a:r>
              <a:rPr lang="en-US" sz="1830">
                <a:solidFill>
                  <a:srgbClr val="FFFFFF"/>
                </a:solidFill>
                <a:latin typeface="Poppins"/>
                <a:ea typeface="Poppins"/>
                <a:cs typeface="Poppins"/>
                <a:sym typeface="Poppins"/>
              </a:rPr>
              <a:t>ant</a:t>
            </a:r>
            <a:r>
              <a:rPr lang="en-US" sz="1830">
                <a:solidFill>
                  <a:srgbClr val="FFFFFF"/>
                </a:solidFill>
                <a:latin typeface="Poppins"/>
                <a:ea typeface="Poppins"/>
                <a:cs typeface="Poppins"/>
                <a:sym typeface="Poppins"/>
              </a:rPr>
              <a:t>l</a:t>
            </a:r>
            <a:r>
              <a:rPr lang="en-US" sz="1830">
                <a:solidFill>
                  <a:srgbClr val="FFFFFF"/>
                </a:solidFill>
                <a:latin typeface="Poppins"/>
                <a:ea typeface="Poppins"/>
                <a:cs typeface="Poppins"/>
                <a:sym typeface="Poppins"/>
              </a:rPr>
              <a:t>y</a:t>
            </a:r>
            <a:r>
              <a:rPr lang="en-US" sz="1830">
                <a:solidFill>
                  <a:srgbClr val="FFFFFF"/>
                </a:solidFill>
                <a:latin typeface="Poppins"/>
                <a:ea typeface="Poppins"/>
                <a:cs typeface="Poppins"/>
                <a:sym typeface="Poppins"/>
              </a:rPr>
              <a:t> with </a:t>
            </a:r>
            <a:r>
              <a:rPr lang="en-US" sz="1830">
                <a:solidFill>
                  <a:srgbClr val="FFFFFF"/>
                </a:solidFill>
                <a:latin typeface="Poppins"/>
                <a:ea typeface="Poppins"/>
                <a:cs typeface="Poppins"/>
                <a:sym typeface="Poppins"/>
              </a:rPr>
              <a:t>o</a:t>
            </a:r>
            <a:r>
              <a:rPr lang="en-US" sz="1830">
                <a:solidFill>
                  <a:srgbClr val="FFFFFF"/>
                </a:solidFill>
                <a:latin typeface="Poppins"/>
                <a:ea typeface="Poppins"/>
                <a:cs typeface="Poppins"/>
                <a:sym typeface="Poppins"/>
              </a:rPr>
              <a:t>v</a:t>
            </a:r>
            <a:r>
              <a:rPr lang="en-US" sz="1830">
                <a:solidFill>
                  <a:srgbClr val="FFFFFF"/>
                </a:solidFill>
                <a:latin typeface="Poppins"/>
                <a:ea typeface="Poppins"/>
                <a:cs typeface="Poppins"/>
                <a:sym typeface="Poppins"/>
              </a:rPr>
              <a:t>e</a:t>
            </a:r>
            <a:r>
              <a:rPr lang="en-US" sz="1830">
                <a:solidFill>
                  <a:srgbClr val="FFFFFF"/>
                </a:solidFill>
                <a:latin typeface="Poppins"/>
                <a:ea typeface="Poppins"/>
                <a:cs typeface="Poppins"/>
                <a:sym typeface="Poppins"/>
              </a:rPr>
              <a:t>r</a:t>
            </a:r>
            <a:r>
              <a:rPr lang="en-US" sz="1830">
                <a:solidFill>
                  <a:srgbClr val="FFFFFF"/>
                </a:solidFill>
                <a:latin typeface="Poppins"/>
                <a:ea typeface="Poppins"/>
                <a:cs typeface="Poppins"/>
                <a:sym typeface="Poppins"/>
              </a:rPr>
              <a:t> </a:t>
            </a:r>
            <a:r>
              <a:rPr lang="en-US" sz="1830">
                <a:solidFill>
                  <a:srgbClr val="FFFFFF"/>
                </a:solidFill>
                <a:latin typeface="Poppins"/>
                <a:ea typeface="Poppins"/>
                <a:cs typeface="Poppins"/>
                <a:sym typeface="Poppins"/>
              </a:rPr>
              <a:t>3</a:t>
            </a:r>
            <a:r>
              <a:rPr lang="en-US" sz="1830">
                <a:solidFill>
                  <a:srgbClr val="FFFFFF"/>
                </a:solidFill>
                <a:latin typeface="Poppins"/>
                <a:ea typeface="Poppins"/>
                <a:cs typeface="Poppins"/>
                <a:sym typeface="Poppins"/>
              </a:rPr>
              <a:t> </a:t>
            </a:r>
            <a:r>
              <a:rPr lang="en-US" sz="1830">
                <a:solidFill>
                  <a:srgbClr val="FFFFFF"/>
                </a:solidFill>
                <a:latin typeface="Poppins"/>
                <a:ea typeface="Poppins"/>
                <a:cs typeface="Poppins"/>
                <a:sym typeface="Poppins"/>
              </a:rPr>
              <a:t>m</a:t>
            </a:r>
            <a:r>
              <a:rPr lang="en-US" sz="1830">
                <a:solidFill>
                  <a:srgbClr val="FFFFFF"/>
                </a:solidFill>
                <a:latin typeface="Poppins"/>
                <a:ea typeface="Poppins"/>
                <a:cs typeface="Poppins"/>
                <a:sym typeface="Poppins"/>
              </a:rPr>
              <a:t>i</a:t>
            </a:r>
            <a:r>
              <a:rPr lang="en-US" sz="1830">
                <a:solidFill>
                  <a:srgbClr val="FFFFFF"/>
                </a:solidFill>
                <a:latin typeface="Poppins"/>
                <a:ea typeface="Poppins"/>
                <a:cs typeface="Poppins"/>
                <a:sym typeface="Poppins"/>
              </a:rPr>
              <a:t>llio</a:t>
            </a:r>
            <a:r>
              <a:rPr lang="en-US" sz="1830">
                <a:solidFill>
                  <a:srgbClr val="FFFFFF"/>
                </a:solidFill>
                <a:latin typeface="Poppins"/>
                <a:ea typeface="Poppins"/>
                <a:cs typeface="Poppins"/>
                <a:sym typeface="Poppins"/>
              </a:rPr>
              <a:t>n </a:t>
            </a:r>
            <a:r>
              <a:rPr lang="en-US" sz="1830">
                <a:solidFill>
                  <a:srgbClr val="FFFFFF"/>
                </a:solidFill>
                <a:latin typeface="Poppins"/>
                <a:ea typeface="Poppins"/>
                <a:cs typeface="Poppins"/>
                <a:sym typeface="Poppins"/>
              </a:rPr>
              <a:t>i</a:t>
            </a:r>
            <a:r>
              <a:rPr lang="en-US" sz="1830">
                <a:solidFill>
                  <a:srgbClr val="FFFFFF"/>
                </a:solidFill>
                <a:latin typeface="Poppins"/>
                <a:ea typeface="Poppins"/>
                <a:cs typeface="Poppins"/>
                <a:sym typeface="Poppins"/>
              </a:rPr>
              <a:t>n</a:t>
            </a:r>
            <a:r>
              <a:rPr lang="en-US" sz="1830">
                <a:solidFill>
                  <a:srgbClr val="FFFFFF"/>
                </a:solidFill>
                <a:latin typeface="Poppins"/>
                <a:ea typeface="Poppins"/>
                <a:cs typeface="Poppins"/>
                <a:sym typeface="Poppins"/>
              </a:rPr>
              <a:t> sal</a:t>
            </a:r>
            <a:r>
              <a:rPr lang="en-US" sz="1830">
                <a:solidFill>
                  <a:srgbClr val="FFFFFF"/>
                </a:solidFill>
                <a:latin typeface="Poppins"/>
                <a:ea typeface="Poppins"/>
                <a:cs typeface="Poppins"/>
                <a:sym typeface="Poppins"/>
              </a:rPr>
              <a:t>e</a:t>
            </a:r>
            <a:r>
              <a:rPr lang="en-US" sz="1830">
                <a:solidFill>
                  <a:srgbClr val="FFFFFF"/>
                </a:solidFill>
                <a:latin typeface="Poppins"/>
                <a:ea typeface="Poppins"/>
                <a:cs typeface="Poppins"/>
                <a:sym typeface="Poppins"/>
              </a:rPr>
              <a:t>s</a:t>
            </a:r>
            <a:r>
              <a:rPr lang="en-US" sz="1830">
                <a:solidFill>
                  <a:srgbClr val="FFFFFF"/>
                </a:solidFill>
                <a:latin typeface="Poppins"/>
                <a:ea typeface="Poppins"/>
                <a:cs typeface="Poppins"/>
                <a:sym typeface="Poppins"/>
              </a:rPr>
              <a:t>, </a:t>
            </a:r>
            <a:r>
              <a:rPr lang="en-US" sz="1830">
                <a:solidFill>
                  <a:srgbClr val="FFFFFF"/>
                </a:solidFill>
                <a:latin typeface="Poppins"/>
                <a:ea typeface="Poppins"/>
                <a:cs typeface="Poppins"/>
                <a:sym typeface="Poppins"/>
              </a:rPr>
              <a:t>w</a:t>
            </a:r>
            <a:r>
              <a:rPr lang="en-US" sz="1830">
                <a:solidFill>
                  <a:srgbClr val="FFFFFF"/>
                </a:solidFill>
                <a:latin typeface="Poppins"/>
                <a:ea typeface="Poppins"/>
                <a:cs typeface="Poppins"/>
                <a:sym typeface="Poppins"/>
              </a:rPr>
              <a:t>hi</a:t>
            </a:r>
            <a:r>
              <a:rPr lang="en-US" sz="1830">
                <a:solidFill>
                  <a:srgbClr val="FFFFFF"/>
                </a:solidFill>
                <a:latin typeface="Poppins"/>
                <a:ea typeface="Poppins"/>
                <a:cs typeface="Poppins"/>
                <a:sym typeface="Poppins"/>
              </a:rPr>
              <a:t>l</a:t>
            </a:r>
            <a:r>
              <a:rPr lang="en-US" sz="1830">
                <a:solidFill>
                  <a:srgbClr val="FFFFFF"/>
                </a:solidFill>
                <a:latin typeface="Poppins"/>
                <a:ea typeface="Poppins"/>
                <a:cs typeface="Poppins"/>
                <a:sym typeface="Poppins"/>
              </a:rPr>
              <a:t>e </a:t>
            </a:r>
            <a:r>
              <a:rPr lang="en-US" sz="1830">
                <a:solidFill>
                  <a:srgbClr val="FFFFFF"/>
                </a:solidFill>
                <a:latin typeface="Poppins"/>
                <a:ea typeface="Poppins"/>
                <a:cs typeface="Poppins"/>
                <a:sym typeface="Poppins"/>
              </a:rPr>
              <a:t>TUF</a:t>
            </a:r>
            <a:r>
              <a:rPr lang="en-US" sz="1830">
                <a:solidFill>
                  <a:srgbClr val="FFFFFF"/>
                </a:solidFill>
                <a:latin typeface="Poppins"/>
                <a:ea typeface="Poppins"/>
                <a:cs typeface="Poppins"/>
                <a:sym typeface="Poppins"/>
              </a:rPr>
              <a:t> </a:t>
            </a:r>
            <a:r>
              <a:rPr lang="en-US" sz="1830">
                <a:solidFill>
                  <a:srgbClr val="FFFFFF"/>
                </a:solidFill>
                <a:latin typeface="Poppins"/>
                <a:ea typeface="Poppins"/>
                <a:cs typeface="Poppins"/>
                <a:sym typeface="Poppins"/>
              </a:rPr>
              <a:t>a</a:t>
            </a:r>
            <a:r>
              <a:rPr lang="en-US" sz="1830">
                <a:solidFill>
                  <a:srgbClr val="FFFFFF"/>
                </a:solidFill>
                <a:latin typeface="Poppins"/>
                <a:ea typeface="Poppins"/>
                <a:cs typeface="Poppins"/>
                <a:sym typeface="Poppins"/>
              </a:rPr>
              <a:t>n</a:t>
            </a:r>
            <a:r>
              <a:rPr lang="en-US" sz="1830">
                <a:solidFill>
                  <a:srgbClr val="FFFFFF"/>
                </a:solidFill>
                <a:latin typeface="Poppins"/>
                <a:ea typeface="Poppins"/>
                <a:cs typeface="Poppins"/>
                <a:sym typeface="Poppins"/>
              </a:rPr>
              <a:t>d</a:t>
            </a:r>
            <a:r>
              <a:rPr lang="en-US" sz="1830">
                <a:solidFill>
                  <a:srgbClr val="FFFFFF"/>
                </a:solidFill>
                <a:latin typeface="Poppins"/>
                <a:ea typeface="Poppins"/>
                <a:cs typeface="Poppins"/>
                <a:sym typeface="Poppins"/>
              </a:rPr>
              <a:t> </a:t>
            </a:r>
            <a:r>
              <a:rPr lang="en-US" sz="1830">
                <a:solidFill>
                  <a:srgbClr val="FFFFFF"/>
                </a:solidFill>
                <a:latin typeface="Poppins"/>
                <a:ea typeface="Poppins"/>
                <a:cs typeface="Poppins"/>
                <a:sym typeface="Poppins"/>
              </a:rPr>
              <a:t>Z</a:t>
            </a:r>
            <a:r>
              <a:rPr lang="en-US" sz="1830">
                <a:solidFill>
                  <a:srgbClr val="FFFFFF"/>
                </a:solidFill>
                <a:latin typeface="Poppins"/>
                <a:ea typeface="Poppins"/>
                <a:cs typeface="Poppins"/>
                <a:sym typeface="Poppins"/>
              </a:rPr>
              <a:t>e</a:t>
            </a:r>
            <a:r>
              <a:rPr lang="en-US" sz="1830">
                <a:solidFill>
                  <a:srgbClr val="FFFFFF"/>
                </a:solidFill>
                <a:latin typeface="Poppins"/>
                <a:ea typeface="Poppins"/>
                <a:cs typeface="Poppins"/>
                <a:sym typeface="Poppins"/>
              </a:rPr>
              <a:t>ph</a:t>
            </a:r>
            <a:r>
              <a:rPr lang="en-US" sz="1830">
                <a:solidFill>
                  <a:srgbClr val="FFFFFF"/>
                </a:solidFill>
                <a:latin typeface="Poppins"/>
                <a:ea typeface="Poppins"/>
                <a:cs typeface="Poppins"/>
                <a:sym typeface="Poppins"/>
              </a:rPr>
              <a:t>y</a:t>
            </a:r>
            <a:r>
              <a:rPr lang="en-US" sz="1830">
                <a:solidFill>
                  <a:srgbClr val="FFFFFF"/>
                </a:solidFill>
                <a:latin typeface="Poppins"/>
                <a:ea typeface="Poppins"/>
                <a:cs typeface="Poppins"/>
                <a:sym typeface="Poppins"/>
              </a:rPr>
              <a:t>rus </a:t>
            </a:r>
            <a:r>
              <a:rPr lang="en-US" sz="1830">
                <a:solidFill>
                  <a:srgbClr val="FFFFFF"/>
                </a:solidFill>
                <a:latin typeface="Poppins"/>
                <a:ea typeface="Poppins"/>
                <a:cs typeface="Poppins"/>
                <a:sym typeface="Poppins"/>
              </a:rPr>
              <a:t>ar</a:t>
            </a:r>
            <a:r>
              <a:rPr lang="en-US" sz="1830">
                <a:solidFill>
                  <a:srgbClr val="FFFFFF"/>
                </a:solidFill>
                <a:latin typeface="Poppins"/>
                <a:ea typeface="Poppins"/>
                <a:cs typeface="Poppins"/>
                <a:sym typeface="Poppins"/>
              </a:rPr>
              <a:t>e close behind with just under 2 million each. </a:t>
            </a:r>
            <a:r>
              <a:rPr lang="en-US" b="true" sz="1830" u="none">
                <a:solidFill>
                  <a:srgbClr val="FFFFFF"/>
                </a:solidFill>
                <a:latin typeface="Poppins Bold"/>
                <a:ea typeface="Poppins Bold"/>
                <a:cs typeface="Poppins Bold"/>
                <a:sym typeface="Poppins Bold"/>
              </a:rPr>
              <a:t>This </a:t>
            </a:r>
            <a:r>
              <a:rPr lang="en-US" sz="1830" b="true">
                <a:solidFill>
                  <a:srgbClr val="FFFFFF"/>
                </a:solidFill>
                <a:latin typeface="Poppins Bold"/>
                <a:ea typeface="Poppins Bold"/>
                <a:cs typeface="Poppins Bold"/>
                <a:sym typeface="Poppins Bold"/>
              </a:rPr>
              <a:t>h</a:t>
            </a:r>
            <a:r>
              <a:rPr lang="en-US" b="true" sz="1830" u="none">
                <a:solidFill>
                  <a:srgbClr val="FFFFFF"/>
                </a:solidFill>
                <a:latin typeface="Poppins Bold"/>
                <a:ea typeface="Poppins Bold"/>
                <a:cs typeface="Poppins Bold"/>
                <a:sym typeface="Poppins Bold"/>
              </a:rPr>
              <a:t>i</a:t>
            </a:r>
            <a:r>
              <a:rPr lang="en-US" sz="1830" b="true">
                <a:solidFill>
                  <a:srgbClr val="FFFFFF"/>
                </a:solidFill>
                <a:latin typeface="Poppins Bold"/>
                <a:ea typeface="Poppins Bold"/>
                <a:cs typeface="Poppins Bold"/>
                <a:sym typeface="Poppins Bold"/>
              </a:rPr>
              <a:t>ghl</a:t>
            </a:r>
            <a:r>
              <a:rPr lang="en-US" b="true" sz="1830" u="none">
                <a:solidFill>
                  <a:srgbClr val="FFFFFF"/>
                </a:solidFill>
                <a:latin typeface="Poppins Bold"/>
                <a:ea typeface="Poppins Bold"/>
                <a:cs typeface="Poppins Bold"/>
                <a:sym typeface="Poppins Bold"/>
              </a:rPr>
              <a:t>i</a:t>
            </a:r>
            <a:r>
              <a:rPr lang="en-US" sz="1830" b="true">
                <a:solidFill>
                  <a:srgbClr val="FFFFFF"/>
                </a:solidFill>
                <a:latin typeface="Poppins Bold"/>
                <a:ea typeface="Poppins Bold"/>
                <a:cs typeface="Poppins Bold"/>
                <a:sym typeface="Poppins Bold"/>
              </a:rPr>
              <a:t>gh</a:t>
            </a:r>
            <a:r>
              <a:rPr lang="en-US" b="true" sz="1830" u="none">
                <a:solidFill>
                  <a:srgbClr val="FFFFFF"/>
                </a:solidFill>
                <a:latin typeface="Poppins Bold"/>
                <a:ea typeface="Poppins Bold"/>
                <a:cs typeface="Poppins Bold"/>
                <a:sym typeface="Poppins Bold"/>
              </a:rPr>
              <a:t>ts </a:t>
            </a:r>
            <a:r>
              <a:rPr lang="en-US" sz="1830" b="true">
                <a:solidFill>
                  <a:srgbClr val="FFFFFF"/>
                </a:solidFill>
                <a:latin typeface="Poppins Bold"/>
                <a:ea typeface="Poppins Bold"/>
                <a:cs typeface="Poppins Bold"/>
                <a:sym typeface="Poppins Bold"/>
              </a:rPr>
              <a:t>ROG </a:t>
            </a:r>
            <a:r>
              <a:rPr lang="en-US" b="true" sz="1830" u="none">
                <a:solidFill>
                  <a:srgbClr val="FFFFFF"/>
                </a:solidFill>
                <a:latin typeface="Poppins Bold"/>
                <a:ea typeface="Poppins Bold"/>
                <a:cs typeface="Poppins Bold"/>
                <a:sym typeface="Poppins Bold"/>
              </a:rPr>
              <a:t>a</a:t>
            </a:r>
            <a:r>
              <a:rPr lang="en-US" sz="1830" b="true">
                <a:solidFill>
                  <a:srgbClr val="FFFFFF"/>
                </a:solidFill>
                <a:latin typeface="Poppins Bold"/>
                <a:ea typeface="Poppins Bold"/>
                <a:cs typeface="Poppins Bold"/>
                <a:sym typeface="Poppins Bold"/>
              </a:rPr>
              <a:t>s</a:t>
            </a:r>
            <a:r>
              <a:rPr lang="en-US" b="true" sz="1830" u="none">
                <a:solidFill>
                  <a:srgbClr val="FFFFFF"/>
                </a:solidFill>
                <a:latin typeface="Poppins Bold"/>
                <a:ea typeface="Poppins Bold"/>
                <a:cs typeface="Poppins Bold"/>
                <a:sym typeface="Poppins Bold"/>
              </a:rPr>
              <a:t> </a:t>
            </a:r>
            <a:r>
              <a:rPr lang="en-US" sz="1830" b="true">
                <a:solidFill>
                  <a:srgbClr val="FFFFFF"/>
                </a:solidFill>
                <a:latin typeface="Poppins Bold"/>
                <a:ea typeface="Poppins Bold"/>
                <a:cs typeface="Poppins Bold"/>
                <a:sym typeface="Poppins Bold"/>
              </a:rPr>
              <a:t>th</a:t>
            </a:r>
            <a:r>
              <a:rPr lang="en-US" b="true" sz="1830" u="none">
                <a:solidFill>
                  <a:srgbClr val="FFFFFF"/>
                </a:solidFill>
                <a:latin typeface="Poppins Bold"/>
                <a:ea typeface="Poppins Bold"/>
                <a:cs typeface="Poppins Bold"/>
                <a:sym typeface="Poppins Bold"/>
              </a:rPr>
              <a:t>e </a:t>
            </a:r>
            <a:r>
              <a:rPr lang="en-US" sz="1830" b="true">
                <a:solidFill>
                  <a:srgbClr val="FFFFFF"/>
                </a:solidFill>
                <a:latin typeface="Poppins Bold"/>
                <a:ea typeface="Poppins Bold"/>
                <a:cs typeface="Poppins Bold"/>
                <a:sym typeface="Poppins Bold"/>
              </a:rPr>
              <a:t>b</a:t>
            </a:r>
            <a:r>
              <a:rPr lang="en-US" b="true" sz="1830" u="none">
                <a:solidFill>
                  <a:srgbClr val="FFFFFF"/>
                </a:solidFill>
                <a:latin typeface="Poppins Bold"/>
                <a:ea typeface="Poppins Bold"/>
                <a:cs typeface="Poppins Bold"/>
                <a:sym typeface="Poppins Bold"/>
              </a:rPr>
              <a:t>es</a:t>
            </a:r>
            <a:r>
              <a:rPr lang="en-US" sz="1830" b="true">
                <a:solidFill>
                  <a:srgbClr val="FFFFFF"/>
                </a:solidFill>
                <a:latin typeface="Poppins Bold"/>
                <a:ea typeface="Poppins Bold"/>
                <a:cs typeface="Poppins Bold"/>
                <a:sym typeface="Poppins Bold"/>
              </a:rPr>
              <a:t>t-sell</a:t>
            </a:r>
            <a:r>
              <a:rPr lang="en-US" b="true" sz="1830" u="none">
                <a:solidFill>
                  <a:srgbClr val="FFFFFF"/>
                </a:solidFill>
                <a:latin typeface="Poppins Bold"/>
                <a:ea typeface="Poppins Bold"/>
                <a:cs typeface="Poppins Bold"/>
                <a:sym typeface="Poppins Bold"/>
              </a:rPr>
              <a:t>i</a:t>
            </a:r>
            <a:r>
              <a:rPr lang="en-US" sz="1830" b="true">
                <a:solidFill>
                  <a:srgbClr val="FFFFFF"/>
                </a:solidFill>
                <a:latin typeface="Poppins Bold"/>
                <a:ea typeface="Poppins Bold"/>
                <a:cs typeface="Poppins Bold"/>
                <a:sym typeface="Poppins Bold"/>
              </a:rPr>
              <a:t>ng </a:t>
            </a:r>
            <a:r>
              <a:rPr lang="en-US" b="true" sz="1830" u="none">
                <a:solidFill>
                  <a:srgbClr val="FFFFFF"/>
                </a:solidFill>
                <a:latin typeface="Poppins Bold"/>
                <a:ea typeface="Poppins Bold"/>
                <a:cs typeface="Poppins Bold"/>
                <a:sym typeface="Poppins Bold"/>
              </a:rPr>
              <a:t>p</a:t>
            </a:r>
            <a:r>
              <a:rPr lang="en-US" sz="1830" b="true">
                <a:solidFill>
                  <a:srgbClr val="FFFFFF"/>
                </a:solidFill>
                <a:latin typeface="Poppins Bold"/>
                <a:ea typeface="Poppins Bold"/>
                <a:cs typeface="Poppins Bold"/>
                <a:sym typeface="Poppins Bold"/>
              </a:rPr>
              <a:t>roduct</a:t>
            </a:r>
            <a:r>
              <a:rPr lang="en-US" b="true" sz="1830" u="none">
                <a:solidFill>
                  <a:srgbClr val="FFFFFF"/>
                </a:solidFill>
                <a:latin typeface="Poppins Bold"/>
                <a:ea typeface="Poppins Bold"/>
                <a:cs typeface="Poppins Bold"/>
                <a:sym typeface="Poppins Bold"/>
              </a:rPr>
              <a:t> o</a:t>
            </a:r>
            <a:r>
              <a:rPr lang="en-US" sz="1830" b="true">
                <a:solidFill>
                  <a:srgbClr val="FFFFFF"/>
                </a:solidFill>
                <a:latin typeface="Poppins Bold"/>
                <a:ea typeface="Poppins Bold"/>
                <a:cs typeface="Poppins Bold"/>
                <a:sym typeface="Poppins Bold"/>
              </a:rPr>
              <a:t>vera</a:t>
            </a:r>
            <a:r>
              <a:rPr lang="en-US" b="true" sz="1830" u="none">
                <a:solidFill>
                  <a:srgbClr val="FFFFFF"/>
                </a:solidFill>
                <a:latin typeface="Poppins Bold"/>
                <a:ea typeface="Poppins Bold"/>
                <a:cs typeface="Poppins Bold"/>
                <a:sym typeface="Poppins Bold"/>
              </a:rPr>
              <a:t>ll</a:t>
            </a:r>
            <a:r>
              <a:rPr lang="en-US" sz="1830" b="true">
                <a:solidFill>
                  <a:srgbClr val="FFFFFF"/>
                </a:solidFill>
                <a:latin typeface="Poppins Bold"/>
                <a:ea typeface="Poppins Bold"/>
                <a:cs typeface="Poppins Bold"/>
                <a:sym typeface="Poppins Bold"/>
              </a:rPr>
              <a:t>,</a:t>
            </a:r>
            <a:r>
              <a:rPr lang="en-US" sz="1830">
                <a:solidFill>
                  <a:srgbClr val="FFFFFF"/>
                </a:solidFill>
                <a:latin typeface="Poppins"/>
                <a:ea typeface="Poppins"/>
                <a:cs typeface="Poppins"/>
                <a:sym typeface="Poppins"/>
              </a:rPr>
              <a:t> </a:t>
            </a:r>
            <a:r>
              <a:rPr lang="en-US" sz="1830" u="none">
                <a:solidFill>
                  <a:srgbClr val="FFFFFF"/>
                </a:solidFill>
                <a:latin typeface="Poppins"/>
                <a:ea typeface="Poppins"/>
                <a:cs typeface="Poppins"/>
                <a:sym typeface="Poppins"/>
              </a:rPr>
              <a:t>w</a:t>
            </a:r>
            <a:r>
              <a:rPr lang="en-US" sz="1830">
                <a:solidFill>
                  <a:srgbClr val="FFFFFF"/>
                </a:solidFill>
                <a:latin typeface="Poppins"/>
                <a:ea typeface="Poppins"/>
                <a:cs typeface="Poppins"/>
                <a:sym typeface="Poppins"/>
              </a:rPr>
              <a:t>hil</a:t>
            </a:r>
            <a:r>
              <a:rPr lang="en-US" sz="1830" u="none">
                <a:solidFill>
                  <a:srgbClr val="FFFFFF"/>
                </a:solidFill>
                <a:latin typeface="Poppins"/>
                <a:ea typeface="Poppins"/>
                <a:cs typeface="Poppins"/>
                <a:sym typeface="Poppins"/>
              </a:rPr>
              <a:t>e </a:t>
            </a:r>
            <a:r>
              <a:rPr lang="en-US" sz="1830">
                <a:solidFill>
                  <a:srgbClr val="FFFFFF"/>
                </a:solidFill>
                <a:latin typeface="Poppins"/>
                <a:ea typeface="Poppins"/>
                <a:cs typeface="Poppins"/>
                <a:sym typeface="Poppins"/>
              </a:rPr>
              <a:t>TUF</a:t>
            </a:r>
            <a:r>
              <a:rPr lang="en-US" sz="1830" u="none">
                <a:solidFill>
                  <a:srgbClr val="FFFFFF"/>
                </a:solidFill>
                <a:latin typeface="Poppins"/>
                <a:ea typeface="Poppins"/>
                <a:cs typeface="Poppins"/>
                <a:sym typeface="Poppins"/>
              </a:rPr>
              <a:t> a</a:t>
            </a:r>
            <a:r>
              <a:rPr lang="en-US" sz="1830">
                <a:solidFill>
                  <a:srgbClr val="FFFFFF"/>
                </a:solidFill>
                <a:latin typeface="Poppins"/>
                <a:ea typeface="Poppins"/>
                <a:cs typeface="Poppins"/>
                <a:sym typeface="Poppins"/>
              </a:rPr>
              <a:t>n</a:t>
            </a:r>
            <a:r>
              <a:rPr lang="en-US" sz="1830" u="none">
                <a:solidFill>
                  <a:srgbClr val="FFFFFF"/>
                </a:solidFill>
                <a:latin typeface="Poppins"/>
                <a:ea typeface="Poppins"/>
                <a:cs typeface="Poppins"/>
                <a:sym typeface="Poppins"/>
              </a:rPr>
              <a:t>d</a:t>
            </a:r>
            <a:r>
              <a:rPr lang="en-US" sz="1830">
                <a:solidFill>
                  <a:srgbClr val="FFFFFF"/>
                </a:solidFill>
                <a:latin typeface="Poppins"/>
                <a:ea typeface="Poppins"/>
                <a:cs typeface="Poppins"/>
                <a:sym typeface="Poppins"/>
              </a:rPr>
              <a:t> Zeph</a:t>
            </a:r>
            <a:r>
              <a:rPr lang="en-US" sz="1830" u="none">
                <a:solidFill>
                  <a:srgbClr val="FFFFFF"/>
                </a:solidFill>
                <a:latin typeface="Poppins"/>
                <a:ea typeface="Poppins"/>
                <a:cs typeface="Poppins"/>
                <a:sym typeface="Poppins"/>
              </a:rPr>
              <a:t>y</a:t>
            </a:r>
            <a:r>
              <a:rPr lang="en-US" sz="1830">
                <a:solidFill>
                  <a:srgbClr val="FFFFFF"/>
                </a:solidFill>
                <a:latin typeface="Poppins"/>
                <a:ea typeface="Poppins"/>
                <a:cs typeface="Poppins"/>
                <a:sym typeface="Poppins"/>
              </a:rPr>
              <a:t>rus</a:t>
            </a:r>
            <a:r>
              <a:rPr lang="en-US" sz="1830" u="none">
                <a:solidFill>
                  <a:srgbClr val="FFFFFF"/>
                </a:solidFill>
                <a:latin typeface="Poppins"/>
                <a:ea typeface="Poppins"/>
                <a:cs typeface="Poppins"/>
                <a:sym typeface="Poppins"/>
              </a:rPr>
              <a:t> </a:t>
            </a:r>
            <a:r>
              <a:rPr lang="en-US" sz="1830">
                <a:solidFill>
                  <a:srgbClr val="FFFFFF"/>
                </a:solidFill>
                <a:latin typeface="Poppins"/>
                <a:ea typeface="Poppins"/>
                <a:cs typeface="Poppins"/>
                <a:sym typeface="Poppins"/>
              </a:rPr>
              <a:t>p</a:t>
            </a:r>
            <a:r>
              <a:rPr lang="en-US" sz="1830" u="none">
                <a:solidFill>
                  <a:srgbClr val="FFFFFF"/>
                </a:solidFill>
                <a:latin typeface="Poppins"/>
                <a:ea typeface="Poppins"/>
                <a:cs typeface="Poppins"/>
                <a:sym typeface="Poppins"/>
              </a:rPr>
              <a:t>e</a:t>
            </a:r>
            <a:r>
              <a:rPr lang="en-US" sz="1830">
                <a:solidFill>
                  <a:srgbClr val="FFFFFF"/>
                </a:solidFill>
                <a:latin typeface="Poppins"/>
                <a:ea typeface="Poppins"/>
                <a:cs typeface="Poppins"/>
                <a:sym typeface="Poppins"/>
              </a:rPr>
              <a:t>rf</a:t>
            </a:r>
            <a:r>
              <a:rPr lang="en-US" sz="1830" u="none">
                <a:solidFill>
                  <a:srgbClr val="FFFFFF"/>
                </a:solidFill>
                <a:latin typeface="Poppins"/>
                <a:ea typeface="Poppins"/>
                <a:cs typeface="Poppins"/>
                <a:sym typeface="Poppins"/>
              </a:rPr>
              <a:t>o</a:t>
            </a:r>
            <a:r>
              <a:rPr lang="en-US" sz="1830">
                <a:solidFill>
                  <a:srgbClr val="FFFFFF"/>
                </a:solidFill>
                <a:latin typeface="Poppins"/>
                <a:ea typeface="Poppins"/>
                <a:cs typeface="Poppins"/>
                <a:sym typeface="Poppins"/>
              </a:rPr>
              <a:t>rm</a:t>
            </a:r>
            <a:r>
              <a:rPr lang="en-US" sz="1830" u="none">
                <a:solidFill>
                  <a:srgbClr val="FFFFFF"/>
                </a:solidFill>
                <a:latin typeface="Poppins"/>
                <a:ea typeface="Poppins"/>
                <a:cs typeface="Poppins"/>
                <a:sym typeface="Poppins"/>
              </a:rPr>
              <a:t>e</a:t>
            </a:r>
            <a:r>
              <a:rPr lang="en-US" sz="1830">
                <a:solidFill>
                  <a:srgbClr val="FFFFFF"/>
                </a:solidFill>
                <a:latin typeface="Poppins"/>
                <a:ea typeface="Poppins"/>
                <a:cs typeface="Poppins"/>
                <a:sym typeface="Poppins"/>
              </a:rPr>
              <a:t>d</a:t>
            </a:r>
            <a:r>
              <a:rPr lang="en-US" sz="1830" u="none">
                <a:solidFill>
                  <a:srgbClr val="FFFFFF"/>
                </a:solidFill>
                <a:latin typeface="Poppins"/>
                <a:ea typeface="Poppins"/>
                <a:cs typeface="Poppins"/>
                <a:sym typeface="Poppins"/>
              </a:rPr>
              <a:t> si</a:t>
            </a:r>
            <a:r>
              <a:rPr lang="en-US" sz="1830">
                <a:solidFill>
                  <a:srgbClr val="FFFFFF"/>
                </a:solidFill>
                <a:latin typeface="Poppins"/>
                <a:ea typeface="Poppins"/>
                <a:cs typeface="Poppins"/>
                <a:sym typeface="Poppins"/>
              </a:rPr>
              <a:t>milar</a:t>
            </a:r>
            <a:r>
              <a:rPr lang="en-US" sz="1830" u="none">
                <a:solidFill>
                  <a:srgbClr val="FFFFFF"/>
                </a:solidFill>
                <a:latin typeface="Poppins"/>
                <a:ea typeface="Poppins"/>
                <a:cs typeface="Poppins"/>
                <a:sym typeface="Poppins"/>
              </a:rPr>
              <a:t>ly </a:t>
            </a:r>
            <a:r>
              <a:rPr lang="en-US" sz="1830">
                <a:solidFill>
                  <a:srgbClr val="FFFFFF"/>
                </a:solidFill>
                <a:latin typeface="Poppins"/>
                <a:ea typeface="Poppins"/>
                <a:cs typeface="Poppins"/>
                <a:sym typeface="Poppins"/>
              </a:rPr>
              <a:t>in</a:t>
            </a:r>
            <a:r>
              <a:rPr lang="en-US" sz="1830" u="none">
                <a:solidFill>
                  <a:srgbClr val="FFFFFF"/>
                </a:solidFill>
                <a:latin typeface="Poppins"/>
                <a:ea typeface="Poppins"/>
                <a:cs typeface="Poppins"/>
                <a:sym typeface="Poppins"/>
              </a:rPr>
              <a:t> t</a:t>
            </a:r>
            <a:r>
              <a:rPr lang="en-US" sz="1830">
                <a:solidFill>
                  <a:srgbClr val="FFFFFF"/>
                </a:solidFill>
                <a:latin typeface="Poppins"/>
                <a:ea typeface="Poppins"/>
                <a:cs typeface="Poppins"/>
                <a:sym typeface="Poppins"/>
              </a:rPr>
              <a:t>e</a:t>
            </a:r>
            <a:r>
              <a:rPr lang="en-US" sz="1830" u="none">
                <a:solidFill>
                  <a:srgbClr val="FFFFFF"/>
                </a:solidFill>
                <a:latin typeface="Poppins"/>
                <a:ea typeface="Poppins"/>
                <a:cs typeface="Poppins"/>
                <a:sym typeface="Poppins"/>
              </a:rPr>
              <a:t>r</a:t>
            </a:r>
            <a:r>
              <a:rPr lang="en-US" sz="1830">
                <a:solidFill>
                  <a:srgbClr val="FFFFFF"/>
                </a:solidFill>
                <a:latin typeface="Poppins"/>
                <a:ea typeface="Poppins"/>
                <a:cs typeface="Poppins"/>
                <a:sym typeface="Poppins"/>
              </a:rPr>
              <a:t>m</a:t>
            </a:r>
            <a:r>
              <a:rPr lang="en-US" sz="1830" u="none">
                <a:solidFill>
                  <a:srgbClr val="FFFFFF"/>
                </a:solidFill>
                <a:latin typeface="Poppins"/>
                <a:ea typeface="Poppins"/>
                <a:cs typeface="Poppins"/>
                <a:sym typeface="Poppins"/>
              </a:rPr>
              <a:t>s</a:t>
            </a:r>
            <a:r>
              <a:rPr lang="en-US" sz="1830">
                <a:solidFill>
                  <a:srgbClr val="FFFFFF"/>
                </a:solidFill>
                <a:latin typeface="Poppins"/>
                <a:ea typeface="Poppins"/>
                <a:cs typeface="Poppins"/>
                <a:sym typeface="Poppins"/>
              </a:rPr>
              <a:t> </a:t>
            </a:r>
            <a:r>
              <a:rPr lang="en-US" sz="1830" u="none">
                <a:solidFill>
                  <a:srgbClr val="FFFFFF"/>
                </a:solidFill>
                <a:latin typeface="Poppins"/>
                <a:ea typeface="Poppins"/>
                <a:cs typeface="Poppins"/>
                <a:sym typeface="Poppins"/>
              </a:rPr>
              <a:t>o</a:t>
            </a:r>
            <a:r>
              <a:rPr lang="en-US" sz="1830">
                <a:solidFill>
                  <a:srgbClr val="FFFFFF"/>
                </a:solidFill>
                <a:latin typeface="Poppins"/>
                <a:ea typeface="Poppins"/>
                <a:cs typeface="Poppins"/>
                <a:sym typeface="Poppins"/>
              </a:rPr>
              <a:t>f</a:t>
            </a:r>
            <a:r>
              <a:rPr lang="en-US" sz="1830" u="none">
                <a:solidFill>
                  <a:srgbClr val="FFFFFF"/>
                </a:solidFill>
                <a:latin typeface="Poppins"/>
                <a:ea typeface="Poppins"/>
                <a:cs typeface="Poppins"/>
                <a:sym typeface="Poppins"/>
              </a:rPr>
              <a:t> </a:t>
            </a:r>
            <a:r>
              <a:rPr lang="en-US" sz="1830">
                <a:solidFill>
                  <a:srgbClr val="FFFFFF"/>
                </a:solidFill>
                <a:latin typeface="Poppins"/>
                <a:ea typeface="Poppins"/>
                <a:cs typeface="Poppins"/>
                <a:sym typeface="Poppins"/>
              </a:rPr>
              <a:t>t</a:t>
            </a:r>
            <a:r>
              <a:rPr lang="en-US" sz="1830" u="none">
                <a:solidFill>
                  <a:srgbClr val="FFFFFF"/>
                </a:solidFill>
                <a:latin typeface="Poppins"/>
                <a:ea typeface="Poppins"/>
                <a:cs typeface="Poppins"/>
                <a:sym typeface="Poppins"/>
              </a:rPr>
              <a:t>o</a:t>
            </a:r>
            <a:r>
              <a:rPr lang="en-US" sz="1830">
                <a:solidFill>
                  <a:srgbClr val="FFFFFF"/>
                </a:solidFill>
                <a:latin typeface="Poppins"/>
                <a:ea typeface="Poppins"/>
                <a:cs typeface="Poppins"/>
                <a:sym typeface="Poppins"/>
              </a:rPr>
              <a:t>tal</a:t>
            </a:r>
            <a:r>
              <a:rPr lang="en-US" sz="1830" u="none">
                <a:solidFill>
                  <a:srgbClr val="FFFFFF"/>
                </a:solidFill>
                <a:latin typeface="Poppins"/>
                <a:ea typeface="Poppins"/>
                <a:cs typeface="Poppins"/>
                <a:sym typeface="Poppins"/>
              </a:rPr>
              <a:t> re</a:t>
            </a:r>
            <a:r>
              <a:rPr lang="en-US" sz="1830">
                <a:solidFill>
                  <a:srgbClr val="FFFFFF"/>
                </a:solidFill>
                <a:latin typeface="Poppins"/>
                <a:ea typeface="Poppins"/>
                <a:cs typeface="Poppins"/>
                <a:sym typeface="Poppins"/>
              </a:rPr>
              <a:t>v</a:t>
            </a:r>
            <a:r>
              <a:rPr lang="en-US" sz="1830" u="none">
                <a:solidFill>
                  <a:srgbClr val="FFFFFF"/>
                </a:solidFill>
                <a:latin typeface="Poppins"/>
                <a:ea typeface="Poppins"/>
                <a:cs typeface="Poppins"/>
                <a:sym typeface="Poppins"/>
              </a:rPr>
              <a:t>e</a:t>
            </a:r>
            <a:r>
              <a:rPr lang="en-US" sz="1830">
                <a:solidFill>
                  <a:srgbClr val="FFFFFF"/>
                </a:solidFill>
                <a:latin typeface="Poppins"/>
                <a:ea typeface="Poppins"/>
                <a:cs typeface="Poppins"/>
                <a:sym typeface="Poppins"/>
              </a:rPr>
              <a:t>nu</a:t>
            </a:r>
            <a:r>
              <a:rPr lang="en-US" sz="1830" u="none">
                <a:solidFill>
                  <a:srgbClr val="FFFFFF"/>
                </a:solidFill>
                <a:latin typeface="Poppins"/>
                <a:ea typeface="Poppins"/>
                <a:cs typeface="Poppins"/>
                <a:sym typeface="Poppins"/>
              </a:rPr>
              <a:t>e</a:t>
            </a:r>
            <a:r>
              <a:rPr lang="en-US" sz="1830" u="none">
                <a:solidFill>
                  <a:srgbClr val="FFFFFF"/>
                </a:solidFill>
                <a:latin typeface="Poppins"/>
                <a:ea typeface="Poppins"/>
                <a:cs typeface="Poppins"/>
                <a:sym typeface="Poppins"/>
              </a:rPr>
              <a:t>.</a:t>
            </a:r>
          </a:p>
        </p:txBody>
      </p:sp>
      <p:sp>
        <p:nvSpPr>
          <p:cNvPr name="TextBox 30" id="30"/>
          <p:cNvSpPr txBox="true"/>
          <p:nvPr/>
        </p:nvSpPr>
        <p:spPr>
          <a:xfrm rot="0">
            <a:off x="2591988" y="4452051"/>
            <a:ext cx="6289819" cy="1217556"/>
          </a:xfrm>
          <a:prstGeom prst="rect">
            <a:avLst/>
          </a:prstGeom>
        </p:spPr>
        <p:txBody>
          <a:bodyPr anchor="t" rtlCol="false" tIns="0" lIns="0" bIns="0" rIns="0">
            <a:spAutoFit/>
          </a:bodyPr>
          <a:lstStyle/>
          <a:p>
            <a:pPr algn="ctr">
              <a:lnSpc>
                <a:spcPts val="1908"/>
              </a:lnSpc>
            </a:pPr>
            <a:r>
              <a:rPr lang="en-US" sz="1767">
                <a:solidFill>
                  <a:srgbClr val="FFFFFF"/>
                </a:solidFill>
                <a:latin typeface="Poppins"/>
                <a:ea typeface="Poppins"/>
                <a:cs typeface="Poppins"/>
                <a:sym typeface="Poppins"/>
              </a:rPr>
              <a:t> </a:t>
            </a:r>
            <a:r>
              <a:rPr lang="en-US" sz="1767" b="true">
                <a:solidFill>
                  <a:srgbClr val="FFFFFF"/>
                </a:solidFill>
                <a:latin typeface="Poppins Bold"/>
                <a:ea typeface="Poppins Bold"/>
                <a:cs typeface="Poppins Bold"/>
                <a:sym typeface="Poppins Bold"/>
              </a:rPr>
              <a:t>ROG dominates</a:t>
            </a:r>
            <a:r>
              <a:rPr lang="en-US" sz="1767">
                <a:solidFill>
                  <a:srgbClr val="FFFFFF"/>
                </a:solidFill>
                <a:latin typeface="Poppins"/>
                <a:ea typeface="Poppins"/>
                <a:cs typeface="Poppins"/>
                <a:sym typeface="Poppins"/>
              </a:rPr>
              <a:t> with 44.42% of total sales (3.11M),</a:t>
            </a:r>
            <a:r>
              <a:rPr lang="en-US" sz="1767" u="none">
                <a:solidFill>
                  <a:srgbClr val="FFFFFF"/>
                </a:solidFill>
                <a:latin typeface="Poppins"/>
                <a:ea typeface="Poppins"/>
                <a:cs typeface="Poppins"/>
                <a:sym typeface="Poppins"/>
              </a:rPr>
              <a:t> </a:t>
            </a:r>
            <a:r>
              <a:rPr lang="en-US" sz="1767">
                <a:solidFill>
                  <a:srgbClr val="FFFFFF"/>
                </a:solidFill>
                <a:latin typeface="Poppins"/>
                <a:ea typeface="Poppins"/>
                <a:cs typeface="Poppins"/>
                <a:sym typeface="Poppins"/>
              </a:rPr>
              <a:t>foll</a:t>
            </a:r>
            <a:r>
              <a:rPr lang="en-US" sz="1767" u="none">
                <a:solidFill>
                  <a:srgbClr val="FFFFFF"/>
                </a:solidFill>
                <a:latin typeface="Poppins"/>
                <a:ea typeface="Poppins"/>
                <a:cs typeface="Poppins"/>
                <a:sym typeface="Poppins"/>
              </a:rPr>
              <a:t>ow</a:t>
            </a:r>
            <a:r>
              <a:rPr lang="en-US" sz="1767">
                <a:solidFill>
                  <a:srgbClr val="FFFFFF"/>
                </a:solidFill>
                <a:latin typeface="Poppins"/>
                <a:ea typeface="Poppins"/>
                <a:cs typeface="Poppins"/>
                <a:sym typeface="Poppins"/>
              </a:rPr>
              <a:t>ed by TUF at 28.15% (2M) and Zephyr</a:t>
            </a:r>
            <a:r>
              <a:rPr lang="en-US" sz="1767" u="none">
                <a:solidFill>
                  <a:srgbClr val="FFFFFF"/>
                </a:solidFill>
                <a:latin typeface="Poppins"/>
                <a:ea typeface="Poppins"/>
                <a:cs typeface="Poppins"/>
                <a:sym typeface="Poppins"/>
              </a:rPr>
              <a:t>u</a:t>
            </a:r>
            <a:r>
              <a:rPr lang="en-US" sz="1767">
                <a:solidFill>
                  <a:srgbClr val="FFFFFF"/>
                </a:solidFill>
                <a:latin typeface="Poppins"/>
                <a:ea typeface="Poppins"/>
                <a:cs typeface="Poppins"/>
                <a:sym typeface="Poppins"/>
              </a:rPr>
              <a:t>s</a:t>
            </a:r>
            <a:r>
              <a:rPr lang="en-US" sz="1767" u="none">
                <a:solidFill>
                  <a:srgbClr val="FFFFFF"/>
                </a:solidFill>
                <a:latin typeface="Poppins"/>
                <a:ea typeface="Poppins"/>
                <a:cs typeface="Poppins"/>
                <a:sym typeface="Poppins"/>
              </a:rPr>
              <a:t> </a:t>
            </a:r>
            <a:r>
              <a:rPr lang="en-US" sz="1767">
                <a:solidFill>
                  <a:srgbClr val="FFFFFF"/>
                </a:solidFill>
                <a:latin typeface="Poppins"/>
                <a:ea typeface="Poppins"/>
                <a:cs typeface="Poppins"/>
                <a:sym typeface="Poppins"/>
              </a:rPr>
              <a:t>at</a:t>
            </a:r>
            <a:r>
              <a:rPr lang="en-US" sz="1767" u="none">
                <a:solidFill>
                  <a:srgbClr val="FFFFFF"/>
                </a:solidFill>
                <a:latin typeface="Poppins"/>
                <a:ea typeface="Poppins"/>
                <a:cs typeface="Poppins"/>
                <a:sym typeface="Poppins"/>
              </a:rPr>
              <a:t> 27.</a:t>
            </a:r>
            <a:r>
              <a:rPr lang="en-US" sz="1767">
                <a:solidFill>
                  <a:srgbClr val="FFFFFF"/>
                </a:solidFill>
                <a:latin typeface="Poppins"/>
                <a:ea typeface="Poppins"/>
                <a:cs typeface="Poppins"/>
                <a:sym typeface="Poppins"/>
              </a:rPr>
              <a:t>43% (1.92M). </a:t>
            </a:r>
            <a:r>
              <a:rPr lang="en-US" sz="1767" b="true">
                <a:solidFill>
                  <a:srgbClr val="FFFFFF"/>
                </a:solidFill>
                <a:latin typeface="Poppins Bold"/>
                <a:ea typeface="Poppins Bold"/>
                <a:cs typeface="Poppins Bold"/>
                <a:sym typeface="Poppins Bold"/>
              </a:rPr>
              <a:t>Th</a:t>
            </a:r>
            <a:r>
              <a:rPr lang="en-US" b="true" sz="1767" u="none">
                <a:solidFill>
                  <a:srgbClr val="FFFFFF"/>
                </a:solidFill>
                <a:latin typeface="Poppins Bold"/>
                <a:ea typeface="Poppins Bold"/>
                <a:cs typeface="Poppins Bold"/>
                <a:sym typeface="Poppins Bold"/>
              </a:rPr>
              <a:t>i</a:t>
            </a:r>
            <a:r>
              <a:rPr lang="en-US" sz="1767" b="true">
                <a:solidFill>
                  <a:srgbClr val="FFFFFF"/>
                </a:solidFill>
                <a:latin typeface="Poppins Bold"/>
                <a:ea typeface="Poppins Bold"/>
                <a:cs typeface="Poppins Bold"/>
                <a:sym typeface="Poppins Bold"/>
              </a:rPr>
              <a:t>s h</a:t>
            </a:r>
            <a:r>
              <a:rPr lang="en-US" b="true" sz="1767" u="none">
                <a:solidFill>
                  <a:srgbClr val="FFFFFF"/>
                </a:solidFill>
                <a:latin typeface="Poppins Bold"/>
                <a:ea typeface="Poppins Bold"/>
                <a:cs typeface="Poppins Bold"/>
                <a:sym typeface="Poppins Bold"/>
              </a:rPr>
              <a:t>ig</a:t>
            </a:r>
            <a:r>
              <a:rPr lang="en-US" sz="1767" b="true">
                <a:solidFill>
                  <a:srgbClr val="FFFFFF"/>
                </a:solidFill>
                <a:latin typeface="Poppins Bold"/>
                <a:ea typeface="Poppins Bold"/>
                <a:cs typeface="Poppins Bold"/>
                <a:sym typeface="Poppins Bold"/>
              </a:rPr>
              <a:t>h</a:t>
            </a:r>
            <a:r>
              <a:rPr lang="en-US" b="true" sz="1767" u="none">
                <a:solidFill>
                  <a:srgbClr val="FFFFFF"/>
                </a:solidFill>
                <a:latin typeface="Poppins Bold"/>
                <a:ea typeface="Poppins Bold"/>
                <a:cs typeface="Poppins Bold"/>
                <a:sym typeface="Poppins Bold"/>
              </a:rPr>
              <a:t>li</a:t>
            </a:r>
            <a:r>
              <a:rPr lang="en-US" sz="1767" b="true">
                <a:solidFill>
                  <a:srgbClr val="FFFFFF"/>
                </a:solidFill>
                <a:latin typeface="Poppins Bold"/>
                <a:ea typeface="Poppins Bold"/>
                <a:cs typeface="Poppins Bold"/>
                <a:sym typeface="Poppins Bold"/>
              </a:rPr>
              <a:t>gh</a:t>
            </a:r>
            <a:r>
              <a:rPr lang="en-US" b="true" sz="1767" u="none">
                <a:solidFill>
                  <a:srgbClr val="FFFFFF"/>
                </a:solidFill>
                <a:latin typeface="Poppins Bold"/>
                <a:ea typeface="Poppins Bold"/>
                <a:cs typeface="Poppins Bold"/>
                <a:sym typeface="Poppins Bold"/>
              </a:rPr>
              <a:t>ts </a:t>
            </a:r>
            <a:r>
              <a:rPr lang="en-US" sz="1767" b="true">
                <a:solidFill>
                  <a:srgbClr val="FFFFFF"/>
                </a:solidFill>
                <a:latin typeface="Poppins Bold"/>
                <a:ea typeface="Poppins Bold"/>
                <a:cs typeface="Poppins Bold"/>
                <a:sym typeface="Poppins Bold"/>
              </a:rPr>
              <a:t>ROG</a:t>
            </a:r>
            <a:r>
              <a:rPr lang="en-US" b="true" sz="1767" u="none">
                <a:solidFill>
                  <a:srgbClr val="FFFFFF"/>
                </a:solidFill>
                <a:latin typeface="Poppins Bold"/>
                <a:ea typeface="Poppins Bold"/>
                <a:cs typeface="Poppins Bold"/>
                <a:sym typeface="Poppins Bold"/>
              </a:rPr>
              <a:t> as</a:t>
            </a:r>
            <a:r>
              <a:rPr lang="en-US" sz="1767" b="true">
                <a:solidFill>
                  <a:srgbClr val="FFFFFF"/>
                </a:solidFill>
                <a:latin typeface="Poppins Bold"/>
                <a:ea typeface="Poppins Bold"/>
                <a:cs typeface="Poppins Bold"/>
                <a:sym typeface="Poppins Bold"/>
              </a:rPr>
              <a:t> the most profitable model,</a:t>
            </a:r>
            <a:r>
              <a:rPr lang="en-US" sz="1767">
                <a:solidFill>
                  <a:srgbClr val="FFFFFF"/>
                </a:solidFill>
                <a:latin typeface="Poppins"/>
                <a:ea typeface="Poppins"/>
                <a:cs typeface="Poppins"/>
                <a:sym typeface="Poppins"/>
              </a:rPr>
              <a:t> while TUF and Zephyrus contributed n</a:t>
            </a:r>
            <a:r>
              <a:rPr lang="en-US" sz="1767" u="none">
                <a:solidFill>
                  <a:srgbClr val="FFFFFF"/>
                </a:solidFill>
                <a:latin typeface="Poppins"/>
                <a:ea typeface="Poppins"/>
                <a:cs typeface="Poppins"/>
                <a:sym typeface="Poppins"/>
              </a:rPr>
              <a:t>ea</a:t>
            </a:r>
            <a:r>
              <a:rPr lang="en-US" sz="1767">
                <a:solidFill>
                  <a:srgbClr val="FFFFFF"/>
                </a:solidFill>
                <a:latin typeface="Poppins"/>
                <a:ea typeface="Poppins"/>
                <a:cs typeface="Poppins"/>
                <a:sym typeface="Poppins"/>
              </a:rPr>
              <a:t>rly equal </a:t>
            </a:r>
            <a:r>
              <a:rPr lang="en-US" sz="1767" u="none">
                <a:solidFill>
                  <a:srgbClr val="FFFFFF"/>
                </a:solidFill>
                <a:latin typeface="Poppins"/>
                <a:ea typeface="Poppins"/>
                <a:cs typeface="Poppins"/>
                <a:sym typeface="Poppins"/>
              </a:rPr>
              <a:t>sh</a:t>
            </a:r>
            <a:r>
              <a:rPr lang="en-US" sz="1767">
                <a:solidFill>
                  <a:srgbClr val="FFFFFF"/>
                </a:solidFill>
                <a:latin typeface="Poppins"/>
                <a:ea typeface="Poppins"/>
                <a:cs typeface="Poppins"/>
                <a:sym typeface="Poppins"/>
              </a:rPr>
              <a:t>are</a:t>
            </a:r>
            <a:r>
              <a:rPr lang="en-US" sz="1767" u="none">
                <a:solidFill>
                  <a:srgbClr val="FFFFFF"/>
                </a:solidFill>
                <a:latin typeface="Poppins"/>
                <a:ea typeface="Poppins"/>
                <a:cs typeface="Poppins"/>
                <a:sym typeface="Poppins"/>
              </a:rPr>
              <a:t>s to overa</a:t>
            </a:r>
            <a:r>
              <a:rPr lang="en-US" sz="1767">
                <a:solidFill>
                  <a:srgbClr val="FFFFFF"/>
                </a:solidFill>
                <a:latin typeface="Poppins"/>
                <a:ea typeface="Poppins"/>
                <a:cs typeface="Poppins"/>
                <a:sym typeface="Poppins"/>
              </a:rPr>
              <a:t>l</a:t>
            </a:r>
            <a:r>
              <a:rPr lang="en-US" sz="1767" u="none">
                <a:solidFill>
                  <a:srgbClr val="FFFFFF"/>
                </a:solidFill>
                <a:latin typeface="Poppins"/>
                <a:ea typeface="Poppins"/>
                <a:cs typeface="Poppins"/>
                <a:sym typeface="Poppins"/>
              </a:rPr>
              <a:t>l </a:t>
            </a:r>
            <a:r>
              <a:rPr lang="en-US" sz="1767">
                <a:solidFill>
                  <a:srgbClr val="FFFFFF"/>
                </a:solidFill>
                <a:latin typeface="Poppins"/>
                <a:ea typeface="Poppins"/>
                <a:cs typeface="Poppins"/>
                <a:sym typeface="Poppins"/>
              </a:rPr>
              <a:t>s</a:t>
            </a:r>
            <a:r>
              <a:rPr lang="en-US" sz="1767" u="none">
                <a:solidFill>
                  <a:srgbClr val="FFFFFF"/>
                </a:solidFill>
                <a:latin typeface="Poppins"/>
                <a:ea typeface="Poppins"/>
                <a:cs typeface="Poppins"/>
                <a:sym typeface="Poppins"/>
              </a:rPr>
              <a:t>ales.</a:t>
            </a:r>
          </a:p>
        </p:txBody>
      </p:sp>
      <p:sp>
        <p:nvSpPr>
          <p:cNvPr name="TextBox 31" id="31"/>
          <p:cNvSpPr txBox="true"/>
          <p:nvPr/>
        </p:nvSpPr>
        <p:spPr>
          <a:xfrm rot="0">
            <a:off x="9298625" y="5951582"/>
            <a:ext cx="6504956" cy="1174177"/>
          </a:xfrm>
          <a:prstGeom prst="rect">
            <a:avLst/>
          </a:prstGeom>
        </p:spPr>
        <p:txBody>
          <a:bodyPr anchor="t" rtlCol="false" tIns="0" lIns="0" bIns="0" rIns="0">
            <a:spAutoFit/>
          </a:bodyPr>
          <a:lstStyle/>
          <a:p>
            <a:pPr algn="ctr">
              <a:lnSpc>
                <a:spcPts val="1534"/>
              </a:lnSpc>
            </a:pPr>
            <a:r>
              <a:rPr lang="en-US" sz="1420" b="true">
                <a:solidFill>
                  <a:srgbClr val="FFFFFF"/>
                </a:solidFill>
                <a:latin typeface="Poppins Bold"/>
                <a:ea typeface="Poppins Bold"/>
                <a:cs typeface="Poppins Bold"/>
                <a:sym typeface="Poppins Bold"/>
              </a:rPr>
              <a:t>ROG consistently outperformed the other two</a:t>
            </a:r>
            <a:r>
              <a:rPr lang="en-US" sz="1420">
                <a:solidFill>
                  <a:srgbClr val="FFFFFF"/>
                </a:solidFill>
                <a:latin typeface="Poppins"/>
                <a:ea typeface="Poppins"/>
                <a:cs typeface="Poppins"/>
                <a:sym typeface="Poppins"/>
              </a:rPr>
              <a:t>, maintaining lower average ranks.</a:t>
            </a:r>
            <a:r>
              <a:rPr lang="en-US" sz="1420" b="true">
                <a:solidFill>
                  <a:srgbClr val="FFFFFF"/>
                </a:solidFill>
                <a:latin typeface="Poppins Bold"/>
                <a:ea typeface="Poppins Bold"/>
                <a:cs typeface="Poppins Bold"/>
                <a:sym typeface="Poppins Bold"/>
              </a:rPr>
              <a:t> Zephyrus had the highest average ranks most months, indicating weaker performance</a:t>
            </a:r>
            <a:r>
              <a:rPr lang="en-US" sz="1420">
                <a:solidFill>
                  <a:srgbClr val="FFFFFF"/>
                </a:solidFill>
                <a:latin typeface="Poppins"/>
                <a:ea typeface="Poppins"/>
                <a:cs typeface="Poppins"/>
                <a:sym typeface="Poppins"/>
              </a:rPr>
              <a:t>, especially in December, where</a:t>
            </a:r>
            <a:r>
              <a:rPr lang="en-US" sz="1420" u="none">
                <a:solidFill>
                  <a:srgbClr val="FFFFFF"/>
                </a:solidFill>
                <a:latin typeface="Poppins"/>
                <a:ea typeface="Poppins"/>
                <a:cs typeface="Poppins"/>
                <a:sym typeface="Poppins"/>
              </a:rPr>
              <a:t> its </a:t>
            </a:r>
            <a:r>
              <a:rPr lang="en-US" sz="1420">
                <a:solidFill>
                  <a:srgbClr val="FFFFFF"/>
                </a:solidFill>
                <a:latin typeface="Poppins"/>
                <a:ea typeface="Poppins"/>
                <a:cs typeface="Poppins"/>
                <a:sym typeface="Poppins"/>
              </a:rPr>
              <a:t>r</a:t>
            </a:r>
            <a:r>
              <a:rPr lang="en-US" sz="1420" u="none">
                <a:solidFill>
                  <a:srgbClr val="FFFFFF"/>
                </a:solidFill>
                <a:latin typeface="Poppins"/>
                <a:ea typeface="Poppins"/>
                <a:cs typeface="Poppins"/>
                <a:sym typeface="Poppins"/>
              </a:rPr>
              <a:t>a</a:t>
            </a:r>
            <a:r>
              <a:rPr lang="en-US" sz="1420">
                <a:solidFill>
                  <a:srgbClr val="FFFFFF"/>
                </a:solidFill>
                <a:latin typeface="Poppins"/>
                <a:ea typeface="Poppins"/>
                <a:cs typeface="Poppins"/>
                <a:sym typeface="Poppins"/>
              </a:rPr>
              <a:t>nk approached</a:t>
            </a:r>
            <a:r>
              <a:rPr lang="en-US" sz="1420" u="none">
                <a:solidFill>
                  <a:srgbClr val="FFFFFF"/>
                </a:solidFill>
                <a:latin typeface="Poppins"/>
                <a:ea typeface="Poppins"/>
                <a:cs typeface="Poppins"/>
                <a:sym typeface="Poppins"/>
              </a:rPr>
              <a:t> 90K.</a:t>
            </a:r>
            <a:r>
              <a:rPr lang="en-US" sz="1420">
                <a:solidFill>
                  <a:srgbClr val="FFFFFF"/>
                </a:solidFill>
                <a:latin typeface="Poppins"/>
                <a:ea typeface="Poppins"/>
                <a:cs typeface="Poppins"/>
                <a:sym typeface="Poppins"/>
              </a:rPr>
              <a:t> </a:t>
            </a:r>
            <a:r>
              <a:rPr lang="en-US" sz="1420" b="true">
                <a:solidFill>
                  <a:srgbClr val="FFFFFF"/>
                </a:solidFill>
                <a:latin typeface="Poppins Bold"/>
                <a:ea typeface="Poppins Bold"/>
                <a:cs typeface="Poppins Bold"/>
                <a:sym typeface="Poppins Bold"/>
              </a:rPr>
              <a:t>TUF remained in the middle, showing steady performance </a:t>
            </a:r>
            <a:r>
              <a:rPr lang="en-US" sz="1420">
                <a:solidFill>
                  <a:srgbClr val="FFFFFF"/>
                </a:solidFill>
                <a:latin typeface="Poppins"/>
                <a:ea typeface="Poppins"/>
                <a:cs typeface="Poppins"/>
                <a:sym typeface="Poppins"/>
              </a:rPr>
              <a:t>but trail</a:t>
            </a:r>
            <a:r>
              <a:rPr lang="en-US" sz="1420" u="none">
                <a:solidFill>
                  <a:srgbClr val="FFFFFF"/>
                </a:solidFill>
                <a:latin typeface="Poppins"/>
                <a:ea typeface="Poppins"/>
                <a:cs typeface="Poppins"/>
                <a:sym typeface="Poppins"/>
              </a:rPr>
              <a:t>i</a:t>
            </a:r>
            <a:r>
              <a:rPr lang="en-US" sz="1420">
                <a:solidFill>
                  <a:srgbClr val="FFFFFF"/>
                </a:solidFill>
                <a:latin typeface="Poppins"/>
                <a:ea typeface="Poppins"/>
                <a:cs typeface="Poppins"/>
                <a:sym typeface="Poppins"/>
              </a:rPr>
              <a:t>ng behind</a:t>
            </a:r>
            <a:r>
              <a:rPr lang="en-US" sz="1420" u="none">
                <a:solidFill>
                  <a:srgbClr val="FFFFFF"/>
                </a:solidFill>
                <a:latin typeface="Poppins"/>
                <a:ea typeface="Poppins"/>
                <a:cs typeface="Poppins"/>
                <a:sym typeface="Poppins"/>
              </a:rPr>
              <a:t> ROG. This </a:t>
            </a:r>
            <a:r>
              <a:rPr lang="en-US" sz="1420">
                <a:solidFill>
                  <a:srgbClr val="FFFFFF"/>
                </a:solidFill>
                <a:latin typeface="Poppins"/>
                <a:ea typeface="Poppins"/>
                <a:cs typeface="Poppins"/>
                <a:sym typeface="Poppins"/>
              </a:rPr>
              <a:t>visu</a:t>
            </a:r>
            <a:r>
              <a:rPr lang="en-US" sz="1420" u="none">
                <a:solidFill>
                  <a:srgbClr val="FFFFFF"/>
                </a:solidFill>
                <a:latin typeface="Poppins"/>
                <a:ea typeface="Poppins"/>
                <a:cs typeface="Poppins"/>
                <a:sym typeface="Poppins"/>
              </a:rPr>
              <a:t>a</a:t>
            </a:r>
            <a:r>
              <a:rPr lang="en-US" sz="1420">
                <a:solidFill>
                  <a:srgbClr val="FFFFFF"/>
                </a:solidFill>
                <a:latin typeface="Poppins"/>
                <a:ea typeface="Poppins"/>
                <a:cs typeface="Poppins"/>
                <a:sym typeface="Poppins"/>
              </a:rPr>
              <a:t>lisation</a:t>
            </a:r>
            <a:r>
              <a:rPr lang="en-US" sz="1420" u="none">
                <a:solidFill>
                  <a:srgbClr val="FFFFFF"/>
                </a:solidFill>
                <a:latin typeface="Poppins"/>
                <a:ea typeface="Poppins"/>
                <a:cs typeface="Poppins"/>
                <a:sym typeface="Poppins"/>
              </a:rPr>
              <a:t> </a:t>
            </a:r>
            <a:r>
              <a:rPr lang="en-US" sz="1420">
                <a:solidFill>
                  <a:srgbClr val="FFFFFF"/>
                </a:solidFill>
                <a:latin typeface="Poppins"/>
                <a:ea typeface="Poppins"/>
                <a:cs typeface="Poppins"/>
                <a:sym typeface="Poppins"/>
              </a:rPr>
              <a:t>cl</a:t>
            </a:r>
            <a:r>
              <a:rPr lang="en-US" sz="1420" u="none">
                <a:solidFill>
                  <a:srgbClr val="FFFFFF"/>
                </a:solidFill>
                <a:latin typeface="Poppins"/>
                <a:ea typeface="Poppins"/>
                <a:cs typeface="Poppins"/>
                <a:sym typeface="Poppins"/>
              </a:rPr>
              <a:t>ear</a:t>
            </a:r>
            <a:r>
              <a:rPr lang="en-US" sz="1420">
                <a:solidFill>
                  <a:srgbClr val="FFFFFF"/>
                </a:solidFill>
                <a:latin typeface="Poppins"/>
                <a:ea typeface="Poppins"/>
                <a:cs typeface="Poppins"/>
                <a:sym typeface="Poppins"/>
              </a:rPr>
              <a:t>l</a:t>
            </a:r>
            <a:r>
              <a:rPr lang="en-US" sz="1420" u="none">
                <a:solidFill>
                  <a:srgbClr val="FFFFFF"/>
                </a:solidFill>
                <a:latin typeface="Poppins"/>
                <a:ea typeface="Poppins"/>
                <a:cs typeface="Poppins"/>
                <a:sym typeface="Poppins"/>
              </a:rPr>
              <a:t>y </a:t>
            </a:r>
            <a:r>
              <a:rPr lang="en-US" sz="1420">
                <a:solidFill>
                  <a:srgbClr val="FFFFFF"/>
                </a:solidFill>
                <a:latin typeface="Poppins"/>
                <a:ea typeface="Poppins"/>
                <a:cs typeface="Poppins"/>
                <a:sym typeface="Poppins"/>
              </a:rPr>
              <a:t>sh</a:t>
            </a:r>
            <a:r>
              <a:rPr lang="en-US" sz="1420" u="none">
                <a:solidFill>
                  <a:srgbClr val="FFFFFF"/>
                </a:solidFill>
                <a:latin typeface="Poppins"/>
                <a:ea typeface="Poppins"/>
                <a:cs typeface="Poppins"/>
                <a:sym typeface="Poppins"/>
              </a:rPr>
              <a:t>o</a:t>
            </a:r>
            <a:r>
              <a:rPr lang="en-US" sz="1420">
                <a:solidFill>
                  <a:srgbClr val="FFFFFF"/>
                </a:solidFill>
                <a:latin typeface="Poppins"/>
                <a:ea typeface="Poppins"/>
                <a:cs typeface="Poppins"/>
                <a:sym typeface="Poppins"/>
              </a:rPr>
              <a:t>w</a:t>
            </a:r>
            <a:r>
              <a:rPr lang="en-US" sz="1420" u="none">
                <a:solidFill>
                  <a:srgbClr val="FFFFFF"/>
                </a:solidFill>
                <a:latin typeface="Poppins"/>
                <a:ea typeface="Poppins"/>
                <a:cs typeface="Poppins"/>
                <a:sym typeface="Poppins"/>
              </a:rPr>
              <a:t>s</a:t>
            </a:r>
            <a:r>
              <a:rPr lang="en-US" sz="1420">
                <a:solidFill>
                  <a:srgbClr val="FFFFFF"/>
                </a:solidFill>
                <a:latin typeface="Poppins"/>
                <a:ea typeface="Poppins"/>
                <a:cs typeface="Poppins"/>
                <a:sym typeface="Poppins"/>
              </a:rPr>
              <a:t> tha</a:t>
            </a:r>
            <a:r>
              <a:rPr lang="en-US" sz="1420" u="none">
                <a:solidFill>
                  <a:srgbClr val="FFFFFF"/>
                </a:solidFill>
                <a:latin typeface="Poppins"/>
                <a:ea typeface="Poppins"/>
                <a:cs typeface="Poppins"/>
                <a:sym typeface="Poppins"/>
              </a:rPr>
              <a:t>t </a:t>
            </a:r>
            <a:r>
              <a:rPr lang="en-US" sz="1420">
                <a:solidFill>
                  <a:srgbClr val="FFFFFF"/>
                </a:solidFill>
                <a:latin typeface="Poppins"/>
                <a:ea typeface="Poppins"/>
                <a:cs typeface="Poppins"/>
                <a:sym typeface="Poppins"/>
              </a:rPr>
              <a:t>ROG</a:t>
            </a:r>
            <a:r>
              <a:rPr lang="en-US" sz="1420" u="none">
                <a:solidFill>
                  <a:srgbClr val="FFFFFF"/>
                </a:solidFill>
                <a:latin typeface="Poppins"/>
                <a:ea typeface="Poppins"/>
                <a:cs typeface="Poppins"/>
                <a:sym typeface="Poppins"/>
              </a:rPr>
              <a:t> </a:t>
            </a:r>
            <a:r>
              <a:rPr lang="en-US" sz="1420">
                <a:solidFill>
                  <a:srgbClr val="FFFFFF"/>
                </a:solidFill>
                <a:latin typeface="Poppins"/>
                <a:ea typeface="Poppins"/>
                <a:cs typeface="Poppins"/>
                <a:sym typeface="Poppins"/>
              </a:rPr>
              <a:t>l</a:t>
            </a:r>
            <a:r>
              <a:rPr lang="en-US" sz="1420" u="none">
                <a:solidFill>
                  <a:srgbClr val="FFFFFF"/>
                </a:solidFill>
                <a:latin typeface="Poppins"/>
                <a:ea typeface="Poppins"/>
                <a:cs typeface="Poppins"/>
                <a:sym typeface="Poppins"/>
              </a:rPr>
              <a:t>ed </a:t>
            </a:r>
            <a:r>
              <a:rPr lang="en-US" sz="1420">
                <a:solidFill>
                  <a:srgbClr val="FFFFFF"/>
                </a:solidFill>
                <a:latin typeface="Poppins"/>
                <a:ea typeface="Poppins"/>
                <a:cs typeface="Poppins"/>
                <a:sym typeface="Poppins"/>
              </a:rPr>
              <a:t>in </a:t>
            </a:r>
            <a:r>
              <a:rPr lang="en-US" sz="1420" u="none">
                <a:solidFill>
                  <a:srgbClr val="FFFFFF"/>
                </a:solidFill>
                <a:latin typeface="Poppins"/>
                <a:ea typeface="Poppins"/>
                <a:cs typeface="Poppins"/>
                <a:sym typeface="Poppins"/>
              </a:rPr>
              <a:t>s</a:t>
            </a:r>
            <a:r>
              <a:rPr lang="en-US" sz="1420">
                <a:solidFill>
                  <a:srgbClr val="FFFFFF"/>
                </a:solidFill>
                <a:latin typeface="Poppins"/>
                <a:ea typeface="Poppins"/>
                <a:cs typeface="Poppins"/>
                <a:sym typeface="Poppins"/>
              </a:rPr>
              <a:t>a</a:t>
            </a:r>
            <a:r>
              <a:rPr lang="en-US" sz="1420" u="none">
                <a:solidFill>
                  <a:srgbClr val="FFFFFF"/>
                </a:solidFill>
                <a:latin typeface="Poppins"/>
                <a:ea typeface="Poppins"/>
                <a:cs typeface="Poppins"/>
                <a:sym typeface="Poppins"/>
              </a:rPr>
              <a:t>le</a:t>
            </a:r>
            <a:r>
              <a:rPr lang="en-US" sz="1420">
                <a:solidFill>
                  <a:srgbClr val="FFFFFF"/>
                </a:solidFill>
                <a:latin typeface="Poppins"/>
                <a:ea typeface="Poppins"/>
                <a:cs typeface="Poppins"/>
                <a:sym typeface="Poppins"/>
              </a:rPr>
              <a:t>s</a:t>
            </a:r>
            <a:r>
              <a:rPr lang="en-US" sz="1420" u="none">
                <a:solidFill>
                  <a:srgbClr val="FFFFFF"/>
                </a:solidFill>
                <a:latin typeface="Poppins"/>
                <a:ea typeface="Poppins"/>
                <a:cs typeface="Poppins"/>
                <a:sym typeface="Poppins"/>
              </a:rPr>
              <a:t> p</a:t>
            </a:r>
            <a:r>
              <a:rPr lang="en-US" sz="1420">
                <a:solidFill>
                  <a:srgbClr val="FFFFFF"/>
                </a:solidFill>
                <a:latin typeface="Poppins"/>
                <a:ea typeface="Poppins"/>
                <a:cs typeface="Poppins"/>
                <a:sym typeface="Poppins"/>
              </a:rPr>
              <a:t>e</a:t>
            </a:r>
            <a:r>
              <a:rPr lang="en-US" sz="1420" u="none">
                <a:solidFill>
                  <a:srgbClr val="FFFFFF"/>
                </a:solidFill>
                <a:latin typeface="Poppins"/>
                <a:ea typeface="Poppins"/>
                <a:cs typeface="Poppins"/>
                <a:sym typeface="Poppins"/>
              </a:rPr>
              <a:t>r</a:t>
            </a:r>
            <a:r>
              <a:rPr lang="en-US" sz="1420">
                <a:solidFill>
                  <a:srgbClr val="FFFFFF"/>
                </a:solidFill>
                <a:latin typeface="Poppins"/>
                <a:ea typeface="Poppins"/>
                <a:cs typeface="Poppins"/>
                <a:sym typeface="Poppins"/>
              </a:rPr>
              <a:t>f</a:t>
            </a:r>
            <a:r>
              <a:rPr lang="en-US" sz="1420" u="none">
                <a:solidFill>
                  <a:srgbClr val="FFFFFF"/>
                </a:solidFill>
                <a:latin typeface="Poppins"/>
                <a:ea typeface="Poppins"/>
                <a:cs typeface="Poppins"/>
                <a:sym typeface="Poppins"/>
              </a:rPr>
              <a:t>o</a:t>
            </a:r>
            <a:r>
              <a:rPr lang="en-US" sz="1420">
                <a:solidFill>
                  <a:srgbClr val="FFFFFF"/>
                </a:solidFill>
                <a:latin typeface="Poppins"/>
                <a:ea typeface="Poppins"/>
                <a:cs typeface="Poppins"/>
                <a:sym typeface="Poppins"/>
              </a:rPr>
              <a:t>r</a:t>
            </a:r>
            <a:r>
              <a:rPr lang="en-US" sz="1420" u="none">
                <a:solidFill>
                  <a:srgbClr val="FFFFFF"/>
                </a:solidFill>
                <a:latin typeface="Poppins"/>
                <a:ea typeface="Poppins"/>
                <a:cs typeface="Poppins"/>
                <a:sym typeface="Poppins"/>
              </a:rPr>
              <a:t>m</a:t>
            </a:r>
            <a:r>
              <a:rPr lang="en-US" sz="1420">
                <a:solidFill>
                  <a:srgbClr val="FFFFFF"/>
                </a:solidFill>
                <a:latin typeface="Poppins"/>
                <a:ea typeface="Poppins"/>
                <a:cs typeface="Poppins"/>
                <a:sym typeface="Poppins"/>
              </a:rPr>
              <a:t>a</a:t>
            </a:r>
            <a:r>
              <a:rPr lang="en-US" sz="1420" u="none">
                <a:solidFill>
                  <a:srgbClr val="FFFFFF"/>
                </a:solidFill>
                <a:latin typeface="Poppins"/>
                <a:ea typeface="Poppins"/>
                <a:cs typeface="Poppins"/>
                <a:sym typeface="Poppins"/>
              </a:rPr>
              <a:t>n</a:t>
            </a:r>
            <a:r>
              <a:rPr lang="en-US" sz="1420">
                <a:solidFill>
                  <a:srgbClr val="FFFFFF"/>
                </a:solidFill>
                <a:latin typeface="Poppins"/>
                <a:ea typeface="Poppins"/>
                <a:cs typeface="Poppins"/>
                <a:sym typeface="Poppins"/>
              </a:rPr>
              <a:t>c</a:t>
            </a:r>
            <a:r>
              <a:rPr lang="en-US" sz="1420" u="none">
                <a:solidFill>
                  <a:srgbClr val="FFFFFF"/>
                </a:solidFill>
                <a:latin typeface="Poppins"/>
                <a:ea typeface="Poppins"/>
                <a:cs typeface="Poppins"/>
                <a:sym typeface="Poppins"/>
              </a:rPr>
              <a:t>e </a:t>
            </a:r>
            <a:r>
              <a:rPr lang="en-US" sz="1420">
                <a:solidFill>
                  <a:srgbClr val="FFFFFF"/>
                </a:solidFill>
                <a:latin typeface="Poppins"/>
                <a:ea typeface="Poppins"/>
                <a:cs typeface="Poppins"/>
                <a:sym typeface="Poppins"/>
              </a:rPr>
              <a:t>th</a:t>
            </a:r>
            <a:r>
              <a:rPr lang="en-US" sz="1420" u="none">
                <a:solidFill>
                  <a:srgbClr val="FFFFFF"/>
                </a:solidFill>
                <a:latin typeface="Poppins"/>
                <a:ea typeface="Poppins"/>
                <a:cs typeface="Poppins"/>
                <a:sym typeface="Poppins"/>
              </a:rPr>
              <a:t>r</a:t>
            </a:r>
            <a:r>
              <a:rPr lang="en-US" sz="1420">
                <a:solidFill>
                  <a:srgbClr val="FFFFFF"/>
                </a:solidFill>
                <a:latin typeface="Poppins"/>
                <a:ea typeface="Poppins"/>
                <a:cs typeface="Poppins"/>
                <a:sym typeface="Poppins"/>
              </a:rPr>
              <a:t>o</a:t>
            </a:r>
            <a:r>
              <a:rPr lang="en-US" sz="1420" u="none">
                <a:solidFill>
                  <a:srgbClr val="FFFFFF"/>
                </a:solidFill>
                <a:latin typeface="Poppins"/>
                <a:ea typeface="Poppins"/>
                <a:cs typeface="Poppins"/>
                <a:sym typeface="Poppins"/>
              </a:rPr>
              <a:t>u</a:t>
            </a:r>
            <a:r>
              <a:rPr lang="en-US" sz="1420">
                <a:solidFill>
                  <a:srgbClr val="FFFFFF"/>
                </a:solidFill>
                <a:latin typeface="Poppins"/>
                <a:ea typeface="Poppins"/>
                <a:cs typeface="Poppins"/>
                <a:sym typeface="Poppins"/>
              </a:rPr>
              <a:t>gh</a:t>
            </a:r>
            <a:r>
              <a:rPr lang="en-US" sz="1420" u="none">
                <a:solidFill>
                  <a:srgbClr val="FFFFFF"/>
                </a:solidFill>
                <a:latin typeface="Poppins"/>
                <a:ea typeface="Poppins"/>
                <a:cs typeface="Poppins"/>
                <a:sym typeface="Poppins"/>
              </a:rPr>
              <a:t>o</a:t>
            </a:r>
            <a:r>
              <a:rPr lang="en-US" sz="1420">
                <a:solidFill>
                  <a:srgbClr val="FFFFFF"/>
                </a:solidFill>
                <a:latin typeface="Poppins"/>
                <a:ea typeface="Poppins"/>
                <a:cs typeface="Poppins"/>
                <a:sym typeface="Poppins"/>
              </a:rPr>
              <a:t>u</a:t>
            </a:r>
            <a:r>
              <a:rPr lang="en-US" sz="1420" u="none">
                <a:solidFill>
                  <a:srgbClr val="FFFFFF"/>
                </a:solidFill>
                <a:latin typeface="Poppins"/>
                <a:ea typeface="Poppins"/>
                <a:cs typeface="Poppins"/>
                <a:sym typeface="Poppins"/>
              </a:rPr>
              <a:t>t the yea</a:t>
            </a:r>
            <a:r>
              <a:rPr lang="en-US" sz="1420">
                <a:solidFill>
                  <a:srgbClr val="FFFFFF"/>
                </a:solidFill>
                <a:latin typeface="Poppins"/>
                <a:ea typeface="Poppins"/>
                <a:cs typeface="Poppins"/>
                <a:sym typeface="Poppins"/>
              </a:rPr>
              <a:t>r</a:t>
            </a:r>
            <a:r>
              <a:rPr lang="en-US" sz="1420" u="none">
                <a:solidFill>
                  <a:srgbClr val="FFFFFF"/>
                </a:solidFill>
                <a:latin typeface="Poppins"/>
                <a:ea typeface="Poppins"/>
                <a:cs typeface="Poppins"/>
                <a:sym typeface="Poppins"/>
              </a:rPr>
              <a:t>.</a:t>
            </a:r>
          </a:p>
        </p:txBody>
      </p:sp>
      <p:sp>
        <p:nvSpPr>
          <p:cNvPr name="TextBox 32" id="32"/>
          <p:cNvSpPr txBox="true"/>
          <p:nvPr/>
        </p:nvSpPr>
        <p:spPr>
          <a:xfrm rot="0">
            <a:off x="2549325" y="7565578"/>
            <a:ext cx="6135230" cy="1388419"/>
          </a:xfrm>
          <a:prstGeom prst="rect">
            <a:avLst/>
          </a:prstGeom>
        </p:spPr>
        <p:txBody>
          <a:bodyPr anchor="t" rtlCol="false" tIns="0" lIns="0" bIns="0" rIns="0">
            <a:spAutoFit/>
          </a:bodyPr>
          <a:lstStyle/>
          <a:p>
            <a:pPr algn="ctr">
              <a:lnSpc>
                <a:spcPts val="1866"/>
              </a:lnSpc>
            </a:pPr>
            <a:r>
              <a:rPr lang="en-US" sz="1728">
                <a:solidFill>
                  <a:srgbClr val="FFFFFF"/>
                </a:solidFill>
                <a:latin typeface="Poppins"/>
                <a:ea typeface="Poppins"/>
                <a:cs typeface="Poppins"/>
                <a:sym typeface="Poppins"/>
              </a:rPr>
              <a:t>Across all months, </a:t>
            </a:r>
            <a:r>
              <a:rPr lang="en-US" sz="1728" b="true">
                <a:solidFill>
                  <a:srgbClr val="FFFFFF"/>
                </a:solidFill>
                <a:latin typeface="Poppins Bold"/>
                <a:ea typeface="Poppins Bold"/>
                <a:cs typeface="Poppins Bold"/>
                <a:sym typeface="Poppins Bold"/>
              </a:rPr>
              <a:t>ROG consistently contributed the largest sh</a:t>
            </a:r>
            <a:r>
              <a:rPr lang="en-US" b="true" sz="1728" u="none">
                <a:solidFill>
                  <a:srgbClr val="FFFFFF"/>
                </a:solidFill>
                <a:latin typeface="Poppins Bold"/>
                <a:ea typeface="Poppins Bold"/>
                <a:cs typeface="Poppins Bold"/>
                <a:sym typeface="Poppins Bold"/>
              </a:rPr>
              <a:t>ar</a:t>
            </a:r>
            <a:r>
              <a:rPr lang="en-US" sz="1728" b="true">
                <a:solidFill>
                  <a:srgbClr val="FFFFFF"/>
                </a:solidFill>
                <a:latin typeface="Poppins Bold"/>
                <a:ea typeface="Poppins Bold"/>
                <a:cs typeface="Poppins Bold"/>
                <a:sym typeface="Poppins Bold"/>
              </a:rPr>
              <a:t>e</a:t>
            </a:r>
            <a:r>
              <a:rPr lang="en-US" sz="1728">
                <a:solidFill>
                  <a:srgbClr val="FFFFFF"/>
                </a:solidFill>
                <a:latin typeface="Poppins"/>
                <a:ea typeface="Poppins"/>
                <a:cs typeface="Poppins"/>
                <a:sym typeface="Poppins"/>
              </a:rPr>
              <a:t>, m</a:t>
            </a:r>
            <a:r>
              <a:rPr lang="en-US" sz="1728" u="none">
                <a:solidFill>
                  <a:srgbClr val="FFFFFF"/>
                </a:solidFill>
                <a:latin typeface="Poppins"/>
                <a:ea typeface="Poppins"/>
                <a:cs typeface="Poppins"/>
                <a:sym typeface="Poppins"/>
              </a:rPr>
              <a:t>a</a:t>
            </a:r>
            <a:r>
              <a:rPr lang="en-US" sz="1728">
                <a:solidFill>
                  <a:srgbClr val="FFFFFF"/>
                </a:solidFill>
                <a:latin typeface="Poppins"/>
                <a:ea typeface="Poppins"/>
                <a:cs typeface="Poppins"/>
                <a:sym typeface="Poppins"/>
              </a:rPr>
              <a:t>k</a:t>
            </a:r>
            <a:r>
              <a:rPr lang="en-US" sz="1728" u="none">
                <a:solidFill>
                  <a:srgbClr val="FFFFFF"/>
                </a:solidFill>
                <a:latin typeface="Poppins"/>
                <a:ea typeface="Poppins"/>
                <a:cs typeface="Poppins"/>
                <a:sym typeface="Poppins"/>
              </a:rPr>
              <a:t>ing up</a:t>
            </a:r>
            <a:r>
              <a:rPr lang="en-US" sz="1728">
                <a:solidFill>
                  <a:srgbClr val="FFFFFF"/>
                </a:solidFill>
                <a:latin typeface="Poppins"/>
                <a:ea typeface="Poppins"/>
                <a:cs typeface="Poppins"/>
                <a:sym typeface="Poppins"/>
              </a:rPr>
              <a:t> ov</a:t>
            </a:r>
            <a:r>
              <a:rPr lang="en-US" sz="1728" u="none">
                <a:solidFill>
                  <a:srgbClr val="FFFFFF"/>
                </a:solidFill>
                <a:latin typeface="Poppins"/>
                <a:ea typeface="Poppins"/>
                <a:cs typeface="Poppins"/>
                <a:sym typeface="Poppins"/>
              </a:rPr>
              <a:t>er</a:t>
            </a:r>
            <a:r>
              <a:rPr lang="en-US" sz="1728">
                <a:solidFill>
                  <a:srgbClr val="FFFFFF"/>
                </a:solidFill>
                <a:latin typeface="Poppins"/>
                <a:ea typeface="Poppins"/>
                <a:cs typeface="Poppins"/>
                <a:sym typeface="Poppins"/>
              </a:rPr>
              <a:t> hal</a:t>
            </a:r>
            <a:r>
              <a:rPr lang="en-US" sz="1728" u="none">
                <a:solidFill>
                  <a:srgbClr val="FFFFFF"/>
                </a:solidFill>
                <a:latin typeface="Poppins"/>
                <a:ea typeface="Poppins"/>
                <a:cs typeface="Poppins"/>
                <a:sym typeface="Poppins"/>
              </a:rPr>
              <a:t>f</a:t>
            </a:r>
            <a:r>
              <a:rPr lang="en-US" sz="1728">
                <a:solidFill>
                  <a:srgbClr val="FFFFFF"/>
                </a:solidFill>
                <a:latin typeface="Poppins"/>
                <a:ea typeface="Poppins"/>
                <a:cs typeface="Poppins"/>
                <a:sym typeface="Poppins"/>
              </a:rPr>
              <a:t> </a:t>
            </a:r>
            <a:r>
              <a:rPr lang="en-US" sz="1728" u="none">
                <a:solidFill>
                  <a:srgbClr val="FFFFFF"/>
                </a:solidFill>
                <a:latin typeface="Poppins"/>
                <a:ea typeface="Poppins"/>
                <a:cs typeface="Poppins"/>
                <a:sym typeface="Poppins"/>
              </a:rPr>
              <a:t>o</a:t>
            </a:r>
            <a:r>
              <a:rPr lang="en-US" sz="1728">
                <a:solidFill>
                  <a:srgbClr val="FFFFFF"/>
                </a:solidFill>
                <a:latin typeface="Poppins"/>
                <a:ea typeface="Poppins"/>
                <a:cs typeface="Poppins"/>
                <a:sym typeface="Poppins"/>
              </a:rPr>
              <a:t>f</a:t>
            </a:r>
            <a:r>
              <a:rPr lang="en-US" sz="1728" u="none">
                <a:solidFill>
                  <a:srgbClr val="FFFFFF"/>
                </a:solidFill>
                <a:latin typeface="Poppins"/>
                <a:ea typeface="Poppins"/>
                <a:cs typeface="Poppins"/>
                <a:sym typeface="Poppins"/>
              </a:rPr>
              <a:t> </a:t>
            </a:r>
            <a:r>
              <a:rPr lang="en-US" sz="1728">
                <a:solidFill>
                  <a:srgbClr val="FFFFFF"/>
                </a:solidFill>
                <a:latin typeface="Poppins"/>
                <a:ea typeface="Poppins"/>
                <a:cs typeface="Poppins"/>
                <a:sym typeface="Poppins"/>
              </a:rPr>
              <a:t>tota</a:t>
            </a:r>
            <a:r>
              <a:rPr lang="en-US" sz="1728" u="none">
                <a:solidFill>
                  <a:srgbClr val="FFFFFF"/>
                </a:solidFill>
                <a:latin typeface="Poppins"/>
                <a:ea typeface="Poppins"/>
                <a:cs typeface="Poppins"/>
                <a:sym typeface="Poppins"/>
              </a:rPr>
              <a:t>l</a:t>
            </a:r>
            <a:r>
              <a:rPr lang="en-US" sz="1728">
                <a:solidFill>
                  <a:srgbClr val="FFFFFF"/>
                </a:solidFill>
                <a:latin typeface="Poppins"/>
                <a:ea typeface="Poppins"/>
                <a:cs typeface="Poppins"/>
                <a:sym typeface="Poppins"/>
              </a:rPr>
              <a:t> sa</a:t>
            </a:r>
            <a:r>
              <a:rPr lang="en-US" sz="1728" u="none">
                <a:solidFill>
                  <a:srgbClr val="FFFFFF"/>
                </a:solidFill>
                <a:latin typeface="Poppins"/>
                <a:ea typeface="Poppins"/>
                <a:cs typeface="Poppins"/>
                <a:sym typeface="Poppins"/>
              </a:rPr>
              <a:t>l</a:t>
            </a:r>
            <a:r>
              <a:rPr lang="en-US" sz="1728">
                <a:solidFill>
                  <a:srgbClr val="FFFFFF"/>
                </a:solidFill>
                <a:latin typeface="Poppins"/>
                <a:ea typeface="Poppins"/>
                <a:cs typeface="Poppins"/>
                <a:sym typeface="Poppins"/>
              </a:rPr>
              <a:t>es</a:t>
            </a:r>
            <a:r>
              <a:rPr lang="en-US" sz="1728" u="none">
                <a:solidFill>
                  <a:srgbClr val="FFFFFF"/>
                </a:solidFill>
                <a:latin typeface="Poppins"/>
                <a:ea typeface="Poppins"/>
                <a:cs typeface="Poppins"/>
                <a:sym typeface="Poppins"/>
              </a:rPr>
              <a:t> i</a:t>
            </a:r>
            <a:r>
              <a:rPr lang="en-US" sz="1728">
                <a:solidFill>
                  <a:srgbClr val="FFFFFF"/>
                </a:solidFill>
                <a:latin typeface="Poppins"/>
                <a:ea typeface="Poppins"/>
                <a:cs typeface="Poppins"/>
                <a:sym typeface="Poppins"/>
              </a:rPr>
              <a:t>n</a:t>
            </a:r>
            <a:r>
              <a:rPr lang="en-US" sz="1728" u="none">
                <a:solidFill>
                  <a:srgbClr val="FFFFFF"/>
                </a:solidFill>
                <a:latin typeface="Poppins"/>
                <a:ea typeface="Poppins"/>
                <a:cs typeface="Poppins"/>
                <a:sym typeface="Poppins"/>
              </a:rPr>
              <a:t> </a:t>
            </a:r>
            <a:r>
              <a:rPr lang="en-US" sz="1728">
                <a:solidFill>
                  <a:srgbClr val="FFFFFF"/>
                </a:solidFill>
                <a:latin typeface="Poppins"/>
                <a:ea typeface="Poppins"/>
                <a:cs typeface="Poppins"/>
                <a:sym typeface="Poppins"/>
              </a:rPr>
              <a:t>mos</a:t>
            </a:r>
            <a:r>
              <a:rPr lang="en-US" sz="1728" u="none">
                <a:solidFill>
                  <a:srgbClr val="FFFFFF"/>
                </a:solidFill>
                <a:latin typeface="Poppins"/>
                <a:ea typeface="Poppins"/>
                <a:cs typeface="Poppins"/>
                <a:sym typeface="Poppins"/>
              </a:rPr>
              <a:t>t</a:t>
            </a:r>
            <a:r>
              <a:rPr lang="en-US" sz="1728">
                <a:solidFill>
                  <a:srgbClr val="FFFFFF"/>
                </a:solidFill>
                <a:latin typeface="Poppins"/>
                <a:ea typeface="Poppins"/>
                <a:cs typeface="Poppins"/>
                <a:sym typeface="Poppins"/>
              </a:rPr>
              <a:t> m</a:t>
            </a:r>
            <a:r>
              <a:rPr lang="en-US" sz="1728" u="none">
                <a:solidFill>
                  <a:srgbClr val="FFFFFF"/>
                </a:solidFill>
                <a:latin typeface="Poppins"/>
                <a:ea typeface="Poppins"/>
                <a:cs typeface="Poppins"/>
                <a:sym typeface="Poppins"/>
              </a:rPr>
              <a:t>o</a:t>
            </a:r>
            <a:r>
              <a:rPr lang="en-US" sz="1728">
                <a:solidFill>
                  <a:srgbClr val="FFFFFF"/>
                </a:solidFill>
                <a:latin typeface="Poppins"/>
                <a:ea typeface="Poppins"/>
                <a:cs typeface="Poppins"/>
                <a:sym typeface="Poppins"/>
              </a:rPr>
              <a:t>n</a:t>
            </a:r>
            <a:r>
              <a:rPr lang="en-US" sz="1728" u="none">
                <a:solidFill>
                  <a:srgbClr val="FFFFFF"/>
                </a:solidFill>
                <a:latin typeface="Poppins"/>
                <a:ea typeface="Poppins"/>
                <a:cs typeface="Poppins"/>
                <a:sym typeface="Poppins"/>
              </a:rPr>
              <a:t>t</a:t>
            </a:r>
            <a:r>
              <a:rPr lang="en-US" sz="1728">
                <a:solidFill>
                  <a:srgbClr val="FFFFFF"/>
                </a:solidFill>
                <a:latin typeface="Poppins"/>
                <a:ea typeface="Poppins"/>
                <a:cs typeface="Poppins"/>
                <a:sym typeface="Poppins"/>
              </a:rPr>
              <a:t>h</a:t>
            </a:r>
            <a:r>
              <a:rPr lang="en-US" sz="1728" u="none">
                <a:solidFill>
                  <a:srgbClr val="FFFFFF"/>
                </a:solidFill>
                <a:latin typeface="Poppins"/>
                <a:ea typeface="Poppins"/>
                <a:cs typeface="Poppins"/>
                <a:sym typeface="Poppins"/>
              </a:rPr>
              <a:t>s. </a:t>
            </a:r>
            <a:r>
              <a:rPr lang="en-US" sz="1728" b="true">
                <a:solidFill>
                  <a:srgbClr val="FFFFFF"/>
                </a:solidFill>
                <a:latin typeface="Poppins Bold"/>
                <a:ea typeface="Poppins Bold"/>
                <a:cs typeface="Poppins Bold"/>
                <a:sym typeface="Poppins Bold"/>
              </a:rPr>
              <a:t>TUF h</a:t>
            </a:r>
            <a:r>
              <a:rPr lang="en-US" b="true" sz="1728" u="none">
                <a:solidFill>
                  <a:srgbClr val="FFFFFF"/>
                </a:solidFill>
                <a:latin typeface="Poppins Bold"/>
                <a:ea typeface="Poppins Bold"/>
                <a:cs typeface="Poppins Bold"/>
                <a:sym typeface="Poppins Bold"/>
              </a:rPr>
              <a:t>eld t</a:t>
            </a:r>
            <a:r>
              <a:rPr lang="en-US" sz="1728" b="true">
                <a:solidFill>
                  <a:srgbClr val="FFFFFF"/>
                </a:solidFill>
                <a:latin typeface="Poppins Bold"/>
                <a:ea typeface="Poppins Bold"/>
                <a:cs typeface="Poppins Bold"/>
                <a:sym typeface="Poppins Bold"/>
              </a:rPr>
              <a:t>he second-larg</a:t>
            </a:r>
            <a:r>
              <a:rPr lang="en-US" b="true" sz="1728" u="none">
                <a:solidFill>
                  <a:srgbClr val="FFFFFF"/>
                </a:solidFill>
                <a:latin typeface="Poppins Bold"/>
                <a:ea typeface="Poppins Bold"/>
                <a:cs typeface="Poppins Bold"/>
                <a:sym typeface="Poppins Bold"/>
              </a:rPr>
              <a:t>e</a:t>
            </a:r>
            <a:r>
              <a:rPr lang="en-US" sz="1728" b="true">
                <a:solidFill>
                  <a:srgbClr val="FFFFFF"/>
                </a:solidFill>
                <a:latin typeface="Poppins Bold"/>
                <a:ea typeface="Poppins Bold"/>
                <a:cs typeface="Poppins Bold"/>
                <a:sym typeface="Poppins Bold"/>
              </a:rPr>
              <a:t>s</a:t>
            </a:r>
            <a:r>
              <a:rPr lang="en-US" b="true" sz="1728" u="none">
                <a:solidFill>
                  <a:srgbClr val="FFFFFF"/>
                </a:solidFill>
                <a:latin typeface="Poppins Bold"/>
                <a:ea typeface="Poppins Bold"/>
                <a:cs typeface="Poppins Bold"/>
                <a:sym typeface="Poppins Bold"/>
              </a:rPr>
              <a:t>t por</a:t>
            </a:r>
            <a:r>
              <a:rPr lang="en-US" sz="1728" b="true">
                <a:solidFill>
                  <a:srgbClr val="FFFFFF"/>
                </a:solidFill>
                <a:latin typeface="Poppins Bold"/>
                <a:ea typeface="Poppins Bold"/>
                <a:cs typeface="Poppins Bold"/>
                <a:sym typeface="Poppins Bold"/>
              </a:rPr>
              <a:t>t</a:t>
            </a:r>
            <a:r>
              <a:rPr lang="en-US" b="true" sz="1728" u="none">
                <a:solidFill>
                  <a:srgbClr val="FFFFFF"/>
                </a:solidFill>
                <a:latin typeface="Poppins Bold"/>
                <a:ea typeface="Poppins Bold"/>
                <a:cs typeface="Poppins Bold"/>
                <a:sym typeface="Poppins Bold"/>
              </a:rPr>
              <a:t>i</a:t>
            </a:r>
            <a:r>
              <a:rPr lang="en-US" sz="1728" b="true">
                <a:solidFill>
                  <a:srgbClr val="FFFFFF"/>
                </a:solidFill>
                <a:latin typeface="Poppins Bold"/>
                <a:ea typeface="Poppins Bold"/>
                <a:cs typeface="Poppins Bold"/>
                <a:sym typeface="Poppins Bold"/>
              </a:rPr>
              <a:t>on,</a:t>
            </a:r>
            <a:r>
              <a:rPr lang="en-US" b="true" sz="1728" u="none">
                <a:solidFill>
                  <a:srgbClr val="FFFFFF"/>
                </a:solidFill>
                <a:latin typeface="Poppins Bold"/>
                <a:ea typeface="Poppins Bold"/>
                <a:cs typeface="Poppins Bold"/>
                <a:sym typeface="Poppins Bold"/>
              </a:rPr>
              <a:t> whil</a:t>
            </a:r>
            <a:r>
              <a:rPr lang="en-US" sz="1728" b="true">
                <a:solidFill>
                  <a:srgbClr val="FFFFFF"/>
                </a:solidFill>
                <a:latin typeface="Poppins Bold"/>
                <a:ea typeface="Poppins Bold"/>
                <a:cs typeface="Poppins Bold"/>
                <a:sym typeface="Poppins Bold"/>
              </a:rPr>
              <a:t>e Zephyrus</a:t>
            </a:r>
            <a:r>
              <a:rPr lang="en-US" b="true" sz="1728" u="none">
                <a:solidFill>
                  <a:srgbClr val="FFFFFF"/>
                </a:solidFill>
                <a:latin typeface="Poppins Bold"/>
                <a:ea typeface="Poppins Bold"/>
                <a:cs typeface="Poppins Bold"/>
                <a:sym typeface="Poppins Bold"/>
              </a:rPr>
              <a:t> m</a:t>
            </a:r>
            <a:r>
              <a:rPr lang="en-US" sz="1728" b="true">
                <a:solidFill>
                  <a:srgbClr val="FFFFFF"/>
                </a:solidFill>
                <a:latin typeface="Poppins Bold"/>
                <a:ea typeface="Poppins Bold"/>
                <a:cs typeface="Poppins Bold"/>
                <a:sym typeface="Poppins Bold"/>
              </a:rPr>
              <a:t>ade </a:t>
            </a:r>
            <a:r>
              <a:rPr lang="en-US" b="true" sz="1728" u="none">
                <a:solidFill>
                  <a:srgbClr val="FFFFFF"/>
                </a:solidFill>
                <a:latin typeface="Poppins Bold"/>
                <a:ea typeface="Poppins Bold"/>
                <a:cs typeface="Poppins Bold"/>
                <a:sym typeface="Poppins Bold"/>
              </a:rPr>
              <a:t>u</a:t>
            </a:r>
            <a:r>
              <a:rPr lang="en-US" sz="1728" b="true">
                <a:solidFill>
                  <a:srgbClr val="FFFFFF"/>
                </a:solidFill>
                <a:latin typeface="Poppins Bold"/>
                <a:ea typeface="Poppins Bold"/>
                <a:cs typeface="Poppins Bold"/>
                <a:sym typeface="Poppins Bold"/>
              </a:rPr>
              <a:t>p </a:t>
            </a:r>
            <a:r>
              <a:rPr lang="en-US" b="true" sz="1728" u="none">
                <a:solidFill>
                  <a:srgbClr val="FFFFFF"/>
                </a:solidFill>
                <a:latin typeface="Poppins Bold"/>
                <a:ea typeface="Poppins Bold"/>
                <a:cs typeface="Poppins Bold"/>
                <a:sym typeface="Poppins Bold"/>
              </a:rPr>
              <a:t>t</a:t>
            </a:r>
            <a:r>
              <a:rPr lang="en-US" sz="1728" b="true">
                <a:solidFill>
                  <a:srgbClr val="FFFFFF"/>
                </a:solidFill>
                <a:latin typeface="Poppins Bold"/>
                <a:ea typeface="Poppins Bold"/>
                <a:cs typeface="Poppins Bold"/>
                <a:sym typeface="Poppins Bold"/>
              </a:rPr>
              <a:t>h</a:t>
            </a:r>
            <a:r>
              <a:rPr lang="en-US" b="true" sz="1728" u="none">
                <a:solidFill>
                  <a:srgbClr val="FFFFFF"/>
                </a:solidFill>
                <a:latin typeface="Poppins Bold"/>
                <a:ea typeface="Poppins Bold"/>
                <a:cs typeface="Poppins Bold"/>
                <a:sym typeface="Poppins Bold"/>
              </a:rPr>
              <a:t>e s</a:t>
            </a:r>
            <a:r>
              <a:rPr lang="en-US" sz="1728" b="true">
                <a:solidFill>
                  <a:srgbClr val="FFFFFF"/>
                </a:solidFill>
                <a:latin typeface="Poppins Bold"/>
                <a:ea typeface="Poppins Bold"/>
                <a:cs typeface="Poppins Bold"/>
                <a:sym typeface="Poppins Bold"/>
              </a:rPr>
              <a:t>m</a:t>
            </a:r>
            <a:r>
              <a:rPr lang="en-US" b="true" sz="1728" u="none">
                <a:solidFill>
                  <a:srgbClr val="FFFFFF"/>
                </a:solidFill>
                <a:latin typeface="Poppins Bold"/>
                <a:ea typeface="Poppins Bold"/>
                <a:cs typeface="Poppins Bold"/>
                <a:sym typeface="Poppins Bold"/>
              </a:rPr>
              <a:t>a</a:t>
            </a:r>
            <a:r>
              <a:rPr lang="en-US" sz="1728" b="true">
                <a:solidFill>
                  <a:srgbClr val="FFFFFF"/>
                </a:solidFill>
                <a:latin typeface="Poppins Bold"/>
                <a:ea typeface="Poppins Bold"/>
                <a:cs typeface="Poppins Bold"/>
                <a:sym typeface="Poppins Bold"/>
              </a:rPr>
              <a:t>l</a:t>
            </a:r>
            <a:r>
              <a:rPr lang="en-US" b="true" sz="1728" u="none">
                <a:solidFill>
                  <a:srgbClr val="FFFFFF"/>
                </a:solidFill>
                <a:latin typeface="Poppins Bold"/>
                <a:ea typeface="Poppins Bold"/>
                <a:cs typeface="Poppins Bold"/>
                <a:sym typeface="Poppins Bold"/>
              </a:rPr>
              <a:t>les</a:t>
            </a:r>
            <a:r>
              <a:rPr lang="en-US" sz="1728" b="true">
                <a:solidFill>
                  <a:srgbClr val="FFFFFF"/>
                </a:solidFill>
                <a:latin typeface="Poppins Bold"/>
                <a:ea typeface="Poppins Bold"/>
                <a:cs typeface="Poppins Bold"/>
                <a:sym typeface="Poppins Bold"/>
              </a:rPr>
              <a:t>t</a:t>
            </a:r>
            <a:r>
              <a:rPr lang="en-US" b="true" sz="1728" u="none">
                <a:solidFill>
                  <a:srgbClr val="FFFFFF"/>
                </a:solidFill>
                <a:latin typeface="Poppins Bold"/>
                <a:ea typeface="Poppins Bold"/>
                <a:cs typeface="Poppins Bold"/>
                <a:sym typeface="Poppins Bold"/>
              </a:rPr>
              <a:t> </a:t>
            </a:r>
            <a:r>
              <a:rPr lang="en-US" sz="1728" b="true">
                <a:solidFill>
                  <a:srgbClr val="FFFFFF"/>
                </a:solidFill>
                <a:latin typeface="Poppins Bold"/>
                <a:ea typeface="Poppins Bold"/>
                <a:cs typeface="Poppins Bold"/>
                <a:sym typeface="Poppins Bold"/>
              </a:rPr>
              <a:t>sha</a:t>
            </a:r>
            <a:r>
              <a:rPr lang="en-US" b="true" sz="1728" u="none">
                <a:solidFill>
                  <a:srgbClr val="FFFFFF"/>
                </a:solidFill>
                <a:latin typeface="Poppins Bold"/>
                <a:ea typeface="Poppins Bold"/>
                <a:cs typeface="Poppins Bold"/>
                <a:sym typeface="Poppins Bold"/>
              </a:rPr>
              <a:t>re th</a:t>
            </a:r>
            <a:r>
              <a:rPr lang="en-US" sz="1728" b="true">
                <a:solidFill>
                  <a:srgbClr val="FFFFFF"/>
                </a:solidFill>
                <a:latin typeface="Poppins Bold"/>
                <a:ea typeface="Poppins Bold"/>
                <a:cs typeface="Poppins Bold"/>
                <a:sym typeface="Poppins Bold"/>
              </a:rPr>
              <a:t>rou</a:t>
            </a:r>
            <a:r>
              <a:rPr lang="en-US" b="true" sz="1728" u="none">
                <a:solidFill>
                  <a:srgbClr val="FFFFFF"/>
                </a:solidFill>
                <a:latin typeface="Poppins Bold"/>
                <a:ea typeface="Poppins Bold"/>
                <a:cs typeface="Poppins Bold"/>
                <a:sym typeface="Poppins Bold"/>
              </a:rPr>
              <a:t>gh</a:t>
            </a:r>
            <a:r>
              <a:rPr lang="en-US" sz="1728" b="true">
                <a:solidFill>
                  <a:srgbClr val="FFFFFF"/>
                </a:solidFill>
                <a:latin typeface="Poppins Bold"/>
                <a:ea typeface="Poppins Bold"/>
                <a:cs typeface="Poppins Bold"/>
                <a:sym typeface="Poppins Bold"/>
              </a:rPr>
              <a:t>out th</a:t>
            </a:r>
            <a:r>
              <a:rPr lang="en-US" b="true" sz="1728" u="none">
                <a:solidFill>
                  <a:srgbClr val="FFFFFF"/>
                </a:solidFill>
                <a:latin typeface="Poppins Bold"/>
                <a:ea typeface="Poppins Bold"/>
                <a:cs typeface="Poppins Bold"/>
                <a:sym typeface="Poppins Bold"/>
              </a:rPr>
              <a:t>e </a:t>
            </a:r>
            <a:r>
              <a:rPr lang="en-US" sz="1728" b="true">
                <a:solidFill>
                  <a:srgbClr val="FFFFFF"/>
                </a:solidFill>
                <a:latin typeface="Poppins Bold"/>
                <a:ea typeface="Poppins Bold"/>
                <a:cs typeface="Poppins Bold"/>
                <a:sym typeface="Poppins Bold"/>
              </a:rPr>
              <a:t>yea</a:t>
            </a:r>
            <a:r>
              <a:rPr lang="en-US" b="true" sz="1728" u="none">
                <a:solidFill>
                  <a:srgbClr val="FFFFFF"/>
                </a:solidFill>
                <a:latin typeface="Poppins Bold"/>
                <a:ea typeface="Poppins Bold"/>
                <a:cs typeface="Poppins Bold"/>
                <a:sym typeface="Poppins Bold"/>
              </a:rPr>
              <a:t>r</a:t>
            </a:r>
            <a:r>
              <a:rPr lang="en-US" sz="1728" b="true">
                <a:solidFill>
                  <a:srgbClr val="FFFFFF"/>
                </a:solidFill>
                <a:latin typeface="Poppins Bold"/>
                <a:ea typeface="Poppins Bold"/>
                <a:cs typeface="Poppins Bold"/>
                <a:sym typeface="Poppins Bold"/>
              </a:rPr>
              <a:t>.</a:t>
            </a:r>
            <a:r>
              <a:rPr lang="en-US" sz="1728">
                <a:solidFill>
                  <a:srgbClr val="FFFFFF"/>
                </a:solidFill>
                <a:latin typeface="Poppins"/>
                <a:ea typeface="Poppins"/>
                <a:cs typeface="Poppins"/>
                <a:sym typeface="Poppins"/>
              </a:rPr>
              <a:t> This chart</a:t>
            </a:r>
            <a:r>
              <a:rPr lang="en-US" sz="1728" u="none">
                <a:solidFill>
                  <a:srgbClr val="FFFFFF"/>
                </a:solidFill>
                <a:latin typeface="Poppins"/>
                <a:ea typeface="Poppins"/>
                <a:cs typeface="Poppins"/>
                <a:sym typeface="Poppins"/>
              </a:rPr>
              <a:t> </a:t>
            </a:r>
            <a:r>
              <a:rPr lang="en-US" sz="1728">
                <a:solidFill>
                  <a:srgbClr val="FFFFFF"/>
                </a:solidFill>
                <a:latin typeface="Poppins"/>
                <a:ea typeface="Poppins"/>
                <a:cs typeface="Poppins"/>
                <a:sym typeface="Poppins"/>
              </a:rPr>
              <a:t>emphasises</a:t>
            </a:r>
            <a:r>
              <a:rPr lang="en-US" sz="1728" u="none">
                <a:solidFill>
                  <a:srgbClr val="FFFFFF"/>
                </a:solidFill>
                <a:latin typeface="Poppins"/>
                <a:ea typeface="Poppins"/>
                <a:cs typeface="Poppins"/>
                <a:sym typeface="Poppins"/>
              </a:rPr>
              <a:t> ROG's dominance</a:t>
            </a:r>
            <a:r>
              <a:rPr lang="en-US" sz="1728">
                <a:solidFill>
                  <a:srgbClr val="FFFFFF"/>
                </a:solidFill>
                <a:latin typeface="Poppins"/>
                <a:ea typeface="Poppins"/>
                <a:cs typeface="Poppins"/>
                <a:sym typeface="Poppins"/>
              </a:rPr>
              <a:t> in sal</a:t>
            </a:r>
            <a:r>
              <a:rPr lang="en-US" sz="1728" u="none">
                <a:solidFill>
                  <a:srgbClr val="FFFFFF"/>
                </a:solidFill>
                <a:latin typeface="Poppins"/>
                <a:ea typeface="Poppins"/>
                <a:cs typeface="Poppins"/>
                <a:sym typeface="Poppins"/>
              </a:rPr>
              <a:t>es performance.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165068" y="4099645"/>
            <a:ext cx="2146322" cy="5716603"/>
            <a:chOff x="0" y="0"/>
            <a:chExt cx="988714" cy="2633382"/>
          </a:xfrm>
        </p:grpSpPr>
        <p:sp>
          <p:nvSpPr>
            <p:cNvPr name="Freeform 3" id="3"/>
            <p:cNvSpPr/>
            <p:nvPr/>
          </p:nvSpPr>
          <p:spPr>
            <a:xfrm flipH="false" flipV="false" rot="0">
              <a:off x="0" y="0"/>
              <a:ext cx="988714" cy="2633382"/>
            </a:xfrm>
            <a:custGeom>
              <a:avLst/>
              <a:gdLst/>
              <a:ahLst/>
              <a:cxnLst/>
              <a:rect r="r" b="b" t="t" l="l"/>
              <a:pathLst>
                <a:path h="2633382" w="988714">
                  <a:moveTo>
                    <a:pt x="90177" y="0"/>
                  </a:moveTo>
                  <a:lnTo>
                    <a:pt x="898538" y="0"/>
                  </a:lnTo>
                  <a:cubicBezTo>
                    <a:pt x="948341" y="0"/>
                    <a:pt x="988714" y="40373"/>
                    <a:pt x="988714" y="90177"/>
                  </a:cubicBezTo>
                  <a:lnTo>
                    <a:pt x="988714" y="2543205"/>
                  </a:lnTo>
                  <a:cubicBezTo>
                    <a:pt x="988714" y="2567122"/>
                    <a:pt x="979214" y="2590059"/>
                    <a:pt x="962302" y="2606970"/>
                  </a:cubicBezTo>
                  <a:cubicBezTo>
                    <a:pt x="945391" y="2623881"/>
                    <a:pt x="922454" y="2633382"/>
                    <a:pt x="898538" y="2633382"/>
                  </a:cubicBezTo>
                  <a:lnTo>
                    <a:pt x="90177" y="2633382"/>
                  </a:lnTo>
                  <a:cubicBezTo>
                    <a:pt x="66260" y="2633382"/>
                    <a:pt x="43323" y="2623881"/>
                    <a:pt x="26412" y="2606970"/>
                  </a:cubicBezTo>
                  <a:cubicBezTo>
                    <a:pt x="9501" y="2590059"/>
                    <a:pt x="0" y="2567122"/>
                    <a:pt x="0" y="2543205"/>
                  </a:cubicBezTo>
                  <a:lnTo>
                    <a:pt x="0" y="90177"/>
                  </a:lnTo>
                  <a:cubicBezTo>
                    <a:pt x="0" y="66260"/>
                    <a:pt x="9501" y="43323"/>
                    <a:pt x="26412" y="26412"/>
                  </a:cubicBezTo>
                  <a:cubicBezTo>
                    <a:pt x="43323" y="9501"/>
                    <a:pt x="66260" y="0"/>
                    <a:pt x="90177" y="0"/>
                  </a:cubicBezTo>
                  <a:close/>
                </a:path>
              </a:pathLst>
            </a:custGeom>
            <a:solidFill>
              <a:srgbClr val="2A3066">
                <a:alpha val="55686"/>
              </a:srgbClr>
            </a:solidFill>
          </p:spPr>
        </p:sp>
        <p:sp>
          <p:nvSpPr>
            <p:cNvPr name="TextBox 4" id="4"/>
            <p:cNvSpPr txBox="true"/>
            <p:nvPr/>
          </p:nvSpPr>
          <p:spPr>
            <a:xfrm>
              <a:off x="0" y="-66675"/>
              <a:ext cx="988714" cy="2700057"/>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5" id="5"/>
          <p:cNvGrpSpPr/>
          <p:nvPr/>
        </p:nvGrpSpPr>
        <p:grpSpPr>
          <a:xfrm rot="0">
            <a:off x="2165068" y="1910015"/>
            <a:ext cx="14047391" cy="1932455"/>
            <a:chOff x="0" y="0"/>
            <a:chExt cx="4624740" cy="636211"/>
          </a:xfrm>
        </p:grpSpPr>
        <p:sp>
          <p:nvSpPr>
            <p:cNvPr name="Freeform 6" id="6"/>
            <p:cNvSpPr/>
            <p:nvPr/>
          </p:nvSpPr>
          <p:spPr>
            <a:xfrm flipH="false" flipV="false" rot="0">
              <a:off x="0" y="0"/>
              <a:ext cx="4624740" cy="636211"/>
            </a:xfrm>
            <a:custGeom>
              <a:avLst/>
              <a:gdLst/>
              <a:ahLst/>
              <a:cxnLst/>
              <a:rect r="r" b="b" t="t" l="l"/>
              <a:pathLst>
                <a:path h="636211" w="4624740">
                  <a:moveTo>
                    <a:pt x="13778" y="0"/>
                  </a:moveTo>
                  <a:lnTo>
                    <a:pt x="4610962" y="0"/>
                  </a:lnTo>
                  <a:cubicBezTo>
                    <a:pt x="4614616" y="0"/>
                    <a:pt x="4618121" y="1452"/>
                    <a:pt x="4620705" y="4036"/>
                  </a:cubicBezTo>
                  <a:cubicBezTo>
                    <a:pt x="4623289" y="6619"/>
                    <a:pt x="4624740" y="10124"/>
                    <a:pt x="4624740" y="13778"/>
                  </a:cubicBezTo>
                  <a:lnTo>
                    <a:pt x="4624740" y="622433"/>
                  </a:lnTo>
                  <a:cubicBezTo>
                    <a:pt x="4624740" y="626087"/>
                    <a:pt x="4623289" y="629591"/>
                    <a:pt x="4620705" y="632175"/>
                  </a:cubicBezTo>
                  <a:cubicBezTo>
                    <a:pt x="4618121" y="634759"/>
                    <a:pt x="4614616" y="636211"/>
                    <a:pt x="4610962" y="636211"/>
                  </a:cubicBezTo>
                  <a:lnTo>
                    <a:pt x="13778" y="636211"/>
                  </a:lnTo>
                  <a:cubicBezTo>
                    <a:pt x="10124" y="636211"/>
                    <a:pt x="6619" y="634759"/>
                    <a:pt x="4036" y="632175"/>
                  </a:cubicBezTo>
                  <a:cubicBezTo>
                    <a:pt x="1452" y="629591"/>
                    <a:pt x="0" y="626087"/>
                    <a:pt x="0" y="622433"/>
                  </a:cubicBezTo>
                  <a:lnTo>
                    <a:pt x="0" y="13778"/>
                  </a:lnTo>
                  <a:cubicBezTo>
                    <a:pt x="0" y="10124"/>
                    <a:pt x="1452" y="6619"/>
                    <a:pt x="4036" y="4036"/>
                  </a:cubicBezTo>
                  <a:cubicBezTo>
                    <a:pt x="6619" y="1452"/>
                    <a:pt x="10124" y="0"/>
                    <a:pt x="13778" y="0"/>
                  </a:cubicBezTo>
                  <a:close/>
                </a:path>
              </a:pathLst>
            </a:custGeom>
            <a:solidFill>
              <a:srgbClr val="2A3066">
                <a:alpha val="55686"/>
              </a:srgbClr>
            </a:solidFill>
          </p:spPr>
        </p:sp>
        <p:sp>
          <p:nvSpPr>
            <p:cNvPr name="TextBox 7" id="7"/>
            <p:cNvSpPr txBox="true"/>
            <p:nvPr/>
          </p:nvSpPr>
          <p:spPr>
            <a:xfrm>
              <a:off x="0" y="-66675"/>
              <a:ext cx="4624740" cy="70288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8" id="8"/>
          <p:cNvSpPr/>
          <p:nvPr/>
        </p:nvSpPr>
        <p:spPr>
          <a:xfrm flipH="false" flipV="false" rot="0">
            <a:off x="1833345" y="998551"/>
            <a:ext cx="663447" cy="649625"/>
          </a:xfrm>
          <a:custGeom>
            <a:avLst/>
            <a:gdLst/>
            <a:ahLst/>
            <a:cxnLst/>
            <a:rect r="r" b="b" t="t" l="l"/>
            <a:pathLst>
              <a:path h="649625" w="663447">
                <a:moveTo>
                  <a:pt x="0" y="0"/>
                </a:moveTo>
                <a:lnTo>
                  <a:pt x="663447" y="0"/>
                </a:lnTo>
                <a:lnTo>
                  <a:pt x="663447" y="649625"/>
                </a:lnTo>
                <a:lnTo>
                  <a:pt x="0" y="649625"/>
                </a:lnTo>
                <a:lnTo>
                  <a:pt x="0" y="0"/>
                </a:lnTo>
                <a:close/>
              </a:path>
            </a:pathLst>
          </a:custGeom>
          <a:blipFill>
            <a:blip r:embed="rId3"/>
            <a:stretch>
              <a:fillRect l="0" t="0" r="0" b="0"/>
            </a:stretch>
          </a:blipFill>
        </p:spPr>
      </p:sp>
      <p:sp>
        <p:nvSpPr>
          <p:cNvPr name="Freeform 9" id="9"/>
          <p:cNvSpPr/>
          <p:nvPr/>
        </p:nvSpPr>
        <p:spPr>
          <a:xfrm flipH="false" flipV="false" rot="0">
            <a:off x="2308120" y="4207753"/>
            <a:ext cx="1860220" cy="5399175"/>
          </a:xfrm>
          <a:custGeom>
            <a:avLst/>
            <a:gdLst/>
            <a:ahLst/>
            <a:cxnLst/>
            <a:rect r="r" b="b" t="t" l="l"/>
            <a:pathLst>
              <a:path h="5399175" w="1860220">
                <a:moveTo>
                  <a:pt x="0" y="0"/>
                </a:moveTo>
                <a:lnTo>
                  <a:pt x="1860220" y="0"/>
                </a:lnTo>
                <a:lnTo>
                  <a:pt x="1860220" y="5399175"/>
                </a:lnTo>
                <a:lnTo>
                  <a:pt x="0" y="5399175"/>
                </a:lnTo>
                <a:lnTo>
                  <a:pt x="0" y="0"/>
                </a:lnTo>
                <a:close/>
              </a:path>
            </a:pathLst>
          </a:custGeom>
          <a:blipFill>
            <a:blip r:embed="rId4"/>
            <a:stretch>
              <a:fillRect l="0" t="0" r="0" b="0"/>
            </a:stretch>
          </a:blipFill>
        </p:spPr>
      </p:sp>
      <p:grpSp>
        <p:nvGrpSpPr>
          <p:cNvPr name="Group 10" id="10"/>
          <p:cNvGrpSpPr/>
          <p:nvPr/>
        </p:nvGrpSpPr>
        <p:grpSpPr>
          <a:xfrm rot="0">
            <a:off x="6997678" y="4157146"/>
            <a:ext cx="2146322" cy="5716603"/>
            <a:chOff x="0" y="0"/>
            <a:chExt cx="988714" cy="2633382"/>
          </a:xfrm>
        </p:grpSpPr>
        <p:sp>
          <p:nvSpPr>
            <p:cNvPr name="Freeform 11" id="11"/>
            <p:cNvSpPr/>
            <p:nvPr/>
          </p:nvSpPr>
          <p:spPr>
            <a:xfrm flipH="false" flipV="false" rot="0">
              <a:off x="0" y="0"/>
              <a:ext cx="988714" cy="2633382"/>
            </a:xfrm>
            <a:custGeom>
              <a:avLst/>
              <a:gdLst/>
              <a:ahLst/>
              <a:cxnLst/>
              <a:rect r="r" b="b" t="t" l="l"/>
              <a:pathLst>
                <a:path h="2633382" w="988714">
                  <a:moveTo>
                    <a:pt x="90177" y="0"/>
                  </a:moveTo>
                  <a:lnTo>
                    <a:pt x="898538" y="0"/>
                  </a:lnTo>
                  <a:cubicBezTo>
                    <a:pt x="948341" y="0"/>
                    <a:pt x="988714" y="40373"/>
                    <a:pt x="988714" y="90177"/>
                  </a:cubicBezTo>
                  <a:lnTo>
                    <a:pt x="988714" y="2543205"/>
                  </a:lnTo>
                  <a:cubicBezTo>
                    <a:pt x="988714" y="2567122"/>
                    <a:pt x="979214" y="2590059"/>
                    <a:pt x="962302" y="2606970"/>
                  </a:cubicBezTo>
                  <a:cubicBezTo>
                    <a:pt x="945391" y="2623881"/>
                    <a:pt x="922454" y="2633382"/>
                    <a:pt x="898538" y="2633382"/>
                  </a:cubicBezTo>
                  <a:lnTo>
                    <a:pt x="90177" y="2633382"/>
                  </a:lnTo>
                  <a:cubicBezTo>
                    <a:pt x="66260" y="2633382"/>
                    <a:pt x="43323" y="2623881"/>
                    <a:pt x="26412" y="2606970"/>
                  </a:cubicBezTo>
                  <a:cubicBezTo>
                    <a:pt x="9501" y="2590059"/>
                    <a:pt x="0" y="2567122"/>
                    <a:pt x="0" y="2543205"/>
                  </a:cubicBezTo>
                  <a:lnTo>
                    <a:pt x="0" y="90177"/>
                  </a:lnTo>
                  <a:cubicBezTo>
                    <a:pt x="0" y="66260"/>
                    <a:pt x="9501" y="43323"/>
                    <a:pt x="26412" y="26412"/>
                  </a:cubicBezTo>
                  <a:cubicBezTo>
                    <a:pt x="43323" y="9501"/>
                    <a:pt x="66260" y="0"/>
                    <a:pt x="90177" y="0"/>
                  </a:cubicBezTo>
                  <a:close/>
                </a:path>
              </a:pathLst>
            </a:custGeom>
            <a:solidFill>
              <a:srgbClr val="2A3066">
                <a:alpha val="55686"/>
              </a:srgbClr>
            </a:solidFill>
          </p:spPr>
        </p:sp>
        <p:sp>
          <p:nvSpPr>
            <p:cNvPr name="TextBox 12" id="12"/>
            <p:cNvSpPr txBox="true"/>
            <p:nvPr/>
          </p:nvSpPr>
          <p:spPr>
            <a:xfrm>
              <a:off x="0" y="-66675"/>
              <a:ext cx="988714" cy="2700057"/>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13" id="13"/>
          <p:cNvGrpSpPr/>
          <p:nvPr/>
        </p:nvGrpSpPr>
        <p:grpSpPr>
          <a:xfrm rot="0">
            <a:off x="11821855" y="4207753"/>
            <a:ext cx="2146322" cy="5716603"/>
            <a:chOff x="0" y="0"/>
            <a:chExt cx="988714" cy="2633382"/>
          </a:xfrm>
        </p:grpSpPr>
        <p:sp>
          <p:nvSpPr>
            <p:cNvPr name="Freeform 14" id="14"/>
            <p:cNvSpPr/>
            <p:nvPr/>
          </p:nvSpPr>
          <p:spPr>
            <a:xfrm flipH="false" flipV="false" rot="0">
              <a:off x="0" y="0"/>
              <a:ext cx="988714" cy="2633382"/>
            </a:xfrm>
            <a:custGeom>
              <a:avLst/>
              <a:gdLst/>
              <a:ahLst/>
              <a:cxnLst/>
              <a:rect r="r" b="b" t="t" l="l"/>
              <a:pathLst>
                <a:path h="2633382" w="988714">
                  <a:moveTo>
                    <a:pt x="90177" y="0"/>
                  </a:moveTo>
                  <a:lnTo>
                    <a:pt x="898538" y="0"/>
                  </a:lnTo>
                  <a:cubicBezTo>
                    <a:pt x="948341" y="0"/>
                    <a:pt x="988714" y="40373"/>
                    <a:pt x="988714" y="90177"/>
                  </a:cubicBezTo>
                  <a:lnTo>
                    <a:pt x="988714" y="2543205"/>
                  </a:lnTo>
                  <a:cubicBezTo>
                    <a:pt x="988714" y="2567122"/>
                    <a:pt x="979214" y="2590059"/>
                    <a:pt x="962302" y="2606970"/>
                  </a:cubicBezTo>
                  <a:cubicBezTo>
                    <a:pt x="945391" y="2623881"/>
                    <a:pt x="922454" y="2633382"/>
                    <a:pt x="898538" y="2633382"/>
                  </a:cubicBezTo>
                  <a:lnTo>
                    <a:pt x="90177" y="2633382"/>
                  </a:lnTo>
                  <a:cubicBezTo>
                    <a:pt x="66260" y="2633382"/>
                    <a:pt x="43323" y="2623881"/>
                    <a:pt x="26412" y="2606970"/>
                  </a:cubicBezTo>
                  <a:cubicBezTo>
                    <a:pt x="9501" y="2590059"/>
                    <a:pt x="0" y="2567122"/>
                    <a:pt x="0" y="2543205"/>
                  </a:cubicBezTo>
                  <a:lnTo>
                    <a:pt x="0" y="90177"/>
                  </a:lnTo>
                  <a:cubicBezTo>
                    <a:pt x="0" y="66260"/>
                    <a:pt x="9501" y="43323"/>
                    <a:pt x="26412" y="26412"/>
                  </a:cubicBezTo>
                  <a:cubicBezTo>
                    <a:pt x="43323" y="9501"/>
                    <a:pt x="66260" y="0"/>
                    <a:pt x="90177" y="0"/>
                  </a:cubicBezTo>
                  <a:close/>
                </a:path>
              </a:pathLst>
            </a:custGeom>
            <a:solidFill>
              <a:srgbClr val="2A3066">
                <a:alpha val="55686"/>
              </a:srgbClr>
            </a:solidFill>
          </p:spPr>
        </p:sp>
        <p:sp>
          <p:nvSpPr>
            <p:cNvPr name="TextBox 15" id="15"/>
            <p:cNvSpPr txBox="true"/>
            <p:nvPr/>
          </p:nvSpPr>
          <p:spPr>
            <a:xfrm>
              <a:off x="0" y="-66675"/>
              <a:ext cx="988714" cy="2700057"/>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16" id="16"/>
          <p:cNvSpPr/>
          <p:nvPr/>
        </p:nvSpPr>
        <p:spPr>
          <a:xfrm flipH="false" flipV="false" rot="0">
            <a:off x="7153442" y="4315860"/>
            <a:ext cx="1834794" cy="5399175"/>
          </a:xfrm>
          <a:custGeom>
            <a:avLst/>
            <a:gdLst/>
            <a:ahLst/>
            <a:cxnLst/>
            <a:rect r="r" b="b" t="t" l="l"/>
            <a:pathLst>
              <a:path h="5399175" w="1834794">
                <a:moveTo>
                  <a:pt x="0" y="0"/>
                </a:moveTo>
                <a:lnTo>
                  <a:pt x="1834794" y="0"/>
                </a:lnTo>
                <a:lnTo>
                  <a:pt x="1834794" y="5399175"/>
                </a:lnTo>
                <a:lnTo>
                  <a:pt x="0" y="5399175"/>
                </a:lnTo>
                <a:lnTo>
                  <a:pt x="0" y="0"/>
                </a:lnTo>
                <a:close/>
              </a:path>
            </a:pathLst>
          </a:custGeom>
          <a:blipFill>
            <a:blip r:embed="rId5"/>
            <a:stretch>
              <a:fillRect l="0" t="0" r="0" b="-290"/>
            </a:stretch>
          </a:blipFill>
        </p:spPr>
      </p:sp>
      <p:sp>
        <p:nvSpPr>
          <p:cNvPr name="Freeform 17" id="17"/>
          <p:cNvSpPr/>
          <p:nvPr/>
        </p:nvSpPr>
        <p:spPr>
          <a:xfrm flipH="false" flipV="false" rot="0">
            <a:off x="11986730" y="4371727"/>
            <a:ext cx="1816572" cy="5388655"/>
          </a:xfrm>
          <a:custGeom>
            <a:avLst/>
            <a:gdLst/>
            <a:ahLst/>
            <a:cxnLst/>
            <a:rect r="r" b="b" t="t" l="l"/>
            <a:pathLst>
              <a:path h="5388655" w="1816572">
                <a:moveTo>
                  <a:pt x="0" y="0"/>
                </a:moveTo>
                <a:lnTo>
                  <a:pt x="1816572" y="0"/>
                </a:lnTo>
                <a:lnTo>
                  <a:pt x="1816572" y="5388655"/>
                </a:lnTo>
                <a:lnTo>
                  <a:pt x="0" y="5388655"/>
                </a:lnTo>
                <a:lnTo>
                  <a:pt x="0" y="0"/>
                </a:lnTo>
                <a:close/>
              </a:path>
            </a:pathLst>
          </a:custGeom>
          <a:blipFill>
            <a:blip r:embed="rId6"/>
            <a:stretch>
              <a:fillRect l="0" t="0" r="0" b="0"/>
            </a:stretch>
          </a:blipFill>
        </p:spPr>
      </p:sp>
      <p:sp>
        <p:nvSpPr>
          <p:cNvPr name="Freeform 18" id="18"/>
          <p:cNvSpPr/>
          <p:nvPr/>
        </p:nvSpPr>
        <p:spPr>
          <a:xfrm flipH="false" flipV="false" rot="0">
            <a:off x="4458482" y="5138990"/>
            <a:ext cx="2265009" cy="3140394"/>
          </a:xfrm>
          <a:custGeom>
            <a:avLst/>
            <a:gdLst/>
            <a:ahLst/>
            <a:cxnLst/>
            <a:rect r="r" b="b" t="t" l="l"/>
            <a:pathLst>
              <a:path h="3140394" w="2265009">
                <a:moveTo>
                  <a:pt x="0" y="0"/>
                </a:moveTo>
                <a:lnTo>
                  <a:pt x="2265009" y="0"/>
                </a:lnTo>
                <a:lnTo>
                  <a:pt x="2265009" y="3140394"/>
                </a:lnTo>
                <a:lnTo>
                  <a:pt x="0" y="31403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9" id="19"/>
          <p:cNvSpPr txBox="true"/>
          <p:nvPr/>
        </p:nvSpPr>
        <p:spPr>
          <a:xfrm rot="0">
            <a:off x="2496792" y="1116996"/>
            <a:ext cx="5989031" cy="531180"/>
          </a:xfrm>
          <a:prstGeom prst="rect">
            <a:avLst/>
          </a:prstGeom>
        </p:spPr>
        <p:txBody>
          <a:bodyPr anchor="t" rtlCol="false" tIns="0" lIns="0" bIns="0" rIns="0">
            <a:spAutoFit/>
          </a:bodyPr>
          <a:lstStyle/>
          <a:p>
            <a:pPr algn="l">
              <a:lnSpc>
                <a:spcPts val="3892"/>
              </a:lnSpc>
              <a:spcBef>
                <a:spcPct val="0"/>
              </a:spcBef>
            </a:pPr>
            <a:r>
              <a:rPr lang="en-US" b="true" sz="3604">
                <a:solidFill>
                  <a:srgbClr val="FFFFFF"/>
                </a:solidFill>
                <a:latin typeface="Poppins Bold"/>
                <a:ea typeface="Poppins Bold"/>
                <a:cs typeface="Poppins Bold"/>
                <a:sym typeface="Poppins Bold"/>
              </a:rPr>
              <a:t>Forecasting in Orange</a:t>
            </a:r>
          </a:p>
        </p:txBody>
      </p:sp>
      <p:sp>
        <p:nvSpPr>
          <p:cNvPr name="TextBox 20" id="20"/>
          <p:cNvSpPr txBox="true"/>
          <p:nvPr/>
        </p:nvSpPr>
        <p:spPr>
          <a:xfrm rot="0">
            <a:off x="2444686" y="2070191"/>
            <a:ext cx="13488157" cy="1607439"/>
          </a:xfrm>
          <a:prstGeom prst="rect">
            <a:avLst/>
          </a:prstGeom>
        </p:spPr>
        <p:txBody>
          <a:bodyPr anchor="t" rtlCol="false" tIns="0" lIns="0" bIns="0" rIns="0">
            <a:spAutoFit/>
          </a:bodyPr>
          <a:lstStyle/>
          <a:p>
            <a:pPr algn="l">
              <a:lnSpc>
                <a:spcPts val="2537"/>
              </a:lnSpc>
              <a:spcBef>
                <a:spcPct val="0"/>
              </a:spcBef>
            </a:pPr>
            <a:r>
              <a:rPr lang="en-US" sz="2349">
                <a:solidFill>
                  <a:srgbClr val="FFFFFF"/>
                </a:solidFill>
                <a:latin typeface="Poppins"/>
                <a:ea typeface="Poppins"/>
                <a:cs typeface="Poppins"/>
                <a:sym typeface="Poppins"/>
              </a:rPr>
              <a:t>In Orang</a:t>
            </a:r>
            <a:r>
              <a:rPr lang="en-US" sz="2349">
                <a:solidFill>
                  <a:srgbClr val="FFFFFF"/>
                </a:solidFill>
                <a:latin typeface="Poppins"/>
                <a:ea typeface="Poppins"/>
                <a:cs typeface="Poppins"/>
                <a:sym typeface="Poppins"/>
              </a:rPr>
              <a:t>e, I performed forecasting using the ARIMA model. I first imported the sales data and converted it into a time series using the “From Time Series” widget. I then applied the ARIMA Model to forecast future values, specifically the sales rank for the next 12 months. I then evaluated the model using the model evaluation widget The forecasted values are shown in the data tables. </a:t>
            </a:r>
          </a:p>
        </p:txBody>
      </p:sp>
      <p:sp>
        <p:nvSpPr>
          <p:cNvPr name="TextBox 21" id="21"/>
          <p:cNvSpPr txBox="true"/>
          <p:nvPr/>
        </p:nvSpPr>
        <p:spPr>
          <a:xfrm rot="0">
            <a:off x="4596883" y="5305843"/>
            <a:ext cx="1988206" cy="2806688"/>
          </a:xfrm>
          <a:prstGeom prst="rect">
            <a:avLst/>
          </a:prstGeom>
        </p:spPr>
        <p:txBody>
          <a:bodyPr anchor="t" rtlCol="false" tIns="0" lIns="0" bIns="0" rIns="0">
            <a:spAutoFit/>
          </a:bodyPr>
          <a:lstStyle/>
          <a:p>
            <a:pPr algn="l">
              <a:lnSpc>
                <a:spcPts val="2045"/>
              </a:lnSpc>
            </a:pPr>
            <a:r>
              <a:rPr lang="en-US" sz="1893" i="true" b="true">
                <a:solidFill>
                  <a:srgbClr val="FFFFFF"/>
                </a:solidFill>
                <a:latin typeface="Poppins Bold Italics"/>
                <a:ea typeface="Poppins Bold Italics"/>
                <a:cs typeface="Poppins Bold Italics"/>
                <a:sym typeface="Poppins Bold Italics"/>
              </a:rPr>
              <a:t>ROG:</a:t>
            </a:r>
            <a:r>
              <a:rPr lang="en-US" sz="1893">
                <a:solidFill>
                  <a:srgbClr val="FFFFFF"/>
                </a:solidFill>
                <a:latin typeface="Poppins"/>
                <a:ea typeface="Poppins"/>
                <a:cs typeface="Poppins"/>
                <a:sym typeface="Poppins"/>
              </a:rPr>
              <a:t> The</a:t>
            </a:r>
            <a:r>
              <a:rPr lang="en-US" sz="1893">
                <a:solidFill>
                  <a:srgbClr val="FFFFFF"/>
                </a:solidFill>
                <a:latin typeface="Poppins"/>
                <a:ea typeface="Poppins"/>
                <a:cs typeface="Poppins"/>
                <a:sym typeface="Poppins"/>
              </a:rPr>
              <a:t> </a:t>
            </a:r>
            <a:r>
              <a:rPr lang="en-US" sz="1893">
                <a:solidFill>
                  <a:srgbClr val="FFFFFF"/>
                </a:solidFill>
                <a:latin typeface="Poppins"/>
                <a:ea typeface="Poppins"/>
                <a:cs typeface="Poppins"/>
                <a:sym typeface="Poppins"/>
              </a:rPr>
              <a:t>f</a:t>
            </a:r>
            <a:r>
              <a:rPr lang="en-US" sz="1893">
                <a:solidFill>
                  <a:srgbClr val="FFFFFF"/>
                </a:solidFill>
                <a:latin typeface="Poppins"/>
                <a:ea typeface="Poppins"/>
                <a:cs typeface="Poppins"/>
                <a:sym typeface="Poppins"/>
              </a:rPr>
              <a:t>o</a:t>
            </a:r>
            <a:r>
              <a:rPr lang="en-US" sz="1893">
                <a:solidFill>
                  <a:srgbClr val="FFFFFF"/>
                </a:solidFill>
                <a:latin typeface="Poppins"/>
                <a:ea typeface="Poppins"/>
                <a:cs typeface="Poppins"/>
                <a:sym typeface="Poppins"/>
              </a:rPr>
              <a:t>rec</a:t>
            </a:r>
            <a:r>
              <a:rPr lang="en-US" sz="1893">
                <a:solidFill>
                  <a:srgbClr val="FFFFFF"/>
                </a:solidFill>
                <a:latin typeface="Poppins"/>
                <a:ea typeface="Poppins"/>
                <a:cs typeface="Poppins"/>
                <a:sym typeface="Poppins"/>
              </a:rPr>
              <a:t>a</a:t>
            </a:r>
            <a:r>
              <a:rPr lang="en-US" sz="1893">
                <a:solidFill>
                  <a:srgbClr val="FFFFFF"/>
                </a:solidFill>
                <a:latin typeface="Poppins"/>
                <a:ea typeface="Poppins"/>
                <a:cs typeface="Poppins"/>
                <a:sym typeface="Poppins"/>
              </a:rPr>
              <a:t>s</a:t>
            </a:r>
            <a:r>
              <a:rPr lang="en-US" sz="1893">
                <a:solidFill>
                  <a:srgbClr val="FFFFFF"/>
                </a:solidFill>
                <a:latin typeface="Poppins"/>
                <a:ea typeface="Poppins"/>
                <a:cs typeface="Poppins"/>
                <a:sym typeface="Poppins"/>
              </a:rPr>
              <a:t>te</a:t>
            </a:r>
            <a:r>
              <a:rPr lang="en-US" sz="1893">
                <a:solidFill>
                  <a:srgbClr val="FFFFFF"/>
                </a:solidFill>
                <a:latin typeface="Poppins"/>
                <a:ea typeface="Poppins"/>
                <a:cs typeface="Poppins"/>
                <a:sym typeface="Poppins"/>
              </a:rPr>
              <a:t>d value</a:t>
            </a:r>
            <a:r>
              <a:rPr lang="en-US" sz="1893">
                <a:solidFill>
                  <a:srgbClr val="FFFFFF"/>
                </a:solidFill>
                <a:latin typeface="Poppins"/>
                <a:ea typeface="Poppins"/>
                <a:cs typeface="Poppins"/>
                <a:sym typeface="Poppins"/>
              </a:rPr>
              <a:t>s</a:t>
            </a:r>
            <a:r>
              <a:rPr lang="en-US" sz="1893">
                <a:solidFill>
                  <a:srgbClr val="FFFFFF"/>
                </a:solidFill>
                <a:latin typeface="Poppins"/>
                <a:ea typeface="Poppins"/>
                <a:cs typeface="Poppins"/>
                <a:sym typeface="Poppins"/>
              </a:rPr>
              <a:t> are shown in the data table,</a:t>
            </a:r>
            <a:r>
              <a:rPr lang="en-US" sz="1893" u="none">
                <a:solidFill>
                  <a:srgbClr val="FFFFFF"/>
                </a:solidFill>
                <a:latin typeface="Poppins"/>
                <a:ea typeface="Poppins"/>
                <a:cs typeface="Poppins"/>
                <a:sym typeface="Poppins"/>
              </a:rPr>
              <a:t> gradua</a:t>
            </a:r>
            <a:r>
              <a:rPr lang="en-US" sz="1893">
                <a:solidFill>
                  <a:srgbClr val="FFFFFF"/>
                </a:solidFill>
                <a:latin typeface="Poppins"/>
                <a:ea typeface="Poppins"/>
                <a:cs typeface="Poppins"/>
                <a:sym typeface="Poppins"/>
              </a:rPr>
              <a:t>lly increasing over</a:t>
            </a:r>
            <a:r>
              <a:rPr lang="en-US" sz="1893" u="none">
                <a:solidFill>
                  <a:srgbClr val="FFFFFF"/>
                </a:solidFill>
                <a:latin typeface="Poppins"/>
                <a:ea typeface="Poppins"/>
                <a:cs typeface="Poppins"/>
                <a:sym typeface="Poppins"/>
              </a:rPr>
              <a:t> </a:t>
            </a:r>
            <a:r>
              <a:rPr lang="en-US" sz="1893">
                <a:solidFill>
                  <a:srgbClr val="FFFFFF"/>
                </a:solidFill>
                <a:latin typeface="Poppins"/>
                <a:ea typeface="Poppins"/>
                <a:cs typeface="Poppins"/>
                <a:sym typeface="Poppins"/>
              </a:rPr>
              <a:t>time,</a:t>
            </a:r>
            <a:r>
              <a:rPr lang="en-US" sz="1893" u="none">
                <a:solidFill>
                  <a:srgbClr val="FFFFFF"/>
                </a:solidFill>
                <a:latin typeface="Poppins"/>
                <a:ea typeface="Poppins"/>
                <a:cs typeface="Poppins"/>
                <a:sym typeface="Poppins"/>
              </a:rPr>
              <a:t> </a:t>
            </a:r>
            <a:r>
              <a:rPr lang="en-US" sz="1893" u="none" b="true">
                <a:solidFill>
                  <a:srgbClr val="FFFFFF"/>
                </a:solidFill>
                <a:latin typeface="Poppins Bold"/>
                <a:ea typeface="Poppins Bold"/>
                <a:cs typeface="Poppins Bold"/>
                <a:sym typeface="Poppins Bold"/>
              </a:rPr>
              <a:t>indicatin</a:t>
            </a:r>
            <a:r>
              <a:rPr lang="en-US" sz="1893" b="true">
                <a:solidFill>
                  <a:srgbClr val="FFFFFF"/>
                </a:solidFill>
                <a:latin typeface="Poppins Bold"/>
                <a:ea typeface="Poppins Bold"/>
                <a:cs typeface="Poppins Bold"/>
                <a:sym typeface="Poppins Bold"/>
              </a:rPr>
              <a:t>g</a:t>
            </a:r>
            <a:r>
              <a:rPr lang="en-US" sz="1893" u="none" b="true">
                <a:solidFill>
                  <a:srgbClr val="FFFFFF"/>
                </a:solidFill>
                <a:latin typeface="Poppins Bold"/>
                <a:ea typeface="Poppins Bold"/>
                <a:cs typeface="Poppins Bold"/>
                <a:sym typeface="Poppins Bold"/>
              </a:rPr>
              <a:t> a</a:t>
            </a:r>
            <a:r>
              <a:rPr lang="en-US" sz="1893" b="true">
                <a:solidFill>
                  <a:srgbClr val="FFFFFF"/>
                </a:solidFill>
                <a:latin typeface="Poppins Bold"/>
                <a:ea typeface="Poppins Bold"/>
                <a:cs typeface="Poppins Bold"/>
                <a:sym typeface="Poppins Bold"/>
              </a:rPr>
              <a:t> potential decline in performance.</a:t>
            </a:r>
          </a:p>
        </p:txBody>
      </p:sp>
      <p:sp>
        <p:nvSpPr>
          <p:cNvPr name="Freeform 22" id="22"/>
          <p:cNvSpPr/>
          <p:nvPr/>
        </p:nvSpPr>
        <p:spPr>
          <a:xfrm flipH="false" flipV="false" rot="0">
            <a:off x="9286875" y="5143500"/>
            <a:ext cx="2265009" cy="3140394"/>
          </a:xfrm>
          <a:custGeom>
            <a:avLst/>
            <a:gdLst/>
            <a:ahLst/>
            <a:cxnLst/>
            <a:rect r="r" b="b" t="t" l="l"/>
            <a:pathLst>
              <a:path h="3140394" w="2265009">
                <a:moveTo>
                  <a:pt x="0" y="0"/>
                </a:moveTo>
                <a:lnTo>
                  <a:pt x="2265009" y="0"/>
                </a:lnTo>
                <a:lnTo>
                  <a:pt x="2265009" y="3140394"/>
                </a:lnTo>
                <a:lnTo>
                  <a:pt x="0" y="31403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3" id="23"/>
          <p:cNvSpPr txBox="true"/>
          <p:nvPr/>
        </p:nvSpPr>
        <p:spPr>
          <a:xfrm rot="0">
            <a:off x="9425277" y="5310353"/>
            <a:ext cx="1988206" cy="2806688"/>
          </a:xfrm>
          <a:prstGeom prst="rect">
            <a:avLst/>
          </a:prstGeom>
        </p:spPr>
        <p:txBody>
          <a:bodyPr anchor="t" rtlCol="false" tIns="0" lIns="0" bIns="0" rIns="0">
            <a:spAutoFit/>
          </a:bodyPr>
          <a:lstStyle/>
          <a:p>
            <a:pPr algn="l">
              <a:lnSpc>
                <a:spcPts val="2045"/>
              </a:lnSpc>
            </a:pPr>
            <a:r>
              <a:rPr lang="en-US" sz="1893" i="true" b="true">
                <a:solidFill>
                  <a:srgbClr val="FFFFFF"/>
                </a:solidFill>
                <a:latin typeface="Poppins Bold Italics"/>
                <a:ea typeface="Poppins Bold Italics"/>
                <a:cs typeface="Poppins Bold Italics"/>
                <a:sym typeface="Poppins Bold Italics"/>
              </a:rPr>
              <a:t>TUF:</a:t>
            </a:r>
            <a:r>
              <a:rPr lang="en-US" sz="1893">
                <a:solidFill>
                  <a:srgbClr val="FFFFFF"/>
                </a:solidFill>
                <a:latin typeface="Poppins"/>
                <a:ea typeface="Poppins"/>
                <a:cs typeface="Poppins"/>
                <a:sym typeface="Poppins"/>
              </a:rPr>
              <a:t> The values increase ste</a:t>
            </a:r>
            <a:r>
              <a:rPr lang="en-US" sz="1893" u="none">
                <a:solidFill>
                  <a:srgbClr val="FFFFFF"/>
                </a:solidFill>
                <a:latin typeface="Poppins"/>
                <a:ea typeface="Poppins"/>
                <a:cs typeface="Poppins"/>
                <a:sym typeface="Poppins"/>
              </a:rPr>
              <a:t>adi</a:t>
            </a:r>
            <a:r>
              <a:rPr lang="en-US" sz="1893">
                <a:solidFill>
                  <a:srgbClr val="FFFFFF"/>
                </a:solidFill>
                <a:latin typeface="Poppins"/>
                <a:ea typeface="Poppins"/>
                <a:cs typeface="Poppins"/>
                <a:sym typeface="Poppins"/>
              </a:rPr>
              <a:t>ly from around 16,700 to over</a:t>
            </a:r>
            <a:r>
              <a:rPr lang="en-US" sz="1893" u="none">
                <a:solidFill>
                  <a:srgbClr val="FFFFFF"/>
                </a:solidFill>
                <a:latin typeface="Poppins"/>
                <a:ea typeface="Poppins"/>
                <a:cs typeface="Poppins"/>
                <a:sym typeface="Poppins"/>
              </a:rPr>
              <a:t> 26,800</a:t>
            </a:r>
            <a:r>
              <a:rPr lang="en-US" sz="1893">
                <a:solidFill>
                  <a:srgbClr val="FFFFFF"/>
                </a:solidFill>
                <a:latin typeface="Poppins"/>
                <a:ea typeface="Poppins"/>
                <a:cs typeface="Poppins"/>
                <a:sym typeface="Poppins"/>
              </a:rPr>
              <a:t>,</a:t>
            </a:r>
            <a:r>
              <a:rPr lang="en-US" sz="1893" u="none">
                <a:solidFill>
                  <a:srgbClr val="FFFFFF"/>
                </a:solidFill>
                <a:latin typeface="Poppins"/>
                <a:ea typeface="Poppins"/>
                <a:cs typeface="Poppins"/>
                <a:sym typeface="Poppins"/>
              </a:rPr>
              <a:t> indicatin</a:t>
            </a:r>
            <a:r>
              <a:rPr lang="en-US" sz="1893">
                <a:solidFill>
                  <a:srgbClr val="FFFFFF"/>
                </a:solidFill>
                <a:latin typeface="Poppins"/>
                <a:ea typeface="Poppins"/>
                <a:cs typeface="Poppins"/>
                <a:sym typeface="Poppins"/>
              </a:rPr>
              <a:t>g</a:t>
            </a:r>
            <a:r>
              <a:rPr lang="en-US" sz="1893" u="none">
                <a:solidFill>
                  <a:srgbClr val="FFFFFF"/>
                </a:solidFill>
                <a:latin typeface="Poppins"/>
                <a:ea typeface="Poppins"/>
                <a:cs typeface="Poppins"/>
                <a:sym typeface="Poppins"/>
              </a:rPr>
              <a:t> a</a:t>
            </a:r>
            <a:r>
              <a:rPr lang="en-US" sz="1893">
                <a:solidFill>
                  <a:srgbClr val="FFFFFF"/>
                </a:solidFill>
                <a:latin typeface="Poppins"/>
                <a:ea typeface="Poppins"/>
                <a:cs typeface="Poppins"/>
                <a:sym typeface="Poppins"/>
              </a:rPr>
              <a:t> projected </a:t>
            </a:r>
            <a:r>
              <a:rPr lang="en-US" sz="1893" b="true">
                <a:solidFill>
                  <a:srgbClr val="FFFFFF"/>
                </a:solidFill>
                <a:latin typeface="Poppins Bold"/>
                <a:ea typeface="Poppins Bold"/>
                <a:cs typeface="Poppins Bold"/>
                <a:sym typeface="Poppins Bold"/>
              </a:rPr>
              <a:t>decline in performance over the next 12 months.</a:t>
            </a:r>
          </a:p>
        </p:txBody>
      </p:sp>
      <p:sp>
        <p:nvSpPr>
          <p:cNvPr name="Freeform 24" id="24"/>
          <p:cNvSpPr/>
          <p:nvPr/>
        </p:nvSpPr>
        <p:spPr>
          <a:xfrm flipH="false" flipV="false" rot="0">
            <a:off x="14111052" y="5143500"/>
            <a:ext cx="2261756" cy="3135884"/>
          </a:xfrm>
          <a:custGeom>
            <a:avLst/>
            <a:gdLst/>
            <a:ahLst/>
            <a:cxnLst/>
            <a:rect r="r" b="b" t="t" l="l"/>
            <a:pathLst>
              <a:path h="3135884" w="2261756">
                <a:moveTo>
                  <a:pt x="0" y="0"/>
                </a:moveTo>
                <a:lnTo>
                  <a:pt x="2261756" y="0"/>
                </a:lnTo>
                <a:lnTo>
                  <a:pt x="2261756" y="3135884"/>
                </a:lnTo>
                <a:lnTo>
                  <a:pt x="0" y="313588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5" id="25"/>
          <p:cNvSpPr txBox="true"/>
          <p:nvPr/>
        </p:nvSpPr>
        <p:spPr>
          <a:xfrm rot="0">
            <a:off x="14249255" y="5310113"/>
            <a:ext cx="1985351" cy="2802657"/>
          </a:xfrm>
          <a:prstGeom prst="rect">
            <a:avLst/>
          </a:prstGeom>
        </p:spPr>
        <p:txBody>
          <a:bodyPr anchor="t" rtlCol="false" tIns="0" lIns="0" bIns="0" rIns="0">
            <a:spAutoFit/>
          </a:bodyPr>
          <a:lstStyle/>
          <a:p>
            <a:pPr algn="l">
              <a:lnSpc>
                <a:spcPts val="2042"/>
              </a:lnSpc>
            </a:pPr>
            <a:r>
              <a:rPr lang="en-US" sz="1890" i="true" b="true">
                <a:solidFill>
                  <a:srgbClr val="FFFFFF"/>
                </a:solidFill>
                <a:latin typeface="Poppins Bold Italics"/>
                <a:ea typeface="Poppins Bold Italics"/>
                <a:cs typeface="Poppins Bold Italics"/>
                <a:sym typeface="Poppins Bold Italics"/>
              </a:rPr>
              <a:t>Zephyrus:</a:t>
            </a:r>
            <a:r>
              <a:rPr lang="en-US" sz="1890">
                <a:solidFill>
                  <a:srgbClr val="FFFFFF"/>
                </a:solidFill>
                <a:latin typeface="Poppins"/>
                <a:ea typeface="Poppins"/>
                <a:cs typeface="Poppins"/>
                <a:sym typeface="Poppins"/>
              </a:rPr>
              <a:t> The</a:t>
            </a:r>
            <a:r>
              <a:rPr lang="en-US" sz="1890">
                <a:solidFill>
                  <a:srgbClr val="FFFFFF"/>
                </a:solidFill>
                <a:latin typeface="Poppins"/>
                <a:ea typeface="Poppins"/>
                <a:cs typeface="Poppins"/>
                <a:sym typeface="Poppins"/>
              </a:rPr>
              <a:t> </a:t>
            </a:r>
            <a:r>
              <a:rPr lang="en-US" sz="1890">
                <a:solidFill>
                  <a:srgbClr val="FFFFFF"/>
                </a:solidFill>
                <a:latin typeface="Poppins"/>
                <a:ea typeface="Poppins"/>
                <a:cs typeface="Poppins"/>
                <a:sym typeface="Poppins"/>
              </a:rPr>
              <a:t>value</a:t>
            </a:r>
            <a:r>
              <a:rPr lang="en-US" sz="1890">
                <a:solidFill>
                  <a:srgbClr val="FFFFFF"/>
                </a:solidFill>
                <a:latin typeface="Poppins"/>
                <a:ea typeface="Poppins"/>
                <a:cs typeface="Poppins"/>
                <a:sym typeface="Poppins"/>
              </a:rPr>
              <a:t>s</a:t>
            </a:r>
            <a:r>
              <a:rPr lang="en-US" sz="1890">
                <a:solidFill>
                  <a:srgbClr val="FFFFFF"/>
                </a:solidFill>
                <a:latin typeface="Poppins"/>
                <a:ea typeface="Poppins"/>
                <a:cs typeface="Poppins"/>
                <a:sym typeface="Poppins"/>
              </a:rPr>
              <a:t> increase ste</a:t>
            </a:r>
            <a:r>
              <a:rPr lang="en-US" sz="1890" u="none">
                <a:solidFill>
                  <a:srgbClr val="FFFFFF"/>
                </a:solidFill>
                <a:latin typeface="Poppins"/>
                <a:ea typeface="Poppins"/>
                <a:cs typeface="Poppins"/>
                <a:sym typeface="Poppins"/>
              </a:rPr>
              <a:t>adi</a:t>
            </a:r>
            <a:r>
              <a:rPr lang="en-US" sz="1890">
                <a:solidFill>
                  <a:srgbClr val="FFFFFF"/>
                </a:solidFill>
                <a:latin typeface="Poppins"/>
                <a:ea typeface="Poppins"/>
                <a:cs typeface="Poppins"/>
                <a:sym typeface="Poppins"/>
              </a:rPr>
              <a:t>ly from around 25,600 to over</a:t>
            </a:r>
            <a:r>
              <a:rPr lang="en-US" sz="1890" u="none">
                <a:solidFill>
                  <a:srgbClr val="FFFFFF"/>
                </a:solidFill>
                <a:latin typeface="Poppins"/>
                <a:ea typeface="Poppins"/>
                <a:cs typeface="Poppins"/>
                <a:sym typeface="Poppins"/>
              </a:rPr>
              <a:t> 40,900</a:t>
            </a:r>
            <a:r>
              <a:rPr lang="en-US" sz="1890">
                <a:solidFill>
                  <a:srgbClr val="FFFFFF"/>
                </a:solidFill>
                <a:latin typeface="Poppins"/>
                <a:ea typeface="Poppins"/>
                <a:cs typeface="Poppins"/>
                <a:sym typeface="Poppins"/>
              </a:rPr>
              <a:t>,</a:t>
            </a:r>
            <a:r>
              <a:rPr lang="en-US" sz="1890" u="none">
                <a:solidFill>
                  <a:srgbClr val="FFFFFF"/>
                </a:solidFill>
                <a:latin typeface="Poppins"/>
                <a:ea typeface="Poppins"/>
                <a:cs typeface="Poppins"/>
                <a:sym typeface="Poppins"/>
              </a:rPr>
              <a:t> </a:t>
            </a:r>
            <a:r>
              <a:rPr lang="en-US" sz="1890" u="none">
                <a:solidFill>
                  <a:srgbClr val="FFFFFF"/>
                </a:solidFill>
                <a:latin typeface="Poppins"/>
                <a:ea typeface="Poppins"/>
                <a:cs typeface="Poppins"/>
                <a:sym typeface="Poppins"/>
              </a:rPr>
              <a:t>indicatin</a:t>
            </a:r>
            <a:r>
              <a:rPr lang="en-US" sz="1890">
                <a:solidFill>
                  <a:srgbClr val="FFFFFF"/>
                </a:solidFill>
                <a:latin typeface="Poppins"/>
                <a:ea typeface="Poppins"/>
                <a:cs typeface="Poppins"/>
                <a:sym typeface="Poppins"/>
              </a:rPr>
              <a:t>g</a:t>
            </a:r>
            <a:r>
              <a:rPr lang="en-US" sz="1890" u="none">
                <a:solidFill>
                  <a:srgbClr val="FFFFFF"/>
                </a:solidFill>
                <a:latin typeface="Poppins"/>
                <a:ea typeface="Poppins"/>
                <a:cs typeface="Poppins"/>
                <a:sym typeface="Poppins"/>
              </a:rPr>
              <a:t> a</a:t>
            </a:r>
            <a:r>
              <a:rPr lang="en-US" sz="1890">
                <a:solidFill>
                  <a:srgbClr val="FFFFFF"/>
                </a:solidFill>
                <a:latin typeface="Poppins"/>
                <a:ea typeface="Poppins"/>
                <a:cs typeface="Poppins"/>
                <a:sym typeface="Poppins"/>
              </a:rPr>
              <a:t> p</a:t>
            </a:r>
            <a:r>
              <a:rPr lang="en-US" sz="1890">
                <a:solidFill>
                  <a:srgbClr val="FFFFFF"/>
                </a:solidFill>
                <a:latin typeface="Poppins"/>
                <a:ea typeface="Poppins"/>
                <a:cs typeface="Poppins"/>
                <a:sym typeface="Poppins"/>
              </a:rPr>
              <a:t>r</a:t>
            </a:r>
            <a:r>
              <a:rPr lang="en-US" sz="1890">
                <a:solidFill>
                  <a:srgbClr val="FFFFFF"/>
                </a:solidFill>
                <a:latin typeface="Poppins"/>
                <a:ea typeface="Poppins"/>
                <a:cs typeface="Poppins"/>
                <a:sym typeface="Poppins"/>
              </a:rPr>
              <a:t>o</a:t>
            </a:r>
            <a:r>
              <a:rPr lang="en-US" sz="1890">
                <a:solidFill>
                  <a:srgbClr val="FFFFFF"/>
                </a:solidFill>
                <a:latin typeface="Poppins"/>
                <a:ea typeface="Poppins"/>
                <a:cs typeface="Poppins"/>
                <a:sym typeface="Poppins"/>
              </a:rPr>
              <a:t>j</a:t>
            </a:r>
            <a:r>
              <a:rPr lang="en-US" sz="1890">
                <a:solidFill>
                  <a:srgbClr val="FFFFFF"/>
                </a:solidFill>
                <a:latin typeface="Poppins"/>
                <a:ea typeface="Poppins"/>
                <a:cs typeface="Poppins"/>
                <a:sym typeface="Poppins"/>
              </a:rPr>
              <a:t>e</a:t>
            </a:r>
            <a:r>
              <a:rPr lang="en-US" sz="1890">
                <a:solidFill>
                  <a:srgbClr val="FFFFFF"/>
                </a:solidFill>
                <a:latin typeface="Poppins"/>
                <a:ea typeface="Poppins"/>
                <a:cs typeface="Poppins"/>
                <a:sym typeface="Poppins"/>
              </a:rPr>
              <a:t>c</a:t>
            </a:r>
            <a:r>
              <a:rPr lang="en-US" sz="1890">
                <a:solidFill>
                  <a:srgbClr val="FFFFFF"/>
                </a:solidFill>
                <a:latin typeface="Poppins"/>
                <a:ea typeface="Poppins"/>
                <a:cs typeface="Poppins"/>
                <a:sym typeface="Poppins"/>
              </a:rPr>
              <a:t>t</a:t>
            </a:r>
            <a:r>
              <a:rPr lang="en-US" sz="1890">
                <a:solidFill>
                  <a:srgbClr val="FFFFFF"/>
                </a:solidFill>
                <a:latin typeface="Poppins"/>
                <a:ea typeface="Poppins"/>
                <a:cs typeface="Poppins"/>
                <a:sym typeface="Poppins"/>
              </a:rPr>
              <a:t>ed</a:t>
            </a:r>
            <a:r>
              <a:rPr lang="en-US" sz="1890">
                <a:solidFill>
                  <a:srgbClr val="FFFFFF"/>
                </a:solidFill>
                <a:latin typeface="Poppins"/>
                <a:ea typeface="Poppins"/>
                <a:cs typeface="Poppins"/>
                <a:sym typeface="Poppins"/>
              </a:rPr>
              <a:t> </a:t>
            </a:r>
            <a:r>
              <a:rPr lang="en-US" sz="1890" b="true">
                <a:solidFill>
                  <a:srgbClr val="FFFFFF"/>
                </a:solidFill>
                <a:latin typeface="Poppins Bold"/>
                <a:ea typeface="Poppins Bold"/>
                <a:cs typeface="Poppins Bold"/>
                <a:sym typeface="Poppins Bold"/>
              </a:rPr>
              <a:t>decline in performance over the next 12 months.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165068" y="4620605"/>
            <a:ext cx="8396304" cy="1541062"/>
            <a:chOff x="0" y="0"/>
            <a:chExt cx="3867800" cy="709898"/>
          </a:xfrm>
        </p:grpSpPr>
        <p:sp>
          <p:nvSpPr>
            <p:cNvPr name="Freeform 3" id="3"/>
            <p:cNvSpPr/>
            <p:nvPr/>
          </p:nvSpPr>
          <p:spPr>
            <a:xfrm flipH="false" flipV="false" rot="0">
              <a:off x="0" y="0"/>
              <a:ext cx="3867800" cy="709898"/>
            </a:xfrm>
            <a:custGeom>
              <a:avLst/>
              <a:gdLst/>
              <a:ahLst/>
              <a:cxnLst/>
              <a:rect r="r" b="b" t="t" l="l"/>
              <a:pathLst>
                <a:path h="709898" w="3867800">
                  <a:moveTo>
                    <a:pt x="23052" y="0"/>
                  </a:moveTo>
                  <a:lnTo>
                    <a:pt x="3844748" y="0"/>
                  </a:lnTo>
                  <a:cubicBezTo>
                    <a:pt x="3857479" y="0"/>
                    <a:pt x="3867800" y="10321"/>
                    <a:pt x="3867800" y="23052"/>
                  </a:cubicBezTo>
                  <a:lnTo>
                    <a:pt x="3867800" y="686846"/>
                  </a:lnTo>
                  <a:cubicBezTo>
                    <a:pt x="3867800" y="699577"/>
                    <a:pt x="3857479" y="709898"/>
                    <a:pt x="3844748" y="709898"/>
                  </a:cubicBezTo>
                  <a:lnTo>
                    <a:pt x="23052" y="709898"/>
                  </a:lnTo>
                  <a:cubicBezTo>
                    <a:pt x="16938" y="709898"/>
                    <a:pt x="11075" y="707469"/>
                    <a:pt x="6752" y="703146"/>
                  </a:cubicBezTo>
                  <a:cubicBezTo>
                    <a:pt x="2429" y="698823"/>
                    <a:pt x="0" y="692960"/>
                    <a:pt x="0" y="686846"/>
                  </a:cubicBezTo>
                  <a:lnTo>
                    <a:pt x="0" y="23052"/>
                  </a:lnTo>
                  <a:cubicBezTo>
                    <a:pt x="0" y="10321"/>
                    <a:pt x="10321" y="0"/>
                    <a:pt x="23052" y="0"/>
                  </a:cubicBezTo>
                  <a:close/>
                </a:path>
              </a:pathLst>
            </a:custGeom>
            <a:solidFill>
              <a:srgbClr val="2A3066">
                <a:alpha val="55686"/>
              </a:srgbClr>
            </a:solidFill>
          </p:spPr>
        </p:sp>
        <p:sp>
          <p:nvSpPr>
            <p:cNvPr name="TextBox 4" id="4"/>
            <p:cNvSpPr txBox="true"/>
            <p:nvPr/>
          </p:nvSpPr>
          <p:spPr>
            <a:xfrm>
              <a:off x="0" y="-66675"/>
              <a:ext cx="3867800" cy="776573"/>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5" id="5"/>
          <p:cNvGrpSpPr/>
          <p:nvPr/>
        </p:nvGrpSpPr>
        <p:grpSpPr>
          <a:xfrm rot="0">
            <a:off x="2165068" y="1910015"/>
            <a:ext cx="14047391" cy="2560262"/>
            <a:chOff x="0" y="0"/>
            <a:chExt cx="4624740" cy="842900"/>
          </a:xfrm>
        </p:grpSpPr>
        <p:sp>
          <p:nvSpPr>
            <p:cNvPr name="Freeform 6" id="6"/>
            <p:cNvSpPr/>
            <p:nvPr/>
          </p:nvSpPr>
          <p:spPr>
            <a:xfrm flipH="false" flipV="false" rot="0">
              <a:off x="0" y="0"/>
              <a:ext cx="4624740" cy="842900"/>
            </a:xfrm>
            <a:custGeom>
              <a:avLst/>
              <a:gdLst/>
              <a:ahLst/>
              <a:cxnLst/>
              <a:rect r="r" b="b" t="t" l="l"/>
              <a:pathLst>
                <a:path h="842900" w="4624740">
                  <a:moveTo>
                    <a:pt x="13778" y="0"/>
                  </a:moveTo>
                  <a:lnTo>
                    <a:pt x="4610962" y="0"/>
                  </a:lnTo>
                  <a:cubicBezTo>
                    <a:pt x="4614616" y="0"/>
                    <a:pt x="4618121" y="1452"/>
                    <a:pt x="4620705" y="4036"/>
                  </a:cubicBezTo>
                  <a:cubicBezTo>
                    <a:pt x="4623289" y="6619"/>
                    <a:pt x="4624740" y="10124"/>
                    <a:pt x="4624740" y="13778"/>
                  </a:cubicBezTo>
                  <a:lnTo>
                    <a:pt x="4624740" y="829122"/>
                  </a:lnTo>
                  <a:cubicBezTo>
                    <a:pt x="4624740" y="832776"/>
                    <a:pt x="4623289" y="836280"/>
                    <a:pt x="4620705" y="838864"/>
                  </a:cubicBezTo>
                  <a:cubicBezTo>
                    <a:pt x="4618121" y="841448"/>
                    <a:pt x="4614616" y="842900"/>
                    <a:pt x="4610962" y="842900"/>
                  </a:cubicBezTo>
                  <a:lnTo>
                    <a:pt x="13778" y="842900"/>
                  </a:lnTo>
                  <a:cubicBezTo>
                    <a:pt x="10124" y="842900"/>
                    <a:pt x="6619" y="841448"/>
                    <a:pt x="4036" y="838864"/>
                  </a:cubicBezTo>
                  <a:cubicBezTo>
                    <a:pt x="1452" y="836280"/>
                    <a:pt x="0" y="832776"/>
                    <a:pt x="0" y="829122"/>
                  </a:cubicBezTo>
                  <a:lnTo>
                    <a:pt x="0" y="13778"/>
                  </a:lnTo>
                  <a:cubicBezTo>
                    <a:pt x="0" y="10124"/>
                    <a:pt x="1452" y="6619"/>
                    <a:pt x="4036" y="4036"/>
                  </a:cubicBezTo>
                  <a:cubicBezTo>
                    <a:pt x="6619" y="1452"/>
                    <a:pt x="10124" y="0"/>
                    <a:pt x="13778" y="0"/>
                  </a:cubicBezTo>
                  <a:close/>
                </a:path>
              </a:pathLst>
            </a:custGeom>
            <a:solidFill>
              <a:srgbClr val="2A3066">
                <a:alpha val="55686"/>
              </a:srgbClr>
            </a:solidFill>
          </p:spPr>
        </p:sp>
        <p:sp>
          <p:nvSpPr>
            <p:cNvPr name="TextBox 7" id="7"/>
            <p:cNvSpPr txBox="true"/>
            <p:nvPr/>
          </p:nvSpPr>
          <p:spPr>
            <a:xfrm>
              <a:off x="0" y="-66675"/>
              <a:ext cx="4624740" cy="90957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8" id="8"/>
          <p:cNvSpPr/>
          <p:nvPr/>
        </p:nvSpPr>
        <p:spPr>
          <a:xfrm flipH="false" flipV="false" rot="0">
            <a:off x="1833345" y="998551"/>
            <a:ext cx="663447" cy="649625"/>
          </a:xfrm>
          <a:custGeom>
            <a:avLst/>
            <a:gdLst/>
            <a:ahLst/>
            <a:cxnLst/>
            <a:rect r="r" b="b" t="t" l="l"/>
            <a:pathLst>
              <a:path h="649625" w="663447">
                <a:moveTo>
                  <a:pt x="0" y="0"/>
                </a:moveTo>
                <a:lnTo>
                  <a:pt x="663447" y="0"/>
                </a:lnTo>
                <a:lnTo>
                  <a:pt x="663447" y="649625"/>
                </a:lnTo>
                <a:lnTo>
                  <a:pt x="0" y="649625"/>
                </a:lnTo>
                <a:lnTo>
                  <a:pt x="0" y="0"/>
                </a:lnTo>
                <a:close/>
              </a:path>
            </a:pathLst>
          </a:custGeom>
          <a:blipFill>
            <a:blip r:embed="rId3"/>
            <a:stretch>
              <a:fillRect l="0" t="0" r="0" b="0"/>
            </a:stretch>
          </a:blipFill>
        </p:spPr>
      </p:sp>
      <p:sp>
        <p:nvSpPr>
          <p:cNvPr name="Freeform 9" id="9"/>
          <p:cNvSpPr/>
          <p:nvPr/>
        </p:nvSpPr>
        <p:spPr>
          <a:xfrm flipH="false" flipV="false" rot="0">
            <a:off x="2274957" y="4744621"/>
            <a:ext cx="8176526" cy="1347442"/>
          </a:xfrm>
          <a:custGeom>
            <a:avLst/>
            <a:gdLst/>
            <a:ahLst/>
            <a:cxnLst/>
            <a:rect r="r" b="b" t="t" l="l"/>
            <a:pathLst>
              <a:path h="1347442" w="8176526">
                <a:moveTo>
                  <a:pt x="0" y="0"/>
                </a:moveTo>
                <a:lnTo>
                  <a:pt x="8176526" y="0"/>
                </a:lnTo>
                <a:lnTo>
                  <a:pt x="8176526" y="1347442"/>
                </a:lnTo>
                <a:lnTo>
                  <a:pt x="0" y="1347442"/>
                </a:lnTo>
                <a:lnTo>
                  <a:pt x="0" y="0"/>
                </a:lnTo>
                <a:close/>
              </a:path>
            </a:pathLst>
          </a:custGeom>
          <a:blipFill>
            <a:blip r:embed="rId4"/>
            <a:stretch>
              <a:fillRect l="0" t="0" r="0" b="0"/>
            </a:stretch>
          </a:blipFill>
        </p:spPr>
      </p:sp>
      <p:grpSp>
        <p:nvGrpSpPr>
          <p:cNvPr name="Group 10" id="10"/>
          <p:cNvGrpSpPr/>
          <p:nvPr/>
        </p:nvGrpSpPr>
        <p:grpSpPr>
          <a:xfrm rot="0">
            <a:off x="2165068" y="6285492"/>
            <a:ext cx="8396304" cy="1541062"/>
            <a:chOff x="0" y="0"/>
            <a:chExt cx="3867800" cy="709898"/>
          </a:xfrm>
        </p:grpSpPr>
        <p:sp>
          <p:nvSpPr>
            <p:cNvPr name="Freeform 11" id="11"/>
            <p:cNvSpPr/>
            <p:nvPr/>
          </p:nvSpPr>
          <p:spPr>
            <a:xfrm flipH="false" flipV="false" rot="0">
              <a:off x="0" y="0"/>
              <a:ext cx="3867800" cy="709898"/>
            </a:xfrm>
            <a:custGeom>
              <a:avLst/>
              <a:gdLst/>
              <a:ahLst/>
              <a:cxnLst/>
              <a:rect r="r" b="b" t="t" l="l"/>
              <a:pathLst>
                <a:path h="709898" w="3867800">
                  <a:moveTo>
                    <a:pt x="23052" y="0"/>
                  </a:moveTo>
                  <a:lnTo>
                    <a:pt x="3844748" y="0"/>
                  </a:lnTo>
                  <a:cubicBezTo>
                    <a:pt x="3857479" y="0"/>
                    <a:pt x="3867800" y="10321"/>
                    <a:pt x="3867800" y="23052"/>
                  </a:cubicBezTo>
                  <a:lnTo>
                    <a:pt x="3867800" y="686846"/>
                  </a:lnTo>
                  <a:cubicBezTo>
                    <a:pt x="3867800" y="699577"/>
                    <a:pt x="3857479" y="709898"/>
                    <a:pt x="3844748" y="709898"/>
                  </a:cubicBezTo>
                  <a:lnTo>
                    <a:pt x="23052" y="709898"/>
                  </a:lnTo>
                  <a:cubicBezTo>
                    <a:pt x="16938" y="709898"/>
                    <a:pt x="11075" y="707469"/>
                    <a:pt x="6752" y="703146"/>
                  </a:cubicBezTo>
                  <a:cubicBezTo>
                    <a:pt x="2429" y="698823"/>
                    <a:pt x="0" y="692960"/>
                    <a:pt x="0" y="686846"/>
                  </a:cubicBezTo>
                  <a:lnTo>
                    <a:pt x="0" y="23052"/>
                  </a:lnTo>
                  <a:cubicBezTo>
                    <a:pt x="0" y="10321"/>
                    <a:pt x="10321" y="0"/>
                    <a:pt x="23052" y="0"/>
                  </a:cubicBezTo>
                  <a:close/>
                </a:path>
              </a:pathLst>
            </a:custGeom>
            <a:solidFill>
              <a:srgbClr val="2A3066">
                <a:alpha val="55686"/>
              </a:srgbClr>
            </a:solidFill>
          </p:spPr>
        </p:sp>
        <p:sp>
          <p:nvSpPr>
            <p:cNvPr name="TextBox 12" id="12"/>
            <p:cNvSpPr txBox="true"/>
            <p:nvPr/>
          </p:nvSpPr>
          <p:spPr>
            <a:xfrm>
              <a:off x="0" y="-66675"/>
              <a:ext cx="3867800" cy="776573"/>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13" id="13"/>
          <p:cNvGrpSpPr/>
          <p:nvPr/>
        </p:nvGrpSpPr>
        <p:grpSpPr>
          <a:xfrm rot="0">
            <a:off x="2165068" y="7950379"/>
            <a:ext cx="8396304" cy="1541062"/>
            <a:chOff x="0" y="0"/>
            <a:chExt cx="3867800" cy="709898"/>
          </a:xfrm>
        </p:grpSpPr>
        <p:sp>
          <p:nvSpPr>
            <p:cNvPr name="Freeform 14" id="14"/>
            <p:cNvSpPr/>
            <p:nvPr/>
          </p:nvSpPr>
          <p:spPr>
            <a:xfrm flipH="false" flipV="false" rot="0">
              <a:off x="0" y="0"/>
              <a:ext cx="3867800" cy="709898"/>
            </a:xfrm>
            <a:custGeom>
              <a:avLst/>
              <a:gdLst/>
              <a:ahLst/>
              <a:cxnLst/>
              <a:rect r="r" b="b" t="t" l="l"/>
              <a:pathLst>
                <a:path h="709898" w="3867800">
                  <a:moveTo>
                    <a:pt x="23052" y="0"/>
                  </a:moveTo>
                  <a:lnTo>
                    <a:pt x="3844748" y="0"/>
                  </a:lnTo>
                  <a:cubicBezTo>
                    <a:pt x="3857479" y="0"/>
                    <a:pt x="3867800" y="10321"/>
                    <a:pt x="3867800" y="23052"/>
                  </a:cubicBezTo>
                  <a:lnTo>
                    <a:pt x="3867800" y="686846"/>
                  </a:lnTo>
                  <a:cubicBezTo>
                    <a:pt x="3867800" y="699577"/>
                    <a:pt x="3857479" y="709898"/>
                    <a:pt x="3844748" y="709898"/>
                  </a:cubicBezTo>
                  <a:lnTo>
                    <a:pt x="23052" y="709898"/>
                  </a:lnTo>
                  <a:cubicBezTo>
                    <a:pt x="16938" y="709898"/>
                    <a:pt x="11075" y="707469"/>
                    <a:pt x="6752" y="703146"/>
                  </a:cubicBezTo>
                  <a:cubicBezTo>
                    <a:pt x="2429" y="698823"/>
                    <a:pt x="0" y="692960"/>
                    <a:pt x="0" y="686846"/>
                  </a:cubicBezTo>
                  <a:lnTo>
                    <a:pt x="0" y="23052"/>
                  </a:lnTo>
                  <a:cubicBezTo>
                    <a:pt x="0" y="10321"/>
                    <a:pt x="10321" y="0"/>
                    <a:pt x="23052" y="0"/>
                  </a:cubicBezTo>
                  <a:close/>
                </a:path>
              </a:pathLst>
            </a:custGeom>
            <a:solidFill>
              <a:srgbClr val="2A3066">
                <a:alpha val="55686"/>
              </a:srgbClr>
            </a:solidFill>
          </p:spPr>
        </p:sp>
        <p:sp>
          <p:nvSpPr>
            <p:cNvPr name="TextBox 15" id="15"/>
            <p:cNvSpPr txBox="true"/>
            <p:nvPr/>
          </p:nvSpPr>
          <p:spPr>
            <a:xfrm>
              <a:off x="0" y="-66675"/>
              <a:ext cx="3867800" cy="776573"/>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16" id="16"/>
          <p:cNvSpPr/>
          <p:nvPr/>
        </p:nvSpPr>
        <p:spPr>
          <a:xfrm flipH="false" flipV="false" rot="0">
            <a:off x="2274957" y="6383251"/>
            <a:ext cx="8176526" cy="1337586"/>
          </a:xfrm>
          <a:custGeom>
            <a:avLst/>
            <a:gdLst/>
            <a:ahLst/>
            <a:cxnLst/>
            <a:rect r="r" b="b" t="t" l="l"/>
            <a:pathLst>
              <a:path h="1337586" w="8176526">
                <a:moveTo>
                  <a:pt x="0" y="0"/>
                </a:moveTo>
                <a:lnTo>
                  <a:pt x="8176526" y="0"/>
                </a:lnTo>
                <a:lnTo>
                  <a:pt x="8176526" y="1337586"/>
                </a:lnTo>
                <a:lnTo>
                  <a:pt x="0" y="1337586"/>
                </a:lnTo>
                <a:lnTo>
                  <a:pt x="0" y="0"/>
                </a:lnTo>
                <a:close/>
              </a:path>
            </a:pathLst>
          </a:custGeom>
          <a:blipFill>
            <a:blip r:embed="rId5"/>
            <a:stretch>
              <a:fillRect l="0" t="-8317" r="0" b="-11283"/>
            </a:stretch>
          </a:blipFill>
        </p:spPr>
      </p:sp>
      <p:sp>
        <p:nvSpPr>
          <p:cNvPr name="Freeform 17" id="17"/>
          <p:cNvSpPr/>
          <p:nvPr/>
        </p:nvSpPr>
        <p:spPr>
          <a:xfrm flipH="false" flipV="false" rot="0">
            <a:off x="2274957" y="8083729"/>
            <a:ext cx="8176526" cy="1356594"/>
          </a:xfrm>
          <a:custGeom>
            <a:avLst/>
            <a:gdLst/>
            <a:ahLst/>
            <a:cxnLst/>
            <a:rect r="r" b="b" t="t" l="l"/>
            <a:pathLst>
              <a:path h="1356594" w="8176526">
                <a:moveTo>
                  <a:pt x="0" y="0"/>
                </a:moveTo>
                <a:lnTo>
                  <a:pt x="8176526" y="0"/>
                </a:lnTo>
                <a:lnTo>
                  <a:pt x="8176526" y="1356594"/>
                </a:lnTo>
                <a:lnTo>
                  <a:pt x="0" y="1356594"/>
                </a:lnTo>
                <a:lnTo>
                  <a:pt x="0" y="0"/>
                </a:lnTo>
                <a:close/>
              </a:path>
            </a:pathLst>
          </a:custGeom>
          <a:blipFill>
            <a:blip r:embed="rId6"/>
            <a:stretch>
              <a:fillRect l="0" t="0" r="0" b="-20322"/>
            </a:stretch>
          </a:blipFill>
        </p:spPr>
      </p:sp>
      <p:sp>
        <p:nvSpPr>
          <p:cNvPr name="TextBox 18" id="18"/>
          <p:cNvSpPr txBox="true"/>
          <p:nvPr/>
        </p:nvSpPr>
        <p:spPr>
          <a:xfrm rot="0">
            <a:off x="2496792" y="1116996"/>
            <a:ext cx="5989031" cy="531180"/>
          </a:xfrm>
          <a:prstGeom prst="rect">
            <a:avLst/>
          </a:prstGeom>
        </p:spPr>
        <p:txBody>
          <a:bodyPr anchor="t" rtlCol="false" tIns="0" lIns="0" bIns="0" rIns="0">
            <a:spAutoFit/>
          </a:bodyPr>
          <a:lstStyle/>
          <a:p>
            <a:pPr algn="l">
              <a:lnSpc>
                <a:spcPts val="3892"/>
              </a:lnSpc>
              <a:spcBef>
                <a:spcPct val="0"/>
              </a:spcBef>
            </a:pPr>
            <a:r>
              <a:rPr lang="en-US" b="true" sz="3604">
                <a:solidFill>
                  <a:srgbClr val="FFFFFF"/>
                </a:solidFill>
                <a:latin typeface="Poppins Bold"/>
                <a:ea typeface="Poppins Bold"/>
                <a:cs typeface="Poppins Bold"/>
                <a:sym typeface="Poppins Bold"/>
              </a:rPr>
              <a:t>Forecasting in Orange</a:t>
            </a:r>
          </a:p>
        </p:txBody>
      </p:sp>
      <p:sp>
        <p:nvSpPr>
          <p:cNvPr name="TextBox 19" id="19"/>
          <p:cNvSpPr txBox="true"/>
          <p:nvPr/>
        </p:nvSpPr>
        <p:spPr>
          <a:xfrm rot="0">
            <a:off x="2444686" y="2070191"/>
            <a:ext cx="13488157" cy="2550414"/>
          </a:xfrm>
          <a:prstGeom prst="rect">
            <a:avLst/>
          </a:prstGeom>
        </p:spPr>
        <p:txBody>
          <a:bodyPr anchor="t" rtlCol="false" tIns="0" lIns="0" bIns="0" rIns="0">
            <a:spAutoFit/>
          </a:bodyPr>
          <a:lstStyle/>
          <a:p>
            <a:pPr algn="l">
              <a:lnSpc>
                <a:spcPts val="2537"/>
              </a:lnSpc>
              <a:spcBef>
                <a:spcPct val="0"/>
              </a:spcBef>
            </a:pPr>
            <a:r>
              <a:rPr lang="en-US" sz="2349">
                <a:solidFill>
                  <a:srgbClr val="FFFFFF"/>
                </a:solidFill>
                <a:latin typeface="Poppins"/>
                <a:ea typeface="Poppins"/>
                <a:cs typeface="Poppins"/>
                <a:sym typeface="Poppins"/>
              </a:rPr>
              <a:t>For ROG</a:t>
            </a:r>
            <a:r>
              <a:rPr lang="en-US" sz="2349">
                <a:solidFill>
                  <a:srgbClr val="FFFFFF"/>
                </a:solidFill>
                <a:latin typeface="Poppins"/>
                <a:ea typeface="Poppins"/>
                <a:cs typeface="Poppins"/>
                <a:sym typeface="Poppins"/>
              </a:rPr>
              <a:t>, the error was low, but the R² score was negative, which means the forecast didn’t fit the real data very well. For TUF, the errors were higher, but the model was more reliable, with a better R² and a POCID score showing decent prediction accuracy. For Zephyrus, the forecast had the highest error, but when tested within the known data (in-sample), it performed much better with an R² of 0.896—meaning it followed the actual trend very closely. This means that while some forecasts were more accurate than others, they all gave useful insights to help with planning and decision-making.</a:t>
            </a:r>
          </a:p>
          <a:p>
            <a:pPr algn="l">
              <a:lnSpc>
                <a:spcPts val="2537"/>
              </a:lnSpc>
              <a:spcBef>
                <a:spcPct val="0"/>
              </a:spcBef>
            </a:pPr>
          </a:p>
        </p:txBody>
      </p:sp>
      <p:sp>
        <p:nvSpPr>
          <p:cNvPr name="AutoShape 20" id="20"/>
          <p:cNvSpPr/>
          <p:nvPr/>
        </p:nvSpPr>
        <p:spPr>
          <a:xfrm>
            <a:off x="10561372" y="5453049"/>
            <a:ext cx="2596213" cy="0"/>
          </a:xfrm>
          <a:prstGeom prst="line">
            <a:avLst/>
          </a:prstGeom>
          <a:ln cap="flat" w="38100">
            <a:solidFill>
              <a:srgbClr val="FFFFFF"/>
            </a:solidFill>
            <a:prstDash val="solid"/>
            <a:headEnd type="none" len="sm" w="sm"/>
            <a:tailEnd type="none" len="sm" w="sm"/>
          </a:ln>
        </p:spPr>
      </p:sp>
      <p:sp>
        <p:nvSpPr>
          <p:cNvPr name="AutoShape 21" id="21"/>
          <p:cNvSpPr/>
          <p:nvPr/>
        </p:nvSpPr>
        <p:spPr>
          <a:xfrm>
            <a:off x="10561372" y="7036973"/>
            <a:ext cx="2596213" cy="0"/>
          </a:xfrm>
          <a:prstGeom prst="line">
            <a:avLst/>
          </a:prstGeom>
          <a:ln cap="flat" w="38100">
            <a:solidFill>
              <a:srgbClr val="FFFFFF"/>
            </a:solidFill>
            <a:prstDash val="solid"/>
            <a:headEnd type="none" len="sm" w="sm"/>
            <a:tailEnd type="none" len="sm" w="sm"/>
          </a:ln>
        </p:spPr>
      </p:sp>
      <p:sp>
        <p:nvSpPr>
          <p:cNvPr name="AutoShape 22" id="22"/>
          <p:cNvSpPr/>
          <p:nvPr/>
        </p:nvSpPr>
        <p:spPr>
          <a:xfrm>
            <a:off x="10561372" y="8781076"/>
            <a:ext cx="2596213" cy="0"/>
          </a:xfrm>
          <a:prstGeom prst="line">
            <a:avLst/>
          </a:prstGeom>
          <a:ln cap="flat" w="38100">
            <a:solidFill>
              <a:srgbClr val="FFFFFF"/>
            </a:solidFill>
            <a:prstDash val="solid"/>
            <a:headEnd type="none" len="sm" w="sm"/>
            <a:tailEnd type="none" len="sm" w="sm"/>
          </a:ln>
        </p:spPr>
      </p:sp>
      <p:sp>
        <p:nvSpPr>
          <p:cNvPr name="TextBox 23" id="23"/>
          <p:cNvSpPr txBox="true"/>
          <p:nvPr/>
        </p:nvSpPr>
        <p:spPr>
          <a:xfrm rot="0">
            <a:off x="12118844" y="5240277"/>
            <a:ext cx="3157205" cy="435069"/>
          </a:xfrm>
          <a:prstGeom prst="rect">
            <a:avLst/>
          </a:prstGeom>
        </p:spPr>
        <p:txBody>
          <a:bodyPr anchor="t" rtlCol="false" tIns="0" lIns="0" bIns="0" rIns="0">
            <a:spAutoFit/>
          </a:bodyPr>
          <a:lstStyle/>
          <a:p>
            <a:pPr algn="ctr">
              <a:lnSpc>
                <a:spcPts val="3156"/>
              </a:lnSpc>
            </a:pPr>
            <a:r>
              <a:rPr lang="en-US" sz="2922">
                <a:solidFill>
                  <a:srgbClr val="FFFFFF"/>
                </a:solidFill>
                <a:latin typeface="Poppins"/>
                <a:ea typeface="Poppins"/>
                <a:cs typeface="Poppins"/>
                <a:sym typeface="Poppins"/>
              </a:rPr>
              <a:t>ROG</a:t>
            </a:r>
          </a:p>
        </p:txBody>
      </p:sp>
      <p:sp>
        <p:nvSpPr>
          <p:cNvPr name="TextBox 24" id="24"/>
          <p:cNvSpPr txBox="true"/>
          <p:nvPr/>
        </p:nvSpPr>
        <p:spPr>
          <a:xfrm rot="0">
            <a:off x="12013209" y="6824201"/>
            <a:ext cx="3157205" cy="435069"/>
          </a:xfrm>
          <a:prstGeom prst="rect">
            <a:avLst/>
          </a:prstGeom>
        </p:spPr>
        <p:txBody>
          <a:bodyPr anchor="t" rtlCol="false" tIns="0" lIns="0" bIns="0" rIns="0">
            <a:spAutoFit/>
          </a:bodyPr>
          <a:lstStyle/>
          <a:p>
            <a:pPr algn="ctr">
              <a:lnSpc>
                <a:spcPts val="3156"/>
              </a:lnSpc>
            </a:pPr>
            <a:r>
              <a:rPr lang="en-US" sz="2922">
                <a:solidFill>
                  <a:srgbClr val="FFFFFF"/>
                </a:solidFill>
                <a:latin typeface="Poppins"/>
                <a:ea typeface="Poppins"/>
                <a:cs typeface="Poppins"/>
                <a:sym typeface="Poppins"/>
              </a:rPr>
              <a:t>TUF</a:t>
            </a:r>
          </a:p>
        </p:txBody>
      </p:sp>
      <p:sp>
        <p:nvSpPr>
          <p:cNvPr name="TextBox 25" id="25"/>
          <p:cNvSpPr txBox="true"/>
          <p:nvPr/>
        </p:nvSpPr>
        <p:spPr>
          <a:xfrm rot="0">
            <a:off x="12552936" y="8508138"/>
            <a:ext cx="3157205" cy="435069"/>
          </a:xfrm>
          <a:prstGeom prst="rect">
            <a:avLst/>
          </a:prstGeom>
        </p:spPr>
        <p:txBody>
          <a:bodyPr anchor="t" rtlCol="false" tIns="0" lIns="0" bIns="0" rIns="0">
            <a:spAutoFit/>
          </a:bodyPr>
          <a:lstStyle/>
          <a:p>
            <a:pPr algn="ctr">
              <a:lnSpc>
                <a:spcPts val="3156"/>
              </a:lnSpc>
            </a:pPr>
            <a:r>
              <a:rPr lang="en-US" sz="2922">
                <a:solidFill>
                  <a:srgbClr val="FFFFFF"/>
                </a:solidFill>
                <a:latin typeface="Poppins"/>
                <a:ea typeface="Poppins"/>
                <a:cs typeface="Poppins"/>
                <a:sym typeface="Poppins"/>
              </a:rPr>
              <a:t>Zephyrus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TextBox 2" id="2"/>
          <p:cNvSpPr txBox="true"/>
          <p:nvPr/>
        </p:nvSpPr>
        <p:spPr>
          <a:xfrm rot="0">
            <a:off x="3188383" y="3301373"/>
            <a:ext cx="11911233" cy="3085338"/>
          </a:xfrm>
          <a:prstGeom prst="rect">
            <a:avLst/>
          </a:prstGeom>
        </p:spPr>
        <p:txBody>
          <a:bodyPr anchor="t" rtlCol="false" tIns="0" lIns="0" bIns="0" rIns="0">
            <a:spAutoFit/>
          </a:bodyPr>
          <a:lstStyle/>
          <a:p>
            <a:pPr algn="just">
              <a:lnSpc>
                <a:spcPts val="4895"/>
              </a:lnSpc>
            </a:pPr>
            <a:r>
              <a:rPr lang="en-US" sz="3199">
                <a:solidFill>
                  <a:srgbClr val="FFFFFF"/>
                </a:solidFill>
                <a:latin typeface="Poppins"/>
                <a:ea typeface="Poppins"/>
                <a:cs typeface="Poppins"/>
                <a:sym typeface="Poppins"/>
              </a:rPr>
              <a:t>Without strategic marketing or pricing adjustments, ASUS</a:t>
            </a:r>
            <a:r>
              <a:rPr lang="en-US" sz="3199">
                <a:solidFill>
                  <a:srgbClr val="FFFFFF"/>
                </a:solidFill>
                <a:latin typeface="Poppins"/>
                <a:ea typeface="Poppins"/>
                <a:cs typeface="Poppins"/>
                <a:sym typeface="Poppins"/>
              </a:rPr>
              <a:t> </a:t>
            </a:r>
            <a:r>
              <a:rPr lang="en-US" sz="3199">
                <a:solidFill>
                  <a:srgbClr val="FFFFFF"/>
                </a:solidFill>
                <a:latin typeface="Poppins"/>
                <a:ea typeface="Poppins"/>
                <a:cs typeface="Poppins"/>
                <a:sym typeface="Poppins"/>
              </a:rPr>
              <a:t>m</a:t>
            </a:r>
            <a:r>
              <a:rPr lang="en-US" sz="3199">
                <a:solidFill>
                  <a:srgbClr val="FFFFFF"/>
                </a:solidFill>
                <a:latin typeface="Poppins"/>
                <a:ea typeface="Poppins"/>
                <a:cs typeface="Poppins"/>
                <a:sym typeface="Poppins"/>
              </a:rPr>
              <a:t>ay </a:t>
            </a:r>
            <a:r>
              <a:rPr lang="en-US" sz="3199">
                <a:solidFill>
                  <a:srgbClr val="FFFFFF"/>
                </a:solidFill>
                <a:latin typeface="Poppins"/>
                <a:ea typeface="Poppins"/>
                <a:cs typeface="Poppins"/>
                <a:sym typeface="Poppins"/>
              </a:rPr>
              <a:t>lo</a:t>
            </a:r>
            <a:r>
              <a:rPr lang="en-US" sz="3199">
                <a:solidFill>
                  <a:srgbClr val="FFFFFF"/>
                </a:solidFill>
                <a:latin typeface="Poppins"/>
                <a:ea typeface="Poppins"/>
                <a:cs typeface="Poppins"/>
                <a:sym typeface="Poppins"/>
              </a:rPr>
              <a:t>s</a:t>
            </a:r>
            <a:r>
              <a:rPr lang="en-US" sz="3199">
                <a:solidFill>
                  <a:srgbClr val="FFFFFF"/>
                </a:solidFill>
                <a:latin typeface="Poppins"/>
                <a:ea typeface="Poppins"/>
                <a:cs typeface="Poppins"/>
                <a:sym typeface="Poppins"/>
              </a:rPr>
              <a:t>e</a:t>
            </a:r>
            <a:r>
              <a:rPr lang="en-US" sz="3199">
                <a:solidFill>
                  <a:srgbClr val="FFFFFF"/>
                </a:solidFill>
                <a:latin typeface="Poppins"/>
                <a:ea typeface="Poppins"/>
                <a:cs typeface="Poppins"/>
                <a:sym typeface="Poppins"/>
              </a:rPr>
              <a:t> </a:t>
            </a:r>
            <a:r>
              <a:rPr lang="en-US" sz="3199">
                <a:solidFill>
                  <a:srgbClr val="FFFFFF"/>
                </a:solidFill>
                <a:latin typeface="Poppins"/>
                <a:ea typeface="Poppins"/>
                <a:cs typeface="Poppins"/>
                <a:sym typeface="Poppins"/>
              </a:rPr>
              <a:t>c</a:t>
            </a:r>
            <a:r>
              <a:rPr lang="en-US" sz="3199">
                <a:solidFill>
                  <a:srgbClr val="FFFFFF"/>
                </a:solidFill>
                <a:latin typeface="Poppins"/>
                <a:ea typeface="Poppins"/>
                <a:cs typeface="Poppins"/>
                <a:sym typeface="Poppins"/>
              </a:rPr>
              <a:t>o</a:t>
            </a:r>
            <a:r>
              <a:rPr lang="en-US" sz="3199">
                <a:solidFill>
                  <a:srgbClr val="FFFFFF"/>
                </a:solidFill>
                <a:latin typeface="Poppins"/>
                <a:ea typeface="Poppins"/>
                <a:cs typeface="Poppins"/>
                <a:sym typeface="Poppins"/>
              </a:rPr>
              <a:t>mp</a:t>
            </a:r>
            <a:r>
              <a:rPr lang="en-US" sz="3199">
                <a:solidFill>
                  <a:srgbClr val="FFFFFF"/>
                </a:solidFill>
                <a:latin typeface="Poppins"/>
                <a:ea typeface="Poppins"/>
                <a:cs typeface="Poppins"/>
                <a:sym typeface="Poppins"/>
              </a:rPr>
              <a:t>e</a:t>
            </a:r>
            <a:r>
              <a:rPr lang="en-US" sz="3199">
                <a:solidFill>
                  <a:srgbClr val="FFFFFF"/>
                </a:solidFill>
                <a:latin typeface="Poppins"/>
                <a:ea typeface="Poppins"/>
                <a:cs typeface="Poppins"/>
                <a:sym typeface="Poppins"/>
              </a:rPr>
              <a:t>titive</a:t>
            </a:r>
            <a:r>
              <a:rPr lang="en-US" sz="3199">
                <a:solidFill>
                  <a:srgbClr val="FFFFFF"/>
                </a:solidFill>
                <a:latin typeface="Poppins"/>
                <a:ea typeface="Poppins"/>
                <a:cs typeface="Poppins"/>
                <a:sym typeface="Poppins"/>
              </a:rPr>
              <a:t>nes</a:t>
            </a:r>
            <a:r>
              <a:rPr lang="en-US" sz="3199">
                <a:solidFill>
                  <a:srgbClr val="FFFFFF"/>
                </a:solidFill>
                <a:latin typeface="Poppins"/>
                <a:ea typeface="Poppins"/>
                <a:cs typeface="Poppins"/>
                <a:sym typeface="Poppins"/>
              </a:rPr>
              <a:t>s </a:t>
            </a:r>
            <a:r>
              <a:rPr lang="en-US" sz="3199">
                <a:solidFill>
                  <a:srgbClr val="FFFFFF"/>
                </a:solidFill>
                <a:latin typeface="Poppins"/>
                <a:ea typeface="Poppins"/>
                <a:cs typeface="Poppins"/>
                <a:sym typeface="Poppins"/>
              </a:rPr>
              <a:t>in </a:t>
            </a:r>
            <a:r>
              <a:rPr lang="en-US" sz="3199">
                <a:solidFill>
                  <a:srgbClr val="FFFFFF"/>
                </a:solidFill>
                <a:latin typeface="Poppins"/>
                <a:ea typeface="Poppins"/>
                <a:cs typeface="Poppins"/>
                <a:sym typeface="Poppins"/>
              </a:rPr>
              <a:t>the com</a:t>
            </a:r>
            <a:r>
              <a:rPr lang="en-US" sz="3199">
                <a:solidFill>
                  <a:srgbClr val="FFFFFF"/>
                </a:solidFill>
                <a:latin typeface="Poppins"/>
                <a:ea typeface="Poppins"/>
                <a:cs typeface="Poppins"/>
                <a:sym typeface="Poppins"/>
              </a:rPr>
              <a:t>ing </a:t>
            </a:r>
            <a:r>
              <a:rPr lang="en-US" sz="3199">
                <a:solidFill>
                  <a:srgbClr val="FFFFFF"/>
                </a:solidFill>
                <a:latin typeface="Poppins"/>
                <a:ea typeface="Poppins"/>
                <a:cs typeface="Poppins"/>
                <a:sym typeface="Poppins"/>
              </a:rPr>
              <a:t>ye</a:t>
            </a:r>
            <a:r>
              <a:rPr lang="en-US" sz="3199">
                <a:solidFill>
                  <a:srgbClr val="FFFFFF"/>
                </a:solidFill>
                <a:latin typeface="Poppins"/>
                <a:ea typeface="Poppins"/>
                <a:cs typeface="Poppins"/>
                <a:sym typeface="Poppins"/>
              </a:rPr>
              <a:t>a</a:t>
            </a:r>
            <a:r>
              <a:rPr lang="en-US" sz="3199">
                <a:solidFill>
                  <a:srgbClr val="FFFFFF"/>
                </a:solidFill>
                <a:latin typeface="Poppins"/>
                <a:ea typeface="Poppins"/>
                <a:cs typeface="Poppins"/>
                <a:sym typeface="Poppins"/>
              </a:rPr>
              <a:t>r</a:t>
            </a:r>
            <a:r>
              <a:rPr lang="en-US" sz="3199">
                <a:solidFill>
                  <a:srgbClr val="FFFFFF"/>
                </a:solidFill>
                <a:latin typeface="Poppins"/>
                <a:ea typeface="Poppins"/>
                <a:cs typeface="Poppins"/>
                <a:sym typeface="Poppins"/>
              </a:rPr>
              <a:t>.</a:t>
            </a:r>
            <a:r>
              <a:rPr lang="en-US" sz="3199">
                <a:solidFill>
                  <a:srgbClr val="FFFFFF"/>
                </a:solidFill>
                <a:latin typeface="Poppins"/>
                <a:ea typeface="Poppins"/>
                <a:cs typeface="Poppins"/>
                <a:sym typeface="Poppins"/>
              </a:rPr>
              <a:t> These insights help the company plan interventions like promotions, product updates, or pricing changes to maintain sales momentum.</a:t>
            </a:r>
          </a:p>
        </p:txBody>
      </p:sp>
      <p:sp>
        <p:nvSpPr>
          <p:cNvPr name="TextBox 3" id="3"/>
          <p:cNvSpPr txBox="true"/>
          <p:nvPr/>
        </p:nvSpPr>
        <p:spPr>
          <a:xfrm rot="0">
            <a:off x="2697984" y="1871311"/>
            <a:ext cx="8633700" cy="614586"/>
          </a:xfrm>
          <a:prstGeom prst="rect">
            <a:avLst/>
          </a:prstGeom>
        </p:spPr>
        <p:txBody>
          <a:bodyPr anchor="t" rtlCol="false" tIns="0" lIns="0" bIns="0" rIns="0">
            <a:spAutoFit/>
          </a:bodyPr>
          <a:lstStyle/>
          <a:p>
            <a:pPr algn="l">
              <a:lnSpc>
                <a:spcPts val="4403"/>
              </a:lnSpc>
              <a:spcBef>
                <a:spcPct val="0"/>
              </a:spcBef>
            </a:pPr>
            <a:r>
              <a:rPr lang="en-US" b="true" sz="4077">
                <a:solidFill>
                  <a:srgbClr val="FFFFFF"/>
                </a:solidFill>
                <a:latin typeface="Poppins Bold"/>
                <a:ea typeface="Poppins Bold"/>
                <a:cs typeface="Poppins Bold"/>
                <a:sym typeface="Poppins Bold"/>
              </a:rPr>
              <a:t>Insights</a:t>
            </a:r>
          </a:p>
        </p:txBody>
      </p:sp>
      <p:sp>
        <p:nvSpPr>
          <p:cNvPr name="Freeform 4" id="4"/>
          <p:cNvSpPr/>
          <p:nvPr/>
        </p:nvSpPr>
        <p:spPr>
          <a:xfrm flipH="false" flipV="false" rot="0">
            <a:off x="2034538" y="1817222"/>
            <a:ext cx="663447" cy="649625"/>
          </a:xfrm>
          <a:custGeom>
            <a:avLst/>
            <a:gdLst/>
            <a:ahLst/>
            <a:cxnLst/>
            <a:rect r="r" b="b" t="t" l="l"/>
            <a:pathLst>
              <a:path h="649625" w="663447">
                <a:moveTo>
                  <a:pt x="0" y="0"/>
                </a:moveTo>
                <a:lnTo>
                  <a:pt x="663446" y="0"/>
                </a:lnTo>
                <a:lnTo>
                  <a:pt x="663446" y="649625"/>
                </a:lnTo>
                <a:lnTo>
                  <a:pt x="0" y="649625"/>
                </a:lnTo>
                <a:lnTo>
                  <a:pt x="0" y="0"/>
                </a:lnTo>
                <a:close/>
              </a:path>
            </a:pathLst>
          </a:custGeom>
          <a:blipFill>
            <a:blip r:embed="rId3"/>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775463" y="3395971"/>
            <a:ext cx="5916234" cy="5862329"/>
            <a:chOff x="0" y="0"/>
            <a:chExt cx="1947767" cy="1930020"/>
          </a:xfrm>
        </p:grpSpPr>
        <p:sp>
          <p:nvSpPr>
            <p:cNvPr name="Freeform 3" id="3"/>
            <p:cNvSpPr/>
            <p:nvPr/>
          </p:nvSpPr>
          <p:spPr>
            <a:xfrm flipH="false" flipV="false" rot="0">
              <a:off x="0" y="0"/>
              <a:ext cx="1947767" cy="1930020"/>
            </a:xfrm>
            <a:custGeom>
              <a:avLst/>
              <a:gdLst/>
              <a:ahLst/>
              <a:cxnLst/>
              <a:rect r="r" b="b" t="t" l="l"/>
              <a:pathLst>
                <a:path h="1930020" w="1947767">
                  <a:moveTo>
                    <a:pt x="32715" y="0"/>
                  </a:moveTo>
                  <a:lnTo>
                    <a:pt x="1915052" y="0"/>
                  </a:lnTo>
                  <a:cubicBezTo>
                    <a:pt x="1923729" y="0"/>
                    <a:pt x="1932050" y="3447"/>
                    <a:pt x="1938185" y="9582"/>
                  </a:cubicBezTo>
                  <a:cubicBezTo>
                    <a:pt x="1944320" y="15717"/>
                    <a:pt x="1947767" y="24038"/>
                    <a:pt x="1947767" y="32715"/>
                  </a:cubicBezTo>
                  <a:lnTo>
                    <a:pt x="1947767" y="1897306"/>
                  </a:lnTo>
                  <a:cubicBezTo>
                    <a:pt x="1947767" y="1905982"/>
                    <a:pt x="1944320" y="1914303"/>
                    <a:pt x="1938185" y="1920438"/>
                  </a:cubicBezTo>
                  <a:cubicBezTo>
                    <a:pt x="1932050" y="1926574"/>
                    <a:pt x="1923729" y="1930020"/>
                    <a:pt x="1915052" y="1930020"/>
                  </a:cubicBezTo>
                  <a:lnTo>
                    <a:pt x="32715" y="1930020"/>
                  </a:lnTo>
                  <a:cubicBezTo>
                    <a:pt x="24038" y="1930020"/>
                    <a:pt x="15717" y="1926574"/>
                    <a:pt x="9582" y="1920438"/>
                  </a:cubicBezTo>
                  <a:cubicBezTo>
                    <a:pt x="3447" y="1914303"/>
                    <a:pt x="0" y="1905982"/>
                    <a:pt x="0" y="1897306"/>
                  </a:cubicBezTo>
                  <a:lnTo>
                    <a:pt x="0" y="32715"/>
                  </a:lnTo>
                  <a:cubicBezTo>
                    <a:pt x="0" y="24038"/>
                    <a:pt x="3447" y="15717"/>
                    <a:pt x="9582" y="9582"/>
                  </a:cubicBezTo>
                  <a:cubicBezTo>
                    <a:pt x="15717" y="3447"/>
                    <a:pt x="24038" y="0"/>
                    <a:pt x="32715" y="0"/>
                  </a:cubicBezTo>
                  <a:close/>
                </a:path>
              </a:pathLst>
            </a:custGeom>
            <a:solidFill>
              <a:srgbClr val="2A3066">
                <a:alpha val="55686"/>
              </a:srgbClr>
            </a:solidFill>
          </p:spPr>
        </p:sp>
        <p:sp>
          <p:nvSpPr>
            <p:cNvPr name="TextBox 4" id="4"/>
            <p:cNvSpPr txBox="true"/>
            <p:nvPr/>
          </p:nvSpPr>
          <p:spPr>
            <a:xfrm>
              <a:off x="0" y="-66675"/>
              <a:ext cx="1947767" cy="1996695"/>
            </a:xfrm>
            <a:prstGeom prst="rect">
              <a:avLst/>
            </a:prstGeom>
          </p:spPr>
          <p:txBody>
            <a:bodyPr anchor="ctr" rtlCol="false" tIns="50800" lIns="50800" bIns="50800" rIns="50800"/>
            <a:lstStyle/>
            <a:p>
              <a:pPr algn="ctr">
                <a:lnSpc>
                  <a:spcPts val="2921"/>
                </a:lnSpc>
              </a:pPr>
              <a:r>
                <a:rPr lang="en-US" sz="1813">
                  <a:solidFill>
                    <a:srgbClr val="FFFFFF">
                      <a:alpha val="55686"/>
                    </a:srgbClr>
                  </a:solidFill>
                  <a:latin typeface="Open Sans"/>
                  <a:ea typeface="Open Sans"/>
                  <a:cs typeface="Open Sans"/>
                  <a:sym typeface="Open Sans"/>
                </a:rPr>
                <a:t>1</a:t>
              </a:r>
            </a:p>
            <a:p>
              <a:pPr algn="ctr">
                <a:lnSpc>
                  <a:spcPts val="2921"/>
                </a:lnSpc>
              </a:pPr>
            </a:p>
          </p:txBody>
        </p:sp>
      </p:grpSp>
      <p:grpSp>
        <p:nvGrpSpPr>
          <p:cNvPr name="Group 5" id="5"/>
          <p:cNvGrpSpPr/>
          <p:nvPr/>
        </p:nvGrpSpPr>
        <p:grpSpPr>
          <a:xfrm rot="0">
            <a:off x="9596303" y="3395971"/>
            <a:ext cx="5916234" cy="5862329"/>
            <a:chOff x="0" y="0"/>
            <a:chExt cx="1947767" cy="1930020"/>
          </a:xfrm>
        </p:grpSpPr>
        <p:sp>
          <p:nvSpPr>
            <p:cNvPr name="Freeform 6" id="6"/>
            <p:cNvSpPr/>
            <p:nvPr/>
          </p:nvSpPr>
          <p:spPr>
            <a:xfrm flipH="false" flipV="false" rot="0">
              <a:off x="0" y="0"/>
              <a:ext cx="1947767" cy="1930020"/>
            </a:xfrm>
            <a:custGeom>
              <a:avLst/>
              <a:gdLst/>
              <a:ahLst/>
              <a:cxnLst/>
              <a:rect r="r" b="b" t="t" l="l"/>
              <a:pathLst>
                <a:path h="1930020" w="1947767">
                  <a:moveTo>
                    <a:pt x="32715" y="0"/>
                  </a:moveTo>
                  <a:lnTo>
                    <a:pt x="1915052" y="0"/>
                  </a:lnTo>
                  <a:cubicBezTo>
                    <a:pt x="1923729" y="0"/>
                    <a:pt x="1932050" y="3447"/>
                    <a:pt x="1938185" y="9582"/>
                  </a:cubicBezTo>
                  <a:cubicBezTo>
                    <a:pt x="1944320" y="15717"/>
                    <a:pt x="1947767" y="24038"/>
                    <a:pt x="1947767" y="32715"/>
                  </a:cubicBezTo>
                  <a:lnTo>
                    <a:pt x="1947767" y="1897306"/>
                  </a:lnTo>
                  <a:cubicBezTo>
                    <a:pt x="1947767" y="1905982"/>
                    <a:pt x="1944320" y="1914303"/>
                    <a:pt x="1938185" y="1920438"/>
                  </a:cubicBezTo>
                  <a:cubicBezTo>
                    <a:pt x="1932050" y="1926574"/>
                    <a:pt x="1923729" y="1930020"/>
                    <a:pt x="1915052" y="1930020"/>
                  </a:cubicBezTo>
                  <a:lnTo>
                    <a:pt x="32715" y="1930020"/>
                  </a:lnTo>
                  <a:cubicBezTo>
                    <a:pt x="24038" y="1930020"/>
                    <a:pt x="15717" y="1926574"/>
                    <a:pt x="9582" y="1920438"/>
                  </a:cubicBezTo>
                  <a:cubicBezTo>
                    <a:pt x="3447" y="1914303"/>
                    <a:pt x="0" y="1905982"/>
                    <a:pt x="0" y="1897306"/>
                  </a:cubicBezTo>
                  <a:lnTo>
                    <a:pt x="0" y="32715"/>
                  </a:lnTo>
                  <a:cubicBezTo>
                    <a:pt x="0" y="24038"/>
                    <a:pt x="3447" y="15717"/>
                    <a:pt x="9582" y="9582"/>
                  </a:cubicBezTo>
                  <a:cubicBezTo>
                    <a:pt x="15717" y="3447"/>
                    <a:pt x="24038" y="0"/>
                    <a:pt x="32715" y="0"/>
                  </a:cubicBezTo>
                  <a:close/>
                </a:path>
              </a:pathLst>
            </a:custGeom>
            <a:solidFill>
              <a:srgbClr val="2A3066">
                <a:alpha val="55686"/>
              </a:srgbClr>
            </a:solidFill>
          </p:spPr>
        </p:sp>
        <p:sp>
          <p:nvSpPr>
            <p:cNvPr name="TextBox 7" id="7"/>
            <p:cNvSpPr txBox="true"/>
            <p:nvPr/>
          </p:nvSpPr>
          <p:spPr>
            <a:xfrm>
              <a:off x="0" y="-66675"/>
              <a:ext cx="1947767" cy="1996695"/>
            </a:xfrm>
            <a:prstGeom prst="rect">
              <a:avLst/>
            </a:prstGeom>
          </p:spPr>
          <p:txBody>
            <a:bodyPr anchor="ctr" rtlCol="false" tIns="50800" lIns="50800" bIns="50800" rIns="50800"/>
            <a:lstStyle/>
            <a:p>
              <a:pPr algn="ctr">
                <a:lnSpc>
                  <a:spcPts val="2921"/>
                </a:lnSpc>
              </a:pPr>
            </a:p>
          </p:txBody>
        </p:sp>
      </p:grpSp>
      <p:grpSp>
        <p:nvGrpSpPr>
          <p:cNvPr name="Group 8" id="8"/>
          <p:cNvGrpSpPr/>
          <p:nvPr/>
        </p:nvGrpSpPr>
        <p:grpSpPr>
          <a:xfrm rot="0">
            <a:off x="2868481" y="1203330"/>
            <a:ext cx="12644055" cy="1114776"/>
            <a:chOff x="0" y="0"/>
            <a:chExt cx="4162728" cy="367011"/>
          </a:xfrm>
        </p:grpSpPr>
        <p:sp>
          <p:nvSpPr>
            <p:cNvPr name="Freeform 9" id="9"/>
            <p:cNvSpPr/>
            <p:nvPr/>
          </p:nvSpPr>
          <p:spPr>
            <a:xfrm flipH="false" flipV="false" rot="0">
              <a:off x="0" y="0"/>
              <a:ext cx="4162728" cy="367011"/>
            </a:xfrm>
            <a:custGeom>
              <a:avLst/>
              <a:gdLst/>
              <a:ahLst/>
              <a:cxnLst/>
              <a:rect r="r" b="b" t="t" l="l"/>
              <a:pathLst>
                <a:path h="367011" w="4162728">
                  <a:moveTo>
                    <a:pt x="15307" y="0"/>
                  </a:moveTo>
                  <a:lnTo>
                    <a:pt x="4147420" y="0"/>
                  </a:lnTo>
                  <a:cubicBezTo>
                    <a:pt x="4151480" y="0"/>
                    <a:pt x="4155374" y="1613"/>
                    <a:pt x="4158245" y="4483"/>
                  </a:cubicBezTo>
                  <a:cubicBezTo>
                    <a:pt x="4161115" y="7354"/>
                    <a:pt x="4162728" y="11248"/>
                    <a:pt x="4162728" y="15307"/>
                  </a:cubicBezTo>
                  <a:lnTo>
                    <a:pt x="4162728" y="351704"/>
                  </a:lnTo>
                  <a:cubicBezTo>
                    <a:pt x="4162728" y="355763"/>
                    <a:pt x="4161115" y="359657"/>
                    <a:pt x="4158245" y="362528"/>
                  </a:cubicBezTo>
                  <a:cubicBezTo>
                    <a:pt x="4155374" y="365398"/>
                    <a:pt x="4151480" y="367011"/>
                    <a:pt x="4147420" y="367011"/>
                  </a:cubicBezTo>
                  <a:lnTo>
                    <a:pt x="15307" y="367011"/>
                  </a:lnTo>
                  <a:cubicBezTo>
                    <a:pt x="11248" y="367011"/>
                    <a:pt x="7354" y="365398"/>
                    <a:pt x="4483" y="362528"/>
                  </a:cubicBezTo>
                  <a:cubicBezTo>
                    <a:pt x="1613" y="359657"/>
                    <a:pt x="0" y="355763"/>
                    <a:pt x="0" y="35170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0" id="10"/>
            <p:cNvSpPr txBox="true"/>
            <p:nvPr/>
          </p:nvSpPr>
          <p:spPr>
            <a:xfrm>
              <a:off x="0" y="-66675"/>
              <a:ext cx="4162728" cy="43368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11" id="11"/>
          <p:cNvSpPr/>
          <p:nvPr/>
        </p:nvSpPr>
        <p:spPr>
          <a:xfrm flipH="false" flipV="false" rot="0">
            <a:off x="5518927" y="2499081"/>
            <a:ext cx="546906" cy="621147"/>
          </a:xfrm>
          <a:custGeom>
            <a:avLst/>
            <a:gdLst/>
            <a:ahLst/>
            <a:cxnLst/>
            <a:rect r="r" b="b" t="t" l="l"/>
            <a:pathLst>
              <a:path h="621147" w="546906">
                <a:moveTo>
                  <a:pt x="0" y="0"/>
                </a:moveTo>
                <a:lnTo>
                  <a:pt x="546906" y="0"/>
                </a:lnTo>
                <a:lnTo>
                  <a:pt x="546906" y="621146"/>
                </a:lnTo>
                <a:lnTo>
                  <a:pt x="0" y="621146"/>
                </a:lnTo>
                <a:lnTo>
                  <a:pt x="0" y="0"/>
                </a:lnTo>
                <a:close/>
              </a:path>
            </a:pathLst>
          </a:custGeom>
          <a:blipFill>
            <a:blip r:embed="rId3"/>
            <a:stretch>
              <a:fillRect l="0" t="0" r="0" b="0"/>
            </a:stretch>
          </a:blipFill>
        </p:spPr>
      </p:sp>
      <p:sp>
        <p:nvSpPr>
          <p:cNvPr name="TextBox 12" id="12"/>
          <p:cNvSpPr txBox="true"/>
          <p:nvPr/>
        </p:nvSpPr>
        <p:spPr>
          <a:xfrm rot="0">
            <a:off x="2775463" y="2508606"/>
            <a:ext cx="2743464" cy="710816"/>
          </a:xfrm>
          <a:prstGeom prst="rect">
            <a:avLst/>
          </a:prstGeom>
        </p:spPr>
        <p:txBody>
          <a:bodyPr anchor="t" rtlCol="false" tIns="0" lIns="0" bIns="0" rIns="0">
            <a:spAutoFit/>
          </a:bodyPr>
          <a:lstStyle/>
          <a:p>
            <a:pPr algn="ctr">
              <a:lnSpc>
                <a:spcPts val="5148"/>
              </a:lnSpc>
              <a:spcBef>
                <a:spcPct val="0"/>
              </a:spcBef>
            </a:pPr>
            <a:r>
              <a:rPr lang="en-US" b="true" sz="4767">
                <a:solidFill>
                  <a:srgbClr val="FFFFFF"/>
                </a:solidFill>
                <a:latin typeface="Poppins Bold"/>
                <a:ea typeface="Poppins Bold"/>
                <a:cs typeface="Poppins Bold"/>
                <a:sym typeface="Poppins Bold"/>
              </a:rPr>
              <a:t>Power BI</a:t>
            </a:r>
          </a:p>
        </p:txBody>
      </p:sp>
      <p:sp>
        <p:nvSpPr>
          <p:cNvPr name="TextBox 13" id="13"/>
          <p:cNvSpPr txBox="true"/>
          <p:nvPr/>
        </p:nvSpPr>
        <p:spPr>
          <a:xfrm rot="0">
            <a:off x="9596303" y="2508606"/>
            <a:ext cx="2468013" cy="710816"/>
          </a:xfrm>
          <a:prstGeom prst="rect">
            <a:avLst/>
          </a:prstGeom>
        </p:spPr>
        <p:txBody>
          <a:bodyPr anchor="t" rtlCol="false" tIns="0" lIns="0" bIns="0" rIns="0">
            <a:spAutoFit/>
          </a:bodyPr>
          <a:lstStyle/>
          <a:p>
            <a:pPr algn="ctr">
              <a:lnSpc>
                <a:spcPts val="5148"/>
              </a:lnSpc>
              <a:spcBef>
                <a:spcPct val="0"/>
              </a:spcBef>
            </a:pPr>
            <a:r>
              <a:rPr lang="en-US" b="true" sz="4767">
                <a:solidFill>
                  <a:srgbClr val="FFFFFF"/>
                </a:solidFill>
                <a:latin typeface="Poppins Bold"/>
                <a:ea typeface="Poppins Bold"/>
                <a:cs typeface="Poppins Bold"/>
                <a:sym typeface="Poppins Bold"/>
              </a:rPr>
              <a:t>Orange</a:t>
            </a:r>
          </a:p>
        </p:txBody>
      </p:sp>
      <p:sp>
        <p:nvSpPr>
          <p:cNvPr name="TextBox 14" id="14"/>
          <p:cNvSpPr txBox="true"/>
          <p:nvPr/>
        </p:nvSpPr>
        <p:spPr>
          <a:xfrm rot="0">
            <a:off x="3281906" y="3971222"/>
            <a:ext cx="4903348" cy="4730877"/>
          </a:xfrm>
          <a:prstGeom prst="rect">
            <a:avLst/>
          </a:prstGeom>
        </p:spPr>
        <p:txBody>
          <a:bodyPr anchor="t" rtlCol="false" tIns="0" lIns="0" bIns="0" rIns="0">
            <a:spAutoFit/>
          </a:bodyPr>
          <a:lstStyle/>
          <a:p>
            <a:pPr algn="l">
              <a:lnSpc>
                <a:spcPts val="2484"/>
              </a:lnSpc>
              <a:spcBef>
                <a:spcPct val="0"/>
              </a:spcBef>
            </a:pPr>
            <a:r>
              <a:rPr lang="en-US" sz="2300">
                <a:solidFill>
                  <a:srgbClr val="FFFFFF"/>
                </a:solidFill>
                <a:latin typeface="Poppins"/>
                <a:ea typeface="Poppins"/>
                <a:cs typeface="Poppins"/>
                <a:sym typeface="Poppins"/>
              </a:rPr>
              <a:t>The data science solutions gives marketing clear information based on data, helping them make better decisions about pricing, promotions and which products to emphasise. Using Powe</a:t>
            </a:r>
            <a:r>
              <a:rPr lang="en-US" sz="2300">
                <a:solidFill>
                  <a:srgbClr val="FFFFFF"/>
                </a:solidFill>
                <a:latin typeface="Poppins"/>
                <a:ea typeface="Poppins"/>
                <a:cs typeface="Poppins"/>
                <a:sym typeface="Poppins"/>
              </a:rPr>
              <a:t>r BI dashboards, we found what influenced seasonal sales, the most sold products, and how prices affected their sales rank. Consequently, marketers can organise specific campaigns when new models sell well and think about changing prices for those that do not</a:t>
            </a:r>
            <a:r>
              <a:rPr lang="en-US" sz="2300">
                <a:solidFill>
                  <a:srgbClr val="FFFFFF"/>
                </a:solidFill>
                <a:latin typeface="Poppins"/>
                <a:ea typeface="Poppins"/>
                <a:cs typeface="Poppins"/>
                <a:sym typeface="Poppins"/>
              </a:rPr>
              <a:t>.</a:t>
            </a:r>
          </a:p>
        </p:txBody>
      </p:sp>
      <p:sp>
        <p:nvSpPr>
          <p:cNvPr name="TextBox 15" id="15"/>
          <p:cNvSpPr txBox="true"/>
          <p:nvPr/>
        </p:nvSpPr>
        <p:spPr>
          <a:xfrm rot="0">
            <a:off x="10102746" y="4001507"/>
            <a:ext cx="4903348" cy="4259199"/>
          </a:xfrm>
          <a:prstGeom prst="rect">
            <a:avLst/>
          </a:prstGeom>
        </p:spPr>
        <p:txBody>
          <a:bodyPr anchor="t" rtlCol="false" tIns="0" lIns="0" bIns="0" rIns="0">
            <a:spAutoFit/>
          </a:bodyPr>
          <a:lstStyle/>
          <a:p>
            <a:pPr algn="l">
              <a:lnSpc>
                <a:spcPts val="2807"/>
              </a:lnSpc>
              <a:spcBef>
                <a:spcPct val="0"/>
              </a:spcBef>
            </a:pPr>
            <a:r>
              <a:rPr lang="en-US" sz="2599">
                <a:solidFill>
                  <a:srgbClr val="FFFFFF"/>
                </a:solidFill>
                <a:latin typeface="Poppins"/>
                <a:ea typeface="Poppins"/>
                <a:cs typeface="Poppins"/>
                <a:sym typeface="Poppins"/>
              </a:rPr>
              <a:t>The models offer a way</a:t>
            </a:r>
            <a:r>
              <a:rPr lang="en-US" sz="2599">
                <a:solidFill>
                  <a:srgbClr val="FFFFFF"/>
                </a:solidFill>
                <a:latin typeface="Poppins"/>
                <a:ea typeface="Poppins"/>
                <a:cs typeface="Poppins"/>
                <a:sym typeface="Poppins"/>
              </a:rPr>
              <a:t> to </a:t>
            </a:r>
            <a:r>
              <a:rPr lang="en-US" sz="2599">
                <a:solidFill>
                  <a:srgbClr val="FFFFFF"/>
                </a:solidFill>
                <a:latin typeface="Poppins"/>
                <a:ea typeface="Poppins"/>
                <a:cs typeface="Poppins"/>
                <a:sym typeface="Poppins"/>
              </a:rPr>
              <a:t>fo</a:t>
            </a:r>
            <a:r>
              <a:rPr lang="en-US" sz="2599">
                <a:solidFill>
                  <a:srgbClr val="FFFFFF"/>
                </a:solidFill>
                <a:latin typeface="Poppins"/>
                <a:ea typeface="Poppins"/>
                <a:cs typeface="Poppins"/>
                <a:sym typeface="Poppins"/>
              </a:rPr>
              <a:t>rec</a:t>
            </a:r>
            <a:r>
              <a:rPr lang="en-US" sz="2599">
                <a:solidFill>
                  <a:srgbClr val="FFFFFF"/>
                </a:solidFill>
                <a:latin typeface="Poppins"/>
                <a:ea typeface="Poppins"/>
                <a:cs typeface="Poppins"/>
                <a:sym typeface="Poppins"/>
              </a:rPr>
              <a:t>a</a:t>
            </a:r>
            <a:r>
              <a:rPr lang="en-US" sz="2599">
                <a:solidFill>
                  <a:srgbClr val="FFFFFF"/>
                </a:solidFill>
                <a:latin typeface="Poppins"/>
                <a:ea typeface="Poppins"/>
                <a:cs typeface="Poppins"/>
                <a:sym typeface="Poppins"/>
              </a:rPr>
              <a:t>st sales in </a:t>
            </a:r>
            <a:r>
              <a:rPr lang="en-US" sz="2599">
                <a:solidFill>
                  <a:srgbClr val="FFFFFF"/>
                </a:solidFill>
                <a:latin typeface="Poppins"/>
                <a:ea typeface="Poppins"/>
                <a:cs typeface="Poppins"/>
                <a:sym typeface="Poppins"/>
              </a:rPr>
              <a:t>advanc</a:t>
            </a:r>
            <a:r>
              <a:rPr lang="en-US" sz="2599">
                <a:solidFill>
                  <a:srgbClr val="FFFFFF"/>
                </a:solidFill>
                <a:latin typeface="Poppins"/>
                <a:ea typeface="Poppins"/>
                <a:cs typeface="Poppins"/>
                <a:sym typeface="Poppins"/>
              </a:rPr>
              <a:t>e</a:t>
            </a:r>
            <a:r>
              <a:rPr lang="en-US" sz="2599">
                <a:solidFill>
                  <a:srgbClr val="FFFFFF"/>
                </a:solidFill>
                <a:latin typeface="Poppins"/>
                <a:ea typeface="Poppins"/>
                <a:cs typeface="Poppins"/>
                <a:sym typeface="Poppins"/>
              </a:rPr>
              <a:t>,</a:t>
            </a:r>
            <a:r>
              <a:rPr lang="en-US" sz="2599">
                <a:solidFill>
                  <a:srgbClr val="FFFFFF"/>
                </a:solidFill>
                <a:latin typeface="Poppins"/>
                <a:ea typeface="Poppins"/>
                <a:cs typeface="Poppins"/>
                <a:sym typeface="Poppins"/>
              </a:rPr>
              <a:t> </a:t>
            </a:r>
            <a:r>
              <a:rPr lang="en-US" sz="2599">
                <a:solidFill>
                  <a:srgbClr val="FFFFFF"/>
                </a:solidFill>
                <a:latin typeface="Poppins"/>
                <a:ea typeface="Poppins"/>
                <a:cs typeface="Poppins"/>
                <a:sym typeface="Poppins"/>
              </a:rPr>
              <a:t>spo</a:t>
            </a:r>
            <a:r>
              <a:rPr lang="en-US" sz="2599">
                <a:solidFill>
                  <a:srgbClr val="FFFFFF"/>
                </a:solidFill>
                <a:latin typeface="Poppins"/>
                <a:ea typeface="Poppins"/>
                <a:cs typeface="Poppins"/>
                <a:sym typeface="Poppins"/>
              </a:rPr>
              <a:t>t</a:t>
            </a:r>
            <a:r>
              <a:rPr lang="en-US" sz="2599">
                <a:solidFill>
                  <a:srgbClr val="FFFFFF"/>
                </a:solidFill>
                <a:latin typeface="Poppins"/>
                <a:ea typeface="Poppins"/>
                <a:cs typeface="Poppins"/>
                <a:sym typeface="Poppins"/>
              </a:rPr>
              <a:t> wh</a:t>
            </a:r>
            <a:r>
              <a:rPr lang="en-US" sz="2599">
                <a:solidFill>
                  <a:srgbClr val="FFFFFF"/>
                </a:solidFill>
                <a:latin typeface="Poppins"/>
                <a:ea typeface="Poppins"/>
                <a:cs typeface="Poppins"/>
                <a:sym typeface="Poppins"/>
              </a:rPr>
              <a:t>en sales might fall and take early action to steer the company in the right direction. In the company’s case, i</a:t>
            </a:r>
            <a:r>
              <a:rPr lang="en-US" sz="2599" u="none">
                <a:solidFill>
                  <a:srgbClr val="FFFFFF"/>
                </a:solidFill>
                <a:latin typeface="Poppins"/>
                <a:ea typeface="Poppins"/>
                <a:cs typeface="Poppins"/>
                <a:sym typeface="Poppins"/>
              </a:rPr>
              <a:t>t </a:t>
            </a:r>
            <a:r>
              <a:rPr lang="en-US" sz="2599">
                <a:solidFill>
                  <a:srgbClr val="FFFFFF"/>
                </a:solidFill>
                <a:latin typeface="Poppins"/>
                <a:ea typeface="Poppins"/>
                <a:cs typeface="Poppins"/>
                <a:sym typeface="Poppins"/>
              </a:rPr>
              <a:t>me</a:t>
            </a:r>
            <a:r>
              <a:rPr lang="en-US" sz="2599" u="none">
                <a:solidFill>
                  <a:srgbClr val="FFFFFF"/>
                </a:solidFill>
                <a:latin typeface="Poppins"/>
                <a:ea typeface="Poppins"/>
                <a:cs typeface="Poppins"/>
                <a:sym typeface="Poppins"/>
              </a:rPr>
              <a:t>an</a:t>
            </a:r>
            <a:r>
              <a:rPr lang="en-US" sz="2599">
                <a:solidFill>
                  <a:srgbClr val="FFFFFF"/>
                </a:solidFill>
                <a:latin typeface="Poppins"/>
                <a:ea typeface="Poppins"/>
                <a:cs typeface="Poppins"/>
                <a:sym typeface="Poppins"/>
              </a:rPr>
              <a:t>s b</a:t>
            </a:r>
            <a:r>
              <a:rPr lang="en-US" sz="2599" u="none">
                <a:solidFill>
                  <a:srgbClr val="FFFFFF"/>
                </a:solidFill>
                <a:latin typeface="Poppins"/>
                <a:ea typeface="Poppins"/>
                <a:cs typeface="Poppins"/>
                <a:sym typeface="Poppins"/>
              </a:rPr>
              <a:t>e</a:t>
            </a:r>
            <a:r>
              <a:rPr lang="en-US" sz="2599">
                <a:solidFill>
                  <a:srgbClr val="FFFFFF"/>
                </a:solidFill>
                <a:latin typeface="Poppins"/>
                <a:ea typeface="Poppins"/>
                <a:cs typeface="Poppins"/>
                <a:sym typeface="Poppins"/>
              </a:rPr>
              <a:t>t</a:t>
            </a:r>
            <a:r>
              <a:rPr lang="en-US" sz="2599" u="none">
                <a:solidFill>
                  <a:srgbClr val="FFFFFF"/>
                </a:solidFill>
                <a:latin typeface="Poppins"/>
                <a:ea typeface="Poppins"/>
                <a:cs typeface="Poppins"/>
                <a:sym typeface="Poppins"/>
              </a:rPr>
              <a:t>ter inventory </a:t>
            </a:r>
            <a:r>
              <a:rPr lang="en-US" sz="2599">
                <a:solidFill>
                  <a:srgbClr val="FFFFFF"/>
                </a:solidFill>
                <a:latin typeface="Poppins"/>
                <a:ea typeface="Poppins"/>
                <a:cs typeface="Poppins"/>
                <a:sym typeface="Poppins"/>
              </a:rPr>
              <a:t>le</a:t>
            </a:r>
            <a:r>
              <a:rPr lang="en-US" sz="2599" u="none">
                <a:solidFill>
                  <a:srgbClr val="FFFFFF"/>
                </a:solidFill>
                <a:latin typeface="Poppins"/>
                <a:ea typeface="Poppins"/>
                <a:cs typeface="Poppins"/>
                <a:sym typeface="Poppins"/>
              </a:rPr>
              <a:t>ve</a:t>
            </a:r>
            <a:r>
              <a:rPr lang="en-US" sz="2599">
                <a:solidFill>
                  <a:srgbClr val="FFFFFF"/>
                </a:solidFill>
                <a:latin typeface="Poppins"/>
                <a:ea typeface="Poppins"/>
                <a:cs typeface="Poppins"/>
                <a:sym typeface="Poppins"/>
              </a:rPr>
              <a:t>ls,</a:t>
            </a:r>
            <a:r>
              <a:rPr lang="en-US" sz="2599">
                <a:solidFill>
                  <a:srgbClr val="FFFFFF"/>
                </a:solidFill>
                <a:latin typeface="Poppins"/>
                <a:ea typeface="Poppins"/>
                <a:cs typeface="Poppins"/>
                <a:sym typeface="Poppins"/>
              </a:rPr>
              <a:t> pr</a:t>
            </a:r>
            <a:r>
              <a:rPr lang="en-US" sz="2599" u="none">
                <a:solidFill>
                  <a:srgbClr val="FFFFFF"/>
                </a:solidFill>
                <a:latin typeface="Poppins"/>
                <a:ea typeface="Poppins"/>
                <a:cs typeface="Poppins"/>
                <a:sym typeface="Poppins"/>
              </a:rPr>
              <a:t>o</a:t>
            </a:r>
            <a:r>
              <a:rPr lang="en-US" sz="2599">
                <a:solidFill>
                  <a:srgbClr val="FFFFFF"/>
                </a:solidFill>
                <a:latin typeface="Poppins"/>
                <a:ea typeface="Poppins"/>
                <a:cs typeface="Poppins"/>
                <a:sym typeface="Poppins"/>
              </a:rPr>
              <a:t>per</a:t>
            </a:r>
            <a:r>
              <a:rPr lang="en-US" sz="2599" u="none">
                <a:solidFill>
                  <a:srgbClr val="FFFFFF"/>
                </a:solidFill>
                <a:latin typeface="Poppins"/>
                <a:ea typeface="Poppins"/>
                <a:cs typeface="Poppins"/>
                <a:sym typeface="Poppins"/>
              </a:rPr>
              <a:t> b</a:t>
            </a:r>
            <a:r>
              <a:rPr lang="en-US" sz="2599">
                <a:solidFill>
                  <a:srgbClr val="FFFFFF"/>
                </a:solidFill>
                <a:latin typeface="Poppins"/>
                <a:ea typeface="Poppins"/>
                <a:cs typeface="Poppins"/>
                <a:sym typeface="Poppins"/>
              </a:rPr>
              <a:t>udg</a:t>
            </a:r>
            <a:r>
              <a:rPr lang="en-US" sz="2599" u="none">
                <a:solidFill>
                  <a:srgbClr val="FFFFFF"/>
                </a:solidFill>
                <a:latin typeface="Poppins"/>
                <a:ea typeface="Poppins"/>
                <a:cs typeface="Poppins"/>
                <a:sym typeface="Poppins"/>
              </a:rPr>
              <a:t>eting and </a:t>
            </a:r>
            <a:r>
              <a:rPr lang="en-US" sz="2599">
                <a:solidFill>
                  <a:srgbClr val="FFFFFF"/>
                </a:solidFill>
                <a:latin typeface="Poppins"/>
                <a:ea typeface="Poppins"/>
                <a:cs typeface="Poppins"/>
                <a:sym typeface="Poppins"/>
              </a:rPr>
              <a:t>sma</a:t>
            </a:r>
            <a:r>
              <a:rPr lang="en-US" sz="2599" u="none">
                <a:solidFill>
                  <a:srgbClr val="FFFFFF"/>
                </a:solidFill>
                <a:latin typeface="Poppins"/>
                <a:ea typeface="Poppins"/>
                <a:cs typeface="Poppins"/>
                <a:sym typeface="Poppins"/>
              </a:rPr>
              <a:t>rt</a:t>
            </a:r>
            <a:r>
              <a:rPr lang="en-US" sz="2599">
                <a:solidFill>
                  <a:srgbClr val="FFFFFF"/>
                </a:solidFill>
                <a:latin typeface="Poppins"/>
                <a:ea typeface="Poppins"/>
                <a:cs typeface="Poppins"/>
                <a:sym typeface="Poppins"/>
              </a:rPr>
              <a:t>er</a:t>
            </a:r>
            <a:r>
              <a:rPr lang="en-US" sz="2599" u="none">
                <a:solidFill>
                  <a:srgbClr val="FFFFFF"/>
                </a:solidFill>
                <a:latin typeface="Poppins"/>
                <a:ea typeface="Poppins"/>
                <a:cs typeface="Poppins"/>
                <a:sym typeface="Poppins"/>
              </a:rPr>
              <a:t> </a:t>
            </a:r>
            <a:r>
              <a:rPr lang="en-US" sz="2599">
                <a:solidFill>
                  <a:srgbClr val="FFFFFF"/>
                </a:solidFill>
                <a:latin typeface="Poppins"/>
                <a:ea typeface="Poppins"/>
                <a:cs typeface="Poppins"/>
                <a:sym typeface="Poppins"/>
              </a:rPr>
              <a:t>gr</a:t>
            </a:r>
            <a:r>
              <a:rPr lang="en-US" sz="2599" u="none">
                <a:solidFill>
                  <a:srgbClr val="FFFFFF"/>
                </a:solidFill>
                <a:latin typeface="Poppins"/>
                <a:ea typeface="Poppins"/>
                <a:cs typeface="Poppins"/>
                <a:sym typeface="Poppins"/>
              </a:rPr>
              <a:t>o</a:t>
            </a:r>
            <a:r>
              <a:rPr lang="en-US" sz="2599">
                <a:solidFill>
                  <a:srgbClr val="FFFFFF"/>
                </a:solidFill>
                <a:latin typeface="Poppins"/>
                <a:ea typeface="Poppins"/>
                <a:cs typeface="Poppins"/>
                <a:sym typeface="Poppins"/>
              </a:rPr>
              <a:t>w</a:t>
            </a:r>
            <a:r>
              <a:rPr lang="en-US" sz="2599" u="none">
                <a:solidFill>
                  <a:srgbClr val="FFFFFF"/>
                </a:solidFill>
                <a:latin typeface="Poppins"/>
                <a:ea typeface="Poppins"/>
                <a:cs typeface="Poppins"/>
                <a:sym typeface="Poppins"/>
              </a:rPr>
              <a:t>t</a:t>
            </a:r>
            <a:r>
              <a:rPr lang="en-US" sz="2599">
                <a:solidFill>
                  <a:srgbClr val="FFFFFF"/>
                </a:solidFill>
                <a:latin typeface="Poppins"/>
                <a:ea typeface="Poppins"/>
                <a:cs typeface="Poppins"/>
                <a:sym typeface="Poppins"/>
              </a:rPr>
              <a:t>h</a:t>
            </a:r>
            <a:r>
              <a:rPr lang="en-US" sz="2599">
                <a:solidFill>
                  <a:srgbClr val="FFFFFF"/>
                </a:solidFill>
                <a:latin typeface="Poppins"/>
                <a:ea typeface="Poppins"/>
                <a:cs typeface="Poppins"/>
                <a:sym typeface="Poppins"/>
              </a:rPr>
              <a:t> by ensuring resources go where they are most effective.</a:t>
            </a:r>
          </a:p>
        </p:txBody>
      </p:sp>
      <p:sp>
        <p:nvSpPr>
          <p:cNvPr name="TextBox 16" id="16"/>
          <p:cNvSpPr txBox="true"/>
          <p:nvPr/>
        </p:nvSpPr>
        <p:spPr>
          <a:xfrm rot="0">
            <a:off x="3069709" y="1222380"/>
            <a:ext cx="12627370" cy="976209"/>
          </a:xfrm>
          <a:prstGeom prst="rect">
            <a:avLst/>
          </a:prstGeom>
        </p:spPr>
        <p:txBody>
          <a:bodyPr anchor="t" rtlCol="false" tIns="0" lIns="0" bIns="0" rIns="0">
            <a:spAutoFit/>
          </a:bodyPr>
          <a:lstStyle/>
          <a:p>
            <a:pPr algn="l">
              <a:lnSpc>
                <a:spcPts val="3705"/>
              </a:lnSpc>
              <a:spcBef>
                <a:spcPct val="0"/>
              </a:spcBef>
            </a:pPr>
            <a:r>
              <a:rPr lang="en-US" b="true" sz="3430">
                <a:solidFill>
                  <a:srgbClr val="FCFBFA"/>
                </a:solidFill>
                <a:latin typeface="Poppins Bold"/>
                <a:ea typeface="Poppins Bold"/>
                <a:cs typeface="Poppins Bold"/>
                <a:sym typeface="Poppins Bold"/>
              </a:rPr>
              <a:t>Value of the business solution</a:t>
            </a:r>
            <a:r>
              <a:rPr lang="en-US" sz="3430">
                <a:solidFill>
                  <a:srgbClr val="FCFBFA"/>
                </a:solidFill>
                <a:latin typeface="Poppins"/>
                <a:ea typeface="Poppins"/>
                <a:cs typeface="Poppins"/>
                <a:sym typeface="Poppins"/>
              </a:rPr>
              <a:t> to th</a:t>
            </a:r>
            <a:r>
              <a:rPr lang="en-US" sz="3430">
                <a:solidFill>
                  <a:srgbClr val="FCFBFA"/>
                </a:solidFill>
                <a:latin typeface="Poppins"/>
                <a:ea typeface="Poppins"/>
                <a:cs typeface="Poppins"/>
                <a:sym typeface="Poppins"/>
              </a:rPr>
              <a:t>e ma</a:t>
            </a:r>
            <a:r>
              <a:rPr lang="en-US" sz="3430">
                <a:solidFill>
                  <a:srgbClr val="FCFBFA"/>
                </a:solidFill>
                <a:latin typeface="Poppins"/>
                <a:ea typeface="Poppins"/>
                <a:cs typeface="Poppins"/>
                <a:sym typeface="Poppins"/>
              </a:rPr>
              <a:t>rke</a:t>
            </a:r>
            <a:r>
              <a:rPr lang="en-US" sz="3430">
                <a:solidFill>
                  <a:srgbClr val="FCFBFA"/>
                </a:solidFill>
                <a:latin typeface="Poppins"/>
                <a:ea typeface="Poppins"/>
                <a:cs typeface="Poppins"/>
                <a:sym typeface="Poppins"/>
              </a:rPr>
              <a:t>tin</a:t>
            </a:r>
            <a:r>
              <a:rPr lang="en-US" sz="3430">
                <a:solidFill>
                  <a:srgbClr val="FCFBFA"/>
                </a:solidFill>
                <a:latin typeface="Poppins"/>
                <a:ea typeface="Poppins"/>
                <a:cs typeface="Poppins"/>
                <a:sym typeface="Poppins"/>
              </a:rPr>
              <a:t>g</a:t>
            </a:r>
            <a:r>
              <a:rPr lang="en-US" sz="3430">
                <a:solidFill>
                  <a:srgbClr val="FCFBFA"/>
                </a:solidFill>
                <a:latin typeface="Poppins"/>
                <a:ea typeface="Poppins"/>
                <a:cs typeface="Poppins"/>
                <a:sym typeface="Poppins"/>
              </a:rPr>
              <a:t> d</a:t>
            </a:r>
            <a:r>
              <a:rPr lang="en-US" sz="3430">
                <a:solidFill>
                  <a:srgbClr val="FCFBFA"/>
                </a:solidFill>
                <a:latin typeface="Poppins"/>
                <a:ea typeface="Poppins"/>
                <a:cs typeface="Poppins"/>
                <a:sym typeface="Poppins"/>
              </a:rPr>
              <a:t>ep</a:t>
            </a:r>
            <a:r>
              <a:rPr lang="en-US" sz="3430">
                <a:solidFill>
                  <a:srgbClr val="FCFBFA"/>
                </a:solidFill>
                <a:latin typeface="Poppins"/>
                <a:ea typeface="Poppins"/>
                <a:cs typeface="Poppins"/>
                <a:sym typeface="Poppins"/>
              </a:rPr>
              <a:t>a</a:t>
            </a:r>
            <a:r>
              <a:rPr lang="en-US" sz="3430">
                <a:solidFill>
                  <a:srgbClr val="FCFBFA"/>
                </a:solidFill>
                <a:latin typeface="Poppins"/>
                <a:ea typeface="Poppins"/>
                <a:cs typeface="Poppins"/>
                <a:sym typeface="Poppins"/>
              </a:rPr>
              <a:t>rtm</a:t>
            </a:r>
            <a:r>
              <a:rPr lang="en-US" sz="3430">
                <a:solidFill>
                  <a:srgbClr val="FCFBFA"/>
                </a:solidFill>
                <a:latin typeface="Poppins"/>
                <a:ea typeface="Poppins"/>
                <a:cs typeface="Poppins"/>
                <a:sym typeface="Poppins"/>
              </a:rPr>
              <a:t>ent </a:t>
            </a:r>
            <a:r>
              <a:rPr lang="en-US" sz="3430">
                <a:solidFill>
                  <a:srgbClr val="FCFBFA"/>
                </a:solidFill>
                <a:latin typeface="Poppins"/>
                <a:ea typeface="Poppins"/>
                <a:cs typeface="Poppins"/>
                <a:sym typeface="Poppins"/>
              </a:rPr>
              <a:t>and</a:t>
            </a:r>
            <a:r>
              <a:rPr lang="en-US" sz="3430">
                <a:solidFill>
                  <a:srgbClr val="FCFBFA"/>
                </a:solidFill>
                <a:latin typeface="Poppins"/>
                <a:ea typeface="Poppins"/>
                <a:cs typeface="Poppins"/>
                <a:sym typeface="Poppins"/>
              </a:rPr>
              <a:t> </a:t>
            </a:r>
            <a:r>
              <a:rPr lang="en-US" sz="3430">
                <a:solidFill>
                  <a:srgbClr val="FCFBFA"/>
                </a:solidFill>
                <a:latin typeface="Poppins"/>
                <a:ea typeface="Poppins"/>
                <a:cs typeface="Poppins"/>
                <a:sym typeface="Poppins"/>
              </a:rPr>
              <a:t>th</a:t>
            </a:r>
            <a:r>
              <a:rPr lang="en-US" sz="3430">
                <a:solidFill>
                  <a:srgbClr val="FCFBFA"/>
                </a:solidFill>
                <a:latin typeface="Poppins"/>
                <a:ea typeface="Poppins"/>
                <a:cs typeface="Poppins"/>
                <a:sym typeface="Poppins"/>
              </a:rPr>
              <a:t>e c</a:t>
            </a:r>
            <a:r>
              <a:rPr lang="en-US" sz="3430">
                <a:solidFill>
                  <a:srgbClr val="FCFBFA"/>
                </a:solidFill>
                <a:latin typeface="Poppins"/>
                <a:ea typeface="Poppins"/>
                <a:cs typeface="Poppins"/>
                <a:sym typeface="Poppins"/>
              </a:rPr>
              <a:t>omp</a:t>
            </a:r>
            <a:r>
              <a:rPr lang="en-US" sz="3430">
                <a:solidFill>
                  <a:srgbClr val="FCFBFA"/>
                </a:solidFill>
                <a:latin typeface="Poppins"/>
                <a:ea typeface="Poppins"/>
                <a:cs typeface="Poppins"/>
                <a:sym typeface="Poppins"/>
              </a:rPr>
              <a:t>an</a:t>
            </a:r>
            <a:r>
              <a:rPr lang="en-US" sz="3430">
                <a:solidFill>
                  <a:srgbClr val="FCFBFA"/>
                </a:solidFill>
                <a:latin typeface="Poppins"/>
                <a:ea typeface="Poppins"/>
                <a:cs typeface="Poppins"/>
                <a:sym typeface="Poppins"/>
              </a:rPr>
              <a:t>y.</a:t>
            </a:r>
          </a:p>
        </p:txBody>
      </p:sp>
      <p:sp>
        <p:nvSpPr>
          <p:cNvPr name="Freeform 17" id="17"/>
          <p:cNvSpPr/>
          <p:nvPr/>
        </p:nvSpPr>
        <p:spPr>
          <a:xfrm flipH="false" flipV="false" rot="0">
            <a:off x="12064316" y="2569797"/>
            <a:ext cx="663447" cy="649625"/>
          </a:xfrm>
          <a:custGeom>
            <a:avLst/>
            <a:gdLst/>
            <a:ahLst/>
            <a:cxnLst/>
            <a:rect r="r" b="b" t="t" l="l"/>
            <a:pathLst>
              <a:path h="649625" w="663447">
                <a:moveTo>
                  <a:pt x="0" y="0"/>
                </a:moveTo>
                <a:lnTo>
                  <a:pt x="663446" y="0"/>
                </a:lnTo>
                <a:lnTo>
                  <a:pt x="663446" y="649625"/>
                </a:lnTo>
                <a:lnTo>
                  <a:pt x="0" y="649625"/>
                </a:lnTo>
                <a:lnTo>
                  <a:pt x="0" y="0"/>
                </a:lnTo>
                <a:close/>
              </a:path>
            </a:pathLst>
          </a:custGeom>
          <a:blipFill>
            <a:blip r:embed="rId4"/>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16290806" y="4221921"/>
            <a:ext cx="795713" cy="845379"/>
          </a:xfrm>
          <a:custGeom>
            <a:avLst/>
            <a:gdLst/>
            <a:ahLst/>
            <a:cxnLst/>
            <a:rect r="r" b="b" t="t" l="l"/>
            <a:pathLst>
              <a:path h="845379" w="795713">
                <a:moveTo>
                  <a:pt x="0" y="0"/>
                </a:moveTo>
                <a:lnTo>
                  <a:pt x="795713" y="0"/>
                </a:lnTo>
                <a:lnTo>
                  <a:pt x="795713" y="845379"/>
                </a:lnTo>
                <a:lnTo>
                  <a:pt x="0" y="8453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028700" y="4371262"/>
            <a:ext cx="15503070" cy="885825"/>
          </a:xfrm>
          <a:prstGeom prst="rect">
            <a:avLst/>
          </a:prstGeom>
        </p:spPr>
        <p:txBody>
          <a:bodyPr anchor="t" rtlCol="false" tIns="0" lIns="0" bIns="0" rIns="0">
            <a:spAutoFit/>
          </a:bodyPr>
          <a:lstStyle/>
          <a:p>
            <a:pPr algn="l">
              <a:lnSpc>
                <a:spcPts val="6658"/>
              </a:lnSpc>
            </a:pPr>
            <a:r>
              <a:rPr lang="en-US" sz="5548" b="true">
                <a:solidFill>
                  <a:srgbClr val="FFFFFF"/>
                </a:solidFill>
                <a:latin typeface="Poppins Bold"/>
                <a:ea typeface="Poppins Bold"/>
                <a:cs typeface="Poppins Bold"/>
                <a:sym typeface="Poppins Bold"/>
              </a:rPr>
              <a:t>The Value of The Collected Data &amp; Insights</a:t>
            </a:r>
          </a:p>
        </p:txBody>
      </p:sp>
    </p:spTree>
  </p:cSld>
  <p:clrMapOvr>
    <a:masterClrMapping/>
  </p:clrMapOvr>
</p:sld>
</file>

<file path=ppt/slides/slide30.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sp>
        <p:nvSpPr>
          <p:cNvPr name="TextBox 2" id="2"/>
          <p:cNvSpPr txBox="true"/>
          <p:nvPr/>
        </p:nvSpPr>
        <p:spPr>
          <a:xfrm rot="0">
            <a:off x="2868481" y="1870928"/>
            <a:ext cx="3388668" cy="435747"/>
          </a:xfrm>
          <a:prstGeom prst="rect">
            <a:avLst/>
          </a:prstGeom>
        </p:spPr>
        <p:txBody>
          <a:bodyPr anchor="t" rtlCol="false" tIns="0" lIns="0" bIns="0" rIns="0">
            <a:spAutoFit/>
          </a:bodyPr>
          <a:lstStyle/>
          <a:p>
            <a:pPr algn="l">
              <a:lnSpc>
                <a:spcPts val="3204"/>
              </a:lnSpc>
              <a:spcBef>
                <a:spcPct val="0"/>
              </a:spcBef>
            </a:pPr>
            <a:r>
              <a:rPr lang="en-US" b="true" sz="2967" i="true">
                <a:solidFill>
                  <a:srgbClr val="FFFFFF"/>
                </a:solidFill>
                <a:latin typeface="Poppins Bold Italics"/>
                <a:ea typeface="Poppins Bold Italics"/>
                <a:cs typeface="Poppins Bold Italics"/>
                <a:sym typeface="Poppins Bold Italics"/>
              </a:rPr>
              <a:t> Brand Managers</a:t>
            </a:r>
          </a:p>
        </p:txBody>
      </p:sp>
      <p:sp>
        <p:nvSpPr>
          <p:cNvPr name="TextBox 3" id="3"/>
          <p:cNvSpPr txBox="true"/>
          <p:nvPr/>
        </p:nvSpPr>
        <p:spPr>
          <a:xfrm rot="0">
            <a:off x="2868481" y="1028700"/>
            <a:ext cx="12067759" cy="724368"/>
          </a:xfrm>
          <a:prstGeom prst="rect">
            <a:avLst/>
          </a:prstGeom>
        </p:spPr>
        <p:txBody>
          <a:bodyPr anchor="t" rtlCol="false" tIns="0" lIns="0" bIns="0" rIns="0">
            <a:spAutoFit/>
          </a:bodyPr>
          <a:lstStyle/>
          <a:p>
            <a:pPr algn="l">
              <a:lnSpc>
                <a:spcPts val="2733"/>
              </a:lnSpc>
              <a:spcBef>
                <a:spcPct val="0"/>
              </a:spcBef>
            </a:pPr>
            <a:r>
              <a:rPr lang="en-US" sz="2530">
                <a:solidFill>
                  <a:srgbClr val="FCFBFA"/>
                </a:solidFill>
                <a:latin typeface="Poppins"/>
                <a:ea typeface="Poppins"/>
                <a:cs typeface="Poppins"/>
                <a:sym typeface="Poppins"/>
              </a:rPr>
              <a:t>The value of the collected data and extracted insights for </a:t>
            </a:r>
            <a:r>
              <a:rPr lang="en-US" sz="2530">
                <a:solidFill>
                  <a:srgbClr val="FCFBFA"/>
                </a:solidFill>
                <a:latin typeface="Poppins"/>
                <a:ea typeface="Poppins"/>
                <a:cs typeface="Poppins"/>
                <a:sym typeface="Poppins"/>
              </a:rPr>
              <a:t>Brand Mana</a:t>
            </a:r>
            <a:r>
              <a:rPr lang="en-US" sz="2530">
                <a:solidFill>
                  <a:srgbClr val="FCFBFA"/>
                </a:solidFill>
                <a:latin typeface="Poppins"/>
                <a:ea typeface="Poppins"/>
                <a:cs typeface="Poppins"/>
                <a:sym typeface="Poppins"/>
              </a:rPr>
              <a:t>gers,</a:t>
            </a:r>
            <a:r>
              <a:rPr lang="en-US" sz="2530">
                <a:solidFill>
                  <a:srgbClr val="FCFBFA"/>
                </a:solidFill>
                <a:latin typeface="Poppins"/>
                <a:ea typeface="Poppins"/>
                <a:cs typeface="Poppins"/>
                <a:sym typeface="Poppins"/>
              </a:rPr>
              <a:t> Sales Managers, </a:t>
            </a:r>
            <a:r>
              <a:rPr lang="en-US" sz="2530">
                <a:solidFill>
                  <a:srgbClr val="FCFBFA"/>
                </a:solidFill>
                <a:latin typeface="Poppins"/>
                <a:ea typeface="Poppins"/>
                <a:cs typeface="Poppins"/>
                <a:sym typeface="Poppins"/>
              </a:rPr>
              <a:t>and</a:t>
            </a:r>
            <a:r>
              <a:rPr lang="en-US" sz="2530">
                <a:solidFill>
                  <a:srgbClr val="FCFBFA"/>
                </a:solidFill>
                <a:latin typeface="Poppins"/>
                <a:ea typeface="Poppins"/>
                <a:cs typeface="Poppins"/>
                <a:sym typeface="Poppins"/>
              </a:rPr>
              <a:t> C</a:t>
            </a:r>
            <a:r>
              <a:rPr lang="en-US" sz="2530">
                <a:solidFill>
                  <a:srgbClr val="FCFBFA"/>
                </a:solidFill>
                <a:latin typeface="Poppins"/>
                <a:ea typeface="Poppins"/>
                <a:cs typeface="Poppins"/>
                <a:sym typeface="Poppins"/>
              </a:rPr>
              <a:t>omp</a:t>
            </a:r>
            <a:r>
              <a:rPr lang="en-US" sz="2530">
                <a:solidFill>
                  <a:srgbClr val="FCFBFA"/>
                </a:solidFill>
                <a:latin typeface="Poppins"/>
                <a:ea typeface="Poppins"/>
                <a:cs typeface="Poppins"/>
                <a:sym typeface="Poppins"/>
              </a:rPr>
              <a:t>an</a:t>
            </a:r>
            <a:r>
              <a:rPr lang="en-US" sz="2530">
                <a:solidFill>
                  <a:srgbClr val="FCFBFA"/>
                </a:solidFill>
                <a:latin typeface="Poppins"/>
                <a:ea typeface="Poppins"/>
                <a:cs typeface="Poppins"/>
                <a:sym typeface="Poppins"/>
              </a:rPr>
              <a:t>y Executives</a:t>
            </a:r>
          </a:p>
        </p:txBody>
      </p:sp>
      <p:grpSp>
        <p:nvGrpSpPr>
          <p:cNvPr name="Group 4" id="4"/>
          <p:cNvGrpSpPr/>
          <p:nvPr/>
        </p:nvGrpSpPr>
        <p:grpSpPr>
          <a:xfrm rot="0">
            <a:off x="2868481" y="2634085"/>
            <a:ext cx="12644055" cy="1891876"/>
            <a:chOff x="0" y="0"/>
            <a:chExt cx="4162728" cy="622851"/>
          </a:xfrm>
        </p:grpSpPr>
        <p:sp>
          <p:nvSpPr>
            <p:cNvPr name="Freeform 5" id="5"/>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6" id="6"/>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7" id="7"/>
          <p:cNvSpPr txBox="true"/>
          <p:nvPr/>
        </p:nvSpPr>
        <p:spPr>
          <a:xfrm rot="0">
            <a:off x="3110120" y="2753768"/>
            <a:ext cx="12067759" cy="1597620"/>
          </a:xfrm>
          <a:prstGeom prst="rect">
            <a:avLst/>
          </a:prstGeom>
        </p:spPr>
        <p:txBody>
          <a:bodyPr anchor="t" rtlCol="false" tIns="0" lIns="0" bIns="0" rIns="0">
            <a:spAutoFit/>
          </a:bodyPr>
          <a:lstStyle/>
          <a:p>
            <a:pPr algn="l">
              <a:lnSpc>
                <a:spcPts val="2517"/>
              </a:lnSpc>
              <a:spcBef>
                <a:spcPct val="0"/>
              </a:spcBef>
            </a:pPr>
            <a:r>
              <a:rPr lang="en-US" sz="2330">
                <a:solidFill>
                  <a:srgbClr val="FCFBFA"/>
                </a:solidFill>
                <a:latin typeface="Poppins"/>
                <a:ea typeface="Poppins"/>
                <a:cs typeface="Poppins"/>
                <a:sym typeface="Poppins"/>
              </a:rPr>
              <a:t>Brand managers are responsible for positioning and maintaining the image of each product line. The Power BI analysis revealed that ROG had the highest total sales (3.11M) and strong average performance, especially in Ap</a:t>
            </a:r>
            <a:r>
              <a:rPr lang="en-US" sz="2330">
                <a:solidFill>
                  <a:srgbClr val="FCFBFA"/>
                </a:solidFill>
                <a:latin typeface="Poppins"/>
                <a:ea typeface="Poppins"/>
                <a:cs typeface="Poppins"/>
                <a:sym typeface="Poppins"/>
              </a:rPr>
              <a:t>ril and December. TUF and Z</a:t>
            </a:r>
            <a:r>
              <a:rPr lang="en-US" sz="2330">
                <a:solidFill>
                  <a:srgbClr val="FCFBFA"/>
                </a:solidFill>
                <a:latin typeface="Poppins"/>
                <a:ea typeface="Poppins"/>
                <a:cs typeface="Poppins"/>
                <a:sym typeface="Poppins"/>
              </a:rPr>
              <a:t>ephyrus,</a:t>
            </a:r>
            <a:r>
              <a:rPr lang="en-US" sz="2330">
                <a:solidFill>
                  <a:srgbClr val="FCFBFA"/>
                </a:solidFill>
                <a:latin typeface="Poppins"/>
                <a:ea typeface="Poppins"/>
                <a:cs typeface="Poppins"/>
                <a:sym typeface="Poppins"/>
              </a:rPr>
              <a:t> while still competitive, showed rising price-to-rank ratios, sign</a:t>
            </a:r>
            <a:r>
              <a:rPr lang="en-US" sz="2330">
                <a:solidFill>
                  <a:srgbClr val="FCFBFA"/>
                </a:solidFill>
                <a:latin typeface="Poppins"/>
                <a:ea typeface="Poppins"/>
                <a:cs typeface="Poppins"/>
                <a:sym typeface="Poppins"/>
              </a:rPr>
              <a:t>aling</a:t>
            </a:r>
            <a:r>
              <a:rPr lang="en-US" sz="2330">
                <a:solidFill>
                  <a:srgbClr val="FCFBFA"/>
                </a:solidFill>
                <a:latin typeface="Poppins"/>
                <a:ea typeface="Poppins"/>
                <a:cs typeface="Poppins"/>
                <a:sym typeface="Poppins"/>
              </a:rPr>
              <a:t> weaker</a:t>
            </a:r>
            <a:r>
              <a:rPr lang="en-US" sz="2330">
                <a:solidFill>
                  <a:srgbClr val="FCFBFA"/>
                </a:solidFill>
                <a:latin typeface="Poppins"/>
                <a:ea typeface="Poppins"/>
                <a:cs typeface="Poppins"/>
                <a:sym typeface="Poppins"/>
              </a:rPr>
              <a:t> sales relative to price in the second half of the year.</a:t>
            </a:r>
          </a:p>
        </p:txBody>
      </p:sp>
      <p:grpSp>
        <p:nvGrpSpPr>
          <p:cNvPr name="Group 8" id="8"/>
          <p:cNvGrpSpPr/>
          <p:nvPr/>
        </p:nvGrpSpPr>
        <p:grpSpPr>
          <a:xfrm rot="0">
            <a:off x="2868481" y="5000255"/>
            <a:ext cx="12644055" cy="1891876"/>
            <a:chOff x="0" y="0"/>
            <a:chExt cx="4162728" cy="622851"/>
          </a:xfrm>
        </p:grpSpPr>
        <p:sp>
          <p:nvSpPr>
            <p:cNvPr name="Freeform 9" id="9"/>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0" id="10"/>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11" id="11"/>
          <p:cNvGrpSpPr/>
          <p:nvPr/>
        </p:nvGrpSpPr>
        <p:grpSpPr>
          <a:xfrm rot="0">
            <a:off x="2868481" y="7366424"/>
            <a:ext cx="12644055" cy="1891876"/>
            <a:chOff x="0" y="0"/>
            <a:chExt cx="4162728" cy="622851"/>
          </a:xfrm>
        </p:grpSpPr>
        <p:sp>
          <p:nvSpPr>
            <p:cNvPr name="Freeform 12" id="12"/>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3" id="13"/>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14" id="14"/>
          <p:cNvSpPr txBox="true"/>
          <p:nvPr/>
        </p:nvSpPr>
        <p:spPr>
          <a:xfrm rot="0">
            <a:off x="3110120" y="7486106"/>
            <a:ext cx="12233831" cy="1440267"/>
          </a:xfrm>
          <a:prstGeom prst="rect">
            <a:avLst/>
          </a:prstGeom>
        </p:spPr>
        <p:txBody>
          <a:bodyPr anchor="t" rtlCol="false" tIns="0" lIns="0" bIns="0" rIns="0">
            <a:spAutoFit/>
          </a:bodyPr>
          <a:lstStyle/>
          <a:p>
            <a:pPr algn="l">
              <a:lnSpc>
                <a:spcPts val="2841"/>
              </a:lnSpc>
              <a:spcBef>
                <a:spcPct val="0"/>
              </a:spcBef>
            </a:pPr>
            <a:r>
              <a:rPr lang="en-US" sz="2630">
                <a:solidFill>
                  <a:srgbClr val="FCFBFA"/>
                </a:solidFill>
                <a:latin typeface="Poppins"/>
                <a:ea typeface="Poppins"/>
                <a:cs typeface="Poppins"/>
                <a:sym typeface="Poppins"/>
              </a:rPr>
              <a:t>It shows whether a brand’s pricing aligns with customer response. When Zephyrus showed increased price differences but worsened rank, brand managers can </a:t>
            </a:r>
            <a:r>
              <a:rPr lang="en-US" sz="2630">
                <a:solidFill>
                  <a:srgbClr val="FCFBFA"/>
                </a:solidFill>
                <a:latin typeface="Poppins"/>
                <a:ea typeface="Poppins"/>
                <a:cs typeface="Poppins"/>
                <a:sym typeface="Poppins"/>
              </a:rPr>
              <a:t>infer that </a:t>
            </a:r>
            <a:r>
              <a:rPr lang="en-US" sz="2630">
                <a:solidFill>
                  <a:srgbClr val="FCFBFA"/>
                </a:solidFill>
                <a:latin typeface="Poppins"/>
                <a:ea typeface="Poppins"/>
                <a:cs typeface="Poppins"/>
                <a:sym typeface="Poppins"/>
              </a:rPr>
              <a:t>pr</a:t>
            </a:r>
            <a:r>
              <a:rPr lang="en-US" sz="2630">
                <a:solidFill>
                  <a:srgbClr val="FCFBFA"/>
                </a:solidFill>
                <a:latin typeface="Poppins"/>
                <a:ea typeface="Poppins"/>
                <a:cs typeface="Poppins"/>
                <a:sym typeface="Poppins"/>
              </a:rPr>
              <a:t>ice cuts didn’t boost performance and might sign</a:t>
            </a:r>
            <a:r>
              <a:rPr lang="en-US" sz="2630">
                <a:solidFill>
                  <a:srgbClr val="FCFBFA"/>
                </a:solidFill>
                <a:latin typeface="Poppins"/>
                <a:ea typeface="Poppins"/>
                <a:cs typeface="Poppins"/>
                <a:sym typeface="Poppins"/>
              </a:rPr>
              <a:t>al</a:t>
            </a:r>
            <a:r>
              <a:rPr lang="en-US" sz="2630">
                <a:solidFill>
                  <a:srgbClr val="FCFBFA"/>
                </a:solidFill>
                <a:latin typeface="Poppins"/>
                <a:ea typeface="Poppins"/>
                <a:cs typeface="Poppins"/>
                <a:sym typeface="Poppins"/>
              </a:rPr>
              <a:t> a</a:t>
            </a:r>
            <a:r>
              <a:rPr lang="en-US" sz="2630">
                <a:solidFill>
                  <a:srgbClr val="FCFBFA"/>
                </a:solidFill>
                <a:latin typeface="Poppins"/>
                <a:ea typeface="Poppins"/>
                <a:cs typeface="Poppins"/>
                <a:sym typeface="Poppins"/>
              </a:rPr>
              <a:t> perception issue rather than pricing.</a:t>
            </a:r>
          </a:p>
        </p:txBody>
      </p:sp>
      <p:sp>
        <p:nvSpPr>
          <p:cNvPr name="TextBox 15" id="15"/>
          <p:cNvSpPr txBox="true"/>
          <p:nvPr/>
        </p:nvSpPr>
        <p:spPr>
          <a:xfrm rot="0">
            <a:off x="2930974" y="2325940"/>
            <a:ext cx="997205" cy="317671"/>
          </a:xfrm>
          <a:prstGeom prst="rect">
            <a:avLst/>
          </a:prstGeom>
        </p:spPr>
        <p:txBody>
          <a:bodyPr anchor="t" rtlCol="false" tIns="0" lIns="0" bIns="0" rIns="0">
            <a:spAutoFit/>
          </a:bodyPr>
          <a:lstStyle/>
          <a:p>
            <a:pPr algn="l">
              <a:lnSpc>
                <a:spcPts val="2262"/>
              </a:lnSpc>
              <a:spcBef>
                <a:spcPct val="0"/>
              </a:spcBef>
            </a:pPr>
            <a:r>
              <a:rPr lang="en-US" b="true" sz="2094" i="true">
                <a:solidFill>
                  <a:srgbClr val="70ABCE"/>
                </a:solidFill>
                <a:latin typeface="Poppins Bold Italics"/>
                <a:ea typeface="Poppins Bold Italics"/>
                <a:cs typeface="Poppins Bold Italics"/>
                <a:sym typeface="Poppins Bold Italics"/>
              </a:rPr>
              <a:t>Value: </a:t>
            </a:r>
          </a:p>
        </p:txBody>
      </p:sp>
      <p:sp>
        <p:nvSpPr>
          <p:cNvPr name="TextBox 16" id="16"/>
          <p:cNvSpPr txBox="true"/>
          <p:nvPr/>
        </p:nvSpPr>
        <p:spPr>
          <a:xfrm rot="0">
            <a:off x="3110120" y="5167482"/>
            <a:ext cx="12402416" cy="2019102"/>
          </a:xfrm>
          <a:prstGeom prst="rect">
            <a:avLst/>
          </a:prstGeom>
        </p:spPr>
        <p:txBody>
          <a:bodyPr anchor="t" rtlCol="false" tIns="0" lIns="0" bIns="0" rIns="0">
            <a:spAutoFit/>
          </a:bodyPr>
          <a:lstStyle/>
          <a:p>
            <a:pPr algn="l">
              <a:lnSpc>
                <a:spcPts val="3182"/>
              </a:lnSpc>
            </a:pPr>
            <a:r>
              <a:rPr lang="en-US" sz="2526">
                <a:solidFill>
                  <a:srgbClr val="FCFBFA"/>
                </a:solidFill>
                <a:latin typeface="Poppins"/>
                <a:ea typeface="Poppins"/>
                <a:cs typeface="Poppins"/>
                <a:sym typeface="Poppins"/>
              </a:rPr>
              <a:t>Brand managers can use this to justify more marketing support for ROG during high-performing pe</a:t>
            </a:r>
            <a:r>
              <a:rPr lang="en-US" sz="2526">
                <a:solidFill>
                  <a:srgbClr val="FCFBFA"/>
                </a:solidFill>
                <a:latin typeface="Poppins"/>
                <a:ea typeface="Poppins"/>
                <a:cs typeface="Poppins"/>
                <a:sym typeface="Poppins"/>
              </a:rPr>
              <a:t>riods and reassess how TUF and Z</a:t>
            </a:r>
            <a:r>
              <a:rPr lang="en-US" sz="2526">
                <a:solidFill>
                  <a:srgbClr val="FCFBFA"/>
                </a:solidFill>
                <a:latin typeface="Poppins"/>
                <a:ea typeface="Poppins"/>
                <a:cs typeface="Poppins"/>
                <a:sym typeface="Poppins"/>
              </a:rPr>
              <a:t>ephyrus</a:t>
            </a:r>
            <a:r>
              <a:rPr lang="en-US" sz="2526">
                <a:solidFill>
                  <a:srgbClr val="FCFBFA"/>
                </a:solidFill>
                <a:latin typeface="Poppins"/>
                <a:ea typeface="Poppins"/>
                <a:cs typeface="Poppins"/>
                <a:sym typeface="Poppins"/>
              </a:rPr>
              <a:t> are positioned or promoted, especi</a:t>
            </a:r>
            <a:r>
              <a:rPr lang="en-US" sz="2526">
                <a:solidFill>
                  <a:srgbClr val="FCFBFA"/>
                </a:solidFill>
                <a:latin typeface="Poppins"/>
                <a:ea typeface="Poppins"/>
                <a:cs typeface="Poppins"/>
                <a:sym typeface="Poppins"/>
              </a:rPr>
              <a:t>ally</a:t>
            </a:r>
            <a:r>
              <a:rPr lang="en-US" sz="2526">
                <a:solidFill>
                  <a:srgbClr val="FCFBFA"/>
                </a:solidFill>
                <a:latin typeface="Poppins"/>
                <a:ea typeface="Poppins"/>
                <a:cs typeface="Poppins"/>
                <a:sym typeface="Poppins"/>
              </a:rPr>
              <a:t> as their</a:t>
            </a:r>
            <a:r>
              <a:rPr lang="en-US" sz="2526">
                <a:solidFill>
                  <a:srgbClr val="FCFBFA"/>
                </a:solidFill>
                <a:latin typeface="Poppins"/>
                <a:ea typeface="Poppins"/>
                <a:cs typeface="Poppins"/>
                <a:sym typeface="Poppins"/>
              </a:rPr>
              <a:t> sales rank worsens despite price drops.</a:t>
            </a:r>
          </a:p>
          <a:p>
            <a:pPr algn="l">
              <a:lnSpc>
                <a:spcPts val="3182"/>
              </a:lnSpc>
            </a:pPr>
          </a:p>
        </p:txBody>
      </p:sp>
      <p:sp>
        <p:nvSpPr>
          <p:cNvPr name="TextBox 17" id="17"/>
          <p:cNvSpPr txBox="true"/>
          <p:nvPr/>
        </p:nvSpPr>
        <p:spPr>
          <a:xfrm rot="0">
            <a:off x="2930974" y="4564061"/>
            <a:ext cx="2325782" cy="317671"/>
          </a:xfrm>
          <a:prstGeom prst="rect">
            <a:avLst/>
          </a:prstGeom>
        </p:spPr>
        <p:txBody>
          <a:bodyPr anchor="t" rtlCol="false" tIns="0" lIns="0" bIns="0" rIns="0">
            <a:spAutoFit/>
          </a:bodyPr>
          <a:lstStyle/>
          <a:p>
            <a:pPr algn="l">
              <a:lnSpc>
                <a:spcPts val="2262"/>
              </a:lnSpc>
              <a:spcBef>
                <a:spcPct val="0"/>
              </a:spcBef>
            </a:pPr>
            <a:r>
              <a:rPr lang="en-US" b="true" sz="2094" i="true">
                <a:solidFill>
                  <a:srgbClr val="70ABCE"/>
                </a:solidFill>
                <a:latin typeface="Poppins Bold Italics"/>
                <a:ea typeface="Poppins Bold Italics"/>
                <a:cs typeface="Poppins Bold Italics"/>
                <a:sym typeface="Poppins Bold Italics"/>
              </a:rPr>
              <a:t>Impact of value:</a:t>
            </a:r>
          </a:p>
        </p:txBody>
      </p:sp>
      <p:sp>
        <p:nvSpPr>
          <p:cNvPr name="TextBox 18" id="18"/>
          <p:cNvSpPr txBox="true"/>
          <p:nvPr/>
        </p:nvSpPr>
        <p:spPr>
          <a:xfrm rot="0">
            <a:off x="2930974" y="6996906"/>
            <a:ext cx="2547211" cy="317671"/>
          </a:xfrm>
          <a:prstGeom prst="rect">
            <a:avLst/>
          </a:prstGeom>
        </p:spPr>
        <p:txBody>
          <a:bodyPr anchor="t" rtlCol="false" tIns="0" lIns="0" bIns="0" rIns="0">
            <a:spAutoFit/>
          </a:bodyPr>
          <a:lstStyle/>
          <a:p>
            <a:pPr algn="l">
              <a:lnSpc>
                <a:spcPts val="2262"/>
              </a:lnSpc>
              <a:spcBef>
                <a:spcPct val="0"/>
              </a:spcBef>
            </a:pPr>
            <a:r>
              <a:rPr lang="en-US" b="true" sz="2094" i="true">
                <a:solidFill>
                  <a:srgbClr val="70ABCE"/>
                </a:solidFill>
                <a:latin typeface="Poppins Bold Italics"/>
                <a:ea typeface="Poppins Bold Italics"/>
                <a:cs typeface="Poppins Bold Italics"/>
                <a:sym typeface="Poppins Bold Italics"/>
              </a:rPr>
              <a:t>Why it’s valuable:</a:t>
            </a:r>
          </a:p>
        </p:txBody>
      </p:sp>
    </p:spTree>
  </p:cSld>
  <p:clrMapOvr>
    <a:masterClrMapping/>
  </p:clrMapOvr>
</p:sld>
</file>

<file path=ppt/slides/slide31.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sp>
        <p:nvSpPr>
          <p:cNvPr name="TextBox 2" id="2"/>
          <p:cNvSpPr txBox="true"/>
          <p:nvPr/>
        </p:nvSpPr>
        <p:spPr>
          <a:xfrm rot="0">
            <a:off x="2839906" y="1870928"/>
            <a:ext cx="3388668" cy="435747"/>
          </a:xfrm>
          <a:prstGeom prst="rect">
            <a:avLst/>
          </a:prstGeom>
        </p:spPr>
        <p:txBody>
          <a:bodyPr anchor="t" rtlCol="false" tIns="0" lIns="0" bIns="0" rIns="0">
            <a:spAutoFit/>
          </a:bodyPr>
          <a:lstStyle/>
          <a:p>
            <a:pPr algn="l">
              <a:lnSpc>
                <a:spcPts val="3204"/>
              </a:lnSpc>
              <a:spcBef>
                <a:spcPct val="0"/>
              </a:spcBef>
            </a:pPr>
            <a:r>
              <a:rPr lang="en-US" b="true" sz="2967" i="true">
                <a:solidFill>
                  <a:srgbClr val="FFFFFF"/>
                </a:solidFill>
                <a:latin typeface="Poppins Bold Italics"/>
                <a:ea typeface="Poppins Bold Italics"/>
                <a:cs typeface="Poppins Bold Italics"/>
                <a:sym typeface="Poppins Bold Italics"/>
              </a:rPr>
              <a:t> Sales Managers</a:t>
            </a:r>
          </a:p>
        </p:txBody>
      </p:sp>
      <p:sp>
        <p:nvSpPr>
          <p:cNvPr name="TextBox 3" id="3"/>
          <p:cNvSpPr txBox="true"/>
          <p:nvPr/>
        </p:nvSpPr>
        <p:spPr>
          <a:xfrm rot="0">
            <a:off x="2868481" y="1028700"/>
            <a:ext cx="12067759" cy="724368"/>
          </a:xfrm>
          <a:prstGeom prst="rect">
            <a:avLst/>
          </a:prstGeom>
        </p:spPr>
        <p:txBody>
          <a:bodyPr anchor="t" rtlCol="false" tIns="0" lIns="0" bIns="0" rIns="0">
            <a:spAutoFit/>
          </a:bodyPr>
          <a:lstStyle/>
          <a:p>
            <a:pPr algn="l">
              <a:lnSpc>
                <a:spcPts val="2733"/>
              </a:lnSpc>
              <a:spcBef>
                <a:spcPct val="0"/>
              </a:spcBef>
            </a:pPr>
            <a:r>
              <a:rPr lang="en-US" sz="2530">
                <a:solidFill>
                  <a:srgbClr val="FCFBFA"/>
                </a:solidFill>
                <a:latin typeface="Poppins"/>
                <a:ea typeface="Poppins"/>
                <a:cs typeface="Poppins"/>
                <a:sym typeface="Poppins"/>
              </a:rPr>
              <a:t>The value of the collected data and extracted insights for </a:t>
            </a:r>
            <a:r>
              <a:rPr lang="en-US" sz="2530">
                <a:solidFill>
                  <a:srgbClr val="FCFBFA"/>
                </a:solidFill>
                <a:latin typeface="Poppins"/>
                <a:ea typeface="Poppins"/>
                <a:cs typeface="Poppins"/>
                <a:sym typeface="Poppins"/>
              </a:rPr>
              <a:t>Brand Mana</a:t>
            </a:r>
            <a:r>
              <a:rPr lang="en-US" sz="2530">
                <a:solidFill>
                  <a:srgbClr val="FCFBFA"/>
                </a:solidFill>
                <a:latin typeface="Poppins"/>
                <a:ea typeface="Poppins"/>
                <a:cs typeface="Poppins"/>
                <a:sym typeface="Poppins"/>
              </a:rPr>
              <a:t>gers,</a:t>
            </a:r>
            <a:r>
              <a:rPr lang="en-US" sz="2530">
                <a:solidFill>
                  <a:srgbClr val="FCFBFA"/>
                </a:solidFill>
                <a:latin typeface="Poppins"/>
                <a:ea typeface="Poppins"/>
                <a:cs typeface="Poppins"/>
                <a:sym typeface="Poppins"/>
              </a:rPr>
              <a:t> Sales Managers, </a:t>
            </a:r>
            <a:r>
              <a:rPr lang="en-US" sz="2530">
                <a:solidFill>
                  <a:srgbClr val="FCFBFA"/>
                </a:solidFill>
                <a:latin typeface="Poppins"/>
                <a:ea typeface="Poppins"/>
                <a:cs typeface="Poppins"/>
                <a:sym typeface="Poppins"/>
              </a:rPr>
              <a:t>and</a:t>
            </a:r>
            <a:r>
              <a:rPr lang="en-US" sz="2530">
                <a:solidFill>
                  <a:srgbClr val="FCFBFA"/>
                </a:solidFill>
                <a:latin typeface="Poppins"/>
                <a:ea typeface="Poppins"/>
                <a:cs typeface="Poppins"/>
                <a:sym typeface="Poppins"/>
              </a:rPr>
              <a:t> C</a:t>
            </a:r>
            <a:r>
              <a:rPr lang="en-US" sz="2530">
                <a:solidFill>
                  <a:srgbClr val="FCFBFA"/>
                </a:solidFill>
                <a:latin typeface="Poppins"/>
                <a:ea typeface="Poppins"/>
                <a:cs typeface="Poppins"/>
                <a:sym typeface="Poppins"/>
              </a:rPr>
              <a:t>omp</a:t>
            </a:r>
            <a:r>
              <a:rPr lang="en-US" sz="2530">
                <a:solidFill>
                  <a:srgbClr val="FCFBFA"/>
                </a:solidFill>
                <a:latin typeface="Poppins"/>
                <a:ea typeface="Poppins"/>
                <a:cs typeface="Poppins"/>
                <a:sym typeface="Poppins"/>
              </a:rPr>
              <a:t>an</a:t>
            </a:r>
            <a:r>
              <a:rPr lang="en-US" sz="2530">
                <a:solidFill>
                  <a:srgbClr val="FCFBFA"/>
                </a:solidFill>
                <a:latin typeface="Poppins"/>
                <a:ea typeface="Poppins"/>
                <a:cs typeface="Poppins"/>
                <a:sym typeface="Poppins"/>
              </a:rPr>
              <a:t>y Executives</a:t>
            </a:r>
          </a:p>
        </p:txBody>
      </p:sp>
      <p:grpSp>
        <p:nvGrpSpPr>
          <p:cNvPr name="Group 4" id="4"/>
          <p:cNvGrpSpPr/>
          <p:nvPr/>
        </p:nvGrpSpPr>
        <p:grpSpPr>
          <a:xfrm rot="0">
            <a:off x="2868481" y="2634085"/>
            <a:ext cx="12644055" cy="1891876"/>
            <a:chOff x="0" y="0"/>
            <a:chExt cx="4162728" cy="622851"/>
          </a:xfrm>
        </p:grpSpPr>
        <p:sp>
          <p:nvSpPr>
            <p:cNvPr name="Freeform 5" id="5"/>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6" id="6"/>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7" id="7"/>
          <p:cNvSpPr txBox="true"/>
          <p:nvPr/>
        </p:nvSpPr>
        <p:spPr>
          <a:xfrm rot="0">
            <a:off x="3110120" y="2753768"/>
            <a:ext cx="12067759" cy="1911945"/>
          </a:xfrm>
          <a:prstGeom prst="rect">
            <a:avLst/>
          </a:prstGeom>
        </p:spPr>
        <p:txBody>
          <a:bodyPr anchor="t" rtlCol="false" tIns="0" lIns="0" bIns="0" rIns="0">
            <a:spAutoFit/>
          </a:bodyPr>
          <a:lstStyle/>
          <a:p>
            <a:pPr algn="l">
              <a:lnSpc>
                <a:spcPts val="2517"/>
              </a:lnSpc>
              <a:spcBef>
                <a:spcPct val="0"/>
              </a:spcBef>
            </a:pPr>
            <a:r>
              <a:rPr lang="en-US" sz="2330">
                <a:solidFill>
                  <a:srgbClr val="FCFBFA"/>
                </a:solidFill>
                <a:latin typeface="Poppins"/>
                <a:ea typeface="Poppins"/>
                <a:cs typeface="Poppins"/>
                <a:sym typeface="Poppins"/>
              </a:rPr>
              <a:t>Sales managers need to understand what drives revenue, when to push products, and how to respond to market shifts. The insights were seasonal trends showed peaks in ROG sales during January and May, and dips </a:t>
            </a:r>
            <a:r>
              <a:rPr lang="en-US" sz="2330">
                <a:solidFill>
                  <a:srgbClr val="FCFBFA"/>
                </a:solidFill>
                <a:latin typeface="Poppins"/>
                <a:ea typeface="Poppins"/>
                <a:cs typeface="Poppins"/>
                <a:sym typeface="Poppins"/>
              </a:rPr>
              <a:t>in August and September and the ARIMA forecasts for TUF and Z</a:t>
            </a:r>
            <a:r>
              <a:rPr lang="en-US" sz="2330">
                <a:solidFill>
                  <a:srgbClr val="FCFBFA"/>
                </a:solidFill>
                <a:latin typeface="Poppins"/>
                <a:ea typeface="Poppins"/>
                <a:cs typeface="Poppins"/>
                <a:sym typeface="Poppins"/>
              </a:rPr>
              <a:t>ephyrus</a:t>
            </a:r>
            <a:r>
              <a:rPr lang="en-US" sz="2330">
                <a:solidFill>
                  <a:srgbClr val="FCFBFA"/>
                </a:solidFill>
                <a:latin typeface="Poppins"/>
                <a:ea typeface="Poppins"/>
                <a:cs typeface="Poppins"/>
                <a:sym typeface="Poppins"/>
              </a:rPr>
              <a:t> showed a steady rise in sales rank, imp</a:t>
            </a:r>
            <a:r>
              <a:rPr lang="en-US" sz="2330">
                <a:solidFill>
                  <a:srgbClr val="FCFBFA"/>
                </a:solidFill>
                <a:latin typeface="Poppins"/>
                <a:ea typeface="Poppins"/>
                <a:cs typeface="Poppins"/>
                <a:sym typeface="Poppins"/>
              </a:rPr>
              <a:t>lying</a:t>
            </a:r>
            <a:r>
              <a:rPr lang="en-US" sz="2330">
                <a:solidFill>
                  <a:srgbClr val="FCFBFA"/>
                </a:solidFill>
                <a:latin typeface="Poppins"/>
                <a:ea typeface="Poppins"/>
                <a:cs typeface="Poppins"/>
                <a:sym typeface="Poppins"/>
              </a:rPr>
              <a:t> dec</a:t>
            </a:r>
            <a:r>
              <a:rPr lang="en-US" sz="2330">
                <a:solidFill>
                  <a:srgbClr val="FCFBFA"/>
                </a:solidFill>
                <a:latin typeface="Poppins"/>
                <a:ea typeface="Poppins"/>
                <a:cs typeface="Poppins"/>
                <a:sym typeface="Poppins"/>
              </a:rPr>
              <a:t>lining performance over the next 12 months.</a:t>
            </a:r>
          </a:p>
          <a:p>
            <a:pPr algn="l">
              <a:lnSpc>
                <a:spcPts val="2517"/>
              </a:lnSpc>
              <a:spcBef>
                <a:spcPct val="0"/>
              </a:spcBef>
            </a:pPr>
          </a:p>
        </p:txBody>
      </p:sp>
      <p:grpSp>
        <p:nvGrpSpPr>
          <p:cNvPr name="Group 8" id="8"/>
          <p:cNvGrpSpPr/>
          <p:nvPr/>
        </p:nvGrpSpPr>
        <p:grpSpPr>
          <a:xfrm rot="0">
            <a:off x="2868481" y="5000255"/>
            <a:ext cx="12644055" cy="1891876"/>
            <a:chOff x="0" y="0"/>
            <a:chExt cx="4162728" cy="622851"/>
          </a:xfrm>
        </p:grpSpPr>
        <p:sp>
          <p:nvSpPr>
            <p:cNvPr name="Freeform 9" id="9"/>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0" id="10"/>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11" id="11"/>
          <p:cNvGrpSpPr/>
          <p:nvPr/>
        </p:nvGrpSpPr>
        <p:grpSpPr>
          <a:xfrm rot="0">
            <a:off x="2868481" y="7366424"/>
            <a:ext cx="12644055" cy="1891876"/>
            <a:chOff x="0" y="0"/>
            <a:chExt cx="4162728" cy="622851"/>
          </a:xfrm>
        </p:grpSpPr>
        <p:sp>
          <p:nvSpPr>
            <p:cNvPr name="Freeform 12" id="12"/>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3" id="13"/>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14" id="14"/>
          <p:cNvSpPr txBox="true"/>
          <p:nvPr/>
        </p:nvSpPr>
        <p:spPr>
          <a:xfrm rot="0">
            <a:off x="3110120" y="7495631"/>
            <a:ext cx="12233831" cy="1675725"/>
          </a:xfrm>
          <a:prstGeom prst="rect">
            <a:avLst/>
          </a:prstGeom>
        </p:spPr>
        <p:txBody>
          <a:bodyPr anchor="t" rtlCol="false" tIns="0" lIns="0" bIns="0" rIns="0">
            <a:spAutoFit/>
          </a:bodyPr>
          <a:lstStyle/>
          <a:p>
            <a:pPr algn="l">
              <a:lnSpc>
                <a:spcPts val="3165"/>
              </a:lnSpc>
              <a:spcBef>
                <a:spcPct val="0"/>
              </a:spcBef>
            </a:pPr>
            <a:r>
              <a:rPr lang="en-US" sz="2930">
                <a:solidFill>
                  <a:srgbClr val="FCFBFA"/>
                </a:solidFill>
                <a:latin typeface="Poppins"/>
                <a:ea typeface="Poppins"/>
                <a:cs typeface="Poppins"/>
                <a:sym typeface="Poppins"/>
              </a:rPr>
              <a:t>It enables data-backed sales strategy adjustments—rather than guessing, they can respond directly to what the da</a:t>
            </a:r>
            <a:r>
              <a:rPr lang="en-US" sz="2930">
                <a:solidFill>
                  <a:srgbClr val="FCFBFA"/>
                </a:solidFill>
                <a:latin typeface="Poppins"/>
                <a:ea typeface="Poppins"/>
                <a:cs typeface="Poppins"/>
                <a:sym typeface="Poppins"/>
              </a:rPr>
              <a:t>ta shows customers a</a:t>
            </a:r>
            <a:r>
              <a:rPr lang="en-US" sz="2930">
                <a:solidFill>
                  <a:srgbClr val="FCFBFA"/>
                </a:solidFill>
                <a:latin typeface="Poppins"/>
                <a:ea typeface="Poppins"/>
                <a:cs typeface="Poppins"/>
                <a:sym typeface="Poppins"/>
              </a:rPr>
              <a:t>re reacting to.</a:t>
            </a:r>
          </a:p>
          <a:p>
            <a:pPr algn="l">
              <a:lnSpc>
                <a:spcPts val="3489"/>
              </a:lnSpc>
              <a:spcBef>
                <a:spcPct val="0"/>
              </a:spcBef>
            </a:pPr>
          </a:p>
        </p:txBody>
      </p:sp>
      <p:sp>
        <p:nvSpPr>
          <p:cNvPr name="TextBox 15" id="15"/>
          <p:cNvSpPr txBox="true"/>
          <p:nvPr/>
        </p:nvSpPr>
        <p:spPr>
          <a:xfrm rot="0">
            <a:off x="2930974" y="2325940"/>
            <a:ext cx="997205" cy="317671"/>
          </a:xfrm>
          <a:prstGeom prst="rect">
            <a:avLst/>
          </a:prstGeom>
        </p:spPr>
        <p:txBody>
          <a:bodyPr anchor="t" rtlCol="false" tIns="0" lIns="0" bIns="0" rIns="0">
            <a:spAutoFit/>
          </a:bodyPr>
          <a:lstStyle/>
          <a:p>
            <a:pPr algn="l">
              <a:lnSpc>
                <a:spcPts val="2262"/>
              </a:lnSpc>
              <a:spcBef>
                <a:spcPct val="0"/>
              </a:spcBef>
            </a:pPr>
            <a:r>
              <a:rPr lang="en-US" b="true" sz="2094" i="true">
                <a:solidFill>
                  <a:srgbClr val="70ABCE"/>
                </a:solidFill>
                <a:latin typeface="Poppins Bold Italics"/>
                <a:ea typeface="Poppins Bold Italics"/>
                <a:cs typeface="Poppins Bold Italics"/>
                <a:sym typeface="Poppins Bold Italics"/>
              </a:rPr>
              <a:t>Value: </a:t>
            </a:r>
          </a:p>
        </p:txBody>
      </p:sp>
      <p:sp>
        <p:nvSpPr>
          <p:cNvPr name="TextBox 16" id="16"/>
          <p:cNvSpPr txBox="true"/>
          <p:nvPr/>
        </p:nvSpPr>
        <p:spPr>
          <a:xfrm rot="0">
            <a:off x="3110120" y="5167482"/>
            <a:ext cx="12402416" cy="2019102"/>
          </a:xfrm>
          <a:prstGeom prst="rect">
            <a:avLst/>
          </a:prstGeom>
        </p:spPr>
        <p:txBody>
          <a:bodyPr anchor="t" rtlCol="false" tIns="0" lIns="0" bIns="0" rIns="0">
            <a:spAutoFit/>
          </a:bodyPr>
          <a:lstStyle/>
          <a:p>
            <a:pPr algn="l">
              <a:lnSpc>
                <a:spcPts val="3182"/>
              </a:lnSpc>
            </a:pPr>
            <a:r>
              <a:rPr lang="en-US" sz="2526">
                <a:solidFill>
                  <a:srgbClr val="FCFBFA"/>
                </a:solidFill>
                <a:latin typeface="Poppins"/>
                <a:ea typeface="Poppins"/>
                <a:cs typeface="Poppins"/>
                <a:sym typeface="Poppins"/>
              </a:rPr>
              <a:t>Sales managers can plan promotional pushes during low-performing m</a:t>
            </a:r>
            <a:r>
              <a:rPr lang="en-US" sz="2526">
                <a:solidFill>
                  <a:srgbClr val="FCFBFA"/>
                </a:solidFill>
                <a:latin typeface="Poppins"/>
                <a:ea typeface="Poppins"/>
                <a:cs typeface="Poppins"/>
                <a:sym typeface="Poppins"/>
              </a:rPr>
              <a:t>onths, us</a:t>
            </a:r>
            <a:r>
              <a:rPr lang="en-US" sz="2526">
                <a:solidFill>
                  <a:srgbClr val="FCFBFA"/>
                </a:solidFill>
                <a:latin typeface="Poppins"/>
                <a:ea typeface="Poppins"/>
                <a:cs typeface="Poppins"/>
                <a:sym typeface="Poppins"/>
              </a:rPr>
              <a:t>e forecasted</a:t>
            </a:r>
            <a:r>
              <a:rPr lang="en-US" sz="2526">
                <a:solidFill>
                  <a:srgbClr val="FCFBFA"/>
                </a:solidFill>
                <a:latin typeface="Poppins"/>
                <a:ea typeface="Poppins"/>
                <a:cs typeface="Poppins"/>
                <a:sym typeface="Poppins"/>
              </a:rPr>
              <a:t> rank declines to implement sales incentives or bundling before the drop worsens, and identif</a:t>
            </a:r>
            <a:r>
              <a:rPr lang="en-US" sz="2526">
                <a:solidFill>
                  <a:srgbClr val="FCFBFA"/>
                </a:solidFill>
                <a:latin typeface="Poppins"/>
                <a:ea typeface="Poppins"/>
                <a:cs typeface="Poppins"/>
                <a:sym typeface="Poppins"/>
              </a:rPr>
              <a:t>y</a:t>
            </a:r>
            <a:r>
              <a:rPr lang="en-US" sz="2526">
                <a:solidFill>
                  <a:srgbClr val="FCFBFA"/>
                </a:solidFill>
                <a:latin typeface="Poppins"/>
                <a:ea typeface="Poppins"/>
                <a:cs typeface="Poppins"/>
                <a:sym typeface="Poppins"/>
              </a:rPr>
              <a:t> when discounts</a:t>
            </a:r>
            <a:r>
              <a:rPr lang="en-US" sz="2526">
                <a:solidFill>
                  <a:srgbClr val="FCFBFA"/>
                </a:solidFill>
                <a:latin typeface="Poppins"/>
                <a:ea typeface="Poppins"/>
                <a:cs typeface="Poppins"/>
                <a:sym typeface="Poppins"/>
              </a:rPr>
              <a:t> fail to boost rank.</a:t>
            </a:r>
          </a:p>
          <a:p>
            <a:pPr algn="l">
              <a:lnSpc>
                <a:spcPts val="3182"/>
              </a:lnSpc>
            </a:pPr>
          </a:p>
        </p:txBody>
      </p:sp>
      <p:sp>
        <p:nvSpPr>
          <p:cNvPr name="TextBox 17" id="17"/>
          <p:cNvSpPr txBox="true"/>
          <p:nvPr/>
        </p:nvSpPr>
        <p:spPr>
          <a:xfrm rot="0">
            <a:off x="2930974" y="4564061"/>
            <a:ext cx="2325782" cy="317671"/>
          </a:xfrm>
          <a:prstGeom prst="rect">
            <a:avLst/>
          </a:prstGeom>
        </p:spPr>
        <p:txBody>
          <a:bodyPr anchor="t" rtlCol="false" tIns="0" lIns="0" bIns="0" rIns="0">
            <a:spAutoFit/>
          </a:bodyPr>
          <a:lstStyle/>
          <a:p>
            <a:pPr algn="l">
              <a:lnSpc>
                <a:spcPts val="2262"/>
              </a:lnSpc>
              <a:spcBef>
                <a:spcPct val="0"/>
              </a:spcBef>
            </a:pPr>
            <a:r>
              <a:rPr lang="en-US" b="true" sz="2094" i="true">
                <a:solidFill>
                  <a:srgbClr val="70ABCE"/>
                </a:solidFill>
                <a:latin typeface="Poppins Bold Italics"/>
                <a:ea typeface="Poppins Bold Italics"/>
                <a:cs typeface="Poppins Bold Italics"/>
                <a:sym typeface="Poppins Bold Italics"/>
              </a:rPr>
              <a:t>Impact of value:</a:t>
            </a:r>
          </a:p>
        </p:txBody>
      </p:sp>
      <p:sp>
        <p:nvSpPr>
          <p:cNvPr name="TextBox 18" id="18"/>
          <p:cNvSpPr txBox="true"/>
          <p:nvPr/>
        </p:nvSpPr>
        <p:spPr>
          <a:xfrm rot="0">
            <a:off x="2930974" y="6996906"/>
            <a:ext cx="2547211" cy="317671"/>
          </a:xfrm>
          <a:prstGeom prst="rect">
            <a:avLst/>
          </a:prstGeom>
        </p:spPr>
        <p:txBody>
          <a:bodyPr anchor="t" rtlCol="false" tIns="0" lIns="0" bIns="0" rIns="0">
            <a:spAutoFit/>
          </a:bodyPr>
          <a:lstStyle/>
          <a:p>
            <a:pPr algn="l">
              <a:lnSpc>
                <a:spcPts val="2262"/>
              </a:lnSpc>
              <a:spcBef>
                <a:spcPct val="0"/>
              </a:spcBef>
            </a:pPr>
            <a:r>
              <a:rPr lang="en-US" b="true" sz="2094" i="true">
                <a:solidFill>
                  <a:srgbClr val="70ABCE"/>
                </a:solidFill>
                <a:latin typeface="Poppins Bold Italics"/>
                <a:ea typeface="Poppins Bold Italics"/>
                <a:cs typeface="Poppins Bold Italics"/>
                <a:sym typeface="Poppins Bold Italics"/>
              </a:rPr>
              <a:t>Why it’s valuable:</a:t>
            </a: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sp>
        <p:nvSpPr>
          <p:cNvPr name="TextBox 2" id="2"/>
          <p:cNvSpPr txBox="true"/>
          <p:nvPr/>
        </p:nvSpPr>
        <p:spPr>
          <a:xfrm rot="0">
            <a:off x="2839906" y="1870928"/>
            <a:ext cx="4161514" cy="435747"/>
          </a:xfrm>
          <a:prstGeom prst="rect">
            <a:avLst/>
          </a:prstGeom>
        </p:spPr>
        <p:txBody>
          <a:bodyPr anchor="t" rtlCol="false" tIns="0" lIns="0" bIns="0" rIns="0">
            <a:spAutoFit/>
          </a:bodyPr>
          <a:lstStyle/>
          <a:p>
            <a:pPr algn="l">
              <a:lnSpc>
                <a:spcPts val="3204"/>
              </a:lnSpc>
              <a:spcBef>
                <a:spcPct val="0"/>
              </a:spcBef>
            </a:pPr>
            <a:r>
              <a:rPr lang="en-US" b="true" sz="2967" i="true">
                <a:solidFill>
                  <a:srgbClr val="FFFFFF"/>
                </a:solidFill>
                <a:latin typeface="Poppins Bold Italics"/>
                <a:ea typeface="Poppins Bold Italics"/>
                <a:cs typeface="Poppins Bold Italics"/>
                <a:sym typeface="Poppins Bold Italics"/>
              </a:rPr>
              <a:t>Company Executives</a:t>
            </a:r>
          </a:p>
        </p:txBody>
      </p:sp>
      <p:sp>
        <p:nvSpPr>
          <p:cNvPr name="TextBox 3" id="3"/>
          <p:cNvSpPr txBox="true"/>
          <p:nvPr/>
        </p:nvSpPr>
        <p:spPr>
          <a:xfrm rot="0">
            <a:off x="2868481" y="1028700"/>
            <a:ext cx="12067759" cy="724368"/>
          </a:xfrm>
          <a:prstGeom prst="rect">
            <a:avLst/>
          </a:prstGeom>
        </p:spPr>
        <p:txBody>
          <a:bodyPr anchor="t" rtlCol="false" tIns="0" lIns="0" bIns="0" rIns="0">
            <a:spAutoFit/>
          </a:bodyPr>
          <a:lstStyle/>
          <a:p>
            <a:pPr algn="l">
              <a:lnSpc>
                <a:spcPts val="2733"/>
              </a:lnSpc>
              <a:spcBef>
                <a:spcPct val="0"/>
              </a:spcBef>
            </a:pPr>
            <a:r>
              <a:rPr lang="en-US" sz="2530">
                <a:solidFill>
                  <a:srgbClr val="FCFBFA"/>
                </a:solidFill>
                <a:latin typeface="Poppins"/>
                <a:ea typeface="Poppins"/>
                <a:cs typeface="Poppins"/>
                <a:sym typeface="Poppins"/>
              </a:rPr>
              <a:t>The value of the collected data and extracted insights for </a:t>
            </a:r>
            <a:r>
              <a:rPr lang="en-US" sz="2530">
                <a:solidFill>
                  <a:srgbClr val="FCFBFA"/>
                </a:solidFill>
                <a:latin typeface="Poppins"/>
                <a:ea typeface="Poppins"/>
                <a:cs typeface="Poppins"/>
                <a:sym typeface="Poppins"/>
              </a:rPr>
              <a:t>Brand Mana</a:t>
            </a:r>
            <a:r>
              <a:rPr lang="en-US" sz="2530">
                <a:solidFill>
                  <a:srgbClr val="FCFBFA"/>
                </a:solidFill>
                <a:latin typeface="Poppins"/>
                <a:ea typeface="Poppins"/>
                <a:cs typeface="Poppins"/>
                <a:sym typeface="Poppins"/>
              </a:rPr>
              <a:t>gers,</a:t>
            </a:r>
            <a:r>
              <a:rPr lang="en-US" sz="2530">
                <a:solidFill>
                  <a:srgbClr val="FCFBFA"/>
                </a:solidFill>
                <a:latin typeface="Poppins"/>
                <a:ea typeface="Poppins"/>
                <a:cs typeface="Poppins"/>
                <a:sym typeface="Poppins"/>
              </a:rPr>
              <a:t> Sales Managers, </a:t>
            </a:r>
            <a:r>
              <a:rPr lang="en-US" sz="2530">
                <a:solidFill>
                  <a:srgbClr val="FCFBFA"/>
                </a:solidFill>
                <a:latin typeface="Poppins"/>
                <a:ea typeface="Poppins"/>
                <a:cs typeface="Poppins"/>
                <a:sym typeface="Poppins"/>
              </a:rPr>
              <a:t>and</a:t>
            </a:r>
            <a:r>
              <a:rPr lang="en-US" sz="2530">
                <a:solidFill>
                  <a:srgbClr val="FCFBFA"/>
                </a:solidFill>
                <a:latin typeface="Poppins"/>
                <a:ea typeface="Poppins"/>
                <a:cs typeface="Poppins"/>
                <a:sym typeface="Poppins"/>
              </a:rPr>
              <a:t> C</a:t>
            </a:r>
            <a:r>
              <a:rPr lang="en-US" sz="2530">
                <a:solidFill>
                  <a:srgbClr val="FCFBFA"/>
                </a:solidFill>
                <a:latin typeface="Poppins"/>
                <a:ea typeface="Poppins"/>
                <a:cs typeface="Poppins"/>
                <a:sym typeface="Poppins"/>
              </a:rPr>
              <a:t>omp</a:t>
            </a:r>
            <a:r>
              <a:rPr lang="en-US" sz="2530">
                <a:solidFill>
                  <a:srgbClr val="FCFBFA"/>
                </a:solidFill>
                <a:latin typeface="Poppins"/>
                <a:ea typeface="Poppins"/>
                <a:cs typeface="Poppins"/>
                <a:sym typeface="Poppins"/>
              </a:rPr>
              <a:t>an</a:t>
            </a:r>
            <a:r>
              <a:rPr lang="en-US" sz="2530">
                <a:solidFill>
                  <a:srgbClr val="FCFBFA"/>
                </a:solidFill>
                <a:latin typeface="Poppins"/>
                <a:ea typeface="Poppins"/>
                <a:cs typeface="Poppins"/>
                <a:sym typeface="Poppins"/>
              </a:rPr>
              <a:t>y Executives</a:t>
            </a:r>
          </a:p>
        </p:txBody>
      </p:sp>
      <p:grpSp>
        <p:nvGrpSpPr>
          <p:cNvPr name="Group 4" id="4"/>
          <p:cNvGrpSpPr/>
          <p:nvPr/>
        </p:nvGrpSpPr>
        <p:grpSpPr>
          <a:xfrm rot="0">
            <a:off x="2868481" y="2634085"/>
            <a:ext cx="12644055" cy="1891876"/>
            <a:chOff x="0" y="0"/>
            <a:chExt cx="4162728" cy="622851"/>
          </a:xfrm>
        </p:grpSpPr>
        <p:sp>
          <p:nvSpPr>
            <p:cNvPr name="Freeform 5" id="5"/>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6" id="6"/>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7" id="7"/>
          <p:cNvSpPr txBox="true"/>
          <p:nvPr/>
        </p:nvSpPr>
        <p:spPr>
          <a:xfrm rot="0">
            <a:off x="3110120" y="2744243"/>
            <a:ext cx="12067759" cy="1694307"/>
          </a:xfrm>
          <a:prstGeom prst="rect">
            <a:avLst/>
          </a:prstGeom>
        </p:spPr>
        <p:txBody>
          <a:bodyPr anchor="t" rtlCol="false" tIns="0" lIns="0" bIns="0" rIns="0">
            <a:spAutoFit/>
          </a:bodyPr>
          <a:lstStyle/>
          <a:p>
            <a:pPr algn="l">
              <a:lnSpc>
                <a:spcPts val="1944"/>
              </a:lnSpc>
              <a:spcBef>
                <a:spcPct val="0"/>
              </a:spcBef>
            </a:pPr>
            <a:r>
              <a:rPr lang="en-US" sz="1800">
                <a:solidFill>
                  <a:srgbClr val="FCFBFA"/>
                </a:solidFill>
                <a:latin typeface="Poppins"/>
                <a:ea typeface="Poppins"/>
                <a:cs typeface="Poppins"/>
                <a:sym typeface="Poppins"/>
              </a:rPr>
              <a:t>The data and inisghts give a strategic value to executives. They are focused on profitability, growth, and long-term investment decisions. They need a holistic view supported by quantifiable insights. The 44.42% sales share of ROG shows it is the core revenue driver, justifying investment in innovation or marketing expansion. Orange forecasts reveal declining rank trends across all three products, prompt</a:t>
            </a:r>
            <a:r>
              <a:rPr lang="en-US" sz="1800">
                <a:solidFill>
                  <a:srgbClr val="FCFBFA"/>
                </a:solidFill>
                <a:latin typeface="Poppins"/>
                <a:ea typeface="Poppins"/>
                <a:cs typeface="Poppins"/>
                <a:sym typeface="Poppins"/>
              </a:rPr>
              <a:t>ing a need for product lifecycle management or new product development discussions. Performance metrics from Orange (e.g., Z</a:t>
            </a:r>
            <a:r>
              <a:rPr lang="en-US" sz="1800">
                <a:solidFill>
                  <a:srgbClr val="FCFBFA"/>
                </a:solidFill>
                <a:latin typeface="Poppins"/>
                <a:ea typeface="Poppins"/>
                <a:cs typeface="Poppins"/>
                <a:sym typeface="Poppins"/>
              </a:rPr>
              <a:t>ephyrus</a:t>
            </a:r>
            <a:r>
              <a:rPr lang="en-US" sz="1800">
                <a:solidFill>
                  <a:srgbClr val="FCFBFA"/>
                </a:solidFill>
                <a:latin typeface="Poppins"/>
                <a:ea typeface="Poppins"/>
                <a:cs typeface="Poppins"/>
                <a:sym typeface="Poppins"/>
              </a:rPr>
              <a:t> forecast R² of 0.896) provide reliable projections, usefu</a:t>
            </a:r>
            <a:r>
              <a:rPr lang="en-US" sz="1800">
                <a:solidFill>
                  <a:srgbClr val="FCFBFA"/>
                </a:solidFill>
                <a:latin typeface="Poppins"/>
                <a:ea typeface="Poppins"/>
                <a:cs typeface="Poppins"/>
                <a:sym typeface="Poppins"/>
              </a:rPr>
              <a:t>l</a:t>
            </a:r>
            <a:r>
              <a:rPr lang="en-US" sz="1800">
                <a:solidFill>
                  <a:srgbClr val="FCFBFA"/>
                </a:solidFill>
                <a:latin typeface="Poppins"/>
                <a:ea typeface="Poppins"/>
                <a:cs typeface="Poppins"/>
                <a:sym typeface="Poppins"/>
              </a:rPr>
              <a:t> for budget</a:t>
            </a:r>
            <a:r>
              <a:rPr lang="en-US" sz="1800">
                <a:solidFill>
                  <a:srgbClr val="FCFBFA"/>
                </a:solidFill>
                <a:latin typeface="Poppins"/>
                <a:ea typeface="Poppins"/>
                <a:cs typeface="Poppins"/>
                <a:sym typeface="Poppins"/>
              </a:rPr>
              <a:t>ing and strategic planning.</a:t>
            </a:r>
          </a:p>
        </p:txBody>
      </p:sp>
      <p:grpSp>
        <p:nvGrpSpPr>
          <p:cNvPr name="Group 8" id="8"/>
          <p:cNvGrpSpPr/>
          <p:nvPr/>
        </p:nvGrpSpPr>
        <p:grpSpPr>
          <a:xfrm rot="0">
            <a:off x="2868481" y="5000255"/>
            <a:ext cx="12644055" cy="1891876"/>
            <a:chOff x="0" y="0"/>
            <a:chExt cx="4162728" cy="622851"/>
          </a:xfrm>
        </p:grpSpPr>
        <p:sp>
          <p:nvSpPr>
            <p:cNvPr name="Freeform 9" id="9"/>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0" id="10"/>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11" id="11"/>
          <p:cNvGrpSpPr/>
          <p:nvPr/>
        </p:nvGrpSpPr>
        <p:grpSpPr>
          <a:xfrm rot="0">
            <a:off x="2868481" y="7366424"/>
            <a:ext cx="12644055" cy="1891876"/>
            <a:chOff x="0" y="0"/>
            <a:chExt cx="4162728" cy="622851"/>
          </a:xfrm>
        </p:grpSpPr>
        <p:sp>
          <p:nvSpPr>
            <p:cNvPr name="Freeform 12" id="12"/>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3" id="13"/>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14" id="14"/>
          <p:cNvSpPr txBox="true"/>
          <p:nvPr/>
        </p:nvSpPr>
        <p:spPr>
          <a:xfrm rot="0">
            <a:off x="3110120" y="7647951"/>
            <a:ext cx="12233831" cy="1354161"/>
          </a:xfrm>
          <a:prstGeom prst="rect">
            <a:avLst/>
          </a:prstGeom>
        </p:spPr>
        <p:txBody>
          <a:bodyPr anchor="t" rtlCol="false" tIns="0" lIns="0" bIns="0" rIns="0">
            <a:spAutoFit/>
          </a:bodyPr>
          <a:lstStyle/>
          <a:p>
            <a:pPr algn="l">
              <a:lnSpc>
                <a:spcPts val="3489"/>
              </a:lnSpc>
              <a:spcBef>
                <a:spcPct val="0"/>
              </a:spcBef>
            </a:pPr>
            <a:r>
              <a:rPr lang="en-US" sz="3230">
                <a:solidFill>
                  <a:srgbClr val="FCFBFA"/>
                </a:solidFill>
                <a:latin typeface="Poppins"/>
                <a:ea typeface="Poppins"/>
                <a:cs typeface="Poppins"/>
                <a:sym typeface="Poppins"/>
              </a:rPr>
              <a:t>The insights support data-driven strategic planning decisions, reduces risk, and enhance</a:t>
            </a:r>
            <a:r>
              <a:rPr lang="en-US" sz="3230">
                <a:solidFill>
                  <a:srgbClr val="FCFBFA"/>
                </a:solidFill>
                <a:latin typeface="Poppins"/>
                <a:ea typeface="Poppins"/>
                <a:cs typeface="Poppins"/>
                <a:sym typeface="Poppins"/>
              </a:rPr>
              <a:t>s confidence in boa</a:t>
            </a:r>
            <a:r>
              <a:rPr lang="en-US" sz="3230">
                <a:solidFill>
                  <a:srgbClr val="FCFBFA"/>
                </a:solidFill>
                <a:latin typeface="Poppins"/>
                <a:ea typeface="Poppins"/>
                <a:cs typeface="Poppins"/>
                <a:sym typeface="Poppins"/>
              </a:rPr>
              <a:t>rd-level decisions.</a:t>
            </a:r>
          </a:p>
        </p:txBody>
      </p:sp>
      <p:sp>
        <p:nvSpPr>
          <p:cNvPr name="TextBox 15" id="15"/>
          <p:cNvSpPr txBox="true"/>
          <p:nvPr/>
        </p:nvSpPr>
        <p:spPr>
          <a:xfrm rot="0">
            <a:off x="2930974" y="2325940"/>
            <a:ext cx="997205" cy="317671"/>
          </a:xfrm>
          <a:prstGeom prst="rect">
            <a:avLst/>
          </a:prstGeom>
        </p:spPr>
        <p:txBody>
          <a:bodyPr anchor="t" rtlCol="false" tIns="0" lIns="0" bIns="0" rIns="0">
            <a:spAutoFit/>
          </a:bodyPr>
          <a:lstStyle/>
          <a:p>
            <a:pPr algn="l">
              <a:lnSpc>
                <a:spcPts val="2262"/>
              </a:lnSpc>
              <a:spcBef>
                <a:spcPct val="0"/>
              </a:spcBef>
            </a:pPr>
            <a:r>
              <a:rPr lang="en-US" b="true" sz="2094" i="true">
                <a:solidFill>
                  <a:srgbClr val="70ABCE"/>
                </a:solidFill>
                <a:latin typeface="Poppins Bold Italics"/>
                <a:ea typeface="Poppins Bold Italics"/>
                <a:cs typeface="Poppins Bold Italics"/>
                <a:sym typeface="Poppins Bold Italics"/>
              </a:rPr>
              <a:t>Value: </a:t>
            </a:r>
          </a:p>
        </p:txBody>
      </p:sp>
      <p:sp>
        <p:nvSpPr>
          <p:cNvPr name="TextBox 16" id="16"/>
          <p:cNvSpPr txBox="true"/>
          <p:nvPr/>
        </p:nvSpPr>
        <p:spPr>
          <a:xfrm rot="0">
            <a:off x="3110120" y="5177007"/>
            <a:ext cx="12402416" cy="1868226"/>
          </a:xfrm>
          <a:prstGeom prst="rect">
            <a:avLst/>
          </a:prstGeom>
        </p:spPr>
        <p:txBody>
          <a:bodyPr anchor="t" rtlCol="false" tIns="0" lIns="0" bIns="0" rIns="0">
            <a:spAutoFit/>
          </a:bodyPr>
          <a:lstStyle/>
          <a:p>
            <a:pPr algn="l">
              <a:lnSpc>
                <a:spcPts val="2930"/>
              </a:lnSpc>
            </a:pPr>
            <a:r>
              <a:rPr lang="en-US" sz="2326">
                <a:solidFill>
                  <a:srgbClr val="FCFBFA"/>
                </a:solidFill>
                <a:latin typeface="Poppins"/>
                <a:ea typeface="Poppins"/>
                <a:cs typeface="Poppins"/>
                <a:sym typeface="Poppins"/>
              </a:rPr>
              <a:t>Executives can decide where to allocate budget based on product heal</a:t>
            </a:r>
            <a:r>
              <a:rPr lang="en-US" sz="2326">
                <a:solidFill>
                  <a:srgbClr val="FCFBFA"/>
                </a:solidFill>
                <a:latin typeface="Poppins"/>
                <a:ea typeface="Poppins"/>
                <a:cs typeface="Poppins"/>
                <a:sym typeface="Poppins"/>
              </a:rPr>
              <a:t>th. They can also us</a:t>
            </a:r>
            <a:r>
              <a:rPr lang="en-US" sz="2326">
                <a:solidFill>
                  <a:srgbClr val="FCFBFA"/>
                </a:solidFill>
                <a:latin typeface="Poppins"/>
                <a:ea typeface="Poppins"/>
                <a:cs typeface="Poppins"/>
                <a:sym typeface="Poppins"/>
              </a:rPr>
              <a:t>e forecasts</a:t>
            </a:r>
            <a:r>
              <a:rPr lang="en-US" sz="2326">
                <a:solidFill>
                  <a:srgbClr val="FCFBFA"/>
                </a:solidFill>
                <a:latin typeface="Poppins"/>
                <a:ea typeface="Poppins"/>
                <a:cs typeface="Poppins"/>
                <a:sym typeface="Poppins"/>
              </a:rPr>
              <a:t> to guide inventory and supply chain decisions </a:t>
            </a:r>
          </a:p>
          <a:p>
            <a:pPr algn="l">
              <a:lnSpc>
                <a:spcPts val="2930"/>
              </a:lnSpc>
            </a:pPr>
            <a:r>
              <a:rPr lang="en-US" sz="2326">
                <a:solidFill>
                  <a:srgbClr val="FCFBFA"/>
                </a:solidFill>
                <a:latin typeface="Poppins"/>
                <a:ea typeface="Poppins"/>
                <a:cs typeface="Poppins"/>
                <a:sym typeface="Poppins"/>
              </a:rPr>
              <a:t>They can identify risk early and take corrective action proactively—like investing in TUF’s</a:t>
            </a:r>
            <a:r>
              <a:rPr lang="en-US" sz="2326">
                <a:solidFill>
                  <a:srgbClr val="FCFBFA"/>
                </a:solidFill>
                <a:latin typeface="Poppins"/>
                <a:ea typeface="Poppins"/>
                <a:cs typeface="Poppins"/>
                <a:sym typeface="Poppins"/>
              </a:rPr>
              <a:t> branding or re-engineering Zephyrus.</a:t>
            </a:r>
          </a:p>
          <a:p>
            <a:pPr algn="l">
              <a:lnSpc>
                <a:spcPts val="2930"/>
              </a:lnSpc>
            </a:pPr>
          </a:p>
        </p:txBody>
      </p:sp>
      <p:sp>
        <p:nvSpPr>
          <p:cNvPr name="TextBox 17" id="17"/>
          <p:cNvSpPr txBox="true"/>
          <p:nvPr/>
        </p:nvSpPr>
        <p:spPr>
          <a:xfrm rot="0">
            <a:off x="2930974" y="4564061"/>
            <a:ext cx="2325782" cy="317671"/>
          </a:xfrm>
          <a:prstGeom prst="rect">
            <a:avLst/>
          </a:prstGeom>
        </p:spPr>
        <p:txBody>
          <a:bodyPr anchor="t" rtlCol="false" tIns="0" lIns="0" bIns="0" rIns="0">
            <a:spAutoFit/>
          </a:bodyPr>
          <a:lstStyle/>
          <a:p>
            <a:pPr algn="l">
              <a:lnSpc>
                <a:spcPts val="2262"/>
              </a:lnSpc>
              <a:spcBef>
                <a:spcPct val="0"/>
              </a:spcBef>
            </a:pPr>
            <a:r>
              <a:rPr lang="en-US" b="true" sz="2094" i="true">
                <a:solidFill>
                  <a:srgbClr val="70ABCE"/>
                </a:solidFill>
                <a:latin typeface="Poppins Bold Italics"/>
                <a:ea typeface="Poppins Bold Italics"/>
                <a:cs typeface="Poppins Bold Italics"/>
                <a:sym typeface="Poppins Bold Italics"/>
              </a:rPr>
              <a:t>Impact of value:</a:t>
            </a:r>
          </a:p>
        </p:txBody>
      </p:sp>
      <p:sp>
        <p:nvSpPr>
          <p:cNvPr name="TextBox 18" id="18"/>
          <p:cNvSpPr txBox="true"/>
          <p:nvPr/>
        </p:nvSpPr>
        <p:spPr>
          <a:xfrm rot="0">
            <a:off x="2930974" y="6996906"/>
            <a:ext cx="2547211" cy="317671"/>
          </a:xfrm>
          <a:prstGeom prst="rect">
            <a:avLst/>
          </a:prstGeom>
        </p:spPr>
        <p:txBody>
          <a:bodyPr anchor="t" rtlCol="false" tIns="0" lIns="0" bIns="0" rIns="0">
            <a:spAutoFit/>
          </a:bodyPr>
          <a:lstStyle/>
          <a:p>
            <a:pPr algn="l">
              <a:lnSpc>
                <a:spcPts val="2262"/>
              </a:lnSpc>
              <a:spcBef>
                <a:spcPct val="0"/>
              </a:spcBef>
            </a:pPr>
            <a:r>
              <a:rPr lang="en-US" b="true" sz="2094" i="true">
                <a:solidFill>
                  <a:srgbClr val="70ABCE"/>
                </a:solidFill>
                <a:latin typeface="Poppins Bold Italics"/>
                <a:ea typeface="Poppins Bold Italics"/>
                <a:cs typeface="Poppins Bold Italics"/>
                <a:sym typeface="Poppins Bold Italics"/>
              </a:rPr>
              <a:t>Why it’s valuable:</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15584853" y="4466718"/>
            <a:ext cx="742537" cy="742537"/>
          </a:xfrm>
          <a:custGeom>
            <a:avLst/>
            <a:gdLst/>
            <a:ahLst/>
            <a:cxnLst/>
            <a:rect r="r" b="b" t="t" l="l"/>
            <a:pathLst>
              <a:path h="742537" w="742537">
                <a:moveTo>
                  <a:pt x="0" y="0"/>
                </a:moveTo>
                <a:lnTo>
                  <a:pt x="742537" y="0"/>
                </a:lnTo>
                <a:lnTo>
                  <a:pt x="742537" y="742537"/>
                </a:lnTo>
                <a:lnTo>
                  <a:pt x="0" y="7425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028700" y="4371262"/>
            <a:ext cx="15503070" cy="885825"/>
          </a:xfrm>
          <a:prstGeom prst="rect">
            <a:avLst/>
          </a:prstGeom>
        </p:spPr>
        <p:txBody>
          <a:bodyPr anchor="t" rtlCol="false" tIns="0" lIns="0" bIns="0" rIns="0">
            <a:spAutoFit/>
          </a:bodyPr>
          <a:lstStyle/>
          <a:p>
            <a:pPr algn="l">
              <a:lnSpc>
                <a:spcPts val="6658"/>
              </a:lnSpc>
            </a:pPr>
            <a:r>
              <a:rPr lang="en-US" sz="5548" b="true">
                <a:solidFill>
                  <a:srgbClr val="FFFFFF"/>
                </a:solidFill>
                <a:latin typeface="Poppins Bold"/>
                <a:ea typeface="Poppins Bold"/>
                <a:cs typeface="Poppins Bold"/>
                <a:sym typeface="Poppins Bold"/>
              </a:rPr>
              <a:t>The Design of The Data Science Solution</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831752" y="4277526"/>
            <a:ext cx="2534507" cy="719166"/>
          </a:xfrm>
          <a:custGeom>
            <a:avLst/>
            <a:gdLst/>
            <a:ahLst/>
            <a:cxnLst/>
            <a:rect r="r" b="b" t="t" l="l"/>
            <a:pathLst>
              <a:path h="719166" w="2534507">
                <a:moveTo>
                  <a:pt x="0" y="0"/>
                </a:moveTo>
                <a:lnTo>
                  <a:pt x="2534507" y="0"/>
                </a:lnTo>
                <a:lnTo>
                  <a:pt x="2534507" y="719166"/>
                </a:lnTo>
                <a:lnTo>
                  <a:pt x="0" y="7191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H="true">
            <a:off x="3366259" y="4637109"/>
            <a:ext cx="371593" cy="0"/>
          </a:xfrm>
          <a:prstGeom prst="line">
            <a:avLst/>
          </a:prstGeom>
          <a:ln cap="flat" w="28575">
            <a:solidFill>
              <a:srgbClr val="FFFFFF"/>
            </a:solidFill>
            <a:prstDash val="lgDash"/>
            <a:headEnd type="none" len="sm" w="sm"/>
            <a:tailEnd type="none" len="sm" w="sm"/>
          </a:ln>
        </p:spPr>
      </p:sp>
      <p:sp>
        <p:nvSpPr>
          <p:cNvPr name="Freeform 4" id="4"/>
          <p:cNvSpPr/>
          <p:nvPr/>
        </p:nvSpPr>
        <p:spPr>
          <a:xfrm flipH="false" flipV="false" rot="-10800000">
            <a:off x="5465870" y="2211930"/>
            <a:ext cx="3770942" cy="1070005"/>
          </a:xfrm>
          <a:custGeom>
            <a:avLst/>
            <a:gdLst/>
            <a:ahLst/>
            <a:cxnLst/>
            <a:rect r="r" b="b" t="t" l="l"/>
            <a:pathLst>
              <a:path h="1070005" w="3770942">
                <a:moveTo>
                  <a:pt x="0" y="0"/>
                </a:moveTo>
                <a:lnTo>
                  <a:pt x="3770942" y="0"/>
                </a:lnTo>
                <a:lnTo>
                  <a:pt x="3770942" y="1070005"/>
                </a:lnTo>
                <a:lnTo>
                  <a:pt x="0" y="10700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flipH="true" flipV="true">
            <a:off x="7351341" y="3281935"/>
            <a:ext cx="0" cy="831162"/>
          </a:xfrm>
          <a:prstGeom prst="line">
            <a:avLst/>
          </a:prstGeom>
          <a:ln cap="flat" w="28575">
            <a:solidFill>
              <a:srgbClr val="FFFFFF"/>
            </a:solidFill>
            <a:prstDash val="lgDash"/>
            <a:headEnd type="none" len="sm" w="sm"/>
            <a:tailEnd type="none" len="sm" w="sm"/>
          </a:ln>
        </p:spPr>
      </p:sp>
      <p:sp>
        <p:nvSpPr>
          <p:cNvPr name="Freeform 6" id="6"/>
          <p:cNvSpPr/>
          <p:nvPr/>
        </p:nvSpPr>
        <p:spPr>
          <a:xfrm flipH="false" flipV="false" rot="-10800000">
            <a:off x="9878069" y="1946181"/>
            <a:ext cx="3643406" cy="1033816"/>
          </a:xfrm>
          <a:custGeom>
            <a:avLst/>
            <a:gdLst/>
            <a:ahLst/>
            <a:cxnLst/>
            <a:rect r="r" b="b" t="t" l="l"/>
            <a:pathLst>
              <a:path h="1033816" w="3643406">
                <a:moveTo>
                  <a:pt x="0" y="0"/>
                </a:moveTo>
                <a:lnTo>
                  <a:pt x="3643406" y="0"/>
                </a:lnTo>
                <a:lnTo>
                  <a:pt x="3643406" y="1033816"/>
                </a:lnTo>
                <a:lnTo>
                  <a:pt x="0" y="10338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7" id="7"/>
          <p:cNvSpPr/>
          <p:nvPr/>
        </p:nvSpPr>
        <p:spPr>
          <a:xfrm flipV="true">
            <a:off x="10980134" y="2979997"/>
            <a:ext cx="0" cy="1133100"/>
          </a:xfrm>
          <a:prstGeom prst="line">
            <a:avLst/>
          </a:prstGeom>
          <a:ln cap="flat" w="28575">
            <a:solidFill>
              <a:srgbClr val="FFFFFF"/>
            </a:solidFill>
            <a:prstDash val="lgDash"/>
            <a:headEnd type="none" len="sm" w="sm"/>
            <a:tailEnd type="none" len="sm" w="sm"/>
          </a:ln>
        </p:spPr>
      </p:sp>
      <p:sp>
        <p:nvSpPr>
          <p:cNvPr name="Freeform 8" id="8"/>
          <p:cNvSpPr/>
          <p:nvPr/>
        </p:nvSpPr>
        <p:spPr>
          <a:xfrm flipH="false" flipV="false" rot="-10800000">
            <a:off x="13846126" y="3016790"/>
            <a:ext cx="3384617" cy="960385"/>
          </a:xfrm>
          <a:custGeom>
            <a:avLst/>
            <a:gdLst/>
            <a:ahLst/>
            <a:cxnLst/>
            <a:rect r="r" b="b" t="t" l="l"/>
            <a:pathLst>
              <a:path h="960385" w="3384617">
                <a:moveTo>
                  <a:pt x="0" y="0"/>
                </a:moveTo>
                <a:lnTo>
                  <a:pt x="3384617" y="0"/>
                </a:lnTo>
                <a:lnTo>
                  <a:pt x="3384617" y="960385"/>
                </a:lnTo>
                <a:lnTo>
                  <a:pt x="0" y="9603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9" id="9"/>
          <p:cNvSpPr/>
          <p:nvPr/>
        </p:nvSpPr>
        <p:spPr>
          <a:xfrm flipV="true">
            <a:off x="11292476" y="3977175"/>
            <a:ext cx="3577436" cy="1920125"/>
          </a:xfrm>
          <a:prstGeom prst="line">
            <a:avLst/>
          </a:prstGeom>
          <a:ln cap="flat" w="28575">
            <a:solidFill>
              <a:srgbClr val="FFFFFF"/>
            </a:solidFill>
            <a:prstDash val="lgDash"/>
            <a:headEnd type="none" len="sm" w="sm"/>
            <a:tailEnd type="none" len="sm" w="sm"/>
          </a:ln>
        </p:spPr>
      </p:sp>
      <p:sp>
        <p:nvSpPr>
          <p:cNvPr name="Freeform 10" id="10"/>
          <p:cNvSpPr/>
          <p:nvPr/>
        </p:nvSpPr>
        <p:spPr>
          <a:xfrm flipH="false" flipV="false" rot="0">
            <a:off x="3534965" y="3496983"/>
            <a:ext cx="11030665" cy="5353796"/>
          </a:xfrm>
          <a:custGeom>
            <a:avLst/>
            <a:gdLst/>
            <a:ahLst/>
            <a:cxnLst/>
            <a:rect r="r" b="b" t="t" l="l"/>
            <a:pathLst>
              <a:path h="5353796" w="11030665">
                <a:moveTo>
                  <a:pt x="0" y="0"/>
                </a:moveTo>
                <a:lnTo>
                  <a:pt x="11030665" y="0"/>
                </a:lnTo>
                <a:lnTo>
                  <a:pt x="11030665" y="5353795"/>
                </a:lnTo>
                <a:lnTo>
                  <a:pt x="0" y="5353795"/>
                </a:lnTo>
                <a:lnTo>
                  <a:pt x="0" y="0"/>
                </a:lnTo>
                <a:close/>
              </a:path>
            </a:pathLst>
          </a:custGeom>
          <a:blipFill>
            <a:blip r:embed="rId4"/>
            <a:stretch>
              <a:fillRect l="0" t="0" r="0" b="0"/>
            </a:stretch>
          </a:blipFill>
        </p:spPr>
      </p:sp>
      <p:sp>
        <p:nvSpPr>
          <p:cNvPr name="TextBox 11" id="11"/>
          <p:cNvSpPr txBox="true"/>
          <p:nvPr/>
        </p:nvSpPr>
        <p:spPr>
          <a:xfrm rot="0">
            <a:off x="993603" y="4294952"/>
            <a:ext cx="2210804" cy="656958"/>
          </a:xfrm>
          <a:prstGeom prst="rect">
            <a:avLst/>
          </a:prstGeom>
        </p:spPr>
        <p:txBody>
          <a:bodyPr anchor="t" rtlCol="false" tIns="0" lIns="0" bIns="0" rIns="0">
            <a:spAutoFit/>
          </a:bodyPr>
          <a:lstStyle/>
          <a:p>
            <a:pPr algn="ctr">
              <a:lnSpc>
                <a:spcPts val="1772"/>
              </a:lnSpc>
              <a:spcBef>
                <a:spcPct val="0"/>
              </a:spcBef>
            </a:pPr>
            <a:r>
              <a:rPr lang="en-US" sz="1100">
                <a:solidFill>
                  <a:srgbClr val="FCFBFA"/>
                </a:solidFill>
                <a:latin typeface="Poppins"/>
                <a:ea typeface="Poppins"/>
                <a:cs typeface="Poppins"/>
                <a:sym typeface="Poppins"/>
              </a:rPr>
              <a:t>Loads the dataset. </a:t>
            </a:r>
            <a:r>
              <a:rPr lang="en-US" b="true" sz="1100">
                <a:solidFill>
                  <a:srgbClr val="FCFBFA"/>
                </a:solidFill>
                <a:latin typeface="Poppins Bold"/>
                <a:ea typeface="Poppins Bold"/>
                <a:cs typeface="Poppins Bold"/>
                <a:sym typeface="Poppins Bold"/>
              </a:rPr>
              <a:t>It provides the raw sales data needed for forecasting.</a:t>
            </a:r>
          </a:p>
        </p:txBody>
      </p:sp>
      <p:sp>
        <p:nvSpPr>
          <p:cNvPr name="TextBox 12" id="12"/>
          <p:cNvSpPr txBox="true"/>
          <p:nvPr/>
        </p:nvSpPr>
        <p:spPr>
          <a:xfrm rot="0">
            <a:off x="5801302" y="2278683"/>
            <a:ext cx="3076332" cy="1003252"/>
          </a:xfrm>
          <a:prstGeom prst="rect">
            <a:avLst/>
          </a:prstGeom>
        </p:spPr>
        <p:txBody>
          <a:bodyPr anchor="t" rtlCol="false" tIns="0" lIns="0" bIns="0" rIns="0">
            <a:spAutoFit/>
          </a:bodyPr>
          <a:lstStyle/>
          <a:p>
            <a:pPr algn="ctr">
              <a:lnSpc>
                <a:spcPts val="1637"/>
              </a:lnSpc>
              <a:spcBef>
                <a:spcPct val="0"/>
              </a:spcBef>
            </a:pPr>
            <a:r>
              <a:rPr lang="en-US" sz="1016">
                <a:solidFill>
                  <a:srgbClr val="FCFBFA"/>
                </a:solidFill>
                <a:latin typeface="Poppins"/>
                <a:ea typeface="Poppins"/>
                <a:cs typeface="Poppins"/>
                <a:sym typeface="Poppins"/>
              </a:rPr>
              <a:t>Lets us preview, filter, or edit the dataset before modeling. </a:t>
            </a:r>
            <a:r>
              <a:rPr lang="en-US" b="true" sz="1016">
                <a:solidFill>
                  <a:srgbClr val="FCFBFA"/>
                </a:solidFill>
                <a:latin typeface="Poppins Bold"/>
                <a:ea typeface="Poppins Bold"/>
                <a:cs typeface="Poppins Bold"/>
                <a:sym typeface="Poppins Bold"/>
              </a:rPr>
              <a:t>It helps confirm that the time column is correctly read and that numeric variables like sales rank or price are available.</a:t>
            </a:r>
          </a:p>
          <a:p>
            <a:pPr algn="ctr">
              <a:lnSpc>
                <a:spcPts val="1315"/>
              </a:lnSpc>
              <a:spcBef>
                <a:spcPct val="0"/>
              </a:spcBef>
            </a:pPr>
          </a:p>
        </p:txBody>
      </p:sp>
      <p:sp>
        <p:nvSpPr>
          <p:cNvPr name="TextBox 13" id="13"/>
          <p:cNvSpPr txBox="true"/>
          <p:nvPr/>
        </p:nvSpPr>
        <p:spPr>
          <a:xfrm rot="0">
            <a:off x="10119199" y="2021050"/>
            <a:ext cx="3161146" cy="1095108"/>
          </a:xfrm>
          <a:prstGeom prst="rect">
            <a:avLst/>
          </a:prstGeom>
        </p:spPr>
        <p:txBody>
          <a:bodyPr anchor="t" rtlCol="false" tIns="0" lIns="0" bIns="0" rIns="0">
            <a:spAutoFit/>
          </a:bodyPr>
          <a:lstStyle/>
          <a:p>
            <a:pPr algn="ctr">
              <a:lnSpc>
                <a:spcPts val="1772"/>
              </a:lnSpc>
              <a:spcBef>
                <a:spcPct val="0"/>
              </a:spcBef>
            </a:pPr>
            <a:r>
              <a:rPr lang="en-US" sz="1100">
                <a:solidFill>
                  <a:srgbClr val="FCFBFA"/>
                </a:solidFill>
                <a:latin typeface="Poppins"/>
                <a:ea typeface="Poppins"/>
                <a:cs typeface="Poppins"/>
                <a:sym typeface="Poppins"/>
              </a:rPr>
              <a:t>C</a:t>
            </a:r>
            <a:r>
              <a:rPr lang="en-US" sz="1100">
                <a:solidFill>
                  <a:srgbClr val="FCFBFA"/>
                </a:solidFill>
                <a:latin typeface="Poppins"/>
                <a:ea typeface="Poppins"/>
                <a:cs typeface="Poppins"/>
                <a:sym typeface="Poppins"/>
              </a:rPr>
              <a:t>onverts the data into a time series by specifying the Time column and the target variable. </a:t>
            </a:r>
            <a:r>
              <a:rPr lang="en-US" b="true" sz="1100">
                <a:solidFill>
                  <a:srgbClr val="FCFBFA"/>
                </a:solidFill>
                <a:latin typeface="Poppins Bold"/>
                <a:ea typeface="Poppins Bold"/>
                <a:cs typeface="Poppins Bold"/>
                <a:sym typeface="Poppins Bold"/>
              </a:rPr>
              <a:t>Time series models like ARIMA require this structured format to function</a:t>
            </a:r>
            <a:r>
              <a:rPr lang="en-US" sz="1100">
                <a:solidFill>
                  <a:srgbClr val="FCFBFA"/>
                </a:solidFill>
                <a:latin typeface="Poppins"/>
                <a:ea typeface="Poppins"/>
                <a:cs typeface="Poppins"/>
                <a:sym typeface="Poppins"/>
              </a:rPr>
              <a:t>.</a:t>
            </a:r>
          </a:p>
          <a:p>
            <a:pPr algn="ctr">
              <a:lnSpc>
                <a:spcPts val="1772"/>
              </a:lnSpc>
              <a:spcBef>
                <a:spcPct val="0"/>
              </a:spcBef>
            </a:pPr>
          </a:p>
        </p:txBody>
      </p:sp>
      <p:sp>
        <p:nvSpPr>
          <p:cNvPr name="TextBox 14" id="14"/>
          <p:cNvSpPr txBox="true"/>
          <p:nvPr/>
        </p:nvSpPr>
        <p:spPr>
          <a:xfrm rot="0">
            <a:off x="14072747" y="3101829"/>
            <a:ext cx="2931374" cy="804137"/>
          </a:xfrm>
          <a:prstGeom prst="rect">
            <a:avLst/>
          </a:prstGeom>
        </p:spPr>
        <p:txBody>
          <a:bodyPr anchor="t" rtlCol="false" tIns="0" lIns="0" bIns="0" rIns="0">
            <a:spAutoFit/>
          </a:bodyPr>
          <a:lstStyle/>
          <a:p>
            <a:pPr algn="ctr">
              <a:lnSpc>
                <a:spcPts val="1639"/>
              </a:lnSpc>
              <a:spcBef>
                <a:spcPct val="0"/>
              </a:spcBef>
            </a:pPr>
            <a:r>
              <a:rPr lang="en-US" sz="1017">
                <a:solidFill>
                  <a:srgbClr val="FCFBFA"/>
                </a:solidFill>
                <a:latin typeface="Poppins"/>
                <a:ea typeface="Poppins"/>
                <a:cs typeface="Poppins"/>
                <a:sym typeface="Poppins"/>
              </a:rPr>
              <a:t> Applie</a:t>
            </a:r>
            <a:r>
              <a:rPr lang="en-US" sz="1017">
                <a:solidFill>
                  <a:srgbClr val="FCFBFA"/>
                </a:solidFill>
                <a:latin typeface="Poppins"/>
                <a:ea typeface="Poppins"/>
                <a:cs typeface="Poppins"/>
                <a:sym typeface="Poppins"/>
              </a:rPr>
              <a:t>s the ARIMA algorithm to analyse past data and forecast future values. </a:t>
            </a:r>
            <a:r>
              <a:rPr lang="en-US" b="true" sz="1017">
                <a:solidFill>
                  <a:srgbClr val="FCFBFA"/>
                </a:solidFill>
                <a:latin typeface="Poppins Bold"/>
                <a:ea typeface="Poppins Bold"/>
                <a:cs typeface="Poppins Bold"/>
                <a:sym typeface="Poppins Bold"/>
              </a:rPr>
              <a:t>This is the core forecasting tool that lets us predict future sales rank trends.</a:t>
            </a:r>
          </a:p>
        </p:txBody>
      </p:sp>
      <p:sp>
        <p:nvSpPr>
          <p:cNvPr name="Freeform 15" id="15"/>
          <p:cNvSpPr/>
          <p:nvPr/>
        </p:nvSpPr>
        <p:spPr>
          <a:xfrm flipH="false" flipV="false" rot="-10800000">
            <a:off x="14376205" y="7644094"/>
            <a:ext cx="3252827" cy="922990"/>
          </a:xfrm>
          <a:custGeom>
            <a:avLst/>
            <a:gdLst/>
            <a:ahLst/>
            <a:cxnLst/>
            <a:rect r="r" b="b" t="t" l="l"/>
            <a:pathLst>
              <a:path h="922990" w="3252827">
                <a:moveTo>
                  <a:pt x="0" y="0"/>
                </a:moveTo>
                <a:lnTo>
                  <a:pt x="3252827" y="0"/>
                </a:lnTo>
                <a:lnTo>
                  <a:pt x="3252827" y="922990"/>
                </a:lnTo>
                <a:lnTo>
                  <a:pt x="0" y="9229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6" id="16"/>
          <p:cNvSpPr/>
          <p:nvPr/>
        </p:nvSpPr>
        <p:spPr>
          <a:xfrm>
            <a:off x="13040971" y="8105589"/>
            <a:ext cx="1335234" cy="0"/>
          </a:xfrm>
          <a:prstGeom prst="line">
            <a:avLst/>
          </a:prstGeom>
          <a:ln cap="flat" w="28575">
            <a:solidFill>
              <a:srgbClr val="FFFFFF"/>
            </a:solidFill>
            <a:prstDash val="lgDash"/>
            <a:headEnd type="none" len="sm" w="sm"/>
            <a:tailEnd type="none" len="sm" w="sm"/>
          </a:ln>
        </p:spPr>
      </p:sp>
      <p:sp>
        <p:nvSpPr>
          <p:cNvPr name="TextBox 17" id="17"/>
          <p:cNvSpPr txBox="true"/>
          <p:nvPr/>
        </p:nvSpPr>
        <p:spPr>
          <a:xfrm rot="0">
            <a:off x="14565630" y="7682234"/>
            <a:ext cx="2943433" cy="995553"/>
          </a:xfrm>
          <a:prstGeom prst="rect">
            <a:avLst/>
          </a:prstGeom>
        </p:spPr>
        <p:txBody>
          <a:bodyPr anchor="t" rtlCol="false" tIns="0" lIns="0" bIns="0" rIns="0">
            <a:spAutoFit/>
          </a:bodyPr>
          <a:lstStyle/>
          <a:p>
            <a:pPr algn="ctr">
              <a:lnSpc>
                <a:spcPts val="1611"/>
              </a:lnSpc>
              <a:spcBef>
                <a:spcPct val="0"/>
              </a:spcBef>
            </a:pPr>
            <a:r>
              <a:rPr lang="en-US" sz="1000">
                <a:solidFill>
                  <a:srgbClr val="FCFBFA"/>
                </a:solidFill>
                <a:latin typeface="Poppins"/>
                <a:ea typeface="Poppins"/>
                <a:cs typeface="Poppins"/>
                <a:sym typeface="Poppins"/>
              </a:rPr>
              <a:t>Evalu</a:t>
            </a:r>
            <a:r>
              <a:rPr lang="en-US" sz="1000">
                <a:solidFill>
                  <a:srgbClr val="FCFBFA"/>
                </a:solidFill>
                <a:latin typeface="Poppins"/>
                <a:ea typeface="Poppins"/>
                <a:cs typeface="Poppins"/>
                <a:sym typeface="Poppins"/>
              </a:rPr>
              <a:t>ates how accurate the ARIMA model is using metrics like RMSE, MAPE, R², etc. I</a:t>
            </a:r>
            <a:r>
              <a:rPr lang="en-US" b="true" sz="1000">
                <a:solidFill>
                  <a:srgbClr val="FCFBFA"/>
                </a:solidFill>
                <a:latin typeface="Poppins Bold"/>
                <a:ea typeface="Poppins Bold"/>
                <a:cs typeface="Poppins Bold"/>
                <a:sym typeface="Poppins Bold"/>
              </a:rPr>
              <a:t>t validates the forecasts and chooses the best-performing model setup.</a:t>
            </a:r>
          </a:p>
          <a:p>
            <a:pPr algn="ctr">
              <a:lnSpc>
                <a:spcPts val="1611"/>
              </a:lnSpc>
              <a:spcBef>
                <a:spcPct val="0"/>
              </a:spcBef>
            </a:pPr>
          </a:p>
        </p:txBody>
      </p:sp>
      <p:sp>
        <p:nvSpPr>
          <p:cNvPr name="Freeform 18" id="18"/>
          <p:cNvSpPr/>
          <p:nvPr/>
        </p:nvSpPr>
        <p:spPr>
          <a:xfrm flipH="false" flipV="false" rot="-10800000">
            <a:off x="2853826" y="7447960"/>
            <a:ext cx="3944048" cy="1119123"/>
          </a:xfrm>
          <a:custGeom>
            <a:avLst/>
            <a:gdLst/>
            <a:ahLst/>
            <a:cxnLst/>
            <a:rect r="r" b="b" t="t" l="l"/>
            <a:pathLst>
              <a:path h="1119123" w="3944048">
                <a:moveTo>
                  <a:pt x="0" y="0"/>
                </a:moveTo>
                <a:lnTo>
                  <a:pt x="3944048" y="0"/>
                </a:lnTo>
                <a:lnTo>
                  <a:pt x="3944048" y="1119124"/>
                </a:lnTo>
                <a:lnTo>
                  <a:pt x="0" y="11191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9" id="19"/>
          <p:cNvSpPr/>
          <p:nvPr/>
        </p:nvSpPr>
        <p:spPr>
          <a:xfrm flipH="true">
            <a:off x="6797874" y="7989047"/>
            <a:ext cx="976621" cy="18475"/>
          </a:xfrm>
          <a:prstGeom prst="line">
            <a:avLst/>
          </a:prstGeom>
          <a:ln cap="flat" w="28575">
            <a:solidFill>
              <a:srgbClr val="FFFFFF"/>
            </a:solidFill>
            <a:prstDash val="lgDash"/>
            <a:headEnd type="none" len="sm" w="sm"/>
            <a:tailEnd type="none" len="sm" w="sm"/>
          </a:ln>
        </p:spPr>
      </p:sp>
      <p:sp>
        <p:nvSpPr>
          <p:cNvPr name="TextBox 20" id="20"/>
          <p:cNvSpPr txBox="true"/>
          <p:nvPr/>
        </p:nvSpPr>
        <p:spPr>
          <a:xfrm rot="0">
            <a:off x="3073305" y="7563893"/>
            <a:ext cx="3505091" cy="876033"/>
          </a:xfrm>
          <a:prstGeom prst="rect">
            <a:avLst/>
          </a:prstGeom>
        </p:spPr>
        <p:txBody>
          <a:bodyPr anchor="t" rtlCol="false" tIns="0" lIns="0" bIns="0" rIns="0">
            <a:spAutoFit/>
          </a:bodyPr>
          <a:lstStyle/>
          <a:p>
            <a:pPr algn="ctr">
              <a:lnSpc>
                <a:spcPts val="1772"/>
              </a:lnSpc>
              <a:spcBef>
                <a:spcPct val="0"/>
              </a:spcBef>
            </a:pPr>
            <a:r>
              <a:rPr lang="en-US" sz="1100">
                <a:solidFill>
                  <a:srgbClr val="FCFBFA"/>
                </a:solidFill>
                <a:latin typeface="Poppins"/>
                <a:ea typeface="Poppins"/>
                <a:cs typeface="Poppins"/>
                <a:sym typeface="Poppins"/>
              </a:rPr>
              <a:t>Sh</a:t>
            </a:r>
            <a:r>
              <a:rPr lang="en-US" sz="1100">
                <a:solidFill>
                  <a:srgbClr val="FCFBFA"/>
                </a:solidFill>
                <a:latin typeface="Poppins"/>
                <a:ea typeface="Poppins"/>
                <a:cs typeface="Poppins"/>
                <a:sym typeface="Poppins"/>
              </a:rPr>
              <a:t>ows the raw forecasted values in a table format for reference or export.</a:t>
            </a:r>
            <a:r>
              <a:rPr lang="en-US" b="true" sz="1100">
                <a:solidFill>
                  <a:srgbClr val="FCFBFA"/>
                </a:solidFill>
                <a:latin typeface="Poppins Bold"/>
                <a:ea typeface="Poppins Bold"/>
                <a:cs typeface="Poppins Bold"/>
                <a:sym typeface="Poppins Bold"/>
              </a:rPr>
              <a:t> Useful for presenting the exact numeric predictions and understanding how performance evolves month by month.</a:t>
            </a:r>
          </a:p>
        </p:txBody>
      </p:sp>
      <p:sp>
        <p:nvSpPr>
          <p:cNvPr name="Freeform 21" id="21"/>
          <p:cNvSpPr/>
          <p:nvPr/>
        </p:nvSpPr>
        <p:spPr>
          <a:xfrm flipH="false" flipV="false" rot="-10800000">
            <a:off x="14675383" y="5739915"/>
            <a:ext cx="3315593" cy="940800"/>
          </a:xfrm>
          <a:custGeom>
            <a:avLst/>
            <a:gdLst/>
            <a:ahLst/>
            <a:cxnLst/>
            <a:rect r="r" b="b" t="t" l="l"/>
            <a:pathLst>
              <a:path h="940800" w="3315593">
                <a:moveTo>
                  <a:pt x="0" y="0"/>
                </a:moveTo>
                <a:lnTo>
                  <a:pt x="3315593" y="0"/>
                </a:lnTo>
                <a:lnTo>
                  <a:pt x="3315593" y="940800"/>
                </a:lnTo>
                <a:lnTo>
                  <a:pt x="0" y="940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22" id="22"/>
          <p:cNvSpPr/>
          <p:nvPr/>
        </p:nvSpPr>
        <p:spPr>
          <a:xfrm>
            <a:off x="14312098" y="6201410"/>
            <a:ext cx="363285" cy="8905"/>
          </a:xfrm>
          <a:prstGeom prst="line">
            <a:avLst/>
          </a:prstGeom>
          <a:ln cap="flat" w="28575">
            <a:solidFill>
              <a:srgbClr val="FFFFFF"/>
            </a:solidFill>
            <a:prstDash val="lgDash"/>
            <a:headEnd type="none" len="sm" w="sm"/>
            <a:tailEnd type="none" len="sm" w="sm"/>
          </a:ln>
        </p:spPr>
      </p:sp>
      <p:sp>
        <p:nvSpPr>
          <p:cNvPr name="TextBox 23" id="23"/>
          <p:cNvSpPr txBox="true"/>
          <p:nvPr/>
        </p:nvSpPr>
        <p:spPr>
          <a:xfrm rot="0">
            <a:off x="14869912" y="5742871"/>
            <a:ext cx="2943433" cy="1093412"/>
          </a:xfrm>
          <a:prstGeom prst="rect">
            <a:avLst/>
          </a:prstGeom>
        </p:spPr>
        <p:txBody>
          <a:bodyPr anchor="t" rtlCol="false" tIns="0" lIns="0" bIns="0" rIns="0">
            <a:spAutoFit/>
          </a:bodyPr>
          <a:lstStyle/>
          <a:p>
            <a:pPr algn="ctr">
              <a:lnSpc>
                <a:spcPts val="1449"/>
              </a:lnSpc>
              <a:spcBef>
                <a:spcPct val="0"/>
              </a:spcBef>
            </a:pPr>
            <a:r>
              <a:rPr lang="en-US" sz="900">
                <a:solidFill>
                  <a:srgbClr val="FCFBFA"/>
                </a:solidFill>
                <a:latin typeface="Poppins"/>
                <a:ea typeface="Poppins"/>
                <a:cs typeface="Poppins"/>
                <a:sym typeface="Poppins"/>
              </a:rPr>
              <a:t>Displ</a:t>
            </a:r>
            <a:r>
              <a:rPr lang="en-US" sz="900">
                <a:solidFill>
                  <a:srgbClr val="FCFBFA"/>
                </a:solidFill>
                <a:latin typeface="Poppins"/>
                <a:ea typeface="Poppins"/>
                <a:cs typeface="Poppins"/>
                <a:sym typeface="Poppins"/>
              </a:rPr>
              <a:t>ays the forecasted values alongside the original time series as a single line chart. </a:t>
            </a:r>
            <a:r>
              <a:rPr lang="en-US" b="true" sz="900">
                <a:solidFill>
                  <a:srgbClr val="FCFBFA"/>
                </a:solidFill>
                <a:latin typeface="Poppins Bold"/>
                <a:ea typeface="Poppins Bold"/>
                <a:cs typeface="Poppins Bold"/>
                <a:sym typeface="Poppins Bold"/>
              </a:rPr>
              <a:t>It allows to visually compare real vs predicted trends and identify when performance is expected to rise or fall.</a:t>
            </a:r>
          </a:p>
          <a:p>
            <a:pPr algn="ctr">
              <a:lnSpc>
                <a:spcPts val="1611"/>
              </a:lnSpc>
              <a:spcBef>
                <a:spcPct val="0"/>
              </a:spcBef>
            </a:pPr>
          </a:p>
        </p:txBody>
      </p:sp>
      <p:sp>
        <p:nvSpPr>
          <p:cNvPr name="TextBox 24" id="24"/>
          <p:cNvSpPr txBox="true"/>
          <p:nvPr/>
        </p:nvSpPr>
        <p:spPr>
          <a:xfrm rot="0">
            <a:off x="1692147" y="1082789"/>
            <a:ext cx="8633700" cy="614586"/>
          </a:xfrm>
          <a:prstGeom prst="rect">
            <a:avLst/>
          </a:prstGeom>
        </p:spPr>
        <p:txBody>
          <a:bodyPr anchor="t" rtlCol="false" tIns="0" lIns="0" bIns="0" rIns="0">
            <a:spAutoFit/>
          </a:bodyPr>
          <a:lstStyle/>
          <a:p>
            <a:pPr algn="l">
              <a:lnSpc>
                <a:spcPts val="4403"/>
              </a:lnSpc>
              <a:spcBef>
                <a:spcPct val="0"/>
              </a:spcBef>
            </a:pPr>
            <a:r>
              <a:rPr lang="en-US" b="true" sz="4077" i="true">
                <a:solidFill>
                  <a:srgbClr val="FFFFFF"/>
                </a:solidFill>
                <a:latin typeface="Poppins Bold Italics"/>
                <a:ea typeface="Poppins Bold Italics"/>
                <a:cs typeface="Poppins Bold Italics"/>
                <a:sym typeface="Poppins Bold Italics"/>
              </a:rPr>
              <a:t>Flowchart</a:t>
            </a:r>
          </a:p>
        </p:txBody>
      </p:sp>
      <p:sp>
        <p:nvSpPr>
          <p:cNvPr name="Freeform 25" id="25"/>
          <p:cNvSpPr/>
          <p:nvPr/>
        </p:nvSpPr>
        <p:spPr>
          <a:xfrm flipH="false" flipV="false" rot="0">
            <a:off x="1028700" y="1028700"/>
            <a:ext cx="663447" cy="649625"/>
          </a:xfrm>
          <a:custGeom>
            <a:avLst/>
            <a:gdLst/>
            <a:ahLst/>
            <a:cxnLst/>
            <a:rect r="r" b="b" t="t" l="l"/>
            <a:pathLst>
              <a:path h="649625" w="663447">
                <a:moveTo>
                  <a:pt x="0" y="0"/>
                </a:moveTo>
                <a:lnTo>
                  <a:pt x="663447" y="0"/>
                </a:lnTo>
                <a:lnTo>
                  <a:pt x="663447" y="649625"/>
                </a:lnTo>
                <a:lnTo>
                  <a:pt x="0" y="649625"/>
                </a:lnTo>
                <a:lnTo>
                  <a:pt x="0" y="0"/>
                </a:lnTo>
                <a:close/>
              </a:path>
            </a:pathLst>
          </a:custGeom>
          <a:blipFill>
            <a:blip r:embed="rId5"/>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TextBox 2" id="2"/>
          <p:cNvSpPr txBox="true"/>
          <p:nvPr/>
        </p:nvSpPr>
        <p:spPr>
          <a:xfrm rot="0">
            <a:off x="3361302" y="2458212"/>
            <a:ext cx="11911233" cy="6800088"/>
          </a:xfrm>
          <a:prstGeom prst="rect">
            <a:avLst/>
          </a:prstGeom>
        </p:spPr>
        <p:txBody>
          <a:bodyPr anchor="t" rtlCol="false" tIns="0" lIns="0" bIns="0" rIns="0">
            <a:spAutoFit/>
          </a:bodyPr>
          <a:lstStyle/>
          <a:p>
            <a:pPr algn="just">
              <a:lnSpc>
                <a:spcPts val="4895"/>
              </a:lnSpc>
            </a:pPr>
            <a:r>
              <a:rPr lang="en-US" sz="3199">
                <a:solidFill>
                  <a:srgbClr val="FFFFFF"/>
                </a:solidFill>
                <a:latin typeface="Poppins"/>
                <a:ea typeface="Poppins"/>
                <a:cs typeface="Poppins"/>
                <a:sym typeface="Poppins"/>
              </a:rPr>
              <a:t>This workflow takes the historical sales rank data and turns it into predictive insights by structuring the data as a</a:t>
            </a:r>
            <a:r>
              <a:rPr lang="en-US" sz="3199">
                <a:solidFill>
                  <a:srgbClr val="FFFFFF"/>
                </a:solidFill>
                <a:latin typeface="Poppins"/>
                <a:ea typeface="Poppins"/>
                <a:cs typeface="Poppins"/>
                <a:sym typeface="Poppins"/>
              </a:rPr>
              <a:t> ti</a:t>
            </a:r>
            <a:r>
              <a:rPr lang="en-US" sz="3199">
                <a:solidFill>
                  <a:srgbClr val="FFFFFF"/>
                </a:solidFill>
                <a:latin typeface="Poppins"/>
                <a:ea typeface="Poppins"/>
                <a:cs typeface="Poppins"/>
                <a:sym typeface="Poppins"/>
              </a:rPr>
              <a:t>me</a:t>
            </a:r>
            <a:r>
              <a:rPr lang="en-US" sz="3199">
                <a:solidFill>
                  <a:srgbClr val="FFFFFF"/>
                </a:solidFill>
                <a:latin typeface="Poppins"/>
                <a:ea typeface="Poppins"/>
                <a:cs typeface="Poppins"/>
                <a:sym typeface="Poppins"/>
              </a:rPr>
              <a:t> s</a:t>
            </a:r>
            <a:r>
              <a:rPr lang="en-US" sz="3199">
                <a:solidFill>
                  <a:srgbClr val="FFFFFF"/>
                </a:solidFill>
                <a:latin typeface="Poppins"/>
                <a:ea typeface="Poppins"/>
                <a:cs typeface="Poppins"/>
                <a:sym typeface="Poppins"/>
              </a:rPr>
              <a:t>eries, f</a:t>
            </a:r>
            <a:r>
              <a:rPr lang="en-US" sz="3199">
                <a:solidFill>
                  <a:srgbClr val="FFFFFF"/>
                </a:solidFill>
                <a:latin typeface="Poppins"/>
                <a:ea typeface="Poppins"/>
                <a:cs typeface="Poppins"/>
                <a:sym typeface="Poppins"/>
              </a:rPr>
              <a:t>orecas</a:t>
            </a:r>
            <a:r>
              <a:rPr lang="en-US" sz="3199">
                <a:solidFill>
                  <a:srgbClr val="FFFFFF"/>
                </a:solidFill>
                <a:latin typeface="Poppins"/>
                <a:ea typeface="Poppins"/>
                <a:cs typeface="Poppins"/>
                <a:sym typeface="Poppins"/>
              </a:rPr>
              <a:t>ting future tre</a:t>
            </a:r>
            <a:r>
              <a:rPr lang="en-US" sz="3199">
                <a:solidFill>
                  <a:srgbClr val="FFFFFF"/>
                </a:solidFill>
                <a:latin typeface="Poppins"/>
                <a:ea typeface="Poppins"/>
                <a:cs typeface="Poppins"/>
                <a:sym typeface="Poppins"/>
              </a:rPr>
              <a:t>nds u</a:t>
            </a:r>
            <a:r>
              <a:rPr lang="en-US" sz="3199">
                <a:solidFill>
                  <a:srgbClr val="FFFFFF"/>
                </a:solidFill>
                <a:latin typeface="Poppins"/>
                <a:ea typeface="Poppins"/>
                <a:cs typeface="Poppins"/>
                <a:sym typeface="Poppins"/>
              </a:rPr>
              <a:t>sing ARIMA, validat</a:t>
            </a:r>
            <a:r>
              <a:rPr lang="en-US" sz="3199">
                <a:solidFill>
                  <a:srgbClr val="FFFFFF"/>
                </a:solidFill>
                <a:latin typeface="Poppins"/>
                <a:ea typeface="Poppins"/>
                <a:cs typeface="Poppins"/>
                <a:sym typeface="Poppins"/>
              </a:rPr>
              <a:t>ing </a:t>
            </a:r>
            <a:r>
              <a:rPr lang="en-US" sz="3199">
                <a:solidFill>
                  <a:srgbClr val="FFFFFF"/>
                </a:solidFill>
                <a:latin typeface="Poppins"/>
                <a:ea typeface="Poppins"/>
                <a:cs typeface="Poppins"/>
                <a:sym typeface="Poppins"/>
              </a:rPr>
              <a:t>the forecast’s accuracy, and visualiz</a:t>
            </a:r>
            <a:r>
              <a:rPr lang="en-US" sz="3199">
                <a:solidFill>
                  <a:srgbClr val="FFFFFF"/>
                </a:solidFill>
                <a:latin typeface="Poppins"/>
                <a:ea typeface="Poppins"/>
                <a:cs typeface="Poppins"/>
                <a:sym typeface="Poppins"/>
              </a:rPr>
              <a:t>ing both r</a:t>
            </a:r>
            <a:r>
              <a:rPr lang="en-US" sz="3199">
                <a:solidFill>
                  <a:srgbClr val="FFFFFF"/>
                </a:solidFill>
                <a:latin typeface="Poppins"/>
                <a:ea typeface="Poppins"/>
                <a:cs typeface="Poppins"/>
                <a:sym typeface="Poppins"/>
              </a:rPr>
              <a:t>e</a:t>
            </a:r>
            <a:r>
              <a:rPr lang="en-US" sz="3199">
                <a:solidFill>
                  <a:srgbClr val="FFFFFF"/>
                </a:solidFill>
                <a:latin typeface="Poppins"/>
                <a:ea typeface="Poppins"/>
                <a:cs typeface="Poppins"/>
                <a:sym typeface="Poppins"/>
              </a:rPr>
              <a:t>al and p</a:t>
            </a:r>
            <a:r>
              <a:rPr lang="en-US" sz="3199">
                <a:solidFill>
                  <a:srgbClr val="FFFFFF"/>
                </a:solidFill>
                <a:latin typeface="Poppins"/>
                <a:ea typeface="Poppins"/>
                <a:cs typeface="Poppins"/>
                <a:sym typeface="Poppins"/>
              </a:rPr>
              <a:t>redicted performance in one view.</a:t>
            </a:r>
          </a:p>
          <a:p>
            <a:pPr algn="just">
              <a:lnSpc>
                <a:spcPts val="4895"/>
              </a:lnSpc>
            </a:pPr>
          </a:p>
          <a:p>
            <a:pPr algn="just">
              <a:lnSpc>
                <a:spcPts val="4895"/>
              </a:lnSpc>
            </a:pPr>
            <a:r>
              <a:rPr lang="en-US" sz="3199">
                <a:solidFill>
                  <a:srgbClr val="FFFFFF"/>
                </a:solidFill>
                <a:latin typeface="Poppins"/>
                <a:ea typeface="Poppins"/>
                <a:cs typeface="Poppins"/>
                <a:sym typeface="Poppins"/>
              </a:rPr>
              <a:t>This helps the team make data-backed decisions around marketing, budgeting, and product strategy — especially for identifying potential drops in sales and acting before they happen.</a:t>
            </a:r>
          </a:p>
          <a:p>
            <a:pPr algn="just">
              <a:lnSpc>
                <a:spcPts val="4895"/>
              </a:lnSpc>
            </a:pPr>
          </a:p>
        </p:txBody>
      </p:sp>
      <p:sp>
        <p:nvSpPr>
          <p:cNvPr name="TextBox 3" id="3"/>
          <p:cNvSpPr txBox="true"/>
          <p:nvPr/>
        </p:nvSpPr>
        <p:spPr>
          <a:xfrm rot="0">
            <a:off x="2697984" y="1699861"/>
            <a:ext cx="10214671" cy="614586"/>
          </a:xfrm>
          <a:prstGeom prst="rect">
            <a:avLst/>
          </a:prstGeom>
        </p:spPr>
        <p:txBody>
          <a:bodyPr anchor="t" rtlCol="false" tIns="0" lIns="0" bIns="0" rIns="0">
            <a:spAutoFit/>
          </a:bodyPr>
          <a:lstStyle/>
          <a:p>
            <a:pPr algn="l">
              <a:lnSpc>
                <a:spcPts val="4403"/>
              </a:lnSpc>
              <a:spcBef>
                <a:spcPct val="0"/>
              </a:spcBef>
            </a:pPr>
            <a:r>
              <a:rPr lang="en-US" b="true" sz="4077">
                <a:solidFill>
                  <a:srgbClr val="FFFFFF"/>
                </a:solidFill>
                <a:latin typeface="Poppins Bold"/>
                <a:ea typeface="Poppins Bold"/>
                <a:cs typeface="Poppins Bold"/>
                <a:sym typeface="Poppins Bold"/>
              </a:rPr>
              <a:t>How The Solution Solves The Problem</a:t>
            </a:r>
          </a:p>
        </p:txBody>
      </p:sp>
      <p:sp>
        <p:nvSpPr>
          <p:cNvPr name="Freeform 4" id="4"/>
          <p:cNvSpPr/>
          <p:nvPr/>
        </p:nvSpPr>
        <p:spPr>
          <a:xfrm flipH="false" flipV="false" rot="0">
            <a:off x="2034538" y="1645772"/>
            <a:ext cx="663447" cy="649625"/>
          </a:xfrm>
          <a:custGeom>
            <a:avLst/>
            <a:gdLst/>
            <a:ahLst/>
            <a:cxnLst/>
            <a:rect r="r" b="b" t="t" l="l"/>
            <a:pathLst>
              <a:path h="649625" w="663447">
                <a:moveTo>
                  <a:pt x="0" y="0"/>
                </a:moveTo>
                <a:lnTo>
                  <a:pt x="663446" y="0"/>
                </a:lnTo>
                <a:lnTo>
                  <a:pt x="663446" y="649625"/>
                </a:lnTo>
                <a:lnTo>
                  <a:pt x="0" y="649625"/>
                </a:lnTo>
                <a:lnTo>
                  <a:pt x="0" y="0"/>
                </a:lnTo>
                <a:close/>
              </a:path>
            </a:pathLst>
          </a:custGeom>
          <a:blipFill>
            <a:blip r:embed="rId3"/>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14604962" y="4206331"/>
            <a:ext cx="950234" cy="937169"/>
          </a:xfrm>
          <a:custGeom>
            <a:avLst/>
            <a:gdLst/>
            <a:ahLst/>
            <a:cxnLst/>
            <a:rect r="r" b="b" t="t" l="l"/>
            <a:pathLst>
              <a:path h="937169" w="950234">
                <a:moveTo>
                  <a:pt x="0" y="0"/>
                </a:moveTo>
                <a:lnTo>
                  <a:pt x="950234" y="0"/>
                </a:lnTo>
                <a:lnTo>
                  <a:pt x="950234" y="937169"/>
                </a:lnTo>
                <a:lnTo>
                  <a:pt x="0" y="9371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028700" y="4371262"/>
            <a:ext cx="13576262" cy="885825"/>
          </a:xfrm>
          <a:prstGeom prst="rect">
            <a:avLst/>
          </a:prstGeom>
        </p:spPr>
        <p:txBody>
          <a:bodyPr anchor="t" rtlCol="false" tIns="0" lIns="0" bIns="0" rIns="0">
            <a:spAutoFit/>
          </a:bodyPr>
          <a:lstStyle/>
          <a:p>
            <a:pPr algn="l">
              <a:lnSpc>
                <a:spcPts val="6658"/>
              </a:lnSpc>
            </a:pPr>
            <a:r>
              <a:rPr lang="en-US" sz="5548" b="true">
                <a:solidFill>
                  <a:srgbClr val="FFFFFF"/>
                </a:solidFill>
                <a:latin typeface="Poppins Bold"/>
                <a:ea typeface="Poppins Bold"/>
                <a:cs typeface="Poppins Bold"/>
                <a:sym typeface="Poppins Bold"/>
              </a:rPr>
              <a:t>Recommendations Based on Insights</a:t>
            </a: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464622" y="1028700"/>
            <a:ext cx="4350323" cy="3995522"/>
            <a:chOff x="0" y="0"/>
            <a:chExt cx="2101405" cy="1930020"/>
          </a:xfrm>
        </p:grpSpPr>
        <p:sp>
          <p:nvSpPr>
            <p:cNvPr name="Freeform 3" id="3"/>
            <p:cNvSpPr/>
            <p:nvPr/>
          </p:nvSpPr>
          <p:spPr>
            <a:xfrm flipH="false" flipV="false" rot="0">
              <a:off x="0" y="0"/>
              <a:ext cx="2101405" cy="1930020"/>
            </a:xfrm>
            <a:custGeom>
              <a:avLst/>
              <a:gdLst/>
              <a:ahLst/>
              <a:cxnLst/>
              <a:rect r="r" b="b" t="t" l="l"/>
              <a:pathLst>
                <a:path h="1930020" w="2101405">
                  <a:moveTo>
                    <a:pt x="44490" y="0"/>
                  </a:moveTo>
                  <a:lnTo>
                    <a:pt x="2056915" y="0"/>
                  </a:lnTo>
                  <a:cubicBezTo>
                    <a:pt x="2068714" y="0"/>
                    <a:pt x="2080031" y="4687"/>
                    <a:pt x="2088374" y="13031"/>
                  </a:cubicBezTo>
                  <a:cubicBezTo>
                    <a:pt x="2096718" y="21375"/>
                    <a:pt x="2101405" y="32691"/>
                    <a:pt x="2101405" y="44490"/>
                  </a:cubicBezTo>
                  <a:lnTo>
                    <a:pt x="2101405" y="1885530"/>
                  </a:lnTo>
                  <a:cubicBezTo>
                    <a:pt x="2101405" y="1897330"/>
                    <a:pt x="2096718" y="1908646"/>
                    <a:pt x="2088374" y="1916989"/>
                  </a:cubicBezTo>
                  <a:cubicBezTo>
                    <a:pt x="2080031" y="1925333"/>
                    <a:pt x="2068714" y="1930020"/>
                    <a:pt x="2056915" y="1930020"/>
                  </a:cubicBezTo>
                  <a:lnTo>
                    <a:pt x="44490" y="1930020"/>
                  </a:lnTo>
                  <a:cubicBezTo>
                    <a:pt x="32691" y="1930020"/>
                    <a:pt x="21375" y="1925333"/>
                    <a:pt x="13031" y="1916989"/>
                  </a:cubicBezTo>
                  <a:cubicBezTo>
                    <a:pt x="4687" y="1908646"/>
                    <a:pt x="0" y="1897330"/>
                    <a:pt x="0" y="1885530"/>
                  </a:cubicBezTo>
                  <a:lnTo>
                    <a:pt x="0" y="44490"/>
                  </a:lnTo>
                  <a:cubicBezTo>
                    <a:pt x="0" y="32691"/>
                    <a:pt x="4687" y="21375"/>
                    <a:pt x="13031" y="13031"/>
                  </a:cubicBezTo>
                  <a:cubicBezTo>
                    <a:pt x="21375" y="4687"/>
                    <a:pt x="32691" y="0"/>
                    <a:pt x="44490" y="0"/>
                  </a:cubicBezTo>
                  <a:close/>
                </a:path>
              </a:pathLst>
            </a:custGeom>
            <a:solidFill>
              <a:srgbClr val="2A3066">
                <a:alpha val="55686"/>
              </a:srgbClr>
            </a:solidFill>
          </p:spPr>
        </p:sp>
        <p:sp>
          <p:nvSpPr>
            <p:cNvPr name="TextBox 4" id="4"/>
            <p:cNvSpPr txBox="true"/>
            <p:nvPr/>
          </p:nvSpPr>
          <p:spPr>
            <a:xfrm>
              <a:off x="0" y="-66675"/>
              <a:ext cx="2101405" cy="1996695"/>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5" id="5"/>
          <p:cNvGrpSpPr/>
          <p:nvPr/>
        </p:nvGrpSpPr>
        <p:grpSpPr>
          <a:xfrm rot="0">
            <a:off x="6968663" y="1028700"/>
            <a:ext cx="4350323" cy="3995522"/>
            <a:chOff x="0" y="0"/>
            <a:chExt cx="2101405" cy="1930020"/>
          </a:xfrm>
        </p:grpSpPr>
        <p:sp>
          <p:nvSpPr>
            <p:cNvPr name="Freeform 6" id="6"/>
            <p:cNvSpPr/>
            <p:nvPr/>
          </p:nvSpPr>
          <p:spPr>
            <a:xfrm flipH="false" flipV="false" rot="0">
              <a:off x="0" y="0"/>
              <a:ext cx="2101405" cy="1930020"/>
            </a:xfrm>
            <a:custGeom>
              <a:avLst/>
              <a:gdLst/>
              <a:ahLst/>
              <a:cxnLst/>
              <a:rect r="r" b="b" t="t" l="l"/>
              <a:pathLst>
                <a:path h="1930020" w="2101405">
                  <a:moveTo>
                    <a:pt x="44490" y="0"/>
                  </a:moveTo>
                  <a:lnTo>
                    <a:pt x="2056915" y="0"/>
                  </a:lnTo>
                  <a:cubicBezTo>
                    <a:pt x="2068714" y="0"/>
                    <a:pt x="2080031" y="4687"/>
                    <a:pt x="2088374" y="13031"/>
                  </a:cubicBezTo>
                  <a:cubicBezTo>
                    <a:pt x="2096718" y="21375"/>
                    <a:pt x="2101405" y="32691"/>
                    <a:pt x="2101405" y="44490"/>
                  </a:cubicBezTo>
                  <a:lnTo>
                    <a:pt x="2101405" y="1885530"/>
                  </a:lnTo>
                  <a:cubicBezTo>
                    <a:pt x="2101405" y="1897330"/>
                    <a:pt x="2096718" y="1908646"/>
                    <a:pt x="2088374" y="1916989"/>
                  </a:cubicBezTo>
                  <a:cubicBezTo>
                    <a:pt x="2080031" y="1925333"/>
                    <a:pt x="2068714" y="1930020"/>
                    <a:pt x="2056915" y="1930020"/>
                  </a:cubicBezTo>
                  <a:lnTo>
                    <a:pt x="44490" y="1930020"/>
                  </a:lnTo>
                  <a:cubicBezTo>
                    <a:pt x="32691" y="1930020"/>
                    <a:pt x="21375" y="1925333"/>
                    <a:pt x="13031" y="1916989"/>
                  </a:cubicBezTo>
                  <a:cubicBezTo>
                    <a:pt x="4687" y="1908646"/>
                    <a:pt x="0" y="1897330"/>
                    <a:pt x="0" y="1885530"/>
                  </a:cubicBezTo>
                  <a:lnTo>
                    <a:pt x="0" y="44490"/>
                  </a:lnTo>
                  <a:cubicBezTo>
                    <a:pt x="0" y="32691"/>
                    <a:pt x="4687" y="21375"/>
                    <a:pt x="13031" y="13031"/>
                  </a:cubicBezTo>
                  <a:cubicBezTo>
                    <a:pt x="21375" y="4687"/>
                    <a:pt x="32691" y="0"/>
                    <a:pt x="44490" y="0"/>
                  </a:cubicBezTo>
                  <a:close/>
                </a:path>
              </a:pathLst>
            </a:custGeom>
            <a:solidFill>
              <a:srgbClr val="2A3066">
                <a:alpha val="55686"/>
              </a:srgbClr>
            </a:solidFill>
          </p:spPr>
        </p:sp>
        <p:sp>
          <p:nvSpPr>
            <p:cNvPr name="TextBox 7" id="7"/>
            <p:cNvSpPr txBox="true"/>
            <p:nvPr/>
          </p:nvSpPr>
          <p:spPr>
            <a:xfrm>
              <a:off x="0" y="-66675"/>
              <a:ext cx="2101405" cy="1996695"/>
            </a:xfrm>
            <a:prstGeom prst="rect">
              <a:avLst/>
            </a:prstGeom>
          </p:spPr>
          <p:txBody>
            <a:bodyPr anchor="ctr" rtlCol="false" tIns="50800" lIns="50800" bIns="50800" rIns="50800"/>
            <a:lstStyle/>
            <a:p>
              <a:pPr algn="ctr">
                <a:lnSpc>
                  <a:spcPts val="2921"/>
                </a:lnSpc>
              </a:pPr>
            </a:p>
          </p:txBody>
        </p:sp>
      </p:grpSp>
      <p:sp>
        <p:nvSpPr>
          <p:cNvPr name="TextBox 8" id="8"/>
          <p:cNvSpPr txBox="true"/>
          <p:nvPr/>
        </p:nvSpPr>
        <p:spPr>
          <a:xfrm rot="0">
            <a:off x="2787986" y="1776192"/>
            <a:ext cx="3605528" cy="3363152"/>
          </a:xfrm>
          <a:prstGeom prst="rect">
            <a:avLst/>
          </a:prstGeom>
        </p:spPr>
        <p:txBody>
          <a:bodyPr anchor="t" rtlCol="false" tIns="0" lIns="0" bIns="0" rIns="0">
            <a:spAutoFit/>
          </a:bodyPr>
          <a:lstStyle/>
          <a:p>
            <a:pPr algn="l">
              <a:lnSpc>
                <a:spcPts val="2083"/>
              </a:lnSpc>
              <a:spcBef>
                <a:spcPct val="0"/>
              </a:spcBef>
            </a:pPr>
            <a:r>
              <a:rPr lang="en-US" sz="1929">
                <a:solidFill>
                  <a:srgbClr val="FFFFFF"/>
                </a:solidFill>
                <a:latin typeface="Poppins"/>
                <a:ea typeface="Poppins"/>
                <a:cs typeface="Poppins"/>
                <a:sym typeface="Poppins"/>
              </a:rPr>
              <a:t>ROG account</a:t>
            </a:r>
            <a:r>
              <a:rPr lang="en-US" sz="1929">
                <a:solidFill>
                  <a:srgbClr val="FFFFFF"/>
                </a:solidFill>
                <a:latin typeface="Poppins"/>
                <a:ea typeface="Poppins"/>
                <a:cs typeface="Poppins"/>
                <a:sym typeface="Poppins"/>
              </a:rPr>
              <a:t>ed for 44.42% of total sales and consistently showed the strongest sales rank performance throughout the year.</a:t>
            </a:r>
          </a:p>
          <a:p>
            <a:pPr algn="l">
              <a:lnSpc>
                <a:spcPts val="2083"/>
              </a:lnSpc>
              <a:spcBef>
                <a:spcPct val="0"/>
              </a:spcBef>
            </a:pPr>
          </a:p>
          <a:p>
            <a:pPr algn="l">
              <a:lnSpc>
                <a:spcPts val="2083"/>
              </a:lnSpc>
              <a:spcBef>
                <a:spcPct val="0"/>
              </a:spcBef>
            </a:pPr>
            <a:r>
              <a:rPr lang="en-US" b="true" sz="1929" i="true">
                <a:solidFill>
                  <a:srgbClr val="4187B5"/>
                </a:solidFill>
                <a:latin typeface="Poppins Bold Italics"/>
                <a:ea typeface="Poppins Bold Italics"/>
                <a:cs typeface="Poppins Bold Italics"/>
                <a:sym typeface="Poppins Bold Italics"/>
              </a:rPr>
              <a:t>Recommendation: </a:t>
            </a:r>
            <a:r>
              <a:rPr lang="en-US" sz="1929">
                <a:solidFill>
                  <a:srgbClr val="FFFFFF"/>
                </a:solidFill>
                <a:latin typeface="Poppins"/>
                <a:ea typeface="Poppins"/>
                <a:cs typeface="Poppins"/>
                <a:sym typeface="Poppins"/>
              </a:rPr>
              <a:t>Alloca</a:t>
            </a:r>
            <a:r>
              <a:rPr lang="en-US" sz="1929">
                <a:solidFill>
                  <a:srgbClr val="FFFFFF"/>
                </a:solidFill>
                <a:latin typeface="Poppins"/>
                <a:ea typeface="Poppins"/>
                <a:cs typeface="Poppins"/>
                <a:sym typeface="Poppins"/>
              </a:rPr>
              <a:t>te more advertising and promotional budget to ROG during high-performing months (e.g., May, October, December) to maximize ROI.</a:t>
            </a:r>
          </a:p>
          <a:p>
            <a:pPr algn="l">
              <a:lnSpc>
                <a:spcPts val="2083"/>
              </a:lnSpc>
              <a:spcBef>
                <a:spcPct val="0"/>
              </a:spcBef>
            </a:pPr>
          </a:p>
        </p:txBody>
      </p:sp>
      <p:sp>
        <p:nvSpPr>
          <p:cNvPr name="TextBox 9" id="9"/>
          <p:cNvSpPr txBox="true"/>
          <p:nvPr/>
        </p:nvSpPr>
        <p:spPr>
          <a:xfrm rot="0">
            <a:off x="2787986" y="1129725"/>
            <a:ext cx="3702893" cy="575756"/>
          </a:xfrm>
          <a:prstGeom prst="rect">
            <a:avLst/>
          </a:prstGeom>
        </p:spPr>
        <p:txBody>
          <a:bodyPr anchor="t" rtlCol="false" tIns="0" lIns="0" bIns="0" rIns="0">
            <a:spAutoFit/>
          </a:bodyPr>
          <a:lstStyle/>
          <a:p>
            <a:pPr algn="l">
              <a:lnSpc>
                <a:spcPts val="2157"/>
              </a:lnSpc>
              <a:spcBef>
                <a:spcPct val="0"/>
              </a:spcBef>
            </a:pPr>
            <a:r>
              <a:rPr lang="en-US" b="true" sz="1997">
                <a:solidFill>
                  <a:srgbClr val="FFFFFF"/>
                </a:solidFill>
                <a:latin typeface="Poppins Bold"/>
                <a:ea typeface="Poppins Bold"/>
                <a:cs typeface="Poppins Bold"/>
                <a:sym typeface="Poppins Bold"/>
              </a:rPr>
              <a:t>Incre</a:t>
            </a:r>
            <a:r>
              <a:rPr lang="en-US" b="true" sz="1997">
                <a:solidFill>
                  <a:srgbClr val="FFFFFF"/>
                </a:solidFill>
                <a:latin typeface="Poppins Bold"/>
                <a:ea typeface="Poppins Bold"/>
                <a:cs typeface="Poppins Bold"/>
                <a:sym typeface="Poppins Bold"/>
              </a:rPr>
              <a:t>ase Marketing Sup</a:t>
            </a:r>
            <a:r>
              <a:rPr lang="en-US" b="true" sz="1997">
                <a:solidFill>
                  <a:srgbClr val="FFFFFF"/>
                </a:solidFill>
                <a:latin typeface="Poppins Bold"/>
                <a:ea typeface="Poppins Bold"/>
                <a:cs typeface="Poppins Bold"/>
                <a:sym typeface="Poppins Bold"/>
              </a:rPr>
              <a:t>p</a:t>
            </a:r>
            <a:r>
              <a:rPr lang="en-US" b="true" sz="1997">
                <a:solidFill>
                  <a:srgbClr val="FFFFFF"/>
                </a:solidFill>
                <a:latin typeface="Poppins Bold"/>
                <a:ea typeface="Poppins Bold"/>
                <a:cs typeface="Poppins Bold"/>
                <a:sym typeface="Poppins Bold"/>
              </a:rPr>
              <a:t>o</a:t>
            </a:r>
            <a:r>
              <a:rPr lang="en-US" b="true" sz="1997">
                <a:solidFill>
                  <a:srgbClr val="FFFFFF"/>
                </a:solidFill>
                <a:latin typeface="Poppins Bold"/>
                <a:ea typeface="Poppins Bold"/>
                <a:cs typeface="Poppins Bold"/>
                <a:sym typeface="Poppins Bold"/>
              </a:rPr>
              <a:t>rt</a:t>
            </a:r>
            <a:r>
              <a:rPr lang="en-US" b="true" sz="1997">
                <a:solidFill>
                  <a:srgbClr val="FFFFFF"/>
                </a:solidFill>
                <a:latin typeface="Poppins Bold"/>
                <a:ea typeface="Poppins Bold"/>
                <a:cs typeface="Poppins Bold"/>
                <a:sym typeface="Poppins Bold"/>
              </a:rPr>
              <a:t> for ROG Laptops</a:t>
            </a:r>
          </a:p>
        </p:txBody>
      </p:sp>
      <p:sp>
        <p:nvSpPr>
          <p:cNvPr name="TextBox 10" id="10"/>
          <p:cNvSpPr txBox="true"/>
          <p:nvPr/>
        </p:nvSpPr>
        <p:spPr>
          <a:xfrm rot="0">
            <a:off x="7362417" y="2026498"/>
            <a:ext cx="3605528" cy="3123073"/>
          </a:xfrm>
          <a:prstGeom prst="rect">
            <a:avLst/>
          </a:prstGeom>
        </p:spPr>
        <p:txBody>
          <a:bodyPr anchor="t" rtlCol="false" tIns="0" lIns="0" bIns="0" rIns="0">
            <a:spAutoFit/>
          </a:bodyPr>
          <a:lstStyle/>
          <a:p>
            <a:pPr algn="l">
              <a:lnSpc>
                <a:spcPts val="1945"/>
              </a:lnSpc>
              <a:spcBef>
                <a:spcPct val="0"/>
              </a:spcBef>
            </a:pPr>
            <a:r>
              <a:rPr lang="en-US" sz="1801">
                <a:solidFill>
                  <a:srgbClr val="FFFFFF"/>
                </a:solidFill>
                <a:latin typeface="Poppins"/>
                <a:ea typeface="Poppins"/>
                <a:cs typeface="Poppins"/>
                <a:sym typeface="Poppins"/>
              </a:rPr>
              <a:t>Despit</a:t>
            </a:r>
            <a:r>
              <a:rPr lang="en-US" sz="1801">
                <a:solidFill>
                  <a:srgbClr val="FFFFFF"/>
                </a:solidFill>
                <a:latin typeface="Poppins"/>
                <a:ea typeface="Poppins"/>
                <a:cs typeface="Poppins"/>
                <a:sym typeface="Poppins"/>
              </a:rPr>
              <a:t>e heavy discounts (seen in high price difference months like August–September), Zephyrus’ sales rank worsened, indicating price cuts alone weren’t effe</a:t>
            </a:r>
            <a:r>
              <a:rPr lang="en-US" sz="1801">
                <a:solidFill>
                  <a:srgbClr val="FFFFFF"/>
                </a:solidFill>
                <a:latin typeface="Poppins"/>
                <a:ea typeface="Poppins"/>
                <a:cs typeface="Poppins"/>
                <a:sym typeface="Poppins"/>
              </a:rPr>
              <a:t>ctive.</a:t>
            </a:r>
          </a:p>
          <a:p>
            <a:pPr algn="l">
              <a:lnSpc>
                <a:spcPts val="1945"/>
              </a:lnSpc>
              <a:spcBef>
                <a:spcPct val="0"/>
              </a:spcBef>
            </a:pPr>
          </a:p>
          <a:p>
            <a:pPr algn="l">
              <a:lnSpc>
                <a:spcPts val="1945"/>
              </a:lnSpc>
              <a:spcBef>
                <a:spcPct val="0"/>
              </a:spcBef>
            </a:pPr>
            <a:r>
              <a:rPr lang="en-US" b="true" sz="1801" i="true">
                <a:solidFill>
                  <a:srgbClr val="4187B5"/>
                </a:solidFill>
                <a:latin typeface="Poppins Bold Italics"/>
                <a:ea typeface="Poppins Bold Italics"/>
                <a:cs typeface="Poppins Bold Italics"/>
                <a:sym typeface="Poppins Bold Italics"/>
              </a:rPr>
              <a:t>Recommendation:</a:t>
            </a:r>
            <a:r>
              <a:rPr lang="en-US" sz="1801">
                <a:solidFill>
                  <a:srgbClr val="FFFFFF"/>
                </a:solidFill>
                <a:latin typeface="Poppins"/>
                <a:ea typeface="Poppins"/>
                <a:cs typeface="Poppins"/>
                <a:sym typeface="Poppins"/>
              </a:rPr>
              <a:t> Conduct user feedback surveys and explore whether design, features, or brand perception are limiting sales performance.</a:t>
            </a:r>
          </a:p>
          <a:p>
            <a:pPr algn="l">
              <a:lnSpc>
                <a:spcPts val="1945"/>
              </a:lnSpc>
              <a:spcBef>
                <a:spcPct val="0"/>
              </a:spcBef>
            </a:pPr>
          </a:p>
        </p:txBody>
      </p:sp>
      <p:sp>
        <p:nvSpPr>
          <p:cNvPr name="TextBox 11" id="11"/>
          <p:cNvSpPr txBox="true"/>
          <p:nvPr/>
        </p:nvSpPr>
        <p:spPr>
          <a:xfrm rot="0">
            <a:off x="7362417" y="1114504"/>
            <a:ext cx="3702893" cy="848414"/>
          </a:xfrm>
          <a:prstGeom prst="rect">
            <a:avLst/>
          </a:prstGeom>
        </p:spPr>
        <p:txBody>
          <a:bodyPr anchor="t" rtlCol="false" tIns="0" lIns="0" bIns="0" rIns="0">
            <a:spAutoFit/>
          </a:bodyPr>
          <a:lstStyle/>
          <a:p>
            <a:pPr algn="l">
              <a:lnSpc>
                <a:spcPts val="2157"/>
              </a:lnSpc>
              <a:spcBef>
                <a:spcPct val="0"/>
              </a:spcBef>
            </a:pPr>
            <a:r>
              <a:rPr lang="en-US" b="true" sz="1997">
                <a:solidFill>
                  <a:srgbClr val="FFFFFF"/>
                </a:solidFill>
                <a:latin typeface="Poppins Bold"/>
                <a:ea typeface="Poppins Bold"/>
                <a:cs typeface="Poppins Bold"/>
                <a:sym typeface="Poppins Bold"/>
              </a:rPr>
              <a:t>Reassess the Posi</a:t>
            </a:r>
            <a:r>
              <a:rPr lang="en-US" b="true" sz="1997">
                <a:solidFill>
                  <a:srgbClr val="FFFFFF"/>
                </a:solidFill>
                <a:latin typeface="Poppins Bold"/>
                <a:ea typeface="Poppins Bold"/>
                <a:cs typeface="Poppins Bold"/>
                <a:sym typeface="Poppins Bold"/>
              </a:rPr>
              <a:t>tioning</a:t>
            </a:r>
            <a:r>
              <a:rPr lang="en-US" b="true" sz="1997">
                <a:solidFill>
                  <a:srgbClr val="FFFFFF"/>
                </a:solidFill>
                <a:latin typeface="Poppins Bold"/>
                <a:ea typeface="Poppins Bold"/>
                <a:cs typeface="Poppins Bold"/>
                <a:sym typeface="Poppins Bold"/>
              </a:rPr>
              <a:t> and Price Strategy</a:t>
            </a:r>
            <a:r>
              <a:rPr lang="en-US" b="true" sz="1997">
                <a:solidFill>
                  <a:srgbClr val="FFFFFF"/>
                </a:solidFill>
                <a:latin typeface="Poppins Bold"/>
                <a:ea typeface="Poppins Bold"/>
                <a:cs typeface="Poppins Bold"/>
                <a:sym typeface="Poppins Bold"/>
              </a:rPr>
              <a:t> for Zephyrus</a:t>
            </a:r>
          </a:p>
        </p:txBody>
      </p:sp>
      <p:grpSp>
        <p:nvGrpSpPr>
          <p:cNvPr name="Group 12" id="12"/>
          <p:cNvGrpSpPr/>
          <p:nvPr/>
        </p:nvGrpSpPr>
        <p:grpSpPr>
          <a:xfrm rot="0">
            <a:off x="11473405" y="1028700"/>
            <a:ext cx="4350323" cy="3995522"/>
            <a:chOff x="0" y="0"/>
            <a:chExt cx="2101405" cy="1930020"/>
          </a:xfrm>
        </p:grpSpPr>
        <p:sp>
          <p:nvSpPr>
            <p:cNvPr name="Freeform 13" id="13"/>
            <p:cNvSpPr/>
            <p:nvPr/>
          </p:nvSpPr>
          <p:spPr>
            <a:xfrm flipH="false" flipV="false" rot="0">
              <a:off x="0" y="0"/>
              <a:ext cx="2101405" cy="1930020"/>
            </a:xfrm>
            <a:custGeom>
              <a:avLst/>
              <a:gdLst/>
              <a:ahLst/>
              <a:cxnLst/>
              <a:rect r="r" b="b" t="t" l="l"/>
              <a:pathLst>
                <a:path h="1930020" w="2101405">
                  <a:moveTo>
                    <a:pt x="44490" y="0"/>
                  </a:moveTo>
                  <a:lnTo>
                    <a:pt x="2056915" y="0"/>
                  </a:lnTo>
                  <a:cubicBezTo>
                    <a:pt x="2068714" y="0"/>
                    <a:pt x="2080031" y="4687"/>
                    <a:pt x="2088374" y="13031"/>
                  </a:cubicBezTo>
                  <a:cubicBezTo>
                    <a:pt x="2096718" y="21375"/>
                    <a:pt x="2101405" y="32691"/>
                    <a:pt x="2101405" y="44490"/>
                  </a:cubicBezTo>
                  <a:lnTo>
                    <a:pt x="2101405" y="1885530"/>
                  </a:lnTo>
                  <a:cubicBezTo>
                    <a:pt x="2101405" y="1897330"/>
                    <a:pt x="2096718" y="1908646"/>
                    <a:pt x="2088374" y="1916989"/>
                  </a:cubicBezTo>
                  <a:cubicBezTo>
                    <a:pt x="2080031" y="1925333"/>
                    <a:pt x="2068714" y="1930020"/>
                    <a:pt x="2056915" y="1930020"/>
                  </a:cubicBezTo>
                  <a:lnTo>
                    <a:pt x="44490" y="1930020"/>
                  </a:lnTo>
                  <a:cubicBezTo>
                    <a:pt x="32691" y="1930020"/>
                    <a:pt x="21375" y="1925333"/>
                    <a:pt x="13031" y="1916989"/>
                  </a:cubicBezTo>
                  <a:cubicBezTo>
                    <a:pt x="4687" y="1908646"/>
                    <a:pt x="0" y="1897330"/>
                    <a:pt x="0" y="1885530"/>
                  </a:cubicBezTo>
                  <a:lnTo>
                    <a:pt x="0" y="44490"/>
                  </a:lnTo>
                  <a:cubicBezTo>
                    <a:pt x="0" y="32691"/>
                    <a:pt x="4687" y="21375"/>
                    <a:pt x="13031" y="13031"/>
                  </a:cubicBezTo>
                  <a:cubicBezTo>
                    <a:pt x="21375" y="4687"/>
                    <a:pt x="32691" y="0"/>
                    <a:pt x="44490" y="0"/>
                  </a:cubicBezTo>
                  <a:close/>
                </a:path>
              </a:pathLst>
            </a:custGeom>
            <a:solidFill>
              <a:srgbClr val="2A3066">
                <a:alpha val="55686"/>
              </a:srgbClr>
            </a:solidFill>
          </p:spPr>
        </p:sp>
        <p:sp>
          <p:nvSpPr>
            <p:cNvPr name="TextBox 14" id="14"/>
            <p:cNvSpPr txBox="true"/>
            <p:nvPr/>
          </p:nvSpPr>
          <p:spPr>
            <a:xfrm>
              <a:off x="0" y="-66675"/>
              <a:ext cx="2101405" cy="199669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15" id="15"/>
          <p:cNvSpPr txBox="true"/>
          <p:nvPr/>
        </p:nvSpPr>
        <p:spPr>
          <a:xfrm rot="0">
            <a:off x="11845452" y="1781520"/>
            <a:ext cx="3605528" cy="3461803"/>
          </a:xfrm>
          <a:prstGeom prst="rect">
            <a:avLst/>
          </a:prstGeom>
        </p:spPr>
        <p:txBody>
          <a:bodyPr anchor="t" rtlCol="false" tIns="0" lIns="0" bIns="0" rIns="0">
            <a:spAutoFit/>
          </a:bodyPr>
          <a:lstStyle/>
          <a:p>
            <a:pPr algn="l">
              <a:lnSpc>
                <a:spcPts val="2324"/>
              </a:lnSpc>
              <a:spcBef>
                <a:spcPct val="0"/>
              </a:spcBef>
            </a:pPr>
            <a:r>
              <a:rPr lang="en-US" sz="2152">
                <a:solidFill>
                  <a:srgbClr val="FFFFFF"/>
                </a:solidFill>
                <a:latin typeface="Poppins"/>
                <a:ea typeface="Poppins"/>
                <a:cs typeface="Poppins"/>
                <a:sym typeface="Poppins"/>
              </a:rPr>
              <a:t>TUF’s performanc</a:t>
            </a:r>
            <a:r>
              <a:rPr lang="en-US" sz="2152">
                <a:solidFill>
                  <a:srgbClr val="FFFFFF"/>
                </a:solidFill>
                <a:latin typeface="Poppins"/>
                <a:ea typeface="Poppins"/>
                <a:cs typeface="Poppins"/>
                <a:sym typeface="Poppins"/>
              </a:rPr>
              <a:t>e dipped in Q3, even with relatively stable pricing.</a:t>
            </a:r>
          </a:p>
          <a:p>
            <a:pPr algn="l">
              <a:lnSpc>
                <a:spcPts val="2324"/>
              </a:lnSpc>
              <a:spcBef>
                <a:spcPct val="0"/>
              </a:spcBef>
            </a:pPr>
          </a:p>
          <a:p>
            <a:pPr algn="l">
              <a:lnSpc>
                <a:spcPts val="2324"/>
              </a:lnSpc>
              <a:spcBef>
                <a:spcPct val="0"/>
              </a:spcBef>
            </a:pPr>
            <a:r>
              <a:rPr lang="en-US" b="true" sz="2152" i="true">
                <a:solidFill>
                  <a:srgbClr val="4187B5"/>
                </a:solidFill>
                <a:latin typeface="Poppins Bold Italics"/>
                <a:ea typeface="Poppins Bold Italics"/>
                <a:cs typeface="Poppins Bold Italics"/>
                <a:sym typeface="Poppins Bold Italics"/>
              </a:rPr>
              <a:t>Recommendation: </a:t>
            </a:r>
            <a:r>
              <a:rPr lang="en-US" sz="2152">
                <a:solidFill>
                  <a:srgbClr val="FFFFFF"/>
                </a:solidFill>
                <a:latin typeface="Poppins"/>
                <a:ea typeface="Poppins"/>
                <a:cs typeface="Poppins"/>
                <a:sym typeface="Poppins"/>
              </a:rPr>
              <a:t>Launch seasonal bundles or student discounts during this period to stimulate demand and improve sales rank performance.</a:t>
            </a:r>
          </a:p>
          <a:p>
            <a:pPr algn="l">
              <a:lnSpc>
                <a:spcPts val="2324"/>
              </a:lnSpc>
              <a:spcBef>
                <a:spcPct val="0"/>
              </a:spcBef>
            </a:pPr>
          </a:p>
        </p:txBody>
      </p:sp>
      <p:sp>
        <p:nvSpPr>
          <p:cNvPr name="TextBox 16" id="16"/>
          <p:cNvSpPr txBox="true"/>
          <p:nvPr/>
        </p:nvSpPr>
        <p:spPr>
          <a:xfrm rot="0">
            <a:off x="11863995" y="1149028"/>
            <a:ext cx="3702893" cy="546675"/>
          </a:xfrm>
          <a:prstGeom prst="rect">
            <a:avLst/>
          </a:prstGeom>
        </p:spPr>
        <p:txBody>
          <a:bodyPr anchor="t" rtlCol="false" tIns="0" lIns="0" bIns="0" rIns="0">
            <a:spAutoFit/>
          </a:bodyPr>
          <a:lstStyle/>
          <a:p>
            <a:pPr algn="l">
              <a:lnSpc>
                <a:spcPts val="2080"/>
              </a:lnSpc>
              <a:spcBef>
                <a:spcPct val="0"/>
              </a:spcBef>
            </a:pPr>
            <a:r>
              <a:rPr lang="en-US" b="true" sz="1926">
                <a:solidFill>
                  <a:srgbClr val="FFFFFF"/>
                </a:solidFill>
                <a:latin typeface="Poppins Bold"/>
                <a:ea typeface="Poppins Bold"/>
                <a:cs typeface="Poppins Bold"/>
                <a:sym typeface="Poppins Bold"/>
              </a:rPr>
              <a:t>Boost TUF Sales During Q3 (July–September)</a:t>
            </a:r>
          </a:p>
        </p:txBody>
      </p:sp>
      <p:grpSp>
        <p:nvGrpSpPr>
          <p:cNvPr name="Group 17" id="17"/>
          <p:cNvGrpSpPr/>
          <p:nvPr/>
        </p:nvGrpSpPr>
        <p:grpSpPr>
          <a:xfrm rot="0">
            <a:off x="2464272" y="5233016"/>
            <a:ext cx="4350323" cy="3995522"/>
            <a:chOff x="0" y="0"/>
            <a:chExt cx="2101405" cy="1930020"/>
          </a:xfrm>
        </p:grpSpPr>
        <p:sp>
          <p:nvSpPr>
            <p:cNvPr name="Freeform 18" id="18"/>
            <p:cNvSpPr/>
            <p:nvPr/>
          </p:nvSpPr>
          <p:spPr>
            <a:xfrm flipH="false" flipV="false" rot="0">
              <a:off x="0" y="0"/>
              <a:ext cx="2101405" cy="1930020"/>
            </a:xfrm>
            <a:custGeom>
              <a:avLst/>
              <a:gdLst/>
              <a:ahLst/>
              <a:cxnLst/>
              <a:rect r="r" b="b" t="t" l="l"/>
              <a:pathLst>
                <a:path h="1930020" w="2101405">
                  <a:moveTo>
                    <a:pt x="44490" y="0"/>
                  </a:moveTo>
                  <a:lnTo>
                    <a:pt x="2056915" y="0"/>
                  </a:lnTo>
                  <a:cubicBezTo>
                    <a:pt x="2068714" y="0"/>
                    <a:pt x="2080031" y="4687"/>
                    <a:pt x="2088374" y="13031"/>
                  </a:cubicBezTo>
                  <a:cubicBezTo>
                    <a:pt x="2096718" y="21375"/>
                    <a:pt x="2101405" y="32691"/>
                    <a:pt x="2101405" y="44490"/>
                  </a:cubicBezTo>
                  <a:lnTo>
                    <a:pt x="2101405" y="1885530"/>
                  </a:lnTo>
                  <a:cubicBezTo>
                    <a:pt x="2101405" y="1897330"/>
                    <a:pt x="2096718" y="1908646"/>
                    <a:pt x="2088374" y="1916989"/>
                  </a:cubicBezTo>
                  <a:cubicBezTo>
                    <a:pt x="2080031" y="1925333"/>
                    <a:pt x="2068714" y="1930020"/>
                    <a:pt x="2056915" y="1930020"/>
                  </a:cubicBezTo>
                  <a:lnTo>
                    <a:pt x="44490" y="1930020"/>
                  </a:lnTo>
                  <a:cubicBezTo>
                    <a:pt x="32691" y="1930020"/>
                    <a:pt x="21375" y="1925333"/>
                    <a:pt x="13031" y="1916989"/>
                  </a:cubicBezTo>
                  <a:cubicBezTo>
                    <a:pt x="4687" y="1908646"/>
                    <a:pt x="0" y="1897330"/>
                    <a:pt x="0" y="1885530"/>
                  </a:cubicBezTo>
                  <a:lnTo>
                    <a:pt x="0" y="44490"/>
                  </a:lnTo>
                  <a:cubicBezTo>
                    <a:pt x="0" y="32691"/>
                    <a:pt x="4687" y="21375"/>
                    <a:pt x="13031" y="13031"/>
                  </a:cubicBezTo>
                  <a:cubicBezTo>
                    <a:pt x="21375" y="4687"/>
                    <a:pt x="32691" y="0"/>
                    <a:pt x="44490" y="0"/>
                  </a:cubicBezTo>
                  <a:close/>
                </a:path>
              </a:pathLst>
            </a:custGeom>
            <a:solidFill>
              <a:srgbClr val="2A3066">
                <a:alpha val="55686"/>
              </a:srgbClr>
            </a:solidFill>
          </p:spPr>
        </p:sp>
        <p:sp>
          <p:nvSpPr>
            <p:cNvPr name="TextBox 19" id="19"/>
            <p:cNvSpPr txBox="true"/>
            <p:nvPr/>
          </p:nvSpPr>
          <p:spPr>
            <a:xfrm>
              <a:off x="0" y="-66675"/>
              <a:ext cx="2101405" cy="1996695"/>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20" id="20"/>
          <p:cNvGrpSpPr/>
          <p:nvPr/>
        </p:nvGrpSpPr>
        <p:grpSpPr>
          <a:xfrm rot="0">
            <a:off x="6968312" y="5233016"/>
            <a:ext cx="4350323" cy="3995522"/>
            <a:chOff x="0" y="0"/>
            <a:chExt cx="2101405" cy="1930020"/>
          </a:xfrm>
        </p:grpSpPr>
        <p:sp>
          <p:nvSpPr>
            <p:cNvPr name="Freeform 21" id="21"/>
            <p:cNvSpPr/>
            <p:nvPr/>
          </p:nvSpPr>
          <p:spPr>
            <a:xfrm flipH="false" flipV="false" rot="0">
              <a:off x="0" y="0"/>
              <a:ext cx="2101405" cy="1930020"/>
            </a:xfrm>
            <a:custGeom>
              <a:avLst/>
              <a:gdLst/>
              <a:ahLst/>
              <a:cxnLst/>
              <a:rect r="r" b="b" t="t" l="l"/>
              <a:pathLst>
                <a:path h="1930020" w="2101405">
                  <a:moveTo>
                    <a:pt x="44490" y="0"/>
                  </a:moveTo>
                  <a:lnTo>
                    <a:pt x="2056915" y="0"/>
                  </a:lnTo>
                  <a:cubicBezTo>
                    <a:pt x="2068714" y="0"/>
                    <a:pt x="2080031" y="4687"/>
                    <a:pt x="2088374" y="13031"/>
                  </a:cubicBezTo>
                  <a:cubicBezTo>
                    <a:pt x="2096718" y="21375"/>
                    <a:pt x="2101405" y="32691"/>
                    <a:pt x="2101405" y="44490"/>
                  </a:cubicBezTo>
                  <a:lnTo>
                    <a:pt x="2101405" y="1885530"/>
                  </a:lnTo>
                  <a:cubicBezTo>
                    <a:pt x="2101405" y="1897330"/>
                    <a:pt x="2096718" y="1908646"/>
                    <a:pt x="2088374" y="1916989"/>
                  </a:cubicBezTo>
                  <a:cubicBezTo>
                    <a:pt x="2080031" y="1925333"/>
                    <a:pt x="2068714" y="1930020"/>
                    <a:pt x="2056915" y="1930020"/>
                  </a:cubicBezTo>
                  <a:lnTo>
                    <a:pt x="44490" y="1930020"/>
                  </a:lnTo>
                  <a:cubicBezTo>
                    <a:pt x="32691" y="1930020"/>
                    <a:pt x="21375" y="1925333"/>
                    <a:pt x="13031" y="1916989"/>
                  </a:cubicBezTo>
                  <a:cubicBezTo>
                    <a:pt x="4687" y="1908646"/>
                    <a:pt x="0" y="1897330"/>
                    <a:pt x="0" y="1885530"/>
                  </a:cubicBezTo>
                  <a:lnTo>
                    <a:pt x="0" y="44490"/>
                  </a:lnTo>
                  <a:cubicBezTo>
                    <a:pt x="0" y="32691"/>
                    <a:pt x="4687" y="21375"/>
                    <a:pt x="13031" y="13031"/>
                  </a:cubicBezTo>
                  <a:cubicBezTo>
                    <a:pt x="21375" y="4687"/>
                    <a:pt x="32691" y="0"/>
                    <a:pt x="44490" y="0"/>
                  </a:cubicBezTo>
                  <a:close/>
                </a:path>
              </a:pathLst>
            </a:custGeom>
            <a:solidFill>
              <a:srgbClr val="2A3066">
                <a:alpha val="55686"/>
              </a:srgbClr>
            </a:solidFill>
          </p:spPr>
        </p:sp>
        <p:sp>
          <p:nvSpPr>
            <p:cNvPr name="TextBox 22" id="22"/>
            <p:cNvSpPr txBox="true"/>
            <p:nvPr/>
          </p:nvSpPr>
          <p:spPr>
            <a:xfrm>
              <a:off x="0" y="-66675"/>
              <a:ext cx="2101405" cy="1996695"/>
            </a:xfrm>
            <a:prstGeom prst="rect">
              <a:avLst/>
            </a:prstGeom>
          </p:spPr>
          <p:txBody>
            <a:bodyPr anchor="ctr" rtlCol="false" tIns="50800" lIns="50800" bIns="50800" rIns="50800"/>
            <a:lstStyle/>
            <a:p>
              <a:pPr algn="ctr">
                <a:lnSpc>
                  <a:spcPts val="2921"/>
                </a:lnSpc>
              </a:pPr>
            </a:p>
          </p:txBody>
        </p:sp>
      </p:grpSp>
      <p:sp>
        <p:nvSpPr>
          <p:cNvPr name="TextBox 23" id="23"/>
          <p:cNvSpPr txBox="true"/>
          <p:nvPr/>
        </p:nvSpPr>
        <p:spPr>
          <a:xfrm rot="0">
            <a:off x="2787986" y="5904102"/>
            <a:ext cx="3605528" cy="3485453"/>
          </a:xfrm>
          <a:prstGeom prst="rect">
            <a:avLst/>
          </a:prstGeom>
        </p:spPr>
        <p:txBody>
          <a:bodyPr anchor="t" rtlCol="false" tIns="0" lIns="0" bIns="0" rIns="0">
            <a:spAutoFit/>
          </a:bodyPr>
          <a:lstStyle/>
          <a:p>
            <a:pPr algn="l">
              <a:lnSpc>
                <a:spcPts val="1975"/>
              </a:lnSpc>
              <a:spcBef>
                <a:spcPct val="0"/>
              </a:spcBef>
            </a:pPr>
            <a:r>
              <a:rPr lang="en-US" sz="1829">
                <a:solidFill>
                  <a:srgbClr val="FFFFFF"/>
                </a:solidFill>
                <a:latin typeface="Poppins"/>
                <a:ea typeface="Poppins"/>
                <a:cs typeface="Poppins"/>
                <a:sym typeface="Poppins"/>
              </a:rPr>
              <a:t>Orange ARIMA for</a:t>
            </a:r>
            <a:r>
              <a:rPr lang="en-US" sz="1829">
                <a:solidFill>
                  <a:srgbClr val="FFFFFF"/>
                </a:solidFill>
                <a:latin typeface="Poppins"/>
                <a:ea typeface="Poppins"/>
                <a:cs typeface="Poppins"/>
                <a:sym typeface="Poppins"/>
              </a:rPr>
              <a:t>ecasts for TUF and Zephyrus predict rising sales rank values, signaling a decline in future competitiveness.</a:t>
            </a:r>
          </a:p>
          <a:p>
            <a:pPr algn="l">
              <a:lnSpc>
                <a:spcPts val="1975"/>
              </a:lnSpc>
              <a:spcBef>
                <a:spcPct val="0"/>
              </a:spcBef>
            </a:pPr>
          </a:p>
          <a:p>
            <a:pPr algn="l">
              <a:lnSpc>
                <a:spcPts val="1975"/>
              </a:lnSpc>
              <a:spcBef>
                <a:spcPct val="0"/>
              </a:spcBef>
            </a:pPr>
            <a:r>
              <a:rPr lang="en-US" b="true" sz="1829" i="true">
                <a:solidFill>
                  <a:srgbClr val="4187B5"/>
                </a:solidFill>
                <a:latin typeface="Poppins Bold Italics"/>
                <a:ea typeface="Poppins Bold Italics"/>
                <a:cs typeface="Poppins Bold Italics"/>
                <a:sym typeface="Poppins Bold Italics"/>
              </a:rPr>
              <a:t>Recommendation:</a:t>
            </a:r>
            <a:r>
              <a:rPr lang="en-US" sz="1829">
                <a:solidFill>
                  <a:srgbClr val="FFFFFF"/>
                </a:solidFill>
                <a:latin typeface="Poppins"/>
                <a:ea typeface="Poppins"/>
                <a:cs typeface="Poppins"/>
                <a:sym typeface="Poppins"/>
              </a:rPr>
              <a:t> Begin planning product re</a:t>
            </a:r>
            <a:r>
              <a:rPr lang="en-US" sz="1829">
                <a:solidFill>
                  <a:srgbClr val="FFFFFF"/>
                </a:solidFill>
                <a:latin typeface="Poppins"/>
                <a:ea typeface="Poppins"/>
                <a:cs typeface="Poppins"/>
                <a:sym typeface="Poppins"/>
              </a:rPr>
              <a:t>f</a:t>
            </a:r>
            <a:r>
              <a:rPr lang="en-US" sz="1829">
                <a:solidFill>
                  <a:srgbClr val="FFFFFF"/>
                </a:solidFill>
                <a:latin typeface="Poppins"/>
                <a:ea typeface="Poppins"/>
                <a:cs typeface="Poppins"/>
                <a:sym typeface="Poppins"/>
              </a:rPr>
              <a:t>r</a:t>
            </a:r>
            <a:r>
              <a:rPr lang="en-US" sz="1829">
                <a:solidFill>
                  <a:srgbClr val="FFFFFF"/>
                </a:solidFill>
                <a:latin typeface="Poppins"/>
                <a:ea typeface="Poppins"/>
                <a:cs typeface="Poppins"/>
                <a:sym typeface="Poppins"/>
              </a:rPr>
              <a:t>esh</a:t>
            </a:r>
            <a:r>
              <a:rPr lang="en-US" sz="1829">
                <a:solidFill>
                  <a:srgbClr val="FFFFFF"/>
                </a:solidFill>
                <a:latin typeface="Poppins"/>
                <a:ea typeface="Poppins"/>
                <a:cs typeface="Poppins"/>
                <a:sym typeface="Poppins"/>
              </a:rPr>
              <a:t>e</a:t>
            </a:r>
            <a:r>
              <a:rPr lang="en-US" sz="1829">
                <a:solidFill>
                  <a:srgbClr val="FFFFFF"/>
                </a:solidFill>
                <a:latin typeface="Poppins"/>
                <a:ea typeface="Poppins"/>
                <a:cs typeface="Poppins"/>
                <a:sym typeface="Poppins"/>
              </a:rPr>
              <a:t>s or fea</a:t>
            </a:r>
            <a:r>
              <a:rPr lang="en-US" sz="1829">
                <a:solidFill>
                  <a:srgbClr val="FFFFFF"/>
                </a:solidFill>
                <a:latin typeface="Poppins"/>
                <a:ea typeface="Poppins"/>
                <a:cs typeface="Poppins"/>
                <a:sym typeface="Poppins"/>
              </a:rPr>
              <a:t>ture upgrades, and align marketing messages with unique value propositions before the forecasted decline materializes.</a:t>
            </a:r>
          </a:p>
          <a:p>
            <a:pPr algn="l">
              <a:lnSpc>
                <a:spcPts val="1975"/>
              </a:lnSpc>
              <a:spcBef>
                <a:spcPct val="0"/>
              </a:spcBef>
            </a:pPr>
          </a:p>
        </p:txBody>
      </p:sp>
      <p:sp>
        <p:nvSpPr>
          <p:cNvPr name="TextBox 24" id="24"/>
          <p:cNvSpPr txBox="true"/>
          <p:nvPr/>
        </p:nvSpPr>
        <p:spPr>
          <a:xfrm rot="0">
            <a:off x="2787986" y="5318821"/>
            <a:ext cx="3702893" cy="575756"/>
          </a:xfrm>
          <a:prstGeom prst="rect">
            <a:avLst/>
          </a:prstGeom>
        </p:spPr>
        <p:txBody>
          <a:bodyPr anchor="t" rtlCol="false" tIns="0" lIns="0" bIns="0" rIns="0">
            <a:spAutoFit/>
          </a:bodyPr>
          <a:lstStyle/>
          <a:p>
            <a:pPr algn="l">
              <a:lnSpc>
                <a:spcPts val="2157"/>
              </a:lnSpc>
              <a:spcBef>
                <a:spcPct val="0"/>
              </a:spcBef>
            </a:pPr>
            <a:r>
              <a:rPr lang="en-US" b="true" sz="1997">
                <a:solidFill>
                  <a:srgbClr val="FFFFFF"/>
                </a:solidFill>
                <a:latin typeface="Poppins Bold"/>
                <a:ea typeface="Poppins Bold"/>
                <a:cs typeface="Poppins Bold"/>
                <a:sym typeface="Poppins Bold"/>
              </a:rPr>
              <a:t>Prep</a:t>
            </a:r>
            <a:r>
              <a:rPr lang="en-US" b="true" sz="1997">
                <a:solidFill>
                  <a:srgbClr val="FFFFFF"/>
                </a:solidFill>
                <a:latin typeface="Poppins Bold"/>
                <a:ea typeface="Poppins Bold"/>
                <a:cs typeface="Poppins Bold"/>
                <a:sym typeface="Poppins Bold"/>
              </a:rPr>
              <a:t>are for a Downwa</a:t>
            </a:r>
            <a:r>
              <a:rPr lang="en-US" b="true" sz="1997">
                <a:solidFill>
                  <a:srgbClr val="FFFFFF"/>
                </a:solidFill>
                <a:latin typeface="Poppins Bold"/>
                <a:ea typeface="Poppins Bold"/>
                <a:cs typeface="Poppins Bold"/>
                <a:sym typeface="Poppins Bold"/>
              </a:rPr>
              <a:t>rd</a:t>
            </a:r>
            <a:r>
              <a:rPr lang="en-US" b="true" sz="1997">
                <a:solidFill>
                  <a:srgbClr val="FFFFFF"/>
                </a:solidFill>
                <a:latin typeface="Poppins Bold"/>
                <a:ea typeface="Poppins Bold"/>
                <a:cs typeface="Poppins Bold"/>
                <a:sym typeface="Poppins Bold"/>
              </a:rPr>
              <a:t> Trend in 2025 </a:t>
            </a:r>
          </a:p>
        </p:txBody>
      </p:sp>
      <p:sp>
        <p:nvSpPr>
          <p:cNvPr name="TextBox 25" id="25"/>
          <p:cNvSpPr txBox="true"/>
          <p:nvPr/>
        </p:nvSpPr>
        <p:spPr>
          <a:xfrm rot="0">
            <a:off x="7340710" y="6233910"/>
            <a:ext cx="3605528" cy="3102499"/>
          </a:xfrm>
          <a:prstGeom prst="rect">
            <a:avLst/>
          </a:prstGeom>
        </p:spPr>
        <p:txBody>
          <a:bodyPr anchor="t" rtlCol="false" tIns="0" lIns="0" bIns="0" rIns="0">
            <a:spAutoFit/>
          </a:bodyPr>
          <a:lstStyle/>
          <a:p>
            <a:pPr algn="l">
              <a:lnSpc>
                <a:spcPts val="1945"/>
              </a:lnSpc>
              <a:spcBef>
                <a:spcPct val="0"/>
              </a:spcBef>
            </a:pPr>
            <a:r>
              <a:rPr lang="en-US" sz="1801">
                <a:solidFill>
                  <a:srgbClr val="FFFFFF"/>
                </a:solidFill>
                <a:latin typeface="Poppins"/>
                <a:ea typeface="Poppins"/>
                <a:cs typeface="Poppins"/>
                <a:sym typeface="Poppins"/>
              </a:rPr>
              <a:t>Forecast</a:t>
            </a:r>
            <a:r>
              <a:rPr lang="en-US" sz="1801">
                <a:solidFill>
                  <a:srgbClr val="FFFFFF"/>
                </a:solidFill>
                <a:latin typeface="Poppins"/>
                <a:ea typeface="Poppins"/>
                <a:cs typeface="Poppins"/>
                <a:sym typeface="Poppins"/>
              </a:rPr>
              <a:t>ed values provide reliable sales expectations for the next 12 months (e.g., TUF forecast rank rising from ~25K to ~40K).</a:t>
            </a:r>
          </a:p>
          <a:p>
            <a:pPr algn="l">
              <a:lnSpc>
                <a:spcPts val="1945"/>
              </a:lnSpc>
              <a:spcBef>
                <a:spcPct val="0"/>
              </a:spcBef>
            </a:pPr>
          </a:p>
          <a:p>
            <a:pPr algn="l">
              <a:lnSpc>
                <a:spcPts val="1945"/>
              </a:lnSpc>
              <a:spcBef>
                <a:spcPct val="0"/>
              </a:spcBef>
            </a:pPr>
            <a:r>
              <a:rPr lang="en-US" b="true" sz="1801" i="true">
                <a:solidFill>
                  <a:srgbClr val="4187B5"/>
                </a:solidFill>
                <a:latin typeface="Poppins Bold Italics"/>
                <a:ea typeface="Poppins Bold Italics"/>
                <a:cs typeface="Poppins Bold Italics"/>
                <a:sym typeface="Poppins Bold Italics"/>
              </a:rPr>
              <a:t>Recommendation:</a:t>
            </a:r>
            <a:r>
              <a:rPr lang="en-US" sz="1801">
                <a:solidFill>
                  <a:srgbClr val="FFFFFF"/>
                </a:solidFill>
                <a:latin typeface="Poppins"/>
                <a:ea typeface="Poppins"/>
                <a:cs typeface="Poppins"/>
                <a:sym typeface="Poppins"/>
              </a:rPr>
              <a:t> Adjust inventory, staffing, and marketing calendars b</a:t>
            </a:r>
            <a:r>
              <a:rPr lang="en-US" sz="1801">
                <a:solidFill>
                  <a:srgbClr val="FFFFFF"/>
                </a:solidFill>
                <a:latin typeface="Poppins"/>
                <a:ea typeface="Poppins"/>
                <a:cs typeface="Poppins"/>
                <a:sym typeface="Poppins"/>
              </a:rPr>
              <a:t>ased on forec</a:t>
            </a:r>
            <a:r>
              <a:rPr lang="en-US" sz="1801">
                <a:solidFill>
                  <a:srgbClr val="FFFFFF"/>
                </a:solidFill>
                <a:latin typeface="Poppins"/>
                <a:ea typeface="Poppins"/>
                <a:cs typeface="Poppins"/>
                <a:sym typeface="Poppins"/>
              </a:rPr>
              <a:t>ast peaks and dips to reduce overspending and stock issues.</a:t>
            </a:r>
          </a:p>
          <a:p>
            <a:pPr algn="l">
              <a:lnSpc>
                <a:spcPts val="1729"/>
              </a:lnSpc>
              <a:spcBef>
                <a:spcPct val="0"/>
              </a:spcBef>
            </a:pPr>
          </a:p>
        </p:txBody>
      </p:sp>
      <p:sp>
        <p:nvSpPr>
          <p:cNvPr name="TextBox 26" id="26"/>
          <p:cNvSpPr txBox="true"/>
          <p:nvPr/>
        </p:nvSpPr>
        <p:spPr>
          <a:xfrm rot="0">
            <a:off x="7362066" y="5318821"/>
            <a:ext cx="3702893" cy="848414"/>
          </a:xfrm>
          <a:prstGeom prst="rect">
            <a:avLst/>
          </a:prstGeom>
        </p:spPr>
        <p:txBody>
          <a:bodyPr anchor="t" rtlCol="false" tIns="0" lIns="0" bIns="0" rIns="0">
            <a:spAutoFit/>
          </a:bodyPr>
          <a:lstStyle/>
          <a:p>
            <a:pPr algn="l">
              <a:lnSpc>
                <a:spcPts val="2157"/>
              </a:lnSpc>
              <a:spcBef>
                <a:spcPct val="0"/>
              </a:spcBef>
            </a:pPr>
            <a:r>
              <a:rPr lang="en-US" b="true" sz="1997">
                <a:solidFill>
                  <a:srgbClr val="FFFFFF"/>
                </a:solidFill>
                <a:latin typeface="Poppins Bold"/>
                <a:ea typeface="Poppins Bold"/>
                <a:cs typeface="Poppins Bold"/>
                <a:sym typeface="Poppins Bold"/>
              </a:rPr>
              <a:t>Use Forec</a:t>
            </a:r>
            <a:r>
              <a:rPr lang="en-US" b="true" sz="1997">
                <a:solidFill>
                  <a:srgbClr val="FFFFFF"/>
                </a:solidFill>
                <a:latin typeface="Poppins Bold"/>
                <a:ea typeface="Poppins Bold"/>
                <a:cs typeface="Poppins Bold"/>
                <a:sym typeface="Poppins Bold"/>
              </a:rPr>
              <a:t>ast</a:t>
            </a:r>
            <a:r>
              <a:rPr lang="en-US" b="true" sz="1997">
                <a:solidFill>
                  <a:srgbClr val="FFFFFF"/>
                </a:solidFill>
                <a:latin typeface="Poppins Bold"/>
                <a:ea typeface="Poppins Bold"/>
                <a:cs typeface="Poppins Bold"/>
                <a:sym typeface="Poppins Bold"/>
              </a:rPr>
              <a:t> Data</a:t>
            </a:r>
            <a:r>
              <a:rPr lang="en-US" b="true" sz="1997">
                <a:solidFill>
                  <a:srgbClr val="FFFFFF"/>
                </a:solidFill>
                <a:latin typeface="Poppins Bold"/>
                <a:ea typeface="Poppins Bold"/>
                <a:cs typeface="Poppins Bold"/>
                <a:sym typeface="Poppins Bold"/>
              </a:rPr>
              <a:t> for Inventory and Budget Planning</a:t>
            </a:r>
          </a:p>
        </p:txBody>
      </p:sp>
      <p:grpSp>
        <p:nvGrpSpPr>
          <p:cNvPr name="Group 27" id="27"/>
          <p:cNvGrpSpPr/>
          <p:nvPr/>
        </p:nvGrpSpPr>
        <p:grpSpPr>
          <a:xfrm rot="0">
            <a:off x="11473055" y="5233016"/>
            <a:ext cx="4350323" cy="3995522"/>
            <a:chOff x="0" y="0"/>
            <a:chExt cx="2101405" cy="1930020"/>
          </a:xfrm>
        </p:grpSpPr>
        <p:sp>
          <p:nvSpPr>
            <p:cNvPr name="Freeform 28" id="28"/>
            <p:cNvSpPr/>
            <p:nvPr/>
          </p:nvSpPr>
          <p:spPr>
            <a:xfrm flipH="false" flipV="false" rot="0">
              <a:off x="0" y="0"/>
              <a:ext cx="2101405" cy="1930020"/>
            </a:xfrm>
            <a:custGeom>
              <a:avLst/>
              <a:gdLst/>
              <a:ahLst/>
              <a:cxnLst/>
              <a:rect r="r" b="b" t="t" l="l"/>
              <a:pathLst>
                <a:path h="1930020" w="2101405">
                  <a:moveTo>
                    <a:pt x="44490" y="0"/>
                  </a:moveTo>
                  <a:lnTo>
                    <a:pt x="2056915" y="0"/>
                  </a:lnTo>
                  <a:cubicBezTo>
                    <a:pt x="2068714" y="0"/>
                    <a:pt x="2080031" y="4687"/>
                    <a:pt x="2088374" y="13031"/>
                  </a:cubicBezTo>
                  <a:cubicBezTo>
                    <a:pt x="2096718" y="21375"/>
                    <a:pt x="2101405" y="32691"/>
                    <a:pt x="2101405" y="44490"/>
                  </a:cubicBezTo>
                  <a:lnTo>
                    <a:pt x="2101405" y="1885530"/>
                  </a:lnTo>
                  <a:cubicBezTo>
                    <a:pt x="2101405" y="1897330"/>
                    <a:pt x="2096718" y="1908646"/>
                    <a:pt x="2088374" y="1916989"/>
                  </a:cubicBezTo>
                  <a:cubicBezTo>
                    <a:pt x="2080031" y="1925333"/>
                    <a:pt x="2068714" y="1930020"/>
                    <a:pt x="2056915" y="1930020"/>
                  </a:cubicBezTo>
                  <a:lnTo>
                    <a:pt x="44490" y="1930020"/>
                  </a:lnTo>
                  <a:cubicBezTo>
                    <a:pt x="32691" y="1930020"/>
                    <a:pt x="21375" y="1925333"/>
                    <a:pt x="13031" y="1916989"/>
                  </a:cubicBezTo>
                  <a:cubicBezTo>
                    <a:pt x="4687" y="1908646"/>
                    <a:pt x="0" y="1897330"/>
                    <a:pt x="0" y="1885530"/>
                  </a:cubicBezTo>
                  <a:lnTo>
                    <a:pt x="0" y="44490"/>
                  </a:lnTo>
                  <a:cubicBezTo>
                    <a:pt x="0" y="32691"/>
                    <a:pt x="4687" y="21375"/>
                    <a:pt x="13031" y="13031"/>
                  </a:cubicBezTo>
                  <a:cubicBezTo>
                    <a:pt x="21375" y="4687"/>
                    <a:pt x="32691" y="0"/>
                    <a:pt x="44490" y="0"/>
                  </a:cubicBezTo>
                  <a:close/>
                </a:path>
              </a:pathLst>
            </a:custGeom>
            <a:solidFill>
              <a:srgbClr val="2A3066">
                <a:alpha val="55686"/>
              </a:srgbClr>
            </a:solidFill>
          </p:spPr>
        </p:sp>
        <p:sp>
          <p:nvSpPr>
            <p:cNvPr name="TextBox 29" id="29"/>
            <p:cNvSpPr txBox="true"/>
            <p:nvPr/>
          </p:nvSpPr>
          <p:spPr>
            <a:xfrm>
              <a:off x="0" y="-66675"/>
              <a:ext cx="2101405" cy="199669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30" id="30"/>
          <p:cNvSpPr txBox="true"/>
          <p:nvPr/>
        </p:nvSpPr>
        <p:spPr>
          <a:xfrm rot="0">
            <a:off x="11861560" y="5900513"/>
            <a:ext cx="3605528" cy="3416846"/>
          </a:xfrm>
          <a:prstGeom prst="rect">
            <a:avLst/>
          </a:prstGeom>
        </p:spPr>
        <p:txBody>
          <a:bodyPr anchor="t" rtlCol="false" tIns="0" lIns="0" bIns="0" rIns="0">
            <a:spAutoFit/>
          </a:bodyPr>
          <a:lstStyle/>
          <a:p>
            <a:pPr algn="l">
              <a:lnSpc>
                <a:spcPts val="2108"/>
              </a:lnSpc>
              <a:spcBef>
                <a:spcPct val="0"/>
              </a:spcBef>
            </a:pPr>
            <a:r>
              <a:rPr lang="en-US" sz="1952">
                <a:solidFill>
                  <a:srgbClr val="FFFFFF"/>
                </a:solidFill>
                <a:latin typeface="Poppins"/>
                <a:ea typeface="Poppins"/>
                <a:cs typeface="Poppins"/>
                <a:sym typeface="Poppins"/>
              </a:rPr>
              <a:t>Rank vs Pri</a:t>
            </a:r>
            <a:r>
              <a:rPr lang="en-US" sz="1952">
                <a:solidFill>
                  <a:srgbClr val="FFFFFF"/>
                </a:solidFill>
                <a:latin typeface="Poppins"/>
                <a:ea typeface="Poppins"/>
                <a:cs typeface="Poppins"/>
                <a:sym typeface="Poppins"/>
              </a:rPr>
              <a:t>ce” metrics showed that higher prices did not always result in better rank, especially for Zephyrus.</a:t>
            </a:r>
          </a:p>
          <a:p>
            <a:pPr algn="l">
              <a:lnSpc>
                <a:spcPts val="2108"/>
              </a:lnSpc>
              <a:spcBef>
                <a:spcPct val="0"/>
              </a:spcBef>
            </a:pPr>
          </a:p>
          <a:p>
            <a:pPr algn="l">
              <a:lnSpc>
                <a:spcPts val="2108"/>
              </a:lnSpc>
              <a:spcBef>
                <a:spcPct val="0"/>
              </a:spcBef>
            </a:pPr>
            <a:r>
              <a:rPr lang="en-US" b="true" sz="1952" i="true">
                <a:solidFill>
                  <a:srgbClr val="4187B5"/>
                </a:solidFill>
                <a:latin typeface="Poppins Bold Italics"/>
                <a:ea typeface="Poppins Bold Italics"/>
                <a:cs typeface="Poppins Bold Italics"/>
                <a:sym typeface="Poppins Bold Italics"/>
              </a:rPr>
              <a:t>Recommendation:</a:t>
            </a:r>
            <a:r>
              <a:rPr lang="en-US" sz="1952">
                <a:solidFill>
                  <a:srgbClr val="FFFFFF"/>
                </a:solidFill>
                <a:latin typeface="Poppins"/>
                <a:ea typeface="Poppins"/>
                <a:cs typeface="Poppins"/>
                <a:sym typeface="Poppins"/>
              </a:rPr>
              <a:t> Reevaluate pricing tiers across models to ensure each one aligns with customer expectations and competitive benchmarks.</a:t>
            </a:r>
          </a:p>
          <a:p>
            <a:pPr algn="l">
              <a:lnSpc>
                <a:spcPts val="1568"/>
              </a:lnSpc>
              <a:spcBef>
                <a:spcPct val="0"/>
              </a:spcBef>
            </a:pPr>
          </a:p>
        </p:txBody>
      </p:sp>
      <p:sp>
        <p:nvSpPr>
          <p:cNvPr name="TextBox 31" id="31"/>
          <p:cNvSpPr txBox="true"/>
          <p:nvPr/>
        </p:nvSpPr>
        <p:spPr>
          <a:xfrm rot="0">
            <a:off x="11863644" y="5338666"/>
            <a:ext cx="3702893" cy="546675"/>
          </a:xfrm>
          <a:prstGeom prst="rect">
            <a:avLst/>
          </a:prstGeom>
        </p:spPr>
        <p:txBody>
          <a:bodyPr anchor="t" rtlCol="false" tIns="0" lIns="0" bIns="0" rIns="0">
            <a:spAutoFit/>
          </a:bodyPr>
          <a:lstStyle/>
          <a:p>
            <a:pPr algn="l">
              <a:lnSpc>
                <a:spcPts val="2080"/>
              </a:lnSpc>
              <a:spcBef>
                <a:spcPct val="0"/>
              </a:spcBef>
            </a:pPr>
            <a:r>
              <a:rPr lang="en-US" b="true" sz="1926">
                <a:solidFill>
                  <a:srgbClr val="FFFFFF"/>
                </a:solidFill>
                <a:latin typeface="Poppins Bold"/>
                <a:ea typeface="Poppins Bold"/>
                <a:cs typeface="Poppins Bold"/>
                <a:sym typeface="Poppins Bold"/>
              </a:rPr>
              <a:t>Focus on Price-to-Performance Optimisation</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15652306" y="4386130"/>
            <a:ext cx="684474" cy="757370"/>
          </a:xfrm>
          <a:custGeom>
            <a:avLst/>
            <a:gdLst/>
            <a:ahLst/>
            <a:cxnLst/>
            <a:rect r="r" b="b" t="t" l="l"/>
            <a:pathLst>
              <a:path h="757370" w="684474">
                <a:moveTo>
                  <a:pt x="0" y="0"/>
                </a:moveTo>
                <a:lnTo>
                  <a:pt x="684473" y="0"/>
                </a:lnTo>
                <a:lnTo>
                  <a:pt x="684473" y="757370"/>
                </a:lnTo>
                <a:lnTo>
                  <a:pt x="0" y="7573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371262"/>
            <a:ext cx="14623606" cy="885825"/>
          </a:xfrm>
          <a:prstGeom prst="rect">
            <a:avLst/>
          </a:prstGeom>
        </p:spPr>
        <p:txBody>
          <a:bodyPr anchor="t" rtlCol="false" tIns="0" lIns="0" bIns="0" rIns="0">
            <a:spAutoFit/>
          </a:bodyPr>
          <a:lstStyle/>
          <a:p>
            <a:pPr algn="l">
              <a:lnSpc>
                <a:spcPts val="6658"/>
              </a:lnSpc>
            </a:pPr>
            <a:r>
              <a:rPr lang="en-US" sz="5548" b="true">
                <a:solidFill>
                  <a:srgbClr val="FFFFFF"/>
                </a:solidFill>
                <a:latin typeface="Poppins Bold"/>
                <a:ea typeface="Poppins Bold"/>
                <a:cs typeface="Poppins Bold"/>
                <a:sym typeface="Poppins Bold"/>
              </a:rPr>
              <a:t>Evalutation of The Data Science Solution</a:t>
            </a:r>
          </a:p>
        </p:txBody>
      </p:sp>
    </p:spTree>
  </p:cSld>
  <p:clrMapOvr>
    <a:masterClrMapping/>
  </p:clrMapOvr>
</p:sld>
</file>

<file path=ppt/slides/slide39.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113510" y="1695487"/>
            <a:ext cx="6531174" cy="3675392"/>
            <a:chOff x="0" y="0"/>
            <a:chExt cx="2801573" cy="1576574"/>
          </a:xfrm>
        </p:grpSpPr>
        <p:sp>
          <p:nvSpPr>
            <p:cNvPr name="Freeform 3" id="3"/>
            <p:cNvSpPr/>
            <p:nvPr/>
          </p:nvSpPr>
          <p:spPr>
            <a:xfrm flipH="false" flipV="false" rot="0">
              <a:off x="0" y="0"/>
              <a:ext cx="2801573" cy="1576574"/>
            </a:xfrm>
            <a:custGeom>
              <a:avLst/>
              <a:gdLst/>
              <a:ahLst/>
              <a:cxnLst/>
              <a:rect r="r" b="b" t="t" l="l"/>
              <a:pathLst>
                <a:path h="1576574" w="2801573">
                  <a:moveTo>
                    <a:pt x="29634" y="0"/>
                  </a:moveTo>
                  <a:lnTo>
                    <a:pt x="2771938" y="0"/>
                  </a:lnTo>
                  <a:cubicBezTo>
                    <a:pt x="2788305" y="0"/>
                    <a:pt x="2801573" y="13268"/>
                    <a:pt x="2801573" y="29634"/>
                  </a:cubicBezTo>
                  <a:lnTo>
                    <a:pt x="2801573" y="1546939"/>
                  </a:lnTo>
                  <a:cubicBezTo>
                    <a:pt x="2801573" y="1554799"/>
                    <a:pt x="2798451" y="1562336"/>
                    <a:pt x="2792893" y="1567894"/>
                  </a:cubicBezTo>
                  <a:cubicBezTo>
                    <a:pt x="2787335" y="1573452"/>
                    <a:pt x="2779798" y="1576574"/>
                    <a:pt x="2771938" y="1576574"/>
                  </a:cubicBezTo>
                  <a:lnTo>
                    <a:pt x="29634" y="1576574"/>
                  </a:lnTo>
                  <a:cubicBezTo>
                    <a:pt x="13268" y="1576574"/>
                    <a:pt x="0" y="1563306"/>
                    <a:pt x="0" y="1546939"/>
                  </a:cubicBezTo>
                  <a:lnTo>
                    <a:pt x="0" y="29634"/>
                  </a:lnTo>
                  <a:cubicBezTo>
                    <a:pt x="0" y="13268"/>
                    <a:pt x="13268" y="0"/>
                    <a:pt x="29634" y="0"/>
                  </a:cubicBezTo>
                  <a:close/>
                </a:path>
              </a:pathLst>
            </a:custGeom>
            <a:solidFill>
              <a:srgbClr val="2A3066">
                <a:alpha val="55686"/>
              </a:srgbClr>
            </a:solidFill>
          </p:spPr>
        </p:sp>
        <p:sp>
          <p:nvSpPr>
            <p:cNvPr name="TextBox 4" id="4"/>
            <p:cNvSpPr txBox="true"/>
            <p:nvPr/>
          </p:nvSpPr>
          <p:spPr>
            <a:xfrm>
              <a:off x="0" y="-66675"/>
              <a:ext cx="2801573" cy="1643249"/>
            </a:xfrm>
            <a:prstGeom prst="rect">
              <a:avLst/>
            </a:prstGeom>
          </p:spPr>
          <p:txBody>
            <a:bodyPr anchor="ctr" rtlCol="false" tIns="50800" lIns="50800" bIns="50800" rIns="50800"/>
            <a:lstStyle/>
            <a:p>
              <a:pPr algn="ctr">
                <a:lnSpc>
                  <a:spcPts val="2921"/>
                </a:lnSpc>
              </a:pPr>
              <a:r>
                <a:rPr lang="en-US" sz="1813">
                  <a:solidFill>
                    <a:srgbClr val="FFFFFF">
                      <a:alpha val="55686"/>
                    </a:srgbClr>
                  </a:solidFill>
                  <a:latin typeface="Open Sans"/>
                  <a:ea typeface="Open Sans"/>
                  <a:cs typeface="Open Sans"/>
                  <a:sym typeface="Open Sans"/>
                </a:rPr>
                <a:t>1</a:t>
              </a:r>
            </a:p>
            <a:p>
              <a:pPr algn="ctr">
                <a:lnSpc>
                  <a:spcPts val="2921"/>
                </a:lnSpc>
              </a:pPr>
            </a:p>
          </p:txBody>
        </p:sp>
      </p:grpSp>
      <p:grpSp>
        <p:nvGrpSpPr>
          <p:cNvPr name="Group 5" id="5"/>
          <p:cNvGrpSpPr/>
          <p:nvPr/>
        </p:nvGrpSpPr>
        <p:grpSpPr>
          <a:xfrm rot="0">
            <a:off x="9643316" y="1695487"/>
            <a:ext cx="6531174" cy="3675392"/>
            <a:chOff x="0" y="0"/>
            <a:chExt cx="2801573" cy="1576574"/>
          </a:xfrm>
        </p:grpSpPr>
        <p:sp>
          <p:nvSpPr>
            <p:cNvPr name="Freeform 6" id="6"/>
            <p:cNvSpPr/>
            <p:nvPr/>
          </p:nvSpPr>
          <p:spPr>
            <a:xfrm flipH="false" flipV="false" rot="0">
              <a:off x="0" y="0"/>
              <a:ext cx="2801573" cy="1576574"/>
            </a:xfrm>
            <a:custGeom>
              <a:avLst/>
              <a:gdLst/>
              <a:ahLst/>
              <a:cxnLst/>
              <a:rect r="r" b="b" t="t" l="l"/>
              <a:pathLst>
                <a:path h="1576574" w="2801573">
                  <a:moveTo>
                    <a:pt x="29634" y="0"/>
                  </a:moveTo>
                  <a:lnTo>
                    <a:pt x="2771938" y="0"/>
                  </a:lnTo>
                  <a:cubicBezTo>
                    <a:pt x="2788305" y="0"/>
                    <a:pt x="2801573" y="13268"/>
                    <a:pt x="2801573" y="29634"/>
                  </a:cubicBezTo>
                  <a:lnTo>
                    <a:pt x="2801573" y="1546939"/>
                  </a:lnTo>
                  <a:cubicBezTo>
                    <a:pt x="2801573" y="1554799"/>
                    <a:pt x="2798451" y="1562336"/>
                    <a:pt x="2792893" y="1567894"/>
                  </a:cubicBezTo>
                  <a:cubicBezTo>
                    <a:pt x="2787335" y="1573452"/>
                    <a:pt x="2779798" y="1576574"/>
                    <a:pt x="2771938" y="1576574"/>
                  </a:cubicBezTo>
                  <a:lnTo>
                    <a:pt x="29634" y="1576574"/>
                  </a:lnTo>
                  <a:cubicBezTo>
                    <a:pt x="13268" y="1576574"/>
                    <a:pt x="0" y="1563306"/>
                    <a:pt x="0" y="1546939"/>
                  </a:cubicBezTo>
                  <a:lnTo>
                    <a:pt x="0" y="29634"/>
                  </a:lnTo>
                  <a:cubicBezTo>
                    <a:pt x="0" y="13268"/>
                    <a:pt x="13268" y="0"/>
                    <a:pt x="29634" y="0"/>
                  </a:cubicBezTo>
                  <a:close/>
                </a:path>
              </a:pathLst>
            </a:custGeom>
            <a:solidFill>
              <a:srgbClr val="2A3066">
                <a:alpha val="55686"/>
              </a:srgbClr>
            </a:solidFill>
          </p:spPr>
        </p:sp>
        <p:sp>
          <p:nvSpPr>
            <p:cNvPr name="TextBox 7" id="7"/>
            <p:cNvSpPr txBox="true"/>
            <p:nvPr/>
          </p:nvSpPr>
          <p:spPr>
            <a:xfrm>
              <a:off x="0" y="-66675"/>
              <a:ext cx="2801573" cy="1643249"/>
            </a:xfrm>
            <a:prstGeom prst="rect">
              <a:avLst/>
            </a:prstGeom>
          </p:spPr>
          <p:txBody>
            <a:bodyPr anchor="ctr" rtlCol="false" tIns="50800" lIns="50800" bIns="50800" rIns="50800"/>
            <a:lstStyle/>
            <a:p>
              <a:pPr algn="ctr">
                <a:lnSpc>
                  <a:spcPts val="2921"/>
                </a:lnSpc>
              </a:pPr>
            </a:p>
          </p:txBody>
        </p:sp>
      </p:grpSp>
      <p:sp>
        <p:nvSpPr>
          <p:cNvPr name="TextBox 8" id="8"/>
          <p:cNvSpPr txBox="true"/>
          <p:nvPr/>
        </p:nvSpPr>
        <p:spPr>
          <a:xfrm rot="0">
            <a:off x="2672593" y="2090350"/>
            <a:ext cx="5413008" cy="3704695"/>
          </a:xfrm>
          <a:prstGeom prst="rect">
            <a:avLst/>
          </a:prstGeom>
        </p:spPr>
        <p:txBody>
          <a:bodyPr anchor="t" rtlCol="false" tIns="0" lIns="0" bIns="0" rIns="0">
            <a:spAutoFit/>
          </a:bodyPr>
          <a:lstStyle/>
          <a:p>
            <a:pPr algn="l">
              <a:lnSpc>
                <a:spcPts val="2662"/>
              </a:lnSpc>
              <a:spcBef>
                <a:spcPct val="0"/>
              </a:spcBef>
            </a:pPr>
            <a:r>
              <a:rPr lang="en-US" b="true" sz="2465" i="true">
                <a:solidFill>
                  <a:srgbClr val="4187B5"/>
                </a:solidFill>
                <a:latin typeface="Poppins Bold Italics"/>
                <a:ea typeface="Poppins Bold Italics"/>
                <a:cs typeface="Poppins Bold Italics"/>
                <a:sym typeface="Poppins Bold Italics"/>
              </a:rPr>
              <a:t>Supports</a:t>
            </a:r>
            <a:r>
              <a:rPr lang="en-US" b="true" sz="2465" i="true">
                <a:solidFill>
                  <a:srgbClr val="4187B5"/>
                </a:solidFill>
                <a:latin typeface="Poppins Bold Italics"/>
                <a:ea typeface="Poppins Bold Italics"/>
                <a:cs typeface="Poppins Bold Italics"/>
                <a:sym typeface="Poppins Bold Italics"/>
              </a:rPr>
              <a:t> Strategic Decision-Making</a:t>
            </a:r>
          </a:p>
          <a:p>
            <a:pPr algn="l">
              <a:lnSpc>
                <a:spcPts val="2662"/>
              </a:lnSpc>
              <a:spcBef>
                <a:spcPct val="0"/>
              </a:spcBef>
            </a:pPr>
            <a:r>
              <a:rPr lang="en-US" sz="2465">
                <a:solidFill>
                  <a:srgbClr val="FFFFFF"/>
                </a:solidFill>
                <a:latin typeface="Poppins"/>
                <a:ea typeface="Poppins"/>
                <a:cs typeface="Poppins"/>
                <a:sym typeface="Poppins"/>
              </a:rPr>
              <a:t>The solution provides clear, visual insights on pricing trends, sales </a:t>
            </a:r>
            <a:r>
              <a:rPr lang="en-US" sz="2465">
                <a:solidFill>
                  <a:srgbClr val="FFFFFF"/>
                </a:solidFill>
                <a:latin typeface="Poppins"/>
                <a:ea typeface="Poppins"/>
                <a:cs typeface="Poppins"/>
                <a:sym typeface="Poppins"/>
              </a:rPr>
              <a:t>rank, and seasonal performance. This directly supports the needs of marketing and sales managers for data-backed decision-making</a:t>
            </a:r>
            <a:r>
              <a:rPr lang="en-US" sz="2465">
                <a:solidFill>
                  <a:srgbClr val="FFFFFF"/>
                </a:solidFill>
                <a:latin typeface="Poppins"/>
                <a:ea typeface="Poppins"/>
                <a:cs typeface="Poppins"/>
                <a:sym typeface="Poppins"/>
              </a:rPr>
              <a:t>.</a:t>
            </a:r>
          </a:p>
          <a:p>
            <a:pPr algn="l">
              <a:lnSpc>
                <a:spcPts val="2662"/>
              </a:lnSpc>
              <a:spcBef>
                <a:spcPct val="0"/>
              </a:spcBef>
            </a:pPr>
          </a:p>
          <a:p>
            <a:pPr algn="l">
              <a:lnSpc>
                <a:spcPts val="2662"/>
              </a:lnSpc>
              <a:spcBef>
                <a:spcPct val="0"/>
              </a:spcBef>
            </a:pPr>
          </a:p>
        </p:txBody>
      </p:sp>
      <p:sp>
        <p:nvSpPr>
          <p:cNvPr name="TextBox 9" id="9"/>
          <p:cNvSpPr txBox="true"/>
          <p:nvPr/>
        </p:nvSpPr>
        <p:spPr>
          <a:xfrm rot="0">
            <a:off x="10202399" y="2099875"/>
            <a:ext cx="5413008" cy="3695631"/>
          </a:xfrm>
          <a:prstGeom prst="rect">
            <a:avLst/>
          </a:prstGeom>
        </p:spPr>
        <p:txBody>
          <a:bodyPr anchor="t" rtlCol="false" tIns="0" lIns="0" bIns="0" rIns="0">
            <a:spAutoFit/>
          </a:bodyPr>
          <a:lstStyle/>
          <a:p>
            <a:pPr algn="l">
              <a:lnSpc>
                <a:spcPts val="2695"/>
              </a:lnSpc>
            </a:pPr>
            <a:r>
              <a:rPr lang="en-US" sz="2495" i="true" b="true">
                <a:solidFill>
                  <a:srgbClr val="4187B5"/>
                </a:solidFill>
                <a:latin typeface="Poppins Bold Italics"/>
                <a:ea typeface="Poppins Bold Italics"/>
                <a:cs typeface="Poppins Bold Italics"/>
                <a:sym typeface="Poppins Bold Italics"/>
              </a:rPr>
              <a:t>Forecasting Future Performance</a:t>
            </a:r>
          </a:p>
          <a:p>
            <a:pPr algn="l">
              <a:lnSpc>
                <a:spcPts val="2695"/>
              </a:lnSpc>
              <a:spcBef>
                <a:spcPct val="0"/>
              </a:spcBef>
            </a:pPr>
            <a:r>
              <a:rPr lang="en-US" sz="2495">
                <a:solidFill>
                  <a:srgbClr val="FFFFFF"/>
                </a:solidFill>
                <a:latin typeface="Poppins"/>
                <a:ea typeface="Poppins"/>
                <a:cs typeface="Poppins"/>
                <a:sym typeface="Poppins"/>
              </a:rPr>
              <a:t>The</a:t>
            </a:r>
            <a:r>
              <a:rPr lang="en-US" sz="2495">
                <a:solidFill>
                  <a:srgbClr val="FFFFFF"/>
                </a:solidFill>
                <a:latin typeface="Poppins"/>
                <a:ea typeface="Poppins"/>
                <a:cs typeface="Poppins"/>
                <a:sym typeface="Poppins"/>
              </a:rPr>
              <a:t> ARIMA </a:t>
            </a:r>
            <a:r>
              <a:rPr lang="en-US" sz="2495">
                <a:solidFill>
                  <a:srgbClr val="FFFFFF"/>
                </a:solidFill>
                <a:latin typeface="Poppins"/>
                <a:ea typeface="Poppins"/>
                <a:cs typeface="Poppins"/>
                <a:sym typeface="Poppins"/>
              </a:rPr>
              <a:t>fo</a:t>
            </a:r>
            <a:r>
              <a:rPr lang="en-US" sz="2495">
                <a:solidFill>
                  <a:srgbClr val="FFFFFF"/>
                </a:solidFill>
                <a:latin typeface="Poppins"/>
                <a:ea typeface="Poppins"/>
                <a:cs typeface="Poppins"/>
                <a:sym typeface="Poppins"/>
              </a:rPr>
              <a:t>rec</a:t>
            </a:r>
            <a:r>
              <a:rPr lang="en-US" sz="2495">
                <a:solidFill>
                  <a:srgbClr val="FFFFFF"/>
                </a:solidFill>
                <a:latin typeface="Poppins"/>
                <a:ea typeface="Poppins"/>
                <a:cs typeface="Poppins"/>
                <a:sym typeface="Poppins"/>
              </a:rPr>
              <a:t>a</a:t>
            </a:r>
            <a:r>
              <a:rPr lang="en-US" sz="2495">
                <a:solidFill>
                  <a:srgbClr val="FFFFFF"/>
                </a:solidFill>
                <a:latin typeface="Poppins"/>
                <a:ea typeface="Poppins"/>
                <a:cs typeface="Poppins"/>
                <a:sym typeface="Poppins"/>
              </a:rPr>
              <a:t>sting in Or</a:t>
            </a:r>
            <a:r>
              <a:rPr lang="en-US" sz="2495">
                <a:solidFill>
                  <a:srgbClr val="FFFFFF"/>
                </a:solidFill>
                <a:latin typeface="Poppins"/>
                <a:ea typeface="Poppins"/>
                <a:cs typeface="Poppins"/>
                <a:sym typeface="Poppins"/>
              </a:rPr>
              <a:t>ang</a:t>
            </a:r>
            <a:r>
              <a:rPr lang="en-US" sz="2495">
                <a:solidFill>
                  <a:srgbClr val="FFFFFF"/>
                </a:solidFill>
                <a:latin typeface="Poppins"/>
                <a:ea typeface="Poppins"/>
                <a:cs typeface="Poppins"/>
                <a:sym typeface="Poppins"/>
              </a:rPr>
              <a:t>e give</a:t>
            </a:r>
            <a:r>
              <a:rPr lang="en-US" sz="2495">
                <a:solidFill>
                  <a:srgbClr val="FFFFFF"/>
                </a:solidFill>
                <a:latin typeface="Poppins"/>
                <a:ea typeface="Poppins"/>
                <a:cs typeface="Poppins"/>
                <a:sym typeface="Poppins"/>
              </a:rPr>
              <a:t>s compa</a:t>
            </a:r>
            <a:r>
              <a:rPr lang="en-US" sz="2495">
                <a:solidFill>
                  <a:srgbClr val="FFFFFF"/>
                </a:solidFill>
                <a:latin typeface="Poppins"/>
                <a:ea typeface="Poppins"/>
                <a:cs typeface="Poppins"/>
                <a:sym typeface="Poppins"/>
              </a:rPr>
              <a:t>ny stakeholders a 12-month outlook on product performance. This helps with resource planni</a:t>
            </a:r>
            <a:r>
              <a:rPr lang="en-US" sz="2495" u="none">
                <a:solidFill>
                  <a:srgbClr val="FFFFFF"/>
                </a:solidFill>
                <a:latin typeface="Poppins"/>
                <a:ea typeface="Poppins"/>
                <a:cs typeface="Poppins"/>
                <a:sym typeface="Poppins"/>
              </a:rPr>
              <a:t>ng, inventory mana</a:t>
            </a:r>
            <a:r>
              <a:rPr lang="en-US" sz="2495">
                <a:solidFill>
                  <a:srgbClr val="FFFFFF"/>
                </a:solidFill>
                <a:latin typeface="Poppins"/>
                <a:ea typeface="Poppins"/>
                <a:cs typeface="Poppins"/>
                <a:sym typeface="Poppins"/>
              </a:rPr>
              <a:t>g</a:t>
            </a:r>
            <a:r>
              <a:rPr lang="en-US" sz="2495" u="none">
                <a:solidFill>
                  <a:srgbClr val="FFFFFF"/>
                </a:solidFill>
                <a:latin typeface="Poppins"/>
                <a:ea typeface="Poppins"/>
                <a:cs typeface="Poppins"/>
                <a:sym typeface="Poppins"/>
              </a:rPr>
              <a:t>ement, and e</a:t>
            </a:r>
            <a:r>
              <a:rPr lang="en-US" sz="2495">
                <a:solidFill>
                  <a:srgbClr val="FFFFFF"/>
                </a:solidFill>
                <a:latin typeface="Poppins"/>
                <a:ea typeface="Poppins"/>
                <a:cs typeface="Poppins"/>
                <a:sym typeface="Poppins"/>
              </a:rPr>
              <a:t>a</a:t>
            </a:r>
            <a:r>
              <a:rPr lang="en-US" sz="2495" u="none">
                <a:solidFill>
                  <a:srgbClr val="FFFFFF"/>
                </a:solidFill>
                <a:latin typeface="Poppins"/>
                <a:ea typeface="Poppins"/>
                <a:cs typeface="Poppins"/>
                <a:sym typeface="Poppins"/>
              </a:rPr>
              <a:t>rly int</a:t>
            </a:r>
            <a:r>
              <a:rPr lang="en-US" sz="2495">
                <a:solidFill>
                  <a:srgbClr val="FFFFFF"/>
                </a:solidFill>
                <a:latin typeface="Poppins"/>
                <a:ea typeface="Poppins"/>
                <a:cs typeface="Poppins"/>
                <a:sym typeface="Poppins"/>
              </a:rPr>
              <a:t>erventi</a:t>
            </a:r>
            <a:r>
              <a:rPr lang="en-US" sz="2495" u="none">
                <a:solidFill>
                  <a:srgbClr val="FFFFFF"/>
                </a:solidFill>
                <a:latin typeface="Poppins"/>
                <a:ea typeface="Poppins"/>
                <a:cs typeface="Poppins"/>
                <a:sym typeface="Poppins"/>
              </a:rPr>
              <a:t>o</a:t>
            </a:r>
            <a:r>
              <a:rPr lang="en-US" sz="2495">
                <a:solidFill>
                  <a:srgbClr val="FFFFFF"/>
                </a:solidFill>
                <a:latin typeface="Poppins"/>
                <a:ea typeface="Poppins"/>
                <a:cs typeface="Poppins"/>
                <a:sym typeface="Poppins"/>
              </a:rPr>
              <a:t>ns if a product is predicted to decline.</a:t>
            </a:r>
          </a:p>
          <a:p>
            <a:pPr algn="l">
              <a:lnSpc>
                <a:spcPts val="2695"/>
              </a:lnSpc>
              <a:spcBef>
                <a:spcPct val="0"/>
              </a:spcBef>
            </a:pPr>
          </a:p>
          <a:p>
            <a:pPr algn="l">
              <a:lnSpc>
                <a:spcPts val="2695"/>
              </a:lnSpc>
              <a:spcBef>
                <a:spcPct val="0"/>
              </a:spcBef>
            </a:pPr>
          </a:p>
        </p:txBody>
      </p:sp>
      <p:grpSp>
        <p:nvGrpSpPr>
          <p:cNvPr name="Group 10" id="10"/>
          <p:cNvGrpSpPr/>
          <p:nvPr/>
        </p:nvGrpSpPr>
        <p:grpSpPr>
          <a:xfrm rot="0">
            <a:off x="2113510" y="5582908"/>
            <a:ext cx="6531174" cy="3675392"/>
            <a:chOff x="0" y="0"/>
            <a:chExt cx="2801573" cy="1576574"/>
          </a:xfrm>
        </p:grpSpPr>
        <p:sp>
          <p:nvSpPr>
            <p:cNvPr name="Freeform 11" id="11"/>
            <p:cNvSpPr/>
            <p:nvPr/>
          </p:nvSpPr>
          <p:spPr>
            <a:xfrm flipH="false" flipV="false" rot="0">
              <a:off x="0" y="0"/>
              <a:ext cx="2801573" cy="1576574"/>
            </a:xfrm>
            <a:custGeom>
              <a:avLst/>
              <a:gdLst/>
              <a:ahLst/>
              <a:cxnLst/>
              <a:rect r="r" b="b" t="t" l="l"/>
              <a:pathLst>
                <a:path h="1576574" w="2801573">
                  <a:moveTo>
                    <a:pt x="29634" y="0"/>
                  </a:moveTo>
                  <a:lnTo>
                    <a:pt x="2771938" y="0"/>
                  </a:lnTo>
                  <a:cubicBezTo>
                    <a:pt x="2788305" y="0"/>
                    <a:pt x="2801573" y="13268"/>
                    <a:pt x="2801573" y="29634"/>
                  </a:cubicBezTo>
                  <a:lnTo>
                    <a:pt x="2801573" y="1546939"/>
                  </a:lnTo>
                  <a:cubicBezTo>
                    <a:pt x="2801573" y="1554799"/>
                    <a:pt x="2798451" y="1562336"/>
                    <a:pt x="2792893" y="1567894"/>
                  </a:cubicBezTo>
                  <a:cubicBezTo>
                    <a:pt x="2787335" y="1573452"/>
                    <a:pt x="2779798" y="1576574"/>
                    <a:pt x="2771938" y="1576574"/>
                  </a:cubicBezTo>
                  <a:lnTo>
                    <a:pt x="29634" y="1576574"/>
                  </a:lnTo>
                  <a:cubicBezTo>
                    <a:pt x="13268" y="1576574"/>
                    <a:pt x="0" y="1563306"/>
                    <a:pt x="0" y="1546939"/>
                  </a:cubicBezTo>
                  <a:lnTo>
                    <a:pt x="0" y="29634"/>
                  </a:lnTo>
                  <a:cubicBezTo>
                    <a:pt x="0" y="13268"/>
                    <a:pt x="13268" y="0"/>
                    <a:pt x="29634" y="0"/>
                  </a:cubicBezTo>
                  <a:close/>
                </a:path>
              </a:pathLst>
            </a:custGeom>
            <a:solidFill>
              <a:srgbClr val="2A3066">
                <a:alpha val="55686"/>
              </a:srgbClr>
            </a:solidFill>
          </p:spPr>
        </p:sp>
        <p:sp>
          <p:nvSpPr>
            <p:cNvPr name="TextBox 12" id="12"/>
            <p:cNvSpPr txBox="true"/>
            <p:nvPr/>
          </p:nvSpPr>
          <p:spPr>
            <a:xfrm>
              <a:off x="0" y="-66675"/>
              <a:ext cx="2801573" cy="1643249"/>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13" id="13"/>
          <p:cNvGrpSpPr/>
          <p:nvPr/>
        </p:nvGrpSpPr>
        <p:grpSpPr>
          <a:xfrm rot="0">
            <a:off x="9643316" y="5582908"/>
            <a:ext cx="6531174" cy="3675392"/>
            <a:chOff x="0" y="0"/>
            <a:chExt cx="2801573" cy="1576574"/>
          </a:xfrm>
        </p:grpSpPr>
        <p:sp>
          <p:nvSpPr>
            <p:cNvPr name="Freeform 14" id="14"/>
            <p:cNvSpPr/>
            <p:nvPr/>
          </p:nvSpPr>
          <p:spPr>
            <a:xfrm flipH="false" flipV="false" rot="0">
              <a:off x="0" y="0"/>
              <a:ext cx="2801573" cy="1576574"/>
            </a:xfrm>
            <a:custGeom>
              <a:avLst/>
              <a:gdLst/>
              <a:ahLst/>
              <a:cxnLst/>
              <a:rect r="r" b="b" t="t" l="l"/>
              <a:pathLst>
                <a:path h="1576574" w="2801573">
                  <a:moveTo>
                    <a:pt x="29634" y="0"/>
                  </a:moveTo>
                  <a:lnTo>
                    <a:pt x="2771938" y="0"/>
                  </a:lnTo>
                  <a:cubicBezTo>
                    <a:pt x="2788305" y="0"/>
                    <a:pt x="2801573" y="13268"/>
                    <a:pt x="2801573" y="29634"/>
                  </a:cubicBezTo>
                  <a:lnTo>
                    <a:pt x="2801573" y="1546939"/>
                  </a:lnTo>
                  <a:cubicBezTo>
                    <a:pt x="2801573" y="1554799"/>
                    <a:pt x="2798451" y="1562336"/>
                    <a:pt x="2792893" y="1567894"/>
                  </a:cubicBezTo>
                  <a:cubicBezTo>
                    <a:pt x="2787335" y="1573452"/>
                    <a:pt x="2779798" y="1576574"/>
                    <a:pt x="2771938" y="1576574"/>
                  </a:cubicBezTo>
                  <a:lnTo>
                    <a:pt x="29634" y="1576574"/>
                  </a:lnTo>
                  <a:cubicBezTo>
                    <a:pt x="13268" y="1576574"/>
                    <a:pt x="0" y="1563306"/>
                    <a:pt x="0" y="1546939"/>
                  </a:cubicBezTo>
                  <a:lnTo>
                    <a:pt x="0" y="29634"/>
                  </a:lnTo>
                  <a:cubicBezTo>
                    <a:pt x="0" y="13268"/>
                    <a:pt x="13268" y="0"/>
                    <a:pt x="29634" y="0"/>
                  </a:cubicBezTo>
                  <a:close/>
                </a:path>
              </a:pathLst>
            </a:custGeom>
            <a:solidFill>
              <a:srgbClr val="2A3066">
                <a:alpha val="55686"/>
              </a:srgbClr>
            </a:solidFill>
          </p:spPr>
        </p:sp>
        <p:sp>
          <p:nvSpPr>
            <p:cNvPr name="TextBox 15" id="15"/>
            <p:cNvSpPr txBox="true"/>
            <p:nvPr/>
          </p:nvSpPr>
          <p:spPr>
            <a:xfrm>
              <a:off x="0" y="-66675"/>
              <a:ext cx="2801573" cy="1643249"/>
            </a:xfrm>
            <a:prstGeom prst="rect">
              <a:avLst/>
            </a:prstGeom>
          </p:spPr>
          <p:txBody>
            <a:bodyPr anchor="ctr" rtlCol="false" tIns="50800" lIns="50800" bIns="50800" rIns="50800"/>
            <a:lstStyle/>
            <a:p>
              <a:pPr algn="ctr">
                <a:lnSpc>
                  <a:spcPts val="2921"/>
                </a:lnSpc>
              </a:pPr>
            </a:p>
          </p:txBody>
        </p:sp>
      </p:grpSp>
      <p:sp>
        <p:nvSpPr>
          <p:cNvPr name="TextBox 16" id="16"/>
          <p:cNvSpPr txBox="true"/>
          <p:nvPr/>
        </p:nvSpPr>
        <p:spPr>
          <a:xfrm rot="0">
            <a:off x="2672593" y="6019320"/>
            <a:ext cx="5413008" cy="2564743"/>
          </a:xfrm>
          <a:prstGeom prst="rect">
            <a:avLst/>
          </a:prstGeom>
        </p:spPr>
        <p:txBody>
          <a:bodyPr anchor="t" rtlCol="false" tIns="0" lIns="0" bIns="0" rIns="0">
            <a:spAutoFit/>
          </a:bodyPr>
          <a:lstStyle/>
          <a:p>
            <a:pPr algn="l">
              <a:lnSpc>
                <a:spcPts val="2878"/>
              </a:lnSpc>
              <a:spcBef>
                <a:spcPct val="0"/>
              </a:spcBef>
            </a:pPr>
            <a:r>
              <a:rPr lang="en-US" b="true" sz="2665" i="true">
                <a:solidFill>
                  <a:srgbClr val="4187B5"/>
                </a:solidFill>
                <a:latin typeface="Poppins Bold Italics"/>
                <a:ea typeface="Poppins Bold Italics"/>
                <a:cs typeface="Poppins Bold Italics"/>
                <a:sym typeface="Poppins Bold Italics"/>
              </a:rPr>
              <a:t>Pro</a:t>
            </a:r>
            <a:r>
              <a:rPr lang="en-US" b="true" sz="2665" i="true">
                <a:solidFill>
                  <a:srgbClr val="4187B5"/>
                </a:solidFill>
                <a:latin typeface="Poppins Bold Italics"/>
                <a:ea typeface="Poppins Bold Italics"/>
                <a:cs typeface="Poppins Bold Italics"/>
                <a:sym typeface="Poppins Bold Italics"/>
              </a:rPr>
              <a:t>duct-Specific Analysis</a:t>
            </a:r>
          </a:p>
          <a:p>
            <a:pPr algn="l">
              <a:lnSpc>
                <a:spcPts val="2878"/>
              </a:lnSpc>
              <a:spcBef>
                <a:spcPct val="0"/>
              </a:spcBef>
            </a:pPr>
            <a:r>
              <a:rPr lang="en-US" sz="2665">
                <a:solidFill>
                  <a:srgbClr val="FFFFFF"/>
                </a:solidFill>
                <a:latin typeface="Poppins"/>
                <a:ea typeface="Poppins"/>
                <a:cs typeface="Poppins"/>
                <a:sym typeface="Poppins"/>
              </a:rPr>
              <a:t>By analyzing ROG, TUF, and Zephyrus separately, you</a:t>
            </a:r>
            <a:r>
              <a:rPr lang="en-US" sz="2665">
                <a:solidFill>
                  <a:srgbClr val="FFFFFF"/>
                </a:solidFill>
                <a:latin typeface="Poppins"/>
                <a:ea typeface="Poppins"/>
                <a:cs typeface="Poppins"/>
                <a:sym typeface="Poppins"/>
              </a:rPr>
              <a:t>r solution delivers model-specific recommendations, which aligns with how brand and product managers operate</a:t>
            </a:r>
            <a:r>
              <a:rPr lang="en-US" sz="2665">
                <a:solidFill>
                  <a:srgbClr val="FFFFFF"/>
                </a:solidFill>
                <a:latin typeface="Poppins"/>
                <a:ea typeface="Poppins"/>
                <a:cs typeface="Poppins"/>
                <a:sym typeface="Poppins"/>
              </a:rPr>
              <a:t>.</a:t>
            </a:r>
          </a:p>
        </p:txBody>
      </p:sp>
      <p:sp>
        <p:nvSpPr>
          <p:cNvPr name="TextBox 17" id="17"/>
          <p:cNvSpPr txBox="true"/>
          <p:nvPr/>
        </p:nvSpPr>
        <p:spPr>
          <a:xfrm rot="0">
            <a:off x="10202399" y="6040350"/>
            <a:ext cx="5413008" cy="2574729"/>
          </a:xfrm>
          <a:prstGeom prst="rect">
            <a:avLst/>
          </a:prstGeom>
        </p:spPr>
        <p:txBody>
          <a:bodyPr anchor="t" rtlCol="false" tIns="0" lIns="0" bIns="0" rIns="0">
            <a:spAutoFit/>
          </a:bodyPr>
          <a:lstStyle/>
          <a:p>
            <a:pPr algn="l">
              <a:lnSpc>
                <a:spcPts val="2911"/>
              </a:lnSpc>
              <a:spcBef>
                <a:spcPct val="0"/>
              </a:spcBef>
            </a:pPr>
            <a:r>
              <a:rPr lang="en-US" b="true" sz="2695" i="true">
                <a:solidFill>
                  <a:srgbClr val="4187B5"/>
                </a:solidFill>
                <a:latin typeface="Poppins Bold Italics"/>
                <a:ea typeface="Poppins Bold Italics"/>
                <a:cs typeface="Poppins Bold Italics"/>
                <a:sym typeface="Poppins Bold Italics"/>
              </a:rPr>
              <a:t>Accessible Visualisa</a:t>
            </a:r>
            <a:r>
              <a:rPr lang="en-US" b="true" sz="2695" i="true">
                <a:solidFill>
                  <a:srgbClr val="4187B5"/>
                </a:solidFill>
                <a:latin typeface="Poppins Bold Italics"/>
                <a:ea typeface="Poppins Bold Italics"/>
                <a:cs typeface="Poppins Bold Italics"/>
                <a:sym typeface="Poppins Bold Italics"/>
              </a:rPr>
              <a:t>tions</a:t>
            </a:r>
          </a:p>
          <a:p>
            <a:pPr algn="l">
              <a:lnSpc>
                <a:spcPts val="2911"/>
              </a:lnSpc>
              <a:spcBef>
                <a:spcPct val="0"/>
              </a:spcBef>
            </a:pPr>
            <a:r>
              <a:rPr lang="en-US" sz="2695">
                <a:solidFill>
                  <a:srgbClr val="FFFFFF"/>
                </a:solidFill>
                <a:latin typeface="Poppins"/>
                <a:ea typeface="Poppins"/>
                <a:cs typeface="Poppins"/>
                <a:sym typeface="Poppins"/>
              </a:rPr>
              <a:t>The Power BI </a:t>
            </a:r>
            <a:r>
              <a:rPr lang="en-US" sz="2695">
                <a:solidFill>
                  <a:srgbClr val="FFFFFF"/>
                </a:solidFill>
                <a:latin typeface="Poppins"/>
                <a:ea typeface="Poppins"/>
                <a:cs typeface="Poppins"/>
                <a:sym typeface="Poppins"/>
              </a:rPr>
              <a:t>dashbo</a:t>
            </a:r>
            <a:r>
              <a:rPr lang="en-US" sz="2695">
                <a:solidFill>
                  <a:srgbClr val="FFFFFF"/>
                </a:solidFill>
                <a:latin typeface="Poppins"/>
                <a:ea typeface="Poppins"/>
                <a:cs typeface="Poppins"/>
                <a:sym typeface="Poppins"/>
              </a:rPr>
              <a:t>ards turn raw data into interactive visuals, making it easy for non-technical s</a:t>
            </a:r>
            <a:r>
              <a:rPr lang="en-US" sz="2695" u="none">
                <a:solidFill>
                  <a:srgbClr val="FFFFFF"/>
                </a:solidFill>
                <a:latin typeface="Poppins"/>
                <a:ea typeface="Poppins"/>
                <a:cs typeface="Poppins"/>
                <a:sym typeface="Poppins"/>
              </a:rPr>
              <a:t>takeholders</a:t>
            </a:r>
            <a:r>
              <a:rPr lang="en-US" sz="2695">
                <a:solidFill>
                  <a:srgbClr val="FFFFFF"/>
                </a:solidFill>
                <a:latin typeface="Poppins"/>
                <a:ea typeface="Poppins"/>
                <a:cs typeface="Poppins"/>
                <a:sym typeface="Poppins"/>
              </a:rPr>
              <a:t> t</a:t>
            </a:r>
            <a:r>
              <a:rPr lang="en-US" sz="2695" u="none">
                <a:solidFill>
                  <a:srgbClr val="FFFFFF"/>
                </a:solidFill>
                <a:latin typeface="Poppins"/>
                <a:ea typeface="Poppins"/>
                <a:cs typeface="Poppins"/>
                <a:sym typeface="Poppins"/>
              </a:rPr>
              <a:t>o </a:t>
            </a:r>
            <a:r>
              <a:rPr lang="en-US" sz="2695">
                <a:solidFill>
                  <a:srgbClr val="FFFFFF"/>
                </a:solidFill>
                <a:latin typeface="Poppins"/>
                <a:ea typeface="Poppins"/>
                <a:cs typeface="Poppins"/>
                <a:sym typeface="Poppins"/>
              </a:rPr>
              <a:t>und</a:t>
            </a:r>
            <a:r>
              <a:rPr lang="en-US" sz="2695" u="none">
                <a:solidFill>
                  <a:srgbClr val="FFFFFF"/>
                </a:solidFill>
                <a:latin typeface="Poppins"/>
                <a:ea typeface="Poppins"/>
                <a:cs typeface="Poppins"/>
                <a:sym typeface="Poppins"/>
              </a:rPr>
              <a:t>erstand p</a:t>
            </a:r>
            <a:r>
              <a:rPr lang="en-US" sz="2695">
                <a:solidFill>
                  <a:srgbClr val="FFFFFF"/>
                </a:solidFill>
                <a:latin typeface="Poppins"/>
                <a:ea typeface="Poppins"/>
                <a:cs typeface="Poppins"/>
                <a:sym typeface="Poppins"/>
              </a:rPr>
              <a:t>a</a:t>
            </a:r>
            <a:r>
              <a:rPr lang="en-US" sz="2695" u="none">
                <a:solidFill>
                  <a:srgbClr val="FFFFFF"/>
                </a:solidFill>
                <a:latin typeface="Poppins"/>
                <a:ea typeface="Poppins"/>
                <a:cs typeface="Poppins"/>
                <a:sym typeface="Poppins"/>
              </a:rPr>
              <a:t>tt</a:t>
            </a:r>
            <a:r>
              <a:rPr lang="en-US" sz="2695">
                <a:solidFill>
                  <a:srgbClr val="FFFFFF"/>
                </a:solidFill>
                <a:latin typeface="Poppins"/>
                <a:ea typeface="Poppins"/>
                <a:cs typeface="Poppins"/>
                <a:sym typeface="Poppins"/>
              </a:rPr>
              <a:t>erns and make quick decisions.</a:t>
            </a:r>
          </a:p>
        </p:txBody>
      </p:sp>
      <p:sp>
        <p:nvSpPr>
          <p:cNvPr name="TextBox 18" id="18"/>
          <p:cNvSpPr txBox="true"/>
          <p:nvPr/>
        </p:nvSpPr>
        <p:spPr>
          <a:xfrm rot="0">
            <a:off x="2113510" y="1090426"/>
            <a:ext cx="14578604" cy="573438"/>
          </a:xfrm>
          <a:prstGeom prst="rect">
            <a:avLst/>
          </a:prstGeom>
        </p:spPr>
        <p:txBody>
          <a:bodyPr anchor="t" rtlCol="false" tIns="0" lIns="0" bIns="0" rIns="0">
            <a:spAutoFit/>
          </a:bodyPr>
          <a:lstStyle/>
          <a:p>
            <a:pPr algn="l">
              <a:lnSpc>
                <a:spcPts val="4187"/>
              </a:lnSpc>
              <a:spcBef>
                <a:spcPct val="0"/>
              </a:spcBef>
            </a:pPr>
            <a:r>
              <a:rPr lang="en-US" b="true" sz="3877">
                <a:solidFill>
                  <a:srgbClr val="FFFFFF"/>
                </a:solidFill>
                <a:latin typeface="Poppins Bold"/>
                <a:ea typeface="Poppins Bold"/>
                <a:cs typeface="Poppins Bold"/>
                <a:sym typeface="Poppins Bold"/>
              </a:rPr>
              <a:t> How the Solution Meets User &amp; Business Requirements</a:t>
            </a:r>
          </a:p>
        </p:txBody>
      </p:sp>
    </p:spTree>
  </p:cSld>
  <p:clrMapOvr>
    <a:masterClrMapping/>
  </p:clrMapOvr>
</p:sld>
</file>

<file path=ppt/slides/slide40.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113510" y="1695487"/>
            <a:ext cx="6531174" cy="3675392"/>
            <a:chOff x="0" y="0"/>
            <a:chExt cx="2801573" cy="1576574"/>
          </a:xfrm>
        </p:grpSpPr>
        <p:sp>
          <p:nvSpPr>
            <p:cNvPr name="Freeform 3" id="3"/>
            <p:cNvSpPr/>
            <p:nvPr/>
          </p:nvSpPr>
          <p:spPr>
            <a:xfrm flipH="false" flipV="false" rot="0">
              <a:off x="0" y="0"/>
              <a:ext cx="2801573" cy="1576574"/>
            </a:xfrm>
            <a:custGeom>
              <a:avLst/>
              <a:gdLst/>
              <a:ahLst/>
              <a:cxnLst/>
              <a:rect r="r" b="b" t="t" l="l"/>
              <a:pathLst>
                <a:path h="1576574" w="2801573">
                  <a:moveTo>
                    <a:pt x="29634" y="0"/>
                  </a:moveTo>
                  <a:lnTo>
                    <a:pt x="2771938" y="0"/>
                  </a:lnTo>
                  <a:cubicBezTo>
                    <a:pt x="2788305" y="0"/>
                    <a:pt x="2801573" y="13268"/>
                    <a:pt x="2801573" y="29634"/>
                  </a:cubicBezTo>
                  <a:lnTo>
                    <a:pt x="2801573" y="1546939"/>
                  </a:lnTo>
                  <a:cubicBezTo>
                    <a:pt x="2801573" y="1554799"/>
                    <a:pt x="2798451" y="1562336"/>
                    <a:pt x="2792893" y="1567894"/>
                  </a:cubicBezTo>
                  <a:cubicBezTo>
                    <a:pt x="2787335" y="1573452"/>
                    <a:pt x="2779798" y="1576574"/>
                    <a:pt x="2771938" y="1576574"/>
                  </a:cubicBezTo>
                  <a:lnTo>
                    <a:pt x="29634" y="1576574"/>
                  </a:lnTo>
                  <a:cubicBezTo>
                    <a:pt x="13268" y="1576574"/>
                    <a:pt x="0" y="1563306"/>
                    <a:pt x="0" y="1546939"/>
                  </a:cubicBezTo>
                  <a:lnTo>
                    <a:pt x="0" y="29634"/>
                  </a:lnTo>
                  <a:cubicBezTo>
                    <a:pt x="0" y="13268"/>
                    <a:pt x="13268" y="0"/>
                    <a:pt x="29634" y="0"/>
                  </a:cubicBezTo>
                  <a:close/>
                </a:path>
              </a:pathLst>
            </a:custGeom>
            <a:solidFill>
              <a:srgbClr val="2A3066">
                <a:alpha val="55686"/>
              </a:srgbClr>
            </a:solidFill>
          </p:spPr>
        </p:sp>
        <p:sp>
          <p:nvSpPr>
            <p:cNvPr name="TextBox 4" id="4"/>
            <p:cNvSpPr txBox="true"/>
            <p:nvPr/>
          </p:nvSpPr>
          <p:spPr>
            <a:xfrm>
              <a:off x="0" y="-66675"/>
              <a:ext cx="2801573" cy="1643249"/>
            </a:xfrm>
            <a:prstGeom prst="rect">
              <a:avLst/>
            </a:prstGeom>
          </p:spPr>
          <p:txBody>
            <a:bodyPr anchor="ctr" rtlCol="false" tIns="50800" lIns="50800" bIns="50800" rIns="50800"/>
            <a:lstStyle/>
            <a:p>
              <a:pPr algn="ctr">
                <a:lnSpc>
                  <a:spcPts val="2921"/>
                </a:lnSpc>
              </a:pPr>
              <a:r>
                <a:rPr lang="en-US" sz="1813">
                  <a:solidFill>
                    <a:srgbClr val="FFFFFF">
                      <a:alpha val="55686"/>
                    </a:srgbClr>
                  </a:solidFill>
                  <a:latin typeface="Open Sans"/>
                  <a:ea typeface="Open Sans"/>
                  <a:cs typeface="Open Sans"/>
                  <a:sym typeface="Open Sans"/>
                </a:rPr>
                <a:t>1</a:t>
              </a:r>
            </a:p>
            <a:p>
              <a:pPr algn="ctr">
                <a:lnSpc>
                  <a:spcPts val="2921"/>
                </a:lnSpc>
              </a:pPr>
            </a:p>
          </p:txBody>
        </p:sp>
      </p:grpSp>
      <p:grpSp>
        <p:nvGrpSpPr>
          <p:cNvPr name="Group 5" id="5"/>
          <p:cNvGrpSpPr/>
          <p:nvPr/>
        </p:nvGrpSpPr>
        <p:grpSpPr>
          <a:xfrm rot="0">
            <a:off x="9643316" y="1695487"/>
            <a:ext cx="6531174" cy="3675392"/>
            <a:chOff x="0" y="0"/>
            <a:chExt cx="2801573" cy="1576574"/>
          </a:xfrm>
        </p:grpSpPr>
        <p:sp>
          <p:nvSpPr>
            <p:cNvPr name="Freeform 6" id="6"/>
            <p:cNvSpPr/>
            <p:nvPr/>
          </p:nvSpPr>
          <p:spPr>
            <a:xfrm flipH="false" flipV="false" rot="0">
              <a:off x="0" y="0"/>
              <a:ext cx="2801573" cy="1576574"/>
            </a:xfrm>
            <a:custGeom>
              <a:avLst/>
              <a:gdLst/>
              <a:ahLst/>
              <a:cxnLst/>
              <a:rect r="r" b="b" t="t" l="l"/>
              <a:pathLst>
                <a:path h="1576574" w="2801573">
                  <a:moveTo>
                    <a:pt x="29634" y="0"/>
                  </a:moveTo>
                  <a:lnTo>
                    <a:pt x="2771938" y="0"/>
                  </a:lnTo>
                  <a:cubicBezTo>
                    <a:pt x="2788305" y="0"/>
                    <a:pt x="2801573" y="13268"/>
                    <a:pt x="2801573" y="29634"/>
                  </a:cubicBezTo>
                  <a:lnTo>
                    <a:pt x="2801573" y="1546939"/>
                  </a:lnTo>
                  <a:cubicBezTo>
                    <a:pt x="2801573" y="1554799"/>
                    <a:pt x="2798451" y="1562336"/>
                    <a:pt x="2792893" y="1567894"/>
                  </a:cubicBezTo>
                  <a:cubicBezTo>
                    <a:pt x="2787335" y="1573452"/>
                    <a:pt x="2779798" y="1576574"/>
                    <a:pt x="2771938" y="1576574"/>
                  </a:cubicBezTo>
                  <a:lnTo>
                    <a:pt x="29634" y="1576574"/>
                  </a:lnTo>
                  <a:cubicBezTo>
                    <a:pt x="13268" y="1576574"/>
                    <a:pt x="0" y="1563306"/>
                    <a:pt x="0" y="1546939"/>
                  </a:cubicBezTo>
                  <a:lnTo>
                    <a:pt x="0" y="29634"/>
                  </a:lnTo>
                  <a:cubicBezTo>
                    <a:pt x="0" y="13268"/>
                    <a:pt x="13268" y="0"/>
                    <a:pt x="29634" y="0"/>
                  </a:cubicBezTo>
                  <a:close/>
                </a:path>
              </a:pathLst>
            </a:custGeom>
            <a:solidFill>
              <a:srgbClr val="2A3066">
                <a:alpha val="55686"/>
              </a:srgbClr>
            </a:solidFill>
          </p:spPr>
        </p:sp>
        <p:sp>
          <p:nvSpPr>
            <p:cNvPr name="TextBox 7" id="7"/>
            <p:cNvSpPr txBox="true"/>
            <p:nvPr/>
          </p:nvSpPr>
          <p:spPr>
            <a:xfrm>
              <a:off x="0" y="-66675"/>
              <a:ext cx="2801573" cy="1643249"/>
            </a:xfrm>
            <a:prstGeom prst="rect">
              <a:avLst/>
            </a:prstGeom>
          </p:spPr>
          <p:txBody>
            <a:bodyPr anchor="ctr" rtlCol="false" tIns="50800" lIns="50800" bIns="50800" rIns="50800"/>
            <a:lstStyle/>
            <a:p>
              <a:pPr algn="ctr">
                <a:lnSpc>
                  <a:spcPts val="2921"/>
                </a:lnSpc>
              </a:pPr>
            </a:p>
          </p:txBody>
        </p:sp>
      </p:grpSp>
      <p:sp>
        <p:nvSpPr>
          <p:cNvPr name="TextBox 8" id="8"/>
          <p:cNvSpPr txBox="true"/>
          <p:nvPr/>
        </p:nvSpPr>
        <p:spPr>
          <a:xfrm rot="0">
            <a:off x="2672593" y="2090350"/>
            <a:ext cx="5413008" cy="3371320"/>
          </a:xfrm>
          <a:prstGeom prst="rect">
            <a:avLst/>
          </a:prstGeom>
        </p:spPr>
        <p:txBody>
          <a:bodyPr anchor="t" rtlCol="false" tIns="0" lIns="0" bIns="0" rIns="0">
            <a:spAutoFit/>
          </a:bodyPr>
          <a:lstStyle/>
          <a:p>
            <a:pPr algn="l">
              <a:lnSpc>
                <a:spcPts val="2662"/>
              </a:lnSpc>
            </a:pPr>
            <a:r>
              <a:rPr lang="en-US" sz="2465" i="true" b="true">
                <a:solidFill>
                  <a:srgbClr val="4187B5"/>
                </a:solidFill>
                <a:latin typeface="Poppins Bold Italics"/>
                <a:ea typeface="Poppins Bold Italics"/>
                <a:cs typeface="Poppins Bold Italics"/>
                <a:sym typeface="Poppins Bold Italics"/>
              </a:rPr>
              <a:t>Limited Variables in Forecasting</a:t>
            </a:r>
          </a:p>
          <a:p>
            <a:pPr algn="l">
              <a:lnSpc>
                <a:spcPts val="2662"/>
              </a:lnSpc>
            </a:pPr>
            <a:r>
              <a:rPr lang="en-US" sz="2465">
                <a:solidFill>
                  <a:srgbClr val="FFFFFF"/>
                </a:solidFill>
                <a:latin typeface="Poppins"/>
                <a:ea typeface="Poppins"/>
                <a:cs typeface="Poppins"/>
                <a:sym typeface="Poppins"/>
              </a:rPr>
              <a:t>The ARIMA model used only one target variable. Factors like price changes, promotions, or reviews weren’t included.</a:t>
            </a:r>
          </a:p>
          <a:p>
            <a:pPr algn="l">
              <a:lnSpc>
                <a:spcPts val="2662"/>
              </a:lnSpc>
              <a:spcBef>
                <a:spcPct val="0"/>
              </a:spcBef>
            </a:pPr>
            <a:r>
              <a:rPr lang="en-US" b="true" sz="2465" i="true">
                <a:solidFill>
                  <a:srgbClr val="FFFFFF"/>
                </a:solidFill>
                <a:latin typeface="Poppins Bold Italics"/>
                <a:ea typeface="Poppins Bold Italics"/>
                <a:cs typeface="Poppins Bold Italics"/>
                <a:sym typeface="Poppins Bold Italics"/>
              </a:rPr>
              <a:t>Improvement:</a:t>
            </a:r>
            <a:r>
              <a:rPr lang="en-US" sz="2465">
                <a:solidFill>
                  <a:srgbClr val="FFFFFF"/>
                </a:solidFill>
                <a:latin typeface="Poppins"/>
                <a:ea typeface="Poppins"/>
                <a:cs typeface="Poppins"/>
                <a:sym typeface="Poppins"/>
              </a:rPr>
              <a:t> Use multivariate time series models in tools like Python or Orange for richer forecasting.</a:t>
            </a:r>
          </a:p>
          <a:p>
            <a:pPr algn="l">
              <a:lnSpc>
                <a:spcPts val="2662"/>
              </a:lnSpc>
              <a:spcBef>
                <a:spcPct val="0"/>
              </a:spcBef>
            </a:pPr>
          </a:p>
        </p:txBody>
      </p:sp>
      <p:sp>
        <p:nvSpPr>
          <p:cNvPr name="TextBox 9" id="9"/>
          <p:cNvSpPr txBox="true"/>
          <p:nvPr/>
        </p:nvSpPr>
        <p:spPr>
          <a:xfrm rot="0">
            <a:off x="10202399" y="2099875"/>
            <a:ext cx="5413008" cy="3028881"/>
          </a:xfrm>
          <a:prstGeom prst="rect">
            <a:avLst/>
          </a:prstGeom>
        </p:spPr>
        <p:txBody>
          <a:bodyPr anchor="t" rtlCol="false" tIns="0" lIns="0" bIns="0" rIns="0">
            <a:spAutoFit/>
          </a:bodyPr>
          <a:lstStyle/>
          <a:p>
            <a:pPr algn="l">
              <a:lnSpc>
                <a:spcPts val="2695"/>
              </a:lnSpc>
            </a:pPr>
            <a:r>
              <a:rPr lang="en-US" sz="2495" i="true" b="true">
                <a:solidFill>
                  <a:srgbClr val="4187B5"/>
                </a:solidFill>
                <a:latin typeface="Poppins Bold Italics"/>
                <a:ea typeface="Poppins Bold Italics"/>
                <a:cs typeface="Poppins Bold Italics"/>
                <a:sym typeface="Poppins Bold Italics"/>
              </a:rPr>
              <a:t>No Real-Time Updates</a:t>
            </a:r>
          </a:p>
          <a:p>
            <a:pPr algn="l">
              <a:lnSpc>
                <a:spcPts val="2695"/>
              </a:lnSpc>
            </a:pPr>
            <a:r>
              <a:rPr lang="en-US" sz="2495">
                <a:solidFill>
                  <a:srgbClr val="FFFFFF"/>
                </a:solidFill>
                <a:latin typeface="Poppins"/>
                <a:ea typeface="Poppins"/>
                <a:cs typeface="Poppins"/>
                <a:sym typeface="Poppins"/>
              </a:rPr>
              <a:t>The solution uses static datasets extracted manually. This limits real-time responsiveness.</a:t>
            </a:r>
          </a:p>
          <a:p>
            <a:pPr algn="l">
              <a:lnSpc>
                <a:spcPts val="2695"/>
              </a:lnSpc>
            </a:pPr>
            <a:r>
              <a:rPr lang="en-US" sz="2495" i="true" b="true">
                <a:solidFill>
                  <a:srgbClr val="FFFFFF"/>
                </a:solidFill>
                <a:latin typeface="Poppins Bold Italics"/>
                <a:ea typeface="Poppins Bold Italics"/>
                <a:cs typeface="Poppins Bold Italics"/>
                <a:sym typeface="Poppins Bold Italics"/>
              </a:rPr>
              <a:t>Improvement:</a:t>
            </a:r>
            <a:r>
              <a:rPr lang="en-US" sz="2495">
                <a:solidFill>
                  <a:srgbClr val="FFFFFF"/>
                </a:solidFill>
                <a:latin typeface="Poppins"/>
                <a:ea typeface="Poppins"/>
                <a:cs typeface="Poppins"/>
                <a:sym typeface="Poppins"/>
              </a:rPr>
              <a:t> Integrate the Power BI dashboards with live data sources via APIs for ongoing, up-to-date tracking.</a:t>
            </a:r>
          </a:p>
          <a:p>
            <a:pPr algn="l">
              <a:lnSpc>
                <a:spcPts val="2695"/>
              </a:lnSpc>
              <a:spcBef>
                <a:spcPct val="0"/>
              </a:spcBef>
            </a:pPr>
          </a:p>
        </p:txBody>
      </p:sp>
      <p:grpSp>
        <p:nvGrpSpPr>
          <p:cNvPr name="Group 10" id="10"/>
          <p:cNvGrpSpPr/>
          <p:nvPr/>
        </p:nvGrpSpPr>
        <p:grpSpPr>
          <a:xfrm rot="0">
            <a:off x="2113510" y="5582908"/>
            <a:ext cx="6531174" cy="3675392"/>
            <a:chOff x="0" y="0"/>
            <a:chExt cx="2801573" cy="1576574"/>
          </a:xfrm>
        </p:grpSpPr>
        <p:sp>
          <p:nvSpPr>
            <p:cNvPr name="Freeform 11" id="11"/>
            <p:cNvSpPr/>
            <p:nvPr/>
          </p:nvSpPr>
          <p:spPr>
            <a:xfrm flipH="false" flipV="false" rot="0">
              <a:off x="0" y="0"/>
              <a:ext cx="2801573" cy="1576574"/>
            </a:xfrm>
            <a:custGeom>
              <a:avLst/>
              <a:gdLst/>
              <a:ahLst/>
              <a:cxnLst/>
              <a:rect r="r" b="b" t="t" l="l"/>
              <a:pathLst>
                <a:path h="1576574" w="2801573">
                  <a:moveTo>
                    <a:pt x="29634" y="0"/>
                  </a:moveTo>
                  <a:lnTo>
                    <a:pt x="2771938" y="0"/>
                  </a:lnTo>
                  <a:cubicBezTo>
                    <a:pt x="2788305" y="0"/>
                    <a:pt x="2801573" y="13268"/>
                    <a:pt x="2801573" y="29634"/>
                  </a:cubicBezTo>
                  <a:lnTo>
                    <a:pt x="2801573" y="1546939"/>
                  </a:lnTo>
                  <a:cubicBezTo>
                    <a:pt x="2801573" y="1554799"/>
                    <a:pt x="2798451" y="1562336"/>
                    <a:pt x="2792893" y="1567894"/>
                  </a:cubicBezTo>
                  <a:cubicBezTo>
                    <a:pt x="2787335" y="1573452"/>
                    <a:pt x="2779798" y="1576574"/>
                    <a:pt x="2771938" y="1576574"/>
                  </a:cubicBezTo>
                  <a:lnTo>
                    <a:pt x="29634" y="1576574"/>
                  </a:lnTo>
                  <a:cubicBezTo>
                    <a:pt x="13268" y="1576574"/>
                    <a:pt x="0" y="1563306"/>
                    <a:pt x="0" y="1546939"/>
                  </a:cubicBezTo>
                  <a:lnTo>
                    <a:pt x="0" y="29634"/>
                  </a:lnTo>
                  <a:cubicBezTo>
                    <a:pt x="0" y="13268"/>
                    <a:pt x="13268" y="0"/>
                    <a:pt x="29634" y="0"/>
                  </a:cubicBezTo>
                  <a:close/>
                </a:path>
              </a:pathLst>
            </a:custGeom>
            <a:solidFill>
              <a:srgbClr val="2A3066">
                <a:alpha val="55686"/>
              </a:srgbClr>
            </a:solidFill>
          </p:spPr>
        </p:sp>
        <p:sp>
          <p:nvSpPr>
            <p:cNvPr name="TextBox 12" id="12"/>
            <p:cNvSpPr txBox="true"/>
            <p:nvPr/>
          </p:nvSpPr>
          <p:spPr>
            <a:xfrm>
              <a:off x="0" y="-66675"/>
              <a:ext cx="2801573" cy="1643249"/>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13" id="13"/>
          <p:cNvGrpSpPr/>
          <p:nvPr/>
        </p:nvGrpSpPr>
        <p:grpSpPr>
          <a:xfrm rot="0">
            <a:off x="9643316" y="5582908"/>
            <a:ext cx="6531174" cy="3675392"/>
            <a:chOff x="0" y="0"/>
            <a:chExt cx="2801573" cy="1576574"/>
          </a:xfrm>
        </p:grpSpPr>
        <p:sp>
          <p:nvSpPr>
            <p:cNvPr name="Freeform 14" id="14"/>
            <p:cNvSpPr/>
            <p:nvPr/>
          </p:nvSpPr>
          <p:spPr>
            <a:xfrm flipH="false" flipV="false" rot="0">
              <a:off x="0" y="0"/>
              <a:ext cx="2801573" cy="1576574"/>
            </a:xfrm>
            <a:custGeom>
              <a:avLst/>
              <a:gdLst/>
              <a:ahLst/>
              <a:cxnLst/>
              <a:rect r="r" b="b" t="t" l="l"/>
              <a:pathLst>
                <a:path h="1576574" w="2801573">
                  <a:moveTo>
                    <a:pt x="29634" y="0"/>
                  </a:moveTo>
                  <a:lnTo>
                    <a:pt x="2771938" y="0"/>
                  </a:lnTo>
                  <a:cubicBezTo>
                    <a:pt x="2788305" y="0"/>
                    <a:pt x="2801573" y="13268"/>
                    <a:pt x="2801573" y="29634"/>
                  </a:cubicBezTo>
                  <a:lnTo>
                    <a:pt x="2801573" y="1546939"/>
                  </a:lnTo>
                  <a:cubicBezTo>
                    <a:pt x="2801573" y="1554799"/>
                    <a:pt x="2798451" y="1562336"/>
                    <a:pt x="2792893" y="1567894"/>
                  </a:cubicBezTo>
                  <a:cubicBezTo>
                    <a:pt x="2787335" y="1573452"/>
                    <a:pt x="2779798" y="1576574"/>
                    <a:pt x="2771938" y="1576574"/>
                  </a:cubicBezTo>
                  <a:lnTo>
                    <a:pt x="29634" y="1576574"/>
                  </a:lnTo>
                  <a:cubicBezTo>
                    <a:pt x="13268" y="1576574"/>
                    <a:pt x="0" y="1563306"/>
                    <a:pt x="0" y="1546939"/>
                  </a:cubicBezTo>
                  <a:lnTo>
                    <a:pt x="0" y="29634"/>
                  </a:lnTo>
                  <a:cubicBezTo>
                    <a:pt x="0" y="13268"/>
                    <a:pt x="13268" y="0"/>
                    <a:pt x="29634" y="0"/>
                  </a:cubicBezTo>
                  <a:close/>
                </a:path>
              </a:pathLst>
            </a:custGeom>
            <a:solidFill>
              <a:srgbClr val="2A3066">
                <a:alpha val="55686"/>
              </a:srgbClr>
            </a:solidFill>
          </p:spPr>
        </p:sp>
        <p:sp>
          <p:nvSpPr>
            <p:cNvPr name="TextBox 15" id="15"/>
            <p:cNvSpPr txBox="true"/>
            <p:nvPr/>
          </p:nvSpPr>
          <p:spPr>
            <a:xfrm>
              <a:off x="0" y="-66675"/>
              <a:ext cx="2801573" cy="1643249"/>
            </a:xfrm>
            <a:prstGeom prst="rect">
              <a:avLst/>
            </a:prstGeom>
          </p:spPr>
          <p:txBody>
            <a:bodyPr anchor="ctr" rtlCol="false" tIns="50800" lIns="50800" bIns="50800" rIns="50800"/>
            <a:lstStyle/>
            <a:p>
              <a:pPr algn="ctr">
                <a:lnSpc>
                  <a:spcPts val="2921"/>
                </a:lnSpc>
              </a:pPr>
            </a:p>
          </p:txBody>
        </p:sp>
      </p:grpSp>
      <p:sp>
        <p:nvSpPr>
          <p:cNvPr name="TextBox 16" id="16"/>
          <p:cNvSpPr txBox="true"/>
          <p:nvPr/>
        </p:nvSpPr>
        <p:spPr>
          <a:xfrm rot="0">
            <a:off x="2672593" y="5871245"/>
            <a:ext cx="5413008" cy="3598396"/>
          </a:xfrm>
          <a:prstGeom prst="rect">
            <a:avLst/>
          </a:prstGeom>
        </p:spPr>
        <p:txBody>
          <a:bodyPr anchor="t" rtlCol="false" tIns="0" lIns="0" bIns="0" rIns="0">
            <a:spAutoFit/>
          </a:bodyPr>
          <a:lstStyle/>
          <a:p>
            <a:pPr algn="l">
              <a:lnSpc>
                <a:spcPts val="2554"/>
              </a:lnSpc>
            </a:pPr>
            <a:r>
              <a:rPr lang="en-US" sz="2365" i="true" b="true">
                <a:solidFill>
                  <a:srgbClr val="4187B5"/>
                </a:solidFill>
                <a:latin typeface="Poppins Bold Italics"/>
                <a:ea typeface="Poppins Bold Italics"/>
                <a:cs typeface="Poppins Bold Italics"/>
                <a:sym typeface="Poppins Bold Italics"/>
              </a:rPr>
              <a:t>No User Feedback Loop</a:t>
            </a:r>
          </a:p>
          <a:p>
            <a:pPr algn="l">
              <a:lnSpc>
                <a:spcPts val="2554"/>
              </a:lnSpc>
            </a:pPr>
            <a:r>
              <a:rPr lang="en-US" sz="2365">
                <a:solidFill>
                  <a:srgbClr val="FFFFFF"/>
                </a:solidFill>
                <a:latin typeface="Poppins"/>
                <a:ea typeface="Poppins"/>
                <a:cs typeface="Poppins"/>
                <a:sym typeface="Poppins"/>
              </a:rPr>
              <a:t>The solution is analytical, but doesn't yet include user feedback data like reviews or ratings to explain rank fluctuations.</a:t>
            </a:r>
          </a:p>
          <a:p>
            <a:pPr algn="l">
              <a:lnSpc>
                <a:spcPts val="2554"/>
              </a:lnSpc>
            </a:pPr>
            <a:r>
              <a:rPr lang="en-US" sz="2365" i="true" b="true">
                <a:solidFill>
                  <a:srgbClr val="FFFFFF"/>
                </a:solidFill>
                <a:latin typeface="Poppins Bold Italics"/>
                <a:ea typeface="Poppins Bold Italics"/>
                <a:cs typeface="Poppins Bold Italics"/>
                <a:sym typeface="Poppins Bold Italics"/>
              </a:rPr>
              <a:t>Improvement:</a:t>
            </a:r>
            <a:r>
              <a:rPr lang="en-US" sz="2365">
                <a:solidFill>
                  <a:srgbClr val="FFFFFF"/>
                </a:solidFill>
                <a:latin typeface="Poppins"/>
                <a:ea typeface="Poppins"/>
                <a:cs typeface="Poppins"/>
                <a:sym typeface="Poppins"/>
              </a:rPr>
              <a:t> Incorporate qualitative data or sentiment analysis from reviews to provide a deeper understanding of why performance shifts occur.</a:t>
            </a:r>
          </a:p>
          <a:p>
            <a:pPr algn="l">
              <a:lnSpc>
                <a:spcPts val="2554"/>
              </a:lnSpc>
              <a:spcBef>
                <a:spcPct val="0"/>
              </a:spcBef>
            </a:pPr>
          </a:p>
        </p:txBody>
      </p:sp>
      <p:sp>
        <p:nvSpPr>
          <p:cNvPr name="TextBox 17" id="17"/>
          <p:cNvSpPr txBox="true"/>
          <p:nvPr/>
        </p:nvSpPr>
        <p:spPr>
          <a:xfrm rot="0">
            <a:off x="10202399" y="5793060"/>
            <a:ext cx="5413008" cy="3362256"/>
          </a:xfrm>
          <a:prstGeom prst="rect">
            <a:avLst/>
          </a:prstGeom>
        </p:spPr>
        <p:txBody>
          <a:bodyPr anchor="t" rtlCol="false" tIns="0" lIns="0" bIns="0" rIns="0">
            <a:spAutoFit/>
          </a:bodyPr>
          <a:lstStyle/>
          <a:p>
            <a:pPr algn="l">
              <a:lnSpc>
                <a:spcPts val="2695"/>
              </a:lnSpc>
            </a:pPr>
            <a:r>
              <a:rPr lang="en-US" sz="2495" i="true" b="true">
                <a:solidFill>
                  <a:srgbClr val="4187B5"/>
                </a:solidFill>
                <a:latin typeface="Poppins Bold Italics"/>
                <a:ea typeface="Poppins Bold Italics"/>
                <a:cs typeface="Poppins Bold Italics"/>
                <a:sym typeface="Poppins Bold Italics"/>
              </a:rPr>
              <a:t>Scalability</a:t>
            </a:r>
          </a:p>
          <a:p>
            <a:pPr algn="l">
              <a:lnSpc>
                <a:spcPts val="2695"/>
              </a:lnSpc>
            </a:pPr>
            <a:r>
              <a:rPr lang="en-US" sz="2495">
                <a:solidFill>
                  <a:srgbClr val="FFFFFF"/>
                </a:solidFill>
                <a:latin typeface="Poppins"/>
                <a:ea typeface="Poppins"/>
                <a:cs typeface="Poppins"/>
                <a:sym typeface="Poppins"/>
              </a:rPr>
              <a:t>The approach works well for 3 products, but would become manual and repetitive for 20+ products.</a:t>
            </a:r>
          </a:p>
          <a:p>
            <a:pPr algn="l">
              <a:lnSpc>
                <a:spcPts val="2695"/>
              </a:lnSpc>
            </a:pPr>
            <a:r>
              <a:rPr lang="en-US" sz="2495" i="true" b="true">
                <a:solidFill>
                  <a:srgbClr val="FFFFFF"/>
                </a:solidFill>
                <a:latin typeface="Poppins Bold Italics"/>
                <a:ea typeface="Poppins Bold Italics"/>
                <a:cs typeface="Poppins Bold Italics"/>
                <a:sym typeface="Poppins Bold Italics"/>
              </a:rPr>
              <a:t>Improvement:</a:t>
            </a:r>
            <a:r>
              <a:rPr lang="en-US" sz="2495">
                <a:solidFill>
                  <a:srgbClr val="FFFFFF"/>
                </a:solidFill>
                <a:latin typeface="Poppins"/>
                <a:ea typeface="Poppins"/>
                <a:cs typeface="Poppins"/>
                <a:sym typeface="Poppins"/>
              </a:rPr>
              <a:t> Create automated pipelines and use scripts or tools like Power Query to scale analysis and forecasting.</a:t>
            </a:r>
          </a:p>
          <a:p>
            <a:pPr algn="l">
              <a:lnSpc>
                <a:spcPts val="2695"/>
              </a:lnSpc>
              <a:spcBef>
                <a:spcPct val="0"/>
              </a:spcBef>
            </a:pPr>
          </a:p>
        </p:txBody>
      </p:sp>
      <p:sp>
        <p:nvSpPr>
          <p:cNvPr name="TextBox 18" id="18"/>
          <p:cNvSpPr txBox="true"/>
          <p:nvPr/>
        </p:nvSpPr>
        <p:spPr>
          <a:xfrm rot="0">
            <a:off x="2113510" y="1090426"/>
            <a:ext cx="14578604" cy="573438"/>
          </a:xfrm>
          <a:prstGeom prst="rect">
            <a:avLst/>
          </a:prstGeom>
        </p:spPr>
        <p:txBody>
          <a:bodyPr anchor="t" rtlCol="false" tIns="0" lIns="0" bIns="0" rIns="0">
            <a:spAutoFit/>
          </a:bodyPr>
          <a:lstStyle/>
          <a:p>
            <a:pPr algn="l">
              <a:lnSpc>
                <a:spcPts val="4187"/>
              </a:lnSpc>
              <a:spcBef>
                <a:spcPct val="0"/>
              </a:spcBef>
            </a:pPr>
            <a:r>
              <a:rPr lang="en-US" b="true" sz="3877">
                <a:solidFill>
                  <a:srgbClr val="FFFFFF"/>
                </a:solidFill>
                <a:latin typeface="Poppins Bold"/>
                <a:ea typeface="Poppins Bold"/>
                <a:cs typeface="Poppins Bold"/>
                <a:sym typeface="Poppins Bold"/>
              </a:rPr>
              <a:t>Identified Gaps &amp; Potential Improvements</a:t>
            </a:r>
          </a:p>
        </p:txBody>
      </p:sp>
    </p:spTree>
  </p:cSld>
  <p:clrMapOvr>
    <a:masterClrMapping/>
  </p:clrMapOvr>
</p:sld>
</file>

<file path=ppt/slides/slide41.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sp>
        <p:nvSpPr>
          <p:cNvPr name="TextBox 2" id="2"/>
          <p:cNvSpPr txBox="true"/>
          <p:nvPr/>
        </p:nvSpPr>
        <p:spPr>
          <a:xfrm rot="0">
            <a:off x="3656613" y="3014902"/>
            <a:ext cx="11911233" cy="4942713"/>
          </a:xfrm>
          <a:prstGeom prst="rect">
            <a:avLst/>
          </a:prstGeom>
        </p:spPr>
        <p:txBody>
          <a:bodyPr anchor="t" rtlCol="false" tIns="0" lIns="0" bIns="0" rIns="0">
            <a:spAutoFit/>
          </a:bodyPr>
          <a:lstStyle/>
          <a:p>
            <a:pPr algn="just">
              <a:lnSpc>
                <a:spcPts val="4895"/>
              </a:lnSpc>
            </a:pPr>
            <a:r>
              <a:rPr lang="en-US" sz="3199">
                <a:solidFill>
                  <a:srgbClr val="FFFFFF"/>
                </a:solidFill>
                <a:latin typeface="Poppins"/>
                <a:ea typeface="Poppins"/>
                <a:cs typeface="Poppins"/>
                <a:sym typeface="Poppins"/>
              </a:rPr>
              <a:t>The solution meets core requirements user and business requirements like analys</a:t>
            </a:r>
            <a:r>
              <a:rPr lang="en-US" sz="3199">
                <a:solidFill>
                  <a:srgbClr val="FFFFFF"/>
                </a:solidFill>
                <a:latin typeface="Poppins"/>
                <a:ea typeface="Poppins"/>
                <a:cs typeface="Poppins"/>
                <a:sym typeface="Poppins"/>
              </a:rPr>
              <a:t>i</a:t>
            </a:r>
            <a:r>
              <a:rPr lang="en-US" sz="3199">
                <a:solidFill>
                  <a:srgbClr val="FFFFFF"/>
                </a:solidFill>
                <a:latin typeface="Poppins"/>
                <a:ea typeface="Poppins"/>
                <a:cs typeface="Poppins"/>
                <a:sym typeface="Poppins"/>
              </a:rPr>
              <a:t>s, f</a:t>
            </a:r>
            <a:r>
              <a:rPr lang="en-US" sz="3199">
                <a:solidFill>
                  <a:srgbClr val="FFFFFF"/>
                </a:solidFill>
                <a:latin typeface="Poppins"/>
                <a:ea typeface="Poppins"/>
                <a:cs typeface="Poppins"/>
                <a:sym typeface="Poppins"/>
              </a:rPr>
              <a:t>orecas</a:t>
            </a:r>
            <a:r>
              <a:rPr lang="en-US" sz="3199">
                <a:solidFill>
                  <a:srgbClr val="FFFFFF"/>
                </a:solidFill>
                <a:latin typeface="Poppins"/>
                <a:ea typeface="Poppins"/>
                <a:cs typeface="Poppins"/>
                <a:sym typeface="Poppins"/>
              </a:rPr>
              <a:t>ting, a</a:t>
            </a:r>
            <a:r>
              <a:rPr lang="en-US" sz="3199">
                <a:solidFill>
                  <a:srgbClr val="FFFFFF"/>
                </a:solidFill>
                <a:latin typeface="Poppins"/>
                <a:ea typeface="Poppins"/>
                <a:cs typeface="Poppins"/>
                <a:sym typeface="Poppins"/>
              </a:rPr>
              <a:t>nd deci</a:t>
            </a:r>
            <a:r>
              <a:rPr lang="en-US" sz="3199">
                <a:solidFill>
                  <a:srgbClr val="FFFFFF"/>
                </a:solidFill>
                <a:latin typeface="Poppins"/>
                <a:ea typeface="Poppins"/>
                <a:cs typeface="Poppins"/>
                <a:sym typeface="Poppins"/>
              </a:rPr>
              <a:t>sion support. It del</a:t>
            </a:r>
            <a:r>
              <a:rPr lang="en-US" sz="3199">
                <a:solidFill>
                  <a:srgbClr val="FFFFFF"/>
                </a:solidFill>
                <a:latin typeface="Poppins"/>
                <a:ea typeface="Poppins"/>
                <a:cs typeface="Poppins"/>
                <a:sym typeface="Poppins"/>
              </a:rPr>
              <a:t>iv</a:t>
            </a:r>
            <a:r>
              <a:rPr lang="en-US" sz="3199">
                <a:solidFill>
                  <a:srgbClr val="FFFFFF"/>
                </a:solidFill>
                <a:latin typeface="Poppins"/>
                <a:ea typeface="Poppins"/>
                <a:cs typeface="Poppins"/>
                <a:sym typeface="Poppins"/>
              </a:rPr>
              <a:t>ers practical,</a:t>
            </a:r>
            <a:r>
              <a:rPr lang="en-US" sz="3199">
                <a:solidFill>
                  <a:srgbClr val="FFFFFF"/>
                </a:solidFill>
                <a:latin typeface="Poppins"/>
                <a:ea typeface="Poppins"/>
                <a:cs typeface="Poppins"/>
                <a:sym typeface="Poppins"/>
              </a:rPr>
              <a:t> product-l</a:t>
            </a:r>
            <a:r>
              <a:rPr lang="en-US" sz="3199">
                <a:solidFill>
                  <a:srgbClr val="FFFFFF"/>
                </a:solidFill>
                <a:latin typeface="Poppins"/>
                <a:ea typeface="Poppins"/>
                <a:cs typeface="Poppins"/>
                <a:sym typeface="Poppins"/>
              </a:rPr>
              <a:t>eve</a:t>
            </a:r>
            <a:r>
              <a:rPr lang="en-US" sz="3199">
                <a:solidFill>
                  <a:srgbClr val="FFFFFF"/>
                </a:solidFill>
                <a:latin typeface="Poppins"/>
                <a:ea typeface="Poppins"/>
                <a:cs typeface="Poppins"/>
                <a:sym typeface="Poppins"/>
              </a:rPr>
              <a:t>l ins</a:t>
            </a:r>
            <a:r>
              <a:rPr lang="en-US" sz="3199">
                <a:solidFill>
                  <a:srgbClr val="FFFFFF"/>
                </a:solidFill>
                <a:latin typeface="Poppins"/>
                <a:ea typeface="Poppins"/>
                <a:cs typeface="Poppins"/>
                <a:sym typeface="Poppins"/>
              </a:rPr>
              <a:t>ights for marketing and planning teams, but for it to become a full enterprise-grade solution, it needs to have multivariable forecasting, real-time integration, and scalable automation.</a:t>
            </a:r>
          </a:p>
          <a:p>
            <a:pPr algn="just">
              <a:lnSpc>
                <a:spcPts val="4895"/>
              </a:lnSpc>
            </a:pPr>
          </a:p>
        </p:txBody>
      </p:sp>
      <p:sp>
        <p:nvSpPr>
          <p:cNvPr name="TextBox 3" id="3"/>
          <p:cNvSpPr txBox="true"/>
          <p:nvPr/>
        </p:nvSpPr>
        <p:spPr>
          <a:xfrm rot="0">
            <a:off x="2720153" y="2329385"/>
            <a:ext cx="10214671" cy="614586"/>
          </a:xfrm>
          <a:prstGeom prst="rect">
            <a:avLst/>
          </a:prstGeom>
        </p:spPr>
        <p:txBody>
          <a:bodyPr anchor="t" rtlCol="false" tIns="0" lIns="0" bIns="0" rIns="0">
            <a:spAutoFit/>
          </a:bodyPr>
          <a:lstStyle/>
          <a:p>
            <a:pPr algn="l">
              <a:lnSpc>
                <a:spcPts val="4403"/>
              </a:lnSpc>
              <a:spcBef>
                <a:spcPct val="0"/>
              </a:spcBef>
            </a:pPr>
            <a:r>
              <a:rPr lang="en-US" b="true" sz="4077">
                <a:solidFill>
                  <a:srgbClr val="FFFFFF"/>
                </a:solidFill>
                <a:latin typeface="Poppins Bold"/>
                <a:ea typeface="Poppins Bold"/>
                <a:cs typeface="Poppins Bold"/>
                <a:sym typeface="Poppins Bold"/>
              </a:rPr>
              <a:t>Evaluation Summary</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15943531" y="4071498"/>
            <a:ext cx="1057155" cy="876117"/>
          </a:xfrm>
          <a:custGeom>
            <a:avLst/>
            <a:gdLst/>
            <a:ahLst/>
            <a:cxnLst/>
            <a:rect r="r" b="b" t="t" l="l"/>
            <a:pathLst>
              <a:path h="876117" w="1057155">
                <a:moveTo>
                  <a:pt x="0" y="0"/>
                </a:moveTo>
                <a:lnTo>
                  <a:pt x="1057155" y="0"/>
                </a:lnTo>
                <a:lnTo>
                  <a:pt x="1057155" y="876118"/>
                </a:lnTo>
                <a:lnTo>
                  <a:pt x="0" y="8761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309441"/>
            <a:ext cx="14914831" cy="723900"/>
          </a:xfrm>
          <a:prstGeom prst="rect">
            <a:avLst/>
          </a:prstGeom>
        </p:spPr>
        <p:txBody>
          <a:bodyPr anchor="t" rtlCol="false" tIns="0" lIns="0" bIns="0" rIns="0">
            <a:spAutoFit/>
          </a:bodyPr>
          <a:lstStyle/>
          <a:p>
            <a:pPr algn="l">
              <a:lnSpc>
                <a:spcPts val="5338"/>
              </a:lnSpc>
            </a:pPr>
            <a:r>
              <a:rPr lang="en-US" sz="4448" b="true">
                <a:solidFill>
                  <a:srgbClr val="FFFFFF"/>
                </a:solidFill>
                <a:latin typeface="Poppins Bold"/>
                <a:ea typeface="Poppins Bold"/>
                <a:cs typeface="Poppins Bold"/>
                <a:sym typeface="Poppins Bold"/>
              </a:rPr>
              <a:t>Social, Legal, and Ethical Implications of Using Data</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821972" y="2237159"/>
            <a:ext cx="12644055" cy="1891876"/>
            <a:chOff x="0" y="0"/>
            <a:chExt cx="4162728" cy="622851"/>
          </a:xfrm>
        </p:grpSpPr>
        <p:sp>
          <p:nvSpPr>
            <p:cNvPr name="Freeform 3" id="3"/>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4" id="4"/>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5" id="5"/>
          <p:cNvGrpSpPr/>
          <p:nvPr/>
        </p:nvGrpSpPr>
        <p:grpSpPr>
          <a:xfrm rot="0">
            <a:off x="2905008" y="4835129"/>
            <a:ext cx="12644055" cy="1891876"/>
            <a:chOff x="0" y="0"/>
            <a:chExt cx="4162728" cy="622851"/>
          </a:xfrm>
        </p:grpSpPr>
        <p:sp>
          <p:nvSpPr>
            <p:cNvPr name="Freeform 6" id="6"/>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7" id="7"/>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8" id="8"/>
          <p:cNvGrpSpPr/>
          <p:nvPr/>
        </p:nvGrpSpPr>
        <p:grpSpPr>
          <a:xfrm rot="0">
            <a:off x="2868481" y="7366424"/>
            <a:ext cx="12644055" cy="1891876"/>
            <a:chOff x="0" y="0"/>
            <a:chExt cx="4162728" cy="622851"/>
          </a:xfrm>
        </p:grpSpPr>
        <p:sp>
          <p:nvSpPr>
            <p:cNvPr name="Freeform 9" id="9"/>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0" id="10"/>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11" id="11"/>
          <p:cNvSpPr/>
          <p:nvPr/>
        </p:nvSpPr>
        <p:spPr>
          <a:xfrm flipH="false" flipV="false" rot="0">
            <a:off x="2217419" y="1000230"/>
            <a:ext cx="651062" cy="649435"/>
          </a:xfrm>
          <a:custGeom>
            <a:avLst/>
            <a:gdLst/>
            <a:ahLst/>
            <a:cxnLst/>
            <a:rect r="r" b="b" t="t" l="l"/>
            <a:pathLst>
              <a:path h="649435" w="651062">
                <a:moveTo>
                  <a:pt x="0" y="0"/>
                </a:moveTo>
                <a:lnTo>
                  <a:pt x="651062" y="0"/>
                </a:lnTo>
                <a:lnTo>
                  <a:pt x="651062" y="649435"/>
                </a:lnTo>
                <a:lnTo>
                  <a:pt x="0" y="649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2868481" y="1213918"/>
            <a:ext cx="3912190" cy="435747"/>
          </a:xfrm>
          <a:prstGeom prst="rect">
            <a:avLst/>
          </a:prstGeom>
        </p:spPr>
        <p:txBody>
          <a:bodyPr anchor="t" rtlCol="false" tIns="0" lIns="0" bIns="0" rIns="0">
            <a:spAutoFit/>
          </a:bodyPr>
          <a:lstStyle/>
          <a:p>
            <a:pPr algn="l">
              <a:lnSpc>
                <a:spcPts val="3204"/>
              </a:lnSpc>
              <a:spcBef>
                <a:spcPct val="0"/>
              </a:spcBef>
            </a:pPr>
            <a:r>
              <a:rPr lang="en-US" b="true" sz="2967" i="true">
                <a:solidFill>
                  <a:srgbClr val="FFFFFF"/>
                </a:solidFill>
                <a:latin typeface="Poppins Bold Italics"/>
                <a:ea typeface="Poppins Bold Italics"/>
                <a:cs typeface="Poppins Bold Italics"/>
                <a:sym typeface="Poppins Bold Italics"/>
              </a:rPr>
              <a:t>Social Implications</a:t>
            </a:r>
          </a:p>
        </p:txBody>
      </p:sp>
      <p:sp>
        <p:nvSpPr>
          <p:cNvPr name="TextBox 13" id="13"/>
          <p:cNvSpPr txBox="true"/>
          <p:nvPr/>
        </p:nvSpPr>
        <p:spPr>
          <a:xfrm rot="0">
            <a:off x="3063611" y="2419339"/>
            <a:ext cx="12067759" cy="1527516"/>
          </a:xfrm>
          <a:prstGeom prst="rect">
            <a:avLst/>
          </a:prstGeom>
        </p:spPr>
        <p:txBody>
          <a:bodyPr anchor="t" rtlCol="false" tIns="0" lIns="0" bIns="0" rIns="0">
            <a:spAutoFit/>
          </a:bodyPr>
          <a:lstStyle/>
          <a:p>
            <a:pPr algn="l">
              <a:lnSpc>
                <a:spcPts val="2949"/>
              </a:lnSpc>
              <a:spcBef>
                <a:spcPct val="0"/>
              </a:spcBef>
            </a:pPr>
            <a:r>
              <a:rPr lang="en-US" sz="2730">
                <a:solidFill>
                  <a:srgbClr val="FCFBFA"/>
                </a:solidFill>
                <a:latin typeface="Poppins"/>
                <a:ea typeface="Poppins"/>
                <a:cs typeface="Poppins"/>
                <a:sym typeface="Poppins"/>
              </a:rPr>
              <a:t>Using publicly available data responsibly helps maintain consumer trust. However, drawing conclusions from automated rankings or pricing patterns m</a:t>
            </a:r>
            <a:r>
              <a:rPr lang="en-US" sz="2730">
                <a:solidFill>
                  <a:srgbClr val="FCFBFA"/>
                </a:solidFill>
                <a:latin typeface="Poppins"/>
                <a:ea typeface="Poppins"/>
                <a:cs typeface="Poppins"/>
                <a:sym typeface="Poppins"/>
              </a:rPr>
              <a:t>ust be presented clearly and not misused to manipu</a:t>
            </a:r>
            <a:r>
              <a:rPr lang="en-US" sz="2730">
                <a:solidFill>
                  <a:srgbClr val="FCFBFA"/>
                </a:solidFill>
                <a:latin typeface="Poppins"/>
                <a:ea typeface="Poppins"/>
                <a:cs typeface="Poppins"/>
                <a:sym typeface="Poppins"/>
              </a:rPr>
              <a:t>lat</a:t>
            </a:r>
            <a:r>
              <a:rPr lang="en-US" sz="2730">
                <a:solidFill>
                  <a:srgbClr val="FCFBFA"/>
                </a:solidFill>
                <a:latin typeface="Poppins"/>
                <a:ea typeface="Poppins"/>
                <a:cs typeface="Poppins"/>
                <a:sym typeface="Poppins"/>
              </a:rPr>
              <a:t>e</a:t>
            </a:r>
            <a:r>
              <a:rPr lang="en-US" sz="2730">
                <a:solidFill>
                  <a:srgbClr val="FCFBFA"/>
                </a:solidFill>
                <a:latin typeface="Poppins"/>
                <a:ea typeface="Poppins"/>
                <a:cs typeface="Poppins"/>
                <a:sym typeface="Poppins"/>
              </a:rPr>
              <a:t> perception.</a:t>
            </a:r>
          </a:p>
        </p:txBody>
      </p:sp>
      <p:sp>
        <p:nvSpPr>
          <p:cNvPr name="TextBox 14" id="14"/>
          <p:cNvSpPr txBox="true"/>
          <p:nvPr/>
        </p:nvSpPr>
        <p:spPr>
          <a:xfrm rot="0">
            <a:off x="3146647" y="7603374"/>
            <a:ext cx="12233831" cy="1567140"/>
          </a:xfrm>
          <a:prstGeom prst="rect">
            <a:avLst/>
          </a:prstGeom>
        </p:spPr>
        <p:txBody>
          <a:bodyPr anchor="t" rtlCol="false" tIns="0" lIns="0" bIns="0" rIns="0">
            <a:spAutoFit/>
          </a:bodyPr>
          <a:lstStyle/>
          <a:p>
            <a:pPr algn="l">
              <a:lnSpc>
                <a:spcPts val="3057"/>
              </a:lnSpc>
              <a:spcBef>
                <a:spcPct val="0"/>
              </a:spcBef>
            </a:pPr>
            <a:r>
              <a:rPr lang="en-US" sz="2830">
                <a:solidFill>
                  <a:srgbClr val="FCFBFA"/>
                </a:solidFill>
                <a:latin typeface="Poppins"/>
                <a:ea typeface="Poppins"/>
                <a:cs typeface="Poppins"/>
                <a:sym typeface="Poppins"/>
              </a:rPr>
              <a:t>Forecasting models can influence sales team strategies, hiring, or inventory decisions—so the data must be accurate and fairly interpreted to avoid decisions that impact s</a:t>
            </a:r>
            <a:r>
              <a:rPr lang="en-US" sz="2830">
                <a:solidFill>
                  <a:srgbClr val="FCFBFA"/>
                </a:solidFill>
                <a:latin typeface="Poppins"/>
                <a:ea typeface="Poppins"/>
                <a:cs typeface="Poppins"/>
                <a:sym typeface="Poppins"/>
              </a:rPr>
              <a:t>taff or customers unfai</a:t>
            </a:r>
            <a:r>
              <a:rPr lang="en-US" sz="2830">
                <a:solidFill>
                  <a:srgbClr val="FCFBFA"/>
                </a:solidFill>
                <a:latin typeface="Poppins"/>
                <a:ea typeface="Poppins"/>
                <a:cs typeface="Poppins"/>
                <a:sym typeface="Poppins"/>
              </a:rPr>
              <a:t>rly.</a:t>
            </a:r>
          </a:p>
        </p:txBody>
      </p:sp>
      <p:sp>
        <p:nvSpPr>
          <p:cNvPr name="TextBox 15" id="15"/>
          <p:cNvSpPr txBox="true"/>
          <p:nvPr/>
        </p:nvSpPr>
        <p:spPr>
          <a:xfrm rot="0">
            <a:off x="2868481" y="1827592"/>
            <a:ext cx="3501007" cy="330244"/>
          </a:xfrm>
          <a:prstGeom prst="rect">
            <a:avLst/>
          </a:prstGeom>
        </p:spPr>
        <p:txBody>
          <a:bodyPr anchor="t" rtlCol="false" tIns="0" lIns="0" bIns="0" rIns="0">
            <a:spAutoFit/>
          </a:bodyPr>
          <a:lstStyle/>
          <a:p>
            <a:pPr algn="l">
              <a:lnSpc>
                <a:spcPts val="2478"/>
              </a:lnSpc>
              <a:spcBef>
                <a:spcPct val="0"/>
              </a:spcBef>
            </a:pPr>
            <a:r>
              <a:rPr lang="en-US" b="true" sz="2294" i="true">
                <a:solidFill>
                  <a:srgbClr val="70ABCE"/>
                </a:solidFill>
                <a:latin typeface="Poppins Bold Italics"/>
                <a:ea typeface="Poppins Bold Italics"/>
                <a:cs typeface="Poppins Bold Italics"/>
                <a:sym typeface="Poppins Bold Italics"/>
              </a:rPr>
              <a:t>Transparency &amp; Trust</a:t>
            </a:r>
          </a:p>
        </p:txBody>
      </p:sp>
      <p:sp>
        <p:nvSpPr>
          <p:cNvPr name="TextBox 16" id="16"/>
          <p:cNvSpPr txBox="true"/>
          <p:nvPr/>
        </p:nvSpPr>
        <p:spPr>
          <a:xfrm rot="0">
            <a:off x="3062355" y="5043504"/>
            <a:ext cx="12402416" cy="1369116"/>
          </a:xfrm>
          <a:prstGeom prst="rect">
            <a:avLst/>
          </a:prstGeom>
        </p:spPr>
        <p:txBody>
          <a:bodyPr anchor="t" rtlCol="false" tIns="0" lIns="0" bIns="0" rIns="0">
            <a:spAutoFit/>
          </a:bodyPr>
          <a:lstStyle/>
          <a:p>
            <a:pPr algn="l">
              <a:lnSpc>
                <a:spcPts val="3560"/>
              </a:lnSpc>
            </a:pPr>
            <a:r>
              <a:rPr lang="en-US" sz="2826">
                <a:solidFill>
                  <a:srgbClr val="FCFBFA"/>
                </a:solidFill>
                <a:latin typeface="Poppins"/>
                <a:ea typeface="Poppins"/>
                <a:cs typeface="Poppins"/>
                <a:sym typeface="Poppins"/>
              </a:rPr>
              <a:t>Over-reliance on data tools may favor large</a:t>
            </a:r>
            <a:r>
              <a:rPr lang="en-US" sz="2826">
                <a:solidFill>
                  <a:srgbClr val="FCFBFA"/>
                </a:solidFill>
                <a:latin typeface="Poppins"/>
                <a:ea typeface="Poppins"/>
                <a:cs typeface="Poppins"/>
                <a:sym typeface="Poppins"/>
              </a:rPr>
              <a:t> brands with data access, unintentionally disadvantaging small businesses that can't leverage such</a:t>
            </a:r>
            <a:r>
              <a:rPr lang="en-US" sz="2826">
                <a:solidFill>
                  <a:srgbClr val="FCFBFA"/>
                </a:solidFill>
                <a:latin typeface="Poppins"/>
                <a:ea typeface="Poppins"/>
                <a:cs typeface="Poppins"/>
                <a:sym typeface="Poppins"/>
              </a:rPr>
              <a:t> analytics.</a:t>
            </a:r>
          </a:p>
        </p:txBody>
      </p:sp>
      <p:sp>
        <p:nvSpPr>
          <p:cNvPr name="TextBox 17" id="17"/>
          <p:cNvSpPr txBox="true"/>
          <p:nvPr/>
        </p:nvSpPr>
        <p:spPr>
          <a:xfrm rot="0">
            <a:off x="2967501" y="4417985"/>
            <a:ext cx="3093495" cy="330244"/>
          </a:xfrm>
          <a:prstGeom prst="rect">
            <a:avLst/>
          </a:prstGeom>
        </p:spPr>
        <p:txBody>
          <a:bodyPr anchor="t" rtlCol="false" tIns="0" lIns="0" bIns="0" rIns="0">
            <a:spAutoFit/>
          </a:bodyPr>
          <a:lstStyle/>
          <a:p>
            <a:pPr algn="l">
              <a:lnSpc>
                <a:spcPts val="2478"/>
              </a:lnSpc>
              <a:spcBef>
                <a:spcPct val="0"/>
              </a:spcBef>
            </a:pPr>
            <a:r>
              <a:rPr lang="en-US" b="true" sz="2294" i="true">
                <a:solidFill>
                  <a:srgbClr val="70ABCE"/>
                </a:solidFill>
                <a:latin typeface="Poppins Bold Italics"/>
                <a:ea typeface="Poppins Bold Italics"/>
                <a:cs typeface="Poppins Bold Italics"/>
                <a:sym typeface="Poppins Bold Italics"/>
              </a:rPr>
              <a:t>Digital Inequality</a:t>
            </a:r>
          </a:p>
        </p:txBody>
      </p:sp>
      <p:sp>
        <p:nvSpPr>
          <p:cNvPr name="TextBox 18" id="18"/>
          <p:cNvSpPr txBox="true"/>
          <p:nvPr/>
        </p:nvSpPr>
        <p:spPr>
          <a:xfrm rot="0">
            <a:off x="2930974" y="7015956"/>
            <a:ext cx="3438515" cy="330244"/>
          </a:xfrm>
          <a:prstGeom prst="rect">
            <a:avLst/>
          </a:prstGeom>
        </p:spPr>
        <p:txBody>
          <a:bodyPr anchor="t" rtlCol="false" tIns="0" lIns="0" bIns="0" rIns="0">
            <a:spAutoFit/>
          </a:bodyPr>
          <a:lstStyle/>
          <a:p>
            <a:pPr algn="l">
              <a:lnSpc>
                <a:spcPts val="2478"/>
              </a:lnSpc>
              <a:spcBef>
                <a:spcPct val="0"/>
              </a:spcBef>
            </a:pPr>
            <a:r>
              <a:rPr lang="en-US" b="true" sz="2294" i="true">
                <a:solidFill>
                  <a:srgbClr val="70ABCE"/>
                </a:solidFill>
                <a:latin typeface="Poppins Bold Italics"/>
                <a:ea typeface="Poppins Bold Italics"/>
                <a:cs typeface="Poppins Bold Italics"/>
                <a:sym typeface="Poppins Bold Italics"/>
              </a:rPr>
              <a:t>Employee Implications</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821972" y="2237159"/>
            <a:ext cx="12644055" cy="1891876"/>
            <a:chOff x="0" y="0"/>
            <a:chExt cx="4162728" cy="622851"/>
          </a:xfrm>
        </p:grpSpPr>
        <p:sp>
          <p:nvSpPr>
            <p:cNvPr name="Freeform 3" id="3"/>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4" id="4"/>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5" id="5"/>
          <p:cNvGrpSpPr/>
          <p:nvPr/>
        </p:nvGrpSpPr>
        <p:grpSpPr>
          <a:xfrm rot="0">
            <a:off x="2905008" y="4835129"/>
            <a:ext cx="12644055" cy="1891876"/>
            <a:chOff x="0" y="0"/>
            <a:chExt cx="4162728" cy="622851"/>
          </a:xfrm>
        </p:grpSpPr>
        <p:sp>
          <p:nvSpPr>
            <p:cNvPr name="Freeform 6" id="6"/>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7" id="7"/>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8" id="8"/>
          <p:cNvGrpSpPr/>
          <p:nvPr/>
        </p:nvGrpSpPr>
        <p:grpSpPr>
          <a:xfrm rot="0">
            <a:off x="2868481" y="7366424"/>
            <a:ext cx="12644055" cy="1891876"/>
            <a:chOff x="0" y="0"/>
            <a:chExt cx="4162728" cy="622851"/>
          </a:xfrm>
        </p:grpSpPr>
        <p:sp>
          <p:nvSpPr>
            <p:cNvPr name="Freeform 9" id="9"/>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0" id="10"/>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11" id="11"/>
          <p:cNvSpPr/>
          <p:nvPr/>
        </p:nvSpPr>
        <p:spPr>
          <a:xfrm flipH="false" flipV="false" rot="0">
            <a:off x="2294217" y="1028700"/>
            <a:ext cx="527756" cy="476959"/>
          </a:xfrm>
          <a:custGeom>
            <a:avLst/>
            <a:gdLst/>
            <a:ahLst/>
            <a:cxnLst/>
            <a:rect r="r" b="b" t="t" l="l"/>
            <a:pathLst>
              <a:path h="476959" w="527756">
                <a:moveTo>
                  <a:pt x="0" y="0"/>
                </a:moveTo>
                <a:lnTo>
                  <a:pt x="527755" y="0"/>
                </a:lnTo>
                <a:lnTo>
                  <a:pt x="527755" y="476959"/>
                </a:lnTo>
                <a:lnTo>
                  <a:pt x="0" y="4769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2868481" y="1213918"/>
            <a:ext cx="4526760" cy="435747"/>
          </a:xfrm>
          <a:prstGeom prst="rect">
            <a:avLst/>
          </a:prstGeom>
        </p:spPr>
        <p:txBody>
          <a:bodyPr anchor="t" rtlCol="false" tIns="0" lIns="0" bIns="0" rIns="0">
            <a:spAutoFit/>
          </a:bodyPr>
          <a:lstStyle/>
          <a:p>
            <a:pPr algn="l">
              <a:lnSpc>
                <a:spcPts val="3204"/>
              </a:lnSpc>
              <a:spcBef>
                <a:spcPct val="0"/>
              </a:spcBef>
            </a:pPr>
            <a:r>
              <a:rPr lang="en-US" b="true" sz="2967" i="true">
                <a:solidFill>
                  <a:srgbClr val="FFFFFF"/>
                </a:solidFill>
                <a:latin typeface="Poppins Bold Italics"/>
                <a:ea typeface="Poppins Bold Italics"/>
                <a:cs typeface="Poppins Bold Italics"/>
                <a:sym typeface="Poppins Bold Italics"/>
              </a:rPr>
              <a:t>Legal Implications</a:t>
            </a:r>
          </a:p>
        </p:txBody>
      </p:sp>
      <p:sp>
        <p:nvSpPr>
          <p:cNvPr name="TextBox 13" id="13"/>
          <p:cNvSpPr txBox="true"/>
          <p:nvPr/>
        </p:nvSpPr>
        <p:spPr>
          <a:xfrm rot="0">
            <a:off x="3063611" y="2419339"/>
            <a:ext cx="12067759" cy="1898991"/>
          </a:xfrm>
          <a:prstGeom prst="rect">
            <a:avLst/>
          </a:prstGeom>
        </p:spPr>
        <p:txBody>
          <a:bodyPr anchor="t" rtlCol="false" tIns="0" lIns="0" bIns="0" rIns="0">
            <a:spAutoFit/>
          </a:bodyPr>
          <a:lstStyle/>
          <a:p>
            <a:pPr algn="l">
              <a:lnSpc>
                <a:spcPts val="2949"/>
              </a:lnSpc>
              <a:spcBef>
                <a:spcPct val="0"/>
              </a:spcBef>
            </a:pPr>
            <a:r>
              <a:rPr lang="en-US" sz="2730">
                <a:solidFill>
                  <a:srgbClr val="FCFBFA"/>
                </a:solidFill>
                <a:latin typeface="Poppins"/>
                <a:ea typeface="Poppins"/>
                <a:cs typeface="Poppins"/>
                <a:sym typeface="Poppins"/>
              </a:rPr>
              <a:t>While Helium and Amazon data are publicly accessible, scraping or collecting it must comply with platform terms of service. If scraped da</a:t>
            </a:r>
            <a:r>
              <a:rPr lang="en-US" sz="2730">
                <a:solidFill>
                  <a:srgbClr val="FCFBFA"/>
                </a:solidFill>
                <a:latin typeface="Poppins"/>
                <a:ea typeface="Poppins"/>
                <a:cs typeface="Poppins"/>
                <a:sym typeface="Poppins"/>
              </a:rPr>
              <a:t>ta is reused commercially without permission, it may vio</a:t>
            </a:r>
            <a:r>
              <a:rPr lang="en-US" sz="2730">
                <a:solidFill>
                  <a:srgbClr val="FCFBFA"/>
                </a:solidFill>
                <a:latin typeface="Poppins"/>
                <a:ea typeface="Poppins"/>
                <a:cs typeface="Poppins"/>
                <a:sym typeface="Poppins"/>
              </a:rPr>
              <a:t>lat</a:t>
            </a:r>
            <a:r>
              <a:rPr lang="en-US" sz="2730">
                <a:solidFill>
                  <a:srgbClr val="FCFBFA"/>
                </a:solidFill>
                <a:latin typeface="Poppins"/>
                <a:ea typeface="Poppins"/>
                <a:cs typeface="Poppins"/>
                <a:sym typeface="Poppins"/>
              </a:rPr>
              <a:t>e</a:t>
            </a:r>
            <a:r>
              <a:rPr lang="en-US" sz="2730">
                <a:solidFill>
                  <a:srgbClr val="FCFBFA"/>
                </a:solidFill>
                <a:latin typeface="Poppins"/>
                <a:ea typeface="Poppins"/>
                <a:cs typeface="Poppins"/>
                <a:sym typeface="Poppins"/>
              </a:rPr>
              <a:t> intellectual property rules or data usage policies.</a:t>
            </a:r>
          </a:p>
          <a:p>
            <a:pPr algn="l">
              <a:lnSpc>
                <a:spcPts val="2949"/>
              </a:lnSpc>
              <a:spcBef>
                <a:spcPct val="0"/>
              </a:spcBef>
            </a:pPr>
          </a:p>
        </p:txBody>
      </p:sp>
      <p:sp>
        <p:nvSpPr>
          <p:cNvPr name="TextBox 14" id="14"/>
          <p:cNvSpPr txBox="true"/>
          <p:nvPr/>
        </p:nvSpPr>
        <p:spPr>
          <a:xfrm rot="0">
            <a:off x="3137122" y="7691160"/>
            <a:ext cx="12233831" cy="1186140"/>
          </a:xfrm>
          <a:prstGeom prst="rect">
            <a:avLst/>
          </a:prstGeom>
        </p:spPr>
        <p:txBody>
          <a:bodyPr anchor="t" rtlCol="false" tIns="0" lIns="0" bIns="0" rIns="0">
            <a:spAutoFit/>
          </a:bodyPr>
          <a:lstStyle/>
          <a:p>
            <a:pPr algn="l">
              <a:lnSpc>
                <a:spcPts val="3057"/>
              </a:lnSpc>
              <a:spcBef>
                <a:spcPct val="0"/>
              </a:spcBef>
            </a:pPr>
            <a:r>
              <a:rPr lang="en-US" sz="2830">
                <a:solidFill>
                  <a:srgbClr val="FCFBFA"/>
                </a:solidFill>
                <a:latin typeface="Poppins"/>
                <a:ea typeface="Poppins"/>
                <a:cs typeface="Poppins"/>
                <a:sym typeface="Poppins"/>
              </a:rPr>
              <a:t>Tools like Power BI and Orange are used under specific licenses. Ensuring software is properly licensed and used within scope is part of responsible leg</a:t>
            </a:r>
            <a:r>
              <a:rPr lang="en-US" sz="2830">
                <a:solidFill>
                  <a:srgbClr val="FCFBFA"/>
                </a:solidFill>
                <a:latin typeface="Poppins"/>
                <a:ea typeface="Poppins"/>
                <a:cs typeface="Poppins"/>
                <a:sym typeface="Poppins"/>
              </a:rPr>
              <a:t>al use</a:t>
            </a:r>
            <a:r>
              <a:rPr lang="en-US" sz="2830">
                <a:solidFill>
                  <a:srgbClr val="FCFBFA"/>
                </a:solidFill>
                <a:latin typeface="Poppins"/>
                <a:ea typeface="Poppins"/>
                <a:cs typeface="Poppins"/>
                <a:sym typeface="Poppins"/>
              </a:rPr>
              <a:t>.</a:t>
            </a:r>
          </a:p>
        </p:txBody>
      </p:sp>
      <p:sp>
        <p:nvSpPr>
          <p:cNvPr name="TextBox 15" id="15"/>
          <p:cNvSpPr txBox="true"/>
          <p:nvPr/>
        </p:nvSpPr>
        <p:spPr>
          <a:xfrm rot="0">
            <a:off x="2868481" y="1827592"/>
            <a:ext cx="3501007" cy="330244"/>
          </a:xfrm>
          <a:prstGeom prst="rect">
            <a:avLst/>
          </a:prstGeom>
        </p:spPr>
        <p:txBody>
          <a:bodyPr anchor="t" rtlCol="false" tIns="0" lIns="0" bIns="0" rIns="0">
            <a:spAutoFit/>
          </a:bodyPr>
          <a:lstStyle/>
          <a:p>
            <a:pPr algn="l">
              <a:lnSpc>
                <a:spcPts val="2478"/>
              </a:lnSpc>
              <a:spcBef>
                <a:spcPct val="0"/>
              </a:spcBef>
            </a:pPr>
            <a:r>
              <a:rPr lang="en-US" b="true" sz="2294" i="true">
                <a:solidFill>
                  <a:srgbClr val="70ABCE"/>
                </a:solidFill>
                <a:latin typeface="Poppins Bold Italics"/>
                <a:ea typeface="Poppins Bold Italics"/>
                <a:cs typeface="Poppins Bold Italics"/>
                <a:sym typeface="Poppins Bold Italics"/>
              </a:rPr>
              <a:t>Data Source Legality</a:t>
            </a:r>
          </a:p>
        </p:txBody>
      </p:sp>
      <p:sp>
        <p:nvSpPr>
          <p:cNvPr name="TextBox 16" id="16"/>
          <p:cNvSpPr txBox="true"/>
          <p:nvPr/>
        </p:nvSpPr>
        <p:spPr>
          <a:xfrm rot="0">
            <a:off x="3062355" y="5043504"/>
            <a:ext cx="12402416" cy="1369116"/>
          </a:xfrm>
          <a:prstGeom prst="rect">
            <a:avLst/>
          </a:prstGeom>
        </p:spPr>
        <p:txBody>
          <a:bodyPr anchor="t" rtlCol="false" tIns="0" lIns="0" bIns="0" rIns="0">
            <a:spAutoFit/>
          </a:bodyPr>
          <a:lstStyle/>
          <a:p>
            <a:pPr algn="l">
              <a:lnSpc>
                <a:spcPts val="3560"/>
              </a:lnSpc>
            </a:pPr>
            <a:r>
              <a:rPr lang="en-US" sz="2826">
                <a:solidFill>
                  <a:srgbClr val="FCFBFA"/>
                </a:solidFill>
                <a:latin typeface="Poppins"/>
                <a:ea typeface="Poppins"/>
                <a:cs typeface="Poppins"/>
                <a:sym typeface="Poppins"/>
              </a:rPr>
              <a:t>Although the </a:t>
            </a:r>
            <a:r>
              <a:rPr lang="en-US" sz="2826">
                <a:solidFill>
                  <a:srgbClr val="FCFBFA"/>
                </a:solidFill>
                <a:latin typeface="Poppins"/>
                <a:ea typeface="Poppins"/>
                <a:cs typeface="Poppins"/>
                <a:sym typeface="Poppins"/>
              </a:rPr>
              <a:t>data does not contain personal information, it’s still important to ensure that no consumer or seller-identifiable d</a:t>
            </a:r>
            <a:r>
              <a:rPr lang="en-US" sz="2826">
                <a:solidFill>
                  <a:srgbClr val="FCFBFA"/>
                </a:solidFill>
                <a:latin typeface="Poppins"/>
                <a:ea typeface="Poppins"/>
                <a:cs typeface="Poppins"/>
                <a:sym typeface="Poppins"/>
              </a:rPr>
              <a:t>ata is collected, stored, or shared.</a:t>
            </a:r>
          </a:p>
        </p:txBody>
      </p:sp>
      <p:sp>
        <p:nvSpPr>
          <p:cNvPr name="TextBox 17" id="17"/>
          <p:cNvSpPr txBox="true"/>
          <p:nvPr/>
        </p:nvSpPr>
        <p:spPr>
          <a:xfrm rot="0">
            <a:off x="2967501" y="4417985"/>
            <a:ext cx="3981207" cy="330244"/>
          </a:xfrm>
          <a:prstGeom prst="rect">
            <a:avLst/>
          </a:prstGeom>
        </p:spPr>
        <p:txBody>
          <a:bodyPr anchor="t" rtlCol="false" tIns="0" lIns="0" bIns="0" rIns="0">
            <a:spAutoFit/>
          </a:bodyPr>
          <a:lstStyle/>
          <a:p>
            <a:pPr algn="l">
              <a:lnSpc>
                <a:spcPts val="2478"/>
              </a:lnSpc>
              <a:spcBef>
                <a:spcPct val="0"/>
              </a:spcBef>
            </a:pPr>
            <a:r>
              <a:rPr lang="en-US" b="true" sz="2294" i="true">
                <a:solidFill>
                  <a:srgbClr val="70ABCE"/>
                </a:solidFill>
                <a:latin typeface="Poppins Bold Italics"/>
                <a:ea typeface="Poppins Bold Italics"/>
                <a:cs typeface="Poppins Bold Italics"/>
                <a:sym typeface="Poppins Bold Italics"/>
              </a:rPr>
              <a:t>Data Protection &amp; Privacy</a:t>
            </a:r>
          </a:p>
        </p:txBody>
      </p:sp>
      <p:sp>
        <p:nvSpPr>
          <p:cNvPr name="TextBox 18" id="18"/>
          <p:cNvSpPr txBox="true"/>
          <p:nvPr/>
        </p:nvSpPr>
        <p:spPr>
          <a:xfrm rot="0">
            <a:off x="2930974" y="7015956"/>
            <a:ext cx="3438515" cy="330244"/>
          </a:xfrm>
          <a:prstGeom prst="rect">
            <a:avLst/>
          </a:prstGeom>
        </p:spPr>
        <p:txBody>
          <a:bodyPr anchor="t" rtlCol="false" tIns="0" lIns="0" bIns="0" rIns="0">
            <a:spAutoFit/>
          </a:bodyPr>
          <a:lstStyle/>
          <a:p>
            <a:pPr algn="l">
              <a:lnSpc>
                <a:spcPts val="2478"/>
              </a:lnSpc>
              <a:spcBef>
                <a:spcPct val="0"/>
              </a:spcBef>
            </a:pPr>
            <a:r>
              <a:rPr lang="en-US" b="true" sz="2294" i="true">
                <a:solidFill>
                  <a:srgbClr val="70ABCE"/>
                </a:solidFill>
                <a:latin typeface="Poppins Bold Italics"/>
                <a:ea typeface="Poppins Bold Italics"/>
                <a:cs typeface="Poppins Bold Italics"/>
                <a:sym typeface="Poppins Bold Italics"/>
              </a:rPr>
              <a:t>Licensing &amp; Attribution</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821972" y="2237159"/>
            <a:ext cx="12644055" cy="1891876"/>
            <a:chOff x="0" y="0"/>
            <a:chExt cx="4162728" cy="622851"/>
          </a:xfrm>
        </p:grpSpPr>
        <p:sp>
          <p:nvSpPr>
            <p:cNvPr name="Freeform 3" id="3"/>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4" id="4"/>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5" id="5"/>
          <p:cNvGrpSpPr/>
          <p:nvPr/>
        </p:nvGrpSpPr>
        <p:grpSpPr>
          <a:xfrm rot="0">
            <a:off x="2905008" y="4835129"/>
            <a:ext cx="12644055" cy="1891876"/>
            <a:chOff x="0" y="0"/>
            <a:chExt cx="4162728" cy="622851"/>
          </a:xfrm>
        </p:grpSpPr>
        <p:sp>
          <p:nvSpPr>
            <p:cNvPr name="Freeform 6" id="6"/>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7" id="7"/>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8" id="8"/>
          <p:cNvGrpSpPr/>
          <p:nvPr/>
        </p:nvGrpSpPr>
        <p:grpSpPr>
          <a:xfrm rot="0">
            <a:off x="2868481" y="7366424"/>
            <a:ext cx="12644055" cy="1891876"/>
            <a:chOff x="0" y="0"/>
            <a:chExt cx="4162728" cy="622851"/>
          </a:xfrm>
        </p:grpSpPr>
        <p:sp>
          <p:nvSpPr>
            <p:cNvPr name="Freeform 9" id="9"/>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0" id="10"/>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Freeform 11" id="11"/>
          <p:cNvSpPr/>
          <p:nvPr/>
        </p:nvSpPr>
        <p:spPr>
          <a:xfrm flipH="false" flipV="false" rot="0">
            <a:off x="2361129" y="1128193"/>
            <a:ext cx="430754" cy="394140"/>
          </a:xfrm>
          <a:custGeom>
            <a:avLst/>
            <a:gdLst/>
            <a:ahLst/>
            <a:cxnLst/>
            <a:rect r="r" b="b" t="t" l="l"/>
            <a:pathLst>
              <a:path h="394140" w="430754">
                <a:moveTo>
                  <a:pt x="0" y="0"/>
                </a:moveTo>
                <a:lnTo>
                  <a:pt x="430754" y="0"/>
                </a:lnTo>
                <a:lnTo>
                  <a:pt x="430754" y="394140"/>
                </a:lnTo>
                <a:lnTo>
                  <a:pt x="0" y="3941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2868481" y="1213918"/>
            <a:ext cx="4526760" cy="435747"/>
          </a:xfrm>
          <a:prstGeom prst="rect">
            <a:avLst/>
          </a:prstGeom>
        </p:spPr>
        <p:txBody>
          <a:bodyPr anchor="t" rtlCol="false" tIns="0" lIns="0" bIns="0" rIns="0">
            <a:spAutoFit/>
          </a:bodyPr>
          <a:lstStyle/>
          <a:p>
            <a:pPr algn="l">
              <a:lnSpc>
                <a:spcPts val="3204"/>
              </a:lnSpc>
              <a:spcBef>
                <a:spcPct val="0"/>
              </a:spcBef>
            </a:pPr>
            <a:r>
              <a:rPr lang="en-US" b="true" sz="2967" i="true">
                <a:solidFill>
                  <a:srgbClr val="FFFFFF"/>
                </a:solidFill>
                <a:latin typeface="Poppins Bold Italics"/>
                <a:ea typeface="Poppins Bold Italics"/>
                <a:cs typeface="Poppins Bold Italics"/>
                <a:sym typeface="Poppins Bold Italics"/>
              </a:rPr>
              <a:t>Ethical Implications</a:t>
            </a:r>
          </a:p>
        </p:txBody>
      </p:sp>
      <p:sp>
        <p:nvSpPr>
          <p:cNvPr name="TextBox 13" id="13"/>
          <p:cNvSpPr txBox="true"/>
          <p:nvPr/>
        </p:nvSpPr>
        <p:spPr>
          <a:xfrm rot="0">
            <a:off x="3063611" y="2419339"/>
            <a:ext cx="12067759" cy="1527516"/>
          </a:xfrm>
          <a:prstGeom prst="rect">
            <a:avLst/>
          </a:prstGeom>
        </p:spPr>
        <p:txBody>
          <a:bodyPr anchor="t" rtlCol="false" tIns="0" lIns="0" bIns="0" rIns="0">
            <a:spAutoFit/>
          </a:bodyPr>
          <a:lstStyle/>
          <a:p>
            <a:pPr algn="l">
              <a:lnSpc>
                <a:spcPts val="2949"/>
              </a:lnSpc>
              <a:spcBef>
                <a:spcPct val="0"/>
              </a:spcBef>
            </a:pPr>
            <a:r>
              <a:rPr lang="en-US" sz="2730">
                <a:solidFill>
                  <a:srgbClr val="FCFBFA"/>
                </a:solidFill>
                <a:latin typeface="Poppins"/>
                <a:ea typeface="Poppins"/>
                <a:cs typeface="Poppins"/>
                <a:sym typeface="Poppins"/>
              </a:rPr>
              <a:t>If data is misinterpreted like assuming sales rank = exact sales quantity, it can lead to misleading insights or biased recommendations. Ethical da</a:t>
            </a:r>
            <a:r>
              <a:rPr lang="en-US" sz="2730">
                <a:solidFill>
                  <a:srgbClr val="FCFBFA"/>
                </a:solidFill>
                <a:latin typeface="Poppins"/>
                <a:ea typeface="Poppins"/>
                <a:cs typeface="Poppins"/>
                <a:sym typeface="Poppins"/>
              </a:rPr>
              <a:t>ta use requires clarity about what the data can </a:t>
            </a:r>
            <a:r>
              <a:rPr lang="en-US" sz="2730">
                <a:solidFill>
                  <a:srgbClr val="FCFBFA"/>
                </a:solidFill>
                <a:latin typeface="Poppins"/>
                <a:ea typeface="Poppins"/>
                <a:cs typeface="Poppins"/>
                <a:sym typeface="Poppins"/>
              </a:rPr>
              <a:t>and cannot prove.</a:t>
            </a:r>
          </a:p>
        </p:txBody>
      </p:sp>
      <p:sp>
        <p:nvSpPr>
          <p:cNvPr name="TextBox 14" id="14"/>
          <p:cNvSpPr txBox="true"/>
          <p:nvPr/>
        </p:nvSpPr>
        <p:spPr>
          <a:xfrm rot="0">
            <a:off x="3137122" y="7691160"/>
            <a:ext cx="12233831" cy="1567140"/>
          </a:xfrm>
          <a:prstGeom prst="rect">
            <a:avLst/>
          </a:prstGeom>
        </p:spPr>
        <p:txBody>
          <a:bodyPr anchor="t" rtlCol="false" tIns="0" lIns="0" bIns="0" rIns="0">
            <a:spAutoFit/>
          </a:bodyPr>
          <a:lstStyle/>
          <a:p>
            <a:pPr algn="l">
              <a:lnSpc>
                <a:spcPts val="3057"/>
              </a:lnSpc>
              <a:spcBef>
                <a:spcPct val="0"/>
              </a:spcBef>
            </a:pPr>
            <a:r>
              <a:rPr lang="en-US" sz="2830">
                <a:solidFill>
                  <a:srgbClr val="FCFBFA"/>
                </a:solidFill>
                <a:latin typeface="Poppins"/>
                <a:ea typeface="Poppins"/>
                <a:cs typeface="Poppins"/>
                <a:sym typeface="Poppins"/>
              </a:rPr>
              <a:t>Forecasting and analytics should support human judgment, not replace it blindly. Decision-makers must still review outputs critically and consider non-d</a:t>
            </a:r>
            <a:r>
              <a:rPr lang="en-US" sz="2830">
                <a:solidFill>
                  <a:srgbClr val="FCFBFA"/>
                </a:solidFill>
                <a:latin typeface="Poppins"/>
                <a:ea typeface="Poppins"/>
                <a:cs typeface="Poppins"/>
                <a:sym typeface="Poppins"/>
              </a:rPr>
              <a:t>ata factors</a:t>
            </a:r>
            <a:r>
              <a:rPr lang="en-US" sz="2830">
                <a:solidFill>
                  <a:srgbClr val="FCFBFA"/>
                </a:solidFill>
                <a:latin typeface="Poppins"/>
                <a:ea typeface="Poppins"/>
                <a:cs typeface="Poppins"/>
                <a:sym typeface="Poppins"/>
              </a:rPr>
              <a:t>.</a:t>
            </a:r>
          </a:p>
          <a:p>
            <a:pPr algn="l">
              <a:lnSpc>
                <a:spcPts val="3057"/>
              </a:lnSpc>
              <a:spcBef>
                <a:spcPct val="0"/>
              </a:spcBef>
            </a:pPr>
          </a:p>
        </p:txBody>
      </p:sp>
      <p:sp>
        <p:nvSpPr>
          <p:cNvPr name="TextBox 15" id="15"/>
          <p:cNvSpPr txBox="true"/>
          <p:nvPr/>
        </p:nvSpPr>
        <p:spPr>
          <a:xfrm rot="0">
            <a:off x="2868481" y="1827592"/>
            <a:ext cx="3501007" cy="330244"/>
          </a:xfrm>
          <a:prstGeom prst="rect">
            <a:avLst/>
          </a:prstGeom>
        </p:spPr>
        <p:txBody>
          <a:bodyPr anchor="t" rtlCol="false" tIns="0" lIns="0" bIns="0" rIns="0">
            <a:spAutoFit/>
          </a:bodyPr>
          <a:lstStyle/>
          <a:p>
            <a:pPr algn="l">
              <a:lnSpc>
                <a:spcPts val="2478"/>
              </a:lnSpc>
              <a:spcBef>
                <a:spcPct val="0"/>
              </a:spcBef>
            </a:pPr>
            <a:r>
              <a:rPr lang="en-US" b="true" sz="2294" i="true">
                <a:solidFill>
                  <a:srgbClr val="70ABCE"/>
                </a:solidFill>
                <a:latin typeface="Poppins Bold Italics"/>
                <a:ea typeface="Poppins Bold Italics"/>
                <a:cs typeface="Poppins Bold Italics"/>
                <a:sym typeface="Poppins Bold Italics"/>
              </a:rPr>
              <a:t>Bias &amp; Interpretation</a:t>
            </a:r>
          </a:p>
        </p:txBody>
      </p:sp>
      <p:sp>
        <p:nvSpPr>
          <p:cNvPr name="TextBox 16" id="16"/>
          <p:cNvSpPr txBox="true"/>
          <p:nvPr/>
        </p:nvSpPr>
        <p:spPr>
          <a:xfrm rot="0">
            <a:off x="3062355" y="5043504"/>
            <a:ext cx="12402416" cy="1369116"/>
          </a:xfrm>
          <a:prstGeom prst="rect">
            <a:avLst/>
          </a:prstGeom>
        </p:spPr>
        <p:txBody>
          <a:bodyPr anchor="t" rtlCol="false" tIns="0" lIns="0" bIns="0" rIns="0">
            <a:spAutoFit/>
          </a:bodyPr>
          <a:lstStyle/>
          <a:p>
            <a:pPr algn="l">
              <a:lnSpc>
                <a:spcPts val="3560"/>
              </a:lnSpc>
            </a:pPr>
            <a:r>
              <a:rPr lang="en-US" sz="2826">
                <a:solidFill>
                  <a:srgbClr val="FCFBFA"/>
                </a:solidFill>
                <a:latin typeface="Poppins"/>
                <a:ea typeface="Poppins"/>
                <a:cs typeface="Poppins"/>
                <a:sym typeface="Poppins"/>
              </a:rPr>
              <a:t>Ethic</a:t>
            </a:r>
            <a:r>
              <a:rPr lang="en-US" sz="2826">
                <a:solidFill>
                  <a:srgbClr val="FCFBFA"/>
                </a:solidFill>
                <a:latin typeface="Poppins"/>
                <a:ea typeface="Poppins"/>
                <a:cs typeface="Poppins"/>
                <a:sym typeface="Poppins"/>
              </a:rPr>
              <a:t>ally, forecasts and visualisations should be used to inform, not manipulate. For example, overstating a declining model’s strength </a:t>
            </a:r>
            <a:r>
              <a:rPr lang="en-US" sz="2826">
                <a:solidFill>
                  <a:srgbClr val="FCFBFA"/>
                </a:solidFill>
                <a:latin typeface="Poppins"/>
                <a:ea typeface="Poppins"/>
                <a:cs typeface="Poppins"/>
                <a:sym typeface="Poppins"/>
              </a:rPr>
              <a:t>to justify continued investment would be unethical.</a:t>
            </a:r>
          </a:p>
        </p:txBody>
      </p:sp>
      <p:sp>
        <p:nvSpPr>
          <p:cNvPr name="TextBox 17" id="17"/>
          <p:cNvSpPr txBox="true"/>
          <p:nvPr/>
        </p:nvSpPr>
        <p:spPr>
          <a:xfrm rot="0">
            <a:off x="2967501" y="4417985"/>
            <a:ext cx="3981207" cy="330244"/>
          </a:xfrm>
          <a:prstGeom prst="rect">
            <a:avLst/>
          </a:prstGeom>
        </p:spPr>
        <p:txBody>
          <a:bodyPr anchor="t" rtlCol="false" tIns="0" lIns="0" bIns="0" rIns="0">
            <a:spAutoFit/>
          </a:bodyPr>
          <a:lstStyle/>
          <a:p>
            <a:pPr algn="l">
              <a:lnSpc>
                <a:spcPts val="2478"/>
              </a:lnSpc>
              <a:spcBef>
                <a:spcPct val="0"/>
              </a:spcBef>
            </a:pPr>
            <a:r>
              <a:rPr lang="en-US" b="true" sz="2294" i="true">
                <a:solidFill>
                  <a:srgbClr val="70ABCE"/>
                </a:solidFill>
                <a:latin typeface="Poppins Bold Italics"/>
                <a:ea typeface="Poppins Bold Italics"/>
                <a:cs typeface="Poppins Bold Italics"/>
                <a:sym typeface="Poppins Bold Italics"/>
              </a:rPr>
              <a:t>Data Manipulation Risks</a:t>
            </a:r>
          </a:p>
        </p:txBody>
      </p:sp>
      <p:sp>
        <p:nvSpPr>
          <p:cNvPr name="TextBox 18" id="18"/>
          <p:cNvSpPr txBox="true"/>
          <p:nvPr/>
        </p:nvSpPr>
        <p:spPr>
          <a:xfrm rot="0">
            <a:off x="2930974" y="7015956"/>
            <a:ext cx="4235179" cy="330244"/>
          </a:xfrm>
          <a:prstGeom prst="rect">
            <a:avLst/>
          </a:prstGeom>
        </p:spPr>
        <p:txBody>
          <a:bodyPr anchor="t" rtlCol="false" tIns="0" lIns="0" bIns="0" rIns="0">
            <a:spAutoFit/>
          </a:bodyPr>
          <a:lstStyle/>
          <a:p>
            <a:pPr algn="l">
              <a:lnSpc>
                <a:spcPts val="2478"/>
              </a:lnSpc>
              <a:spcBef>
                <a:spcPct val="0"/>
              </a:spcBef>
            </a:pPr>
            <a:r>
              <a:rPr lang="en-US" b="true" sz="2294" i="true">
                <a:solidFill>
                  <a:srgbClr val="70ABCE"/>
                </a:solidFill>
                <a:latin typeface="Poppins Bold Italics"/>
                <a:ea typeface="Poppins Bold Italics"/>
                <a:cs typeface="Poppins Bold Italics"/>
                <a:sym typeface="Poppins Bold Italics"/>
              </a:rPr>
              <a:t>Responsible Automation</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16057340" y="4200628"/>
            <a:ext cx="738463" cy="712952"/>
          </a:xfrm>
          <a:custGeom>
            <a:avLst/>
            <a:gdLst/>
            <a:ahLst/>
            <a:cxnLst/>
            <a:rect r="r" b="b" t="t" l="l"/>
            <a:pathLst>
              <a:path h="712952" w="738463">
                <a:moveTo>
                  <a:pt x="0" y="0"/>
                </a:moveTo>
                <a:lnTo>
                  <a:pt x="738462" y="0"/>
                </a:lnTo>
                <a:lnTo>
                  <a:pt x="738462" y="712953"/>
                </a:lnTo>
                <a:lnTo>
                  <a:pt x="0" y="7129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318966"/>
            <a:ext cx="15028640" cy="676275"/>
          </a:xfrm>
          <a:prstGeom prst="rect">
            <a:avLst/>
          </a:prstGeom>
        </p:spPr>
        <p:txBody>
          <a:bodyPr anchor="t" rtlCol="false" tIns="0" lIns="0" bIns="0" rIns="0">
            <a:spAutoFit/>
          </a:bodyPr>
          <a:lstStyle/>
          <a:p>
            <a:pPr algn="l">
              <a:lnSpc>
                <a:spcPts val="5098"/>
              </a:lnSpc>
            </a:pPr>
            <a:r>
              <a:rPr lang="en-US" sz="4248" b="true">
                <a:solidFill>
                  <a:srgbClr val="FFFFFF"/>
                </a:solidFill>
                <a:latin typeface="Poppins Bold"/>
                <a:ea typeface="Poppins Bold"/>
                <a:cs typeface="Poppins Bold"/>
                <a:sym typeface="Poppins Bold"/>
              </a:rPr>
              <a:t>Potential Data Security Threats &amp; Protection Measures</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113510" y="1663864"/>
            <a:ext cx="6531174" cy="3675392"/>
            <a:chOff x="0" y="0"/>
            <a:chExt cx="2801573" cy="1576574"/>
          </a:xfrm>
        </p:grpSpPr>
        <p:sp>
          <p:nvSpPr>
            <p:cNvPr name="Freeform 3" id="3"/>
            <p:cNvSpPr/>
            <p:nvPr/>
          </p:nvSpPr>
          <p:spPr>
            <a:xfrm flipH="false" flipV="false" rot="0">
              <a:off x="0" y="0"/>
              <a:ext cx="2801573" cy="1576574"/>
            </a:xfrm>
            <a:custGeom>
              <a:avLst/>
              <a:gdLst/>
              <a:ahLst/>
              <a:cxnLst/>
              <a:rect r="r" b="b" t="t" l="l"/>
              <a:pathLst>
                <a:path h="1576574" w="2801573">
                  <a:moveTo>
                    <a:pt x="29634" y="0"/>
                  </a:moveTo>
                  <a:lnTo>
                    <a:pt x="2771938" y="0"/>
                  </a:lnTo>
                  <a:cubicBezTo>
                    <a:pt x="2788305" y="0"/>
                    <a:pt x="2801573" y="13268"/>
                    <a:pt x="2801573" y="29634"/>
                  </a:cubicBezTo>
                  <a:lnTo>
                    <a:pt x="2801573" y="1546939"/>
                  </a:lnTo>
                  <a:cubicBezTo>
                    <a:pt x="2801573" y="1554799"/>
                    <a:pt x="2798451" y="1562336"/>
                    <a:pt x="2792893" y="1567894"/>
                  </a:cubicBezTo>
                  <a:cubicBezTo>
                    <a:pt x="2787335" y="1573452"/>
                    <a:pt x="2779798" y="1576574"/>
                    <a:pt x="2771938" y="1576574"/>
                  </a:cubicBezTo>
                  <a:lnTo>
                    <a:pt x="29634" y="1576574"/>
                  </a:lnTo>
                  <a:cubicBezTo>
                    <a:pt x="13268" y="1576574"/>
                    <a:pt x="0" y="1563306"/>
                    <a:pt x="0" y="1546939"/>
                  </a:cubicBezTo>
                  <a:lnTo>
                    <a:pt x="0" y="29634"/>
                  </a:lnTo>
                  <a:cubicBezTo>
                    <a:pt x="0" y="13268"/>
                    <a:pt x="13268" y="0"/>
                    <a:pt x="29634" y="0"/>
                  </a:cubicBezTo>
                  <a:close/>
                </a:path>
              </a:pathLst>
            </a:custGeom>
            <a:solidFill>
              <a:srgbClr val="2A3066">
                <a:alpha val="55686"/>
              </a:srgbClr>
            </a:solidFill>
          </p:spPr>
        </p:sp>
        <p:sp>
          <p:nvSpPr>
            <p:cNvPr name="TextBox 4" id="4"/>
            <p:cNvSpPr txBox="true"/>
            <p:nvPr/>
          </p:nvSpPr>
          <p:spPr>
            <a:xfrm>
              <a:off x="0" y="-66675"/>
              <a:ext cx="2801573" cy="1643249"/>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5" id="5"/>
          <p:cNvGrpSpPr/>
          <p:nvPr/>
        </p:nvGrpSpPr>
        <p:grpSpPr>
          <a:xfrm rot="0">
            <a:off x="9643316" y="1695487"/>
            <a:ext cx="6531174" cy="3675392"/>
            <a:chOff x="0" y="0"/>
            <a:chExt cx="2801573" cy="1576574"/>
          </a:xfrm>
        </p:grpSpPr>
        <p:sp>
          <p:nvSpPr>
            <p:cNvPr name="Freeform 6" id="6"/>
            <p:cNvSpPr/>
            <p:nvPr/>
          </p:nvSpPr>
          <p:spPr>
            <a:xfrm flipH="false" flipV="false" rot="0">
              <a:off x="0" y="0"/>
              <a:ext cx="2801573" cy="1576574"/>
            </a:xfrm>
            <a:custGeom>
              <a:avLst/>
              <a:gdLst/>
              <a:ahLst/>
              <a:cxnLst/>
              <a:rect r="r" b="b" t="t" l="l"/>
              <a:pathLst>
                <a:path h="1576574" w="2801573">
                  <a:moveTo>
                    <a:pt x="29634" y="0"/>
                  </a:moveTo>
                  <a:lnTo>
                    <a:pt x="2771938" y="0"/>
                  </a:lnTo>
                  <a:cubicBezTo>
                    <a:pt x="2788305" y="0"/>
                    <a:pt x="2801573" y="13268"/>
                    <a:pt x="2801573" y="29634"/>
                  </a:cubicBezTo>
                  <a:lnTo>
                    <a:pt x="2801573" y="1546939"/>
                  </a:lnTo>
                  <a:cubicBezTo>
                    <a:pt x="2801573" y="1554799"/>
                    <a:pt x="2798451" y="1562336"/>
                    <a:pt x="2792893" y="1567894"/>
                  </a:cubicBezTo>
                  <a:cubicBezTo>
                    <a:pt x="2787335" y="1573452"/>
                    <a:pt x="2779798" y="1576574"/>
                    <a:pt x="2771938" y="1576574"/>
                  </a:cubicBezTo>
                  <a:lnTo>
                    <a:pt x="29634" y="1576574"/>
                  </a:lnTo>
                  <a:cubicBezTo>
                    <a:pt x="13268" y="1576574"/>
                    <a:pt x="0" y="1563306"/>
                    <a:pt x="0" y="1546939"/>
                  </a:cubicBezTo>
                  <a:lnTo>
                    <a:pt x="0" y="29634"/>
                  </a:lnTo>
                  <a:cubicBezTo>
                    <a:pt x="0" y="13268"/>
                    <a:pt x="13268" y="0"/>
                    <a:pt x="29634" y="0"/>
                  </a:cubicBezTo>
                  <a:close/>
                </a:path>
              </a:pathLst>
            </a:custGeom>
            <a:solidFill>
              <a:srgbClr val="2A3066">
                <a:alpha val="55686"/>
              </a:srgbClr>
            </a:solidFill>
          </p:spPr>
        </p:sp>
        <p:sp>
          <p:nvSpPr>
            <p:cNvPr name="TextBox 7" id="7"/>
            <p:cNvSpPr txBox="true"/>
            <p:nvPr/>
          </p:nvSpPr>
          <p:spPr>
            <a:xfrm>
              <a:off x="0" y="-66675"/>
              <a:ext cx="2801573" cy="1643249"/>
            </a:xfrm>
            <a:prstGeom prst="rect">
              <a:avLst/>
            </a:prstGeom>
          </p:spPr>
          <p:txBody>
            <a:bodyPr anchor="ctr" rtlCol="false" tIns="50800" lIns="50800" bIns="50800" rIns="50800"/>
            <a:lstStyle/>
            <a:p>
              <a:pPr algn="ctr">
                <a:lnSpc>
                  <a:spcPts val="2921"/>
                </a:lnSpc>
              </a:pPr>
            </a:p>
          </p:txBody>
        </p:sp>
      </p:grpSp>
      <p:sp>
        <p:nvSpPr>
          <p:cNvPr name="TextBox 8" id="8"/>
          <p:cNvSpPr txBox="true"/>
          <p:nvPr/>
        </p:nvSpPr>
        <p:spPr>
          <a:xfrm rot="0">
            <a:off x="2672593" y="2090350"/>
            <a:ext cx="5413008" cy="3284833"/>
          </a:xfrm>
          <a:prstGeom prst="rect">
            <a:avLst/>
          </a:prstGeom>
        </p:spPr>
        <p:txBody>
          <a:bodyPr anchor="t" rtlCol="false" tIns="0" lIns="0" bIns="0" rIns="0">
            <a:spAutoFit/>
          </a:bodyPr>
          <a:lstStyle/>
          <a:p>
            <a:pPr algn="l">
              <a:lnSpc>
                <a:spcPts val="2554"/>
              </a:lnSpc>
              <a:spcBef>
                <a:spcPct val="0"/>
              </a:spcBef>
            </a:pPr>
            <a:r>
              <a:rPr lang="en-US" b="true" sz="2365" i="true">
                <a:solidFill>
                  <a:srgbClr val="4187B5"/>
                </a:solidFill>
                <a:latin typeface="Poppins Bold Italics"/>
                <a:ea typeface="Poppins Bold Italics"/>
                <a:cs typeface="Poppins Bold Italics"/>
                <a:sym typeface="Poppins Bold Italics"/>
              </a:rPr>
              <a:t>U</a:t>
            </a:r>
            <a:r>
              <a:rPr lang="en-US" b="true" sz="2365" i="true">
                <a:solidFill>
                  <a:srgbClr val="4187B5"/>
                </a:solidFill>
                <a:latin typeface="Poppins Bold Italics"/>
                <a:ea typeface="Poppins Bold Italics"/>
                <a:cs typeface="Poppins Bold Italics"/>
                <a:sym typeface="Poppins Bold Italics"/>
              </a:rPr>
              <a:t>nauthorized Access to Stored Files</a:t>
            </a:r>
          </a:p>
          <a:p>
            <a:pPr algn="l">
              <a:lnSpc>
                <a:spcPts val="2554"/>
              </a:lnSpc>
              <a:spcBef>
                <a:spcPct val="0"/>
              </a:spcBef>
            </a:pPr>
            <a:r>
              <a:rPr lang="en-US" sz="2365">
                <a:solidFill>
                  <a:srgbClr val="FFFFFF"/>
                </a:solidFill>
                <a:latin typeface="Poppins"/>
                <a:ea typeface="Poppins"/>
                <a:cs typeface="Poppins"/>
                <a:sym typeface="Poppins"/>
              </a:rPr>
              <a:t>If datasets or Power BI dashboards are stored on unprotected devices or cloud folders, they could be accessed by unauthorised users.</a:t>
            </a:r>
          </a:p>
          <a:p>
            <a:pPr algn="l">
              <a:lnSpc>
                <a:spcPts val="2554"/>
              </a:lnSpc>
              <a:spcBef>
                <a:spcPct val="0"/>
              </a:spcBef>
            </a:pPr>
            <a:r>
              <a:rPr lang="en-US" b="true" sz="2365" i="true">
                <a:solidFill>
                  <a:srgbClr val="FFFFFF"/>
                </a:solidFill>
                <a:latin typeface="Poppins Bold Italics"/>
                <a:ea typeface="Poppins Bold Italics"/>
                <a:cs typeface="Poppins Bold Italics"/>
                <a:sym typeface="Poppins Bold Italics"/>
              </a:rPr>
              <a:t>Risk:</a:t>
            </a:r>
            <a:r>
              <a:rPr lang="en-US" sz="2365">
                <a:solidFill>
                  <a:srgbClr val="FFFFFF"/>
                </a:solidFill>
                <a:latin typeface="Poppins"/>
                <a:ea typeface="Poppins"/>
                <a:cs typeface="Poppins"/>
                <a:sym typeface="Poppins"/>
              </a:rPr>
              <a:t> Leakage of internal insights, sales trends, or model configurations.</a:t>
            </a:r>
          </a:p>
          <a:p>
            <a:pPr algn="l">
              <a:lnSpc>
                <a:spcPts val="2662"/>
              </a:lnSpc>
              <a:spcBef>
                <a:spcPct val="0"/>
              </a:spcBef>
            </a:pPr>
          </a:p>
        </p:txBody>
      </p:sp>
      <p:sp>
        <p:nvSpPr>
          <p:cNvPr name="TextBox 9" id="9"/>
          <p:cNvSpPr txBox="true"/>
          <p:nvPr/>
        </p:nvSpPr>
        <p:spPr>
          <a:xfrm rot="0">
            <a:off x="10202399" y="2090350"/>
            <a:ext cx="5413008" cy="2936679"/>
          </a:xfrm>
          <a:prstGeom prst="rect">
            <a:avLst/>
          </a:prstGeom>
        </p:spPr>
        <p:txBody>
          <a:bodyPr anchor="t" rtlCol="false" tIns="0" lIns="0" bIns="0" rIns="0">
            <a:spAutoFit/>
          </a:bodyPr>
          <a:lstStyle/>
          <a:p>
            <a:pPr algn="l">
              <a:lnSpc>
                <a:spcPts val="2911"/>
              </a:lnSpc>
            </a:pPr>
            <a:r>
              <a:rPr lang="en-US" sz="2695" i="true" b="true">
                <a:solidFill>
                  <a:srgbClr val="4187B5"/>
                </a:solidFill>
                <a:latin typeface="Poppins Bold Italics"/>
                <a:ea typeface="Poppins Bold Italics"/>
                <a:cs typeface="Poppins Bold Italics"/>
                <a:sym typeface="Poppins Bold Italics"/>
              </a:rPr>
              <a:t>Data Integrity Attacks</a:t>
            </a:r>
          </a:p>
          <a:p>
            <a:pPr algn="l">
              <a:lnSpc>
                <a:spcPts val="2911"/>
              </a:lnSpc>
              <a:spcBef>
                <a:spcPct val="0"/>
              </a:spcBef>
            </a:pPr>
            <a:r>
              <a:rPr lang="en-US" sz="2695">
                <a:solidFill>
                  <a:srgbClr val="FDFDFD"/>
                </a:solidFill>
                <a:latin typeface="Poppins"/>
                <a:ea typeface="Poppins"/>
                <a:cs typeface="Poppins"/>
                <a:sym typeface="Poppins"/>
              </a:rPr>
              <a:t>Datasets</a:t>
            </a:r>
            <a:r>
              <a:rPr lang="en-US" sz="2695">
                <a:solidFill>
                  <a:srgbClr val="FDFDFD"/>
                </a:solidFill>
                <a:latin typeface="Poppins"/>
                <a:ea typeface="Poppins"/>
                <a:cs typeface="Poppins"/>
                <a:sym typeface="Poppins"/>
              </a:rPr>
              <a:t> or forecast models could be accidentally or maliciously altered.</a:t>
            </a:r>
          </a:p>
          <a:p>
            <a:pPr algn="l">
              <a:lnSpc>
                <a:spcPts val="2911"/>
              </a:lnSpc>
              <a:spcBef>
                <a:spcPct val="0"/>
              </a:spcBef>
            </a:pPr>
            <a:r>
              <a:rPr lang="en-US" b="true" sz="2695" i="true">
                <a:solidFill>
                  <a:srgbClr val="FDFDFD"/>
                </a:solidFill>
                <a:latin typeface="Poppins Bold Italics"/>
                <a:ea typeface="Poppins Bold Italics"/>
                <a:cs typeface="Poppins Bold Italics"/>
                <a:sym typeface="Poppins Bold Italics"/>
              </a:rPr>
              <a:t>Risk: </a:t>
            </a:r>
            <a:r>
              <a:rPr lang="en-US" sz="2695">
                <a:solidFill>
                  <a:srgbClr val="FDFDFD"/>
                </a:solidFill>
                <a:latin typeface="Poppins"/>
                <a:ea typeface="Poppins"/>
                <a:cs typeface="Poppins"/>
                <a:sym typeface="Poppins"/>
              </a:rPr>
              <a:t>Corrupti</a:t>
            </a:r>
            <a:r>
              <a:rPr lang="en-US" sz="2695" u="none">
                <a:solidFill>
                  <a:srgbClr val="FDFDFD"/>
                </a:solidFill>
                <a:latin typeface="Poppins"/>
                <a:ea typeface="Poppins"/>
                <a:cs typeface="Poppins"/>
                <a:sym typeface="Poppins"/>
              </a:rPr>
              <a:t>ng forecasts or misleadin</a:t>
            </a:r>
            <a:r>
              <a:rPr lang="en-US" sz="2695">
                <a:solidFill>
                  <a:srgbClr val="FDFDFD"/>
                </a:solidFill>
                <a:latin typeface="Poppins"/>
                <a:ea typeface="Poppins"/>
                <a:cs typeface="Poppins"/>
                <a:sym typeface="Poppins"/>
              </a:rPr>
              <a:t>g</a:t>
            </a:r>
            <a:r>
              <a:rPr lang="en-US" sz="2695" u="none">
                <a:solidFill>
                  <a:srgbClr val="FDFDFD"/>
                </a:solidFill>
                <a:latin typeface="Poppins"/>
                <a:ea typeface="Poppins"/>
                <a:cs typeface="Poppins"/>
                <a:sym typeface="Poppins"/>
              </a:rPr>
              <a:t> decis</a:t>
            </a:r>
            <a:r>
              <a:rPr lang="en-US" sz="2695">
                <a:solidFill>
                  <a:srgbClr val="FDFDFD"/>
                </a:solidFill>
                <a:latin typeface="Poppins"/>
                <a:ea typeface="Poppins"/>
                <a:cs typeface="Poppins"/>
                <a:sym typeface="Poppins"/>
              </a:rPr>
              <a:t>i</a:t>
            </a:r>
            <a:r>
              <a:rPr lang="en-US" sz="2695" u="none">
                <a:solidFill>
                  <a:srgbClr val="FDFDFD"/>
                </a:solidFill>
                <a:latin typeface="Poppins"/>
                <a:ea typeface="Poppins"/>
                <a:cs typeface="Poppins"/>
                <a:sym typeface="Poppins"/>
              </a:rPr>
              <a:t>o</a:t>
            </a:r>
            <a:r>
              <a:rPr lang="en-US" sz="2695">
                <a:solidFill>
                  <a:srgbClr val="FDFDFD"/>
                </a:solidFill>
                <a:latin typeface="Poppins"/>
                <a:ea typeface="Poppins"/>
                <a:cs typeface="Poppins"/>
                <a:sym typeface="Poppins"/>
              </a:rPr>
              <a:t>n-makers with manipulated results.</a:t>
            </a:r>
          </a:p>
          <a:p>
            <a:pPr algn="l">
              <a:lnSpc>
                <a:spcPts val="2911"/>
              </a:lnSpc>
              <a:spcBef>
                <a:spcPct val="0"/>
              </a:spcBef>
            </a:pPr>
          </a:p>
        </p:txBody>
      </p:sp>
      <p:grpSp>
        <p:nvGrpSpPr>
          <p:cNvPr name="Group 10" id="10"/>
          <p:cNvGrpSpPr/>
          <p:nvPr/>
        </p:nvGrpSpPr>
        <p:grpSpPr>
          <a:xfrm rot="0">
            <a:off x="2113510" y="5582908"/>
            <a:ext cx="6531174" cy="3675392"/>
            <a:chOff x="0" y="0"/>
            <a:chExt cx="2801573" cy="1576574"/>
          </a:xfrm>
        </p:grpSpPr>
        <p:sp>
          <p:nvSpPr>
            <p:cNvPr name="Freeform 11" id="11"/>
            <p:cNvSpPr/>
            <p:nvPr/>
          </p:nvSpPr>
          <p:spPr>
            <a:xfrm flipH="false" flipV="false" rot="0">
              <a:off x="0" y="0"/>
              <a:ext cx="2801573" cy="1576574"/>
            </a:xfrm>
            <a:custGeom>
              <a:avLst/>
              <a:gdLst/>
              <a:ahLst/>
              <a:cxnLst/>
              <a:rect r="r" b="b" t="t" l="l"/>
              <a:pathLst>
                <a:path h="1576574" w="2801573">
                  <a:moveTo>
                    <a:pt x="29634" y="0"/>
                  </a:moveTo>
                  <a:lnTo>
                    <a:pt x="2771938" y="0"/>
                  </a:lnTo>
                  <a:cubicBezTo>
                    <a:pt x="2788305" y="0"/>
                    <a:pt x="2801573" y="13268"/>
                    <a:pt x="2801573" y="29634"/>
                  </a:cubicBezTo>
                  <a:lnTo>
                    <a:pt x="2801573" y="1546939"/>
                  </a:lnTo>
                  <a:cubicBezTo>
                    <a:pt x="2801573" y="1554799"/>
                    <a:pt x="2798451" y="1562336"/>
                    <a:pt x="2792893" y="1567894"/>
                  </a:cubicBezTo>
                  <a:cubicBezTo>
                    <a:pt x="2787335" y="1573452"/>
                    <a:pt x="2779798" y="1576574"/>
                    <a:pt x="2771938" y="1576574"/>
                  </a:cubicBezTo>
                  <a:lnTo>
                    <a:pt x="29634" y="1576574"/>
                  </a:lnTo>
                  <a:cubicBezTo>
                    <a:pt x="13268" y="1576574"/>
                    <a:pt x="0" y="1563306"/>
                    <a:pt x="0" y="1546939"/>
                  </a:cubicBezTo>
                  <a:lnTo>
                    <a:pt x="0" y="29634"/>
                  </a:lnTo>
                  <a:cubicBezTo>
                    <a:pt x="0" y="13268"/>
                    <a:pt x="13268" y="0"/>
                    <a:pt x="29634" y="0"/>
                  </a:cubicBezTo>
                  <a:close/>
                </a:path>
              </a:pathLst>
            </a:custGeom>
            <a:solidFill>
              <a:srgbClr val="2A3066">
                <a:alpha val="55686"/>
              </a:srgbClr>
            </a:solidFill>
          </p:spPr>
        </p:sp>
        <p:sp>
          <p:nvSpPr>
            <p:cNvPr name="TextBox 12" id="12"/>
            <p:cNvSpPr txBox="true"/>
            <p:nvPr/>
          </p:nvSpPr>
          <p:spPr>
            <a:xfrm>
              <a:off x="0" y="-66675"/>
              <a:ext cx="2801573" cy="1643249"/>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13" id="13"/>
          <p:cNvGrpSpPr/>
          <p:nvPr/>
        </p:nvGrpSpPr>
        <p:grpSpPr>
          <a:xfrm rot="0">
            <a:off x="9643316" y="5582908"/>
            <a:ext cx="6531174" cy="3675392"/>
            <a:chOff x="0" y="0"/>
            <a:chExt cx="2801573" cy="1576574"/>
          </a:xfrm>
        </p:grpSpPr>
        <p:sp>
          <p:nvSpPr>
            <p:cNvPr name="Freeform 14" id="14"/>
            <p:cNvSpPr/>
            <p:nvPr/>
          </p:nvSpPr>
          <p:spPr>
            <a:xfrm flipH="false" flipV="false" rot="0">
              <a:off x="0" y="0"/>
              <a:ext cx="2801573" cy="1576574"/>
            </a:xfrm>
            <a:custGeom>
              <a:avLst/>
              <a:gdLst/>
              <a:ahLst/>
              <a:cxnLst/>
              <a:rect r="r" b="b" t="t" l="l"/>
              <a:pathLst>
                <a:path h="1576574" w="2801573">
                  <a:moveTo>
                    <a:pt x="29634" y="0"/>
                  </a:moveTo>
                  <a:lnTo>
                    <a:pt x="2771938" y="0"/>
                  </a:lnTo>
                  <a:cubicBezTo>
                    <a:pt x="2788305" y="0"/>
                    <a:pt x="2801573" y="13268"/>
                    <a:pt x="2801573" y="29634"/>
                  </a:cubicBezTo>
                  <a:lnTo>
                    <a:pt x="2801573" y="1546939"/>
                  </a:lnTo>
                  <a:cubicBezTo>
                    <a:pt x="2801573" y="1554799"/>
                    <a:pt x="2798451" y="1562336"/>
                    <a:pt x="2792893" y="1567894"/>
                  </a:cubicBezTo>
                  <a:cubicBezTo>
                    <a:pt x="2787335" y="1573452"/>
                    <a:pt x="2779798" y="1576574"/>
                    <a:pt x="2771938" y="1576574"/>
                  </a:cubicBezTo>
                  <a:lnTo>
                    <a:pt x="29634" y="1576574"/>
                  </a:lnTo>
                  <a:cubicBezTo>
                    <a:pt x="13268" y="1576574"/>
                    <a:pt x="0" y="1563306"/>
                    <a:pt x="0" y="1546939"/>
                  </a:cubicBezTo>
                  <a:lnTo>
                    <a:pt x="0" y="29634"/>
                  </a:lnTo>
                  <a:cubicBezTo>
                    <a:pt x="0" y="13268"/>
                    <a:pt x="13268" y="0"/>
                    <a:pt x="29634" y="0"/>
                  </a:cubicBezTo>
                  <a:close/>
                </a:path>
              </a:pathLst>
            </a:custGeom>
            <a:solidFill>
              <a:srgbClr val="2A3066">
                <a:alpha val="55686"/>
              </a:srgbClr>
            </a:solidFill>
          </p:spPr>
        </p:sp>
        <p:sp>
          <p:nvSpPr>
            <p:cNvPr name="TextBox 15" id="15"/>
            <p:cNvSpPr txBox="true"/>
            <p:nvPr/>
          </p:nvSpPr>
          <p:spPr>
            <a:xfrm>
              <a:off x="0" y="-66675"/>
              <a:ext cx="2801573" cy="1643249"/>
            </a:xfrm>
            <a:prstGeom prst="rect">
              <a:avLst/>
            </a:prstGeom>
          </p:spPr>
          <p:txBody>
            <a:bodyPr anchor="ctr" rtlCol="false" tIns="50800" lIns="50800" bIns="50800" rIns="50800"/>
            <a:lstStyle/>
            <a:p>
              <a:pPr algn="ctr">
                <a:lnSpc>
                  <a:spcPts val="2921"/>
                </a:lnSpc>
              </a:pPr>
            </a:p>
          </p:txBody>
        </p:sp>
      </p:grpSp>
      <p:sp>
        <p:nvSpPr>
          <p:cNvPr name="Freeform 16" id="16"/>
          <p:cNvSpPr/>
          <p:nvPr/>
        </p:nvSpPr>
        <p:spPr>
          <a:xfrm flipH="false" flipV="false" rot="0">
            <a:off x="1498364" y="993117"/>
            <a:ext cx="553812" cy="537701"/>
          </a:xfrm>
          <a:custGeom>
            <a:avLst/>
            <a:gdLst/>
            <a:ahLst/>
            <a:cxnLst/>
            <a:rect r="r" b="b" t="t" l="l"/>
            <a:pathLst>
              <a:path h="537701" w="553812">
                <a:moveTo>
                  <a:pt x="0" y="0"/>
                </a:moveTo>
                <a:lnTo>
                  <a:pt x="553812" y="0"/>
                </a:lnTo>
                <a:lnTo>
                  <a:pt x="553812" y="537701"/>
                </a:lnTo>
                <a:lnTo>
                  <a:pt x="0" y="537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2672593" y="6009795"/>
            <a:ext cx="5413008" cy="3037945"/>
          </a:xfrm>
          <a:prstGeom prst="rect">
            <a:avLst/>
          </a:prstGeom>
        </p:spPr>
        <p:txBody>
          <a:bodyPr anchor="t" rtlCol="false" tIns="0" lIns="0" bIns="0" rIns="0">
            <a:spAutoFit/>
          </a:bodyPr>
          <a:lstStyle/>
          <a:p>
            <a:pPr algn="l">
              <a:lnSpc>
                <a:spcPts val="2662"/>
              </a:lnSpc>
              <a:spcBef>
                <a:spcPct val="0"/>
              </a:spcBef>
            </a:pPr>
            <a:r>
              <a:rPr lang="en-US" b="true" sz="2465" i="true">
                <a:solidFill>
                  <a:srgbClr val="4187B5"/>
                </a:solidFill>
                <a:latin typeface="Poppins Bold Italics"/>
                <a:ea typeface="Poppins Bold Italics"/>
                <a:cs typeface="Poppins Bold Italics"/>
                <a:sym typeface="Poppins Bold Italics"/>
              </a:rPr>
              <a:t>Thir</a:t>
            </a:r>
            <a:r>
              <a:rPr lang="en-US" b="true" sz="2465" i="true">
                <a:solidFill>
                  <a:srgbClr val="4187B5"/>
                </a:solidFill>
                <a:latin typeface="Poppins Bold Italics"/>
                <a:ea typeface="Poppins Bold Italics"/>
                <a:cs typeface="Poppins Bold Italics"/>
                <a:sym typeface="Poppins Bold Italics"/>
              </a:rPr>
              <a:t>d-Party Tool Vulnerabilities</a:t>
            </a:r>
          </a:p>
          <a:p>
            <a:pPr algn="l">
              <a:lnSpc>
                <a:spcPts val="2662"/>
              </a:lnSpc>
              <a:spcBef>
                <a:spcPct val="0"/>
              </a:spcBef>
            </a:pPr>
            <a:r>
              <a:rPr lang="en-US" sz="2465">
                <a:solidFill>
                  <a:srgbClr val="FFFFFF"/>
                </a:solidFill>
                <a:latin typeface="Poppins"/>
                <a:ea typeface="Poppins"/>
                <a:cs typeface="Poppins"/>
                <a:sym typeface="Poppins"/>
              </a:rPr>
              <a:t>Tools like Power BI and Orange rely on underlying libraries or plugins. If these aren’t updated, they could become vulnerable to exploits.</a:t>
            </a:r>
          </a:p>
          <a:p>
            <a:pPr algn="l">
              <a:lnSpc>
                <a:spcPts val="2662"/>
              </a:lnSpc>
              <a:spcBef>
                <a:spcPct val="0"/>
              </a:spcBef>
            </a:pPr>
            <a:r>
              <a:rPr lang="en-US" b="true" sz="2465" i="true">
                <a:solidFill>
                  <a:srgbClr val="FFFFFF"/>
                </a:solidFill>
                <a:latin typeface="Poppins Bold Italics"/>
                <a:ea typeface="Poppins Bold Italics"/>
                <a:cs typeface="Poppins Bold Italics"/>
                <a:sym typeface="Poppins Bold Italics"/>
              </a:rPr>
              <a:t>Risk: </a:t>
            </a:r>
            <a:r>
              <a:rPr lang="en-US" sz="2465">
                <a:solidFill>
                  <a:srgbClr val="FFFFFF"/>
                </a:solidFill>
                <a:latin typeface="Poppins"/>
                <a:ea typeface="Poppins"/>
                <a:cs typeface="Poppins"/>
                <a:sym typeface="Poppins"/>
              </a:rPr>
              <a:t>Exploits through open-source modules or outdated connectors.</a:t>
            </a:r>
          </a:p>
          <a:p>
            <a:pPr algn="l">
              <a:lnSpc>
                <a:spcPts val="2662"/>
              </a:lnSpc>
              <a:spcBef>
                <a:spcPct val="0"/>
              </a:spcBef>
            </a:pPr>
          </a:p>
        </p:txBody>
      </p:sp>
      <p:sp>
        <p:nvSpPr>
          <p:cNvPr name="TextBox 18" id="18"/>
          <p:cNvSpPr txBox="true"/>
          <p:nvPr/>
        </p:nvSpPr>
        <p:spPr>
          <a:xfrm rot="0">
            <a:off x="10202399" y="6056445"/>
            <a:ext cx="5413008" cy="2695506"/>
          </a:xfrm>
          <a:prstGeom prst="rect">
            <a:avLst/>
          </a:prstGeom>
        </p:spPr>
        <p:txBody>
          <a:bodyPr anchor="t" rtlCol="false" tIns="0" lIns="0" bIns="0" rIns="0">
            <a:spAutoFit/>
          </a:bodyPr>
          <a:lstStyle/>
          <a:p>
            <a:pPr algn="l">
              <a:lnSpc>
                <a:spcPts val="2695"/>
              </a:lnSpc>
              <a:spcBef>
                <a:spcPct val="0"/>
              </a:spcBef>
            </a:pPr>
            <a:r>
              <a:rPr lang="en-US" b="true" sz="2495" i="true">
                <a:solidFill>
                  <a:srgbClr val="4187B5"/>
                </a:solidFill>
                <a:latin typeface="Poppins Bold Italics"/>
                <a:ea typeface="Poppins Bold Italics"/>
                <a:cs typeface="Poppins Bold Italics"/>
                <a:sym typeface="Poppins Bold Italics"/>
              </a:rPr>
              <a:t>Insecure S</a:t>
            </a:r>
            <a:r>
              <a:rPr lang="en-US" b="true" sz="2495" i="true" u="none">
                <a:solidFill>
                  <a:srgbClr val="4187B5"/>
                </a:solidFill>
                <a:latin typeface="Poppins Bold Italics"/>
                <a:ea typeface="Poppins Bold Italics"/>
                <a:cs typeface="Poppins Bold Italics"/>
                <a:sym typeface="Poppins Bold Italics"/>
              </a:rPr>
              <a:t>ha</a:t>
            </a:r>
            <a:r>
              <a:rPr lang="en-US" b="true" sz="2495" i="true">
                <a:solidFill>
                  <a:srgbClr val="4187B5"/>
                </a:solidFill>
                <a:latin typeface="Poppins Bold Italics"/>
                <a:ea typeface="Poppins Bold Italics"/>
                <a:cs typeface="Poppins Bold Italics"/>
                <a:sym typeface="Poppins Bold Italics"/>
              </a:rPr>
              <a:t>ring</a:t>
            </a:r>
          </a:p>
          <a:p>
            <a:pPr algn="l">
              <a:lnSpc>
                <a:spcPts val="2695"/>
              </a:lnSpc>
              <a:spcBef>
                <a:spcPct val="0"/>
              </a:spcBef>
            </a:pPr>
            <a:r>
              <a:rPr lang="en-US" sz="2495">
                <a:solidFill>
                  <a:srgbClr val="FFFFFF"/>
                </a:solidFill>
                <a:latin typeface="Poppins"/>
                <a:ea typeface="Poppins"/>
                <a:cs typeface="Poppins"/>
                <a:sym typeface="Poppins"/>
              </a:rPr>
              <a:t>Sharing dashboards or files through unsecured links or email could expose data to interception or unauthorized downloads.</a:t>
            </a:r>
          </a:p>
          <a:p>
            <a:pPr algn="l">
              <a:lnSpc>
                <a:spcPts val="2695"/>
              </a:lnSpc>
              <a:spcBef>
                <a:spcPct val="0"/>
              </a:spcBef>
            </a:pPr>
            <a:r>
              <a:rPr lang="en-US" b="true" sz="2495" i="true">
                <a:solidFill>
                  <a:srgbClr val="FFFFFF"/>
                </a:solidFill>
                <a:latin typeface="Poppins Bold Italics"/>
                <a:ea typeface="Poppins Bold Italics"/>
                <a:cs typeface="Poppins Bold Italics"/>
                <a:sym typeface="Poppins Bold Italics"/>
              </a:rPr>
              <a:t>Risk:</a:t>
            </a:r>
            <a:r>
              <a:rPr lang="en-US" sz="2495">
                <a:solidFill>
                  <a:srgbClr val="FFFFFF"/>
                </a:solidFill>
                <a:latin typeface="Poppins"/>
                <a:ea typeface="Poppins"/>
                <a:cs typeface="Poppins"/>
                <a:sym typeface="Poppins"/>
              </a:rPr>
              <a:t> Unintended users gaining access to sensitive business insights.</a:t>
            </a:r>
          </a:p>
        </p:txBody>
      </p:sp>
      <p:sp>
        <p:nvSpPr>
          <p:cNvPr name="TextBox 19" id="19"/>
          <p:cNvSpPr txBox="true"/>
          <p:nvPr/>
        </p:nvSpPr>
        <p:spPr>
          <a:xfrm rot="0">
            <a:off x="2113510" y="1090426"/>
            <a:ext cx="14578604" cy="573438"/>
          </a:xfrm>
          <a:prstGeom prst="rect">
            <a:avLst/>
          </a:prstGeom>
        </p:spPr>
        <p:txBody>
          <a:bodyPr anchor="t" rtlCol="false" tIns="0" lIns="0" bIns="0" rIns="0">
            <a:spAutoFit/>
          </a:bodyPr>
          <a:lstStyle/>
          <a:p>
            <a:pPr algn="l">
              <a:lnSpc>
                <a:spcPts val="4187"/>
              </a:lnSpc>
              <a:spcBef>
                <a:spcPct val="0"/>
              </a:spcBef>
            </a:pPr>
            <a:r>
              <a:rPr lang="en-US" b="true" sz="3877">
                <a:solidFill>
                  <a:srgbClr val="FFFFFF"/>
                </a:solidFill>
                <a:latin typeface="Poppins Bold"/>
                <a:ea typeface="Poppins Bold"/>
                <a:cs typeface="Poppins Bold"/>
                <a:sym typeface="Poppins Bold"/>
              </a:rPr>
              <a:t>Potential Data Security Threats</a:t>
            </a:r>
          </a:p>
        </p:txBody>
      </p:sp>
    </p:spTree>
  </p:cSld>
  <p:clrMapOvr>
    <a:masterClrMapping/>
  </p:clrMapOvr>
</p:sld>
</file>

<file path=ppt/slides/slide48.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6968180" y="905305"/>
            <a:ext cx="4350323" cy="3995522"/>
            <a:chOff x="0" y="0"/>
            <a:chExt cx="2101405" cy="1930020"/>
          </a:xfrm>
        </p:grpSpPr>
        <p:sp>
          <p:nvSpPr>
            <p:cNvPr name="Freeform 3" id="3"/>
            <p:cNvSpPr/>
            <p:nvPr/>
          </p:nvSpPr>
          <p:spPr>
            <a:xfrm flipH="false" flipV="false" rot="0">
              <a:off x="0" y="0"/>
              <a:ext cx="2101405" cy="1930020"/>
            </a:xfrm>
            <a:custGeom>
              <a:avLst/>
              <a:gdLst/>
              <a:ahLst/>
              <a:cxnLst/>
              <a:rect r="r" b="b" t="t" l="l"/>
              <a:pathLst>
                <a:path h="1930020" w="2101405">
                  <a:moveTo>
                    <a:pt x="44490" y="0"/>
                  </a:moveTo>
                  <a:lnTo>
                    <a:pt x="2056915" y="0"/>
                  </a:lnTo>
                  <a:cubicBezTo>
                    <a:pt x="2068714" y="0"/>
                    <a:pt x="2080031" y="4687"/>
                    <a:pt x="2088374" y="13031"/>
                  </a:cubicBezTo>
                  <a:cubicBezTo>
                    <a:pt x="2096718" y="21375"/>
                    <a:pt x="2101405" y="32691"/>
                    <a:pt x="2101405" y="44490"/>
                  </a:cubicBezTo>
                  <a:lnTo>
                    <a:pt x="2101405" y="1885530"/>
                  </a:lnTo>
                  <a:cubicBezTo>
                    <a:pt x="2101405" y="1897330"/>
                    <a:pt x="2096718" y="1908646"/>
                    <a:pt x="2088374" y="1916989"/>
                  </a:cubicBezTo>
                  <a:cubicBezTo>
                    <a:pt x="2080031" y="1925333"/>
                    <a:pt x="2068714" y="1930020"/>
                    <a:pt x="2056915" y="1930020"/>
                  </a:cubicBezTo>
                  <a:lnTo>
                    <a:pt x="44490" y="1930020"/>
                  </a:lnTo>
                  <a:cubicBezTo>
                    <a:pt x="32691" y="1930020"/>
                    <a:pt x="21375" y="1925333"/>
                    <a:pt x="13031" y="1916989"/>
                  </a:cubicBezTo>
                  <a:cubicBezTo>
                    <a:pt x="4687" y="1908646"/>
                    <a:pt x="0" y="1897330"/>
                    <a:pt x="0" y="1885530"/>
                  </a:cubicBezTo>
                  <a:lnTo>
                    <a:pt x="0" y="44490"/>
                  </a:lnTo>
                  <a:cubicBezTo>
                    <a:pt x="0" y="32691"/>
                    <a:pt x="4687" y="21375"/>
                    <a:pt x="13031" y="13031"/>
                  </a:cubicBezTo>
                  <a:cubicBezTo>
                    <a:pt x="21375" y="4687"/>
                    <a:pt x="32691" y="0"/>
                    <a:pt x="44490" y="0"/>
                  </a:cubicBezTo>
                  <a:close/>
                </a:path>
              </a:pathLst>
            </a:custGeom>
            <a:solidFill>
              <a:srgbClr val="2A3066">
                <a:alpha val="55686"/>
              </a:srgbClr>
            </a:solidFill>
          </p:spPr>
        </p:sp>
        <p:sp>
          <p:nvSpPr>
            <p:cNvPr name="TextBox 4" id="4"/>
            <p:cNvSpPr txBox="true"/>
            <p:nvPr/>
          </p:nvSpPr>
          <p:spPr>
            <a:xfrm>
              <a:off x="0" y="-66675"/>
              <a:ext cx="2101405" cy="1996695"/>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5" id="5"/>
          <p:cNvGrpSpPr/>
          <p:nvPr/>
        </p:nvGrpSpPr>
        <p:grpSpPr>
          <a:xfrm rot="0">
            <a:off x="11472220" y="905305"/>
            <a:ext cx="4350323" cy="3995522"/>
            <a:chOff x="0" y="0"/>
            <a:chExt cx="2101405" cy="1930020"/>
          </a:xfrm>
        </p:grpSpPr>
        <p:sp>
          <p:nvSpPr>
            <p:cNvPr name="Freeform 6" id="6"/>
            <p:cNvSpPr/>
            <p:nvPr/>
          </p:nvSpPr>
          <p:spPr>
            <a:xfrm flipH="false" flipV="false" rot="0">
              <a:off x="0" y="0"/>
              <a:ext cx="2101405" cy="1930020"/>
            </a:xfrm>
            <a:custGeom>
              <a:avLst/>
              <a:gdLst/>
              <a:ahLst/>
              <a:cxnLst/>
              <a:rect r="r" b="b" t="t" l="l"/>
              <a:pathLst>
                <a:path h="1930020" w="2101405">
                  <a:moveTo>
                    <a:pt x="44490" y="0"/>
                  </a:moveTo>
                  <a:lnTo>
                    <a:pt x="2056915" y="0"/>
                  </a:lnTo>
                  <a:cubicBezTo>
                    <a:pt x="2068714" y="0"/>
                    <a:pt x="2080031" y="4687"/>
                    <a:pt x="2088374" y="13031"/>
                  </a:cubicBezTo>
                  <a:cubicBezTo>
                    <a:pt x="2096718" y="21375"/>
                    <a:pt x="2101405" y="32691"/>
                    <a:pt x="2101405" y="44490"/>
                  </a:cubicBezTo>
                  <a:lnTo>
                    <a:pt x="2101405" y="1885530"/>
                  </a:lnTo>
                  <a:cubicBezTo>
                    <a:pt x="2101405" y="1897330"/>
                    <a:pt x="2096718" y="1908646"/>
                    <a:pt x="2088374" y="1916989"/>
                  </a:cubicBezTo>
                  <a:cubicBezTo>
                    <a:pt x="2080031" y="1925333"/>
                    <a:pt x="2068714" y="1930020"/>
                    <a:pt x="2056915" y="1930020"/>
                  </a:cubicBezTo>
                  <a:lnTo>
                    <a:pt x="44490" y="1930020"/>
                  </a:lnTo>
                  <a:cubicBezTo>
                    <a:pt x="32691" y="1930020"/>
                    <a:pt x="21375" y="1925333"/>
                    <a:pt x="13031" y="1916989"/>
                  </a:cubicBezTo>
                  <a:cubicBezTo>
                    <a:pt x="4687" y="1908646"/>
                    <a:pt x="0" y="1897330"/>
                    <a:pt x="0" y="1885530"/>
                  </a:cubicBezTo>
                  <a:lnTo>
                    <a:pt x="0" y="44490"/>
                  </a:lnTo>
                  <a:cubicBezTo>
                    <a:pt x="0" y="32691"/>
                    <a:pt x="4687" y="21375"/>
                    <a:pt x="13031" y="13031"/>
                  </a:cubicBezTo>
                  <a:cubicBezTo>
                    <a:pt x="21375" y="4687"/>
                    <a:pt x="32691" y="0"/>
                    <a:pt x="44490" y="0"/>
                  </a:cubicBezTo>
                  <a:close/>
                </a:path>
              </a:pathLst>
            </a:custGeom>
            <a:solidFill>
              <a:srgbClr val="2A3066">
                <a:alpha val="55686"/>
              </a:srgbClr>
            </a:solidFill>
          </p:spPr>
        </p:sp>
        <p:sp>
          <p:nvSpPr>
            <p:cNvPr name="TextBox 7" id="7"/>
            <p:cNvSpPr txBox="true"/>
            <p:nvPr/>
          </p:nvSpPr>
          <p:spPr>
            <a:xfrm>
              <a:off x="0" y="-66675"/>
              <a:ext cx="2101405" cy="1996695"/>
            </a:xfrm>
            <a:prstGeom prst="rect">
              <a:avLst/>
            </a:prstGeom>
          </p:spPr>
          <p:txBody>
            <a:bodyPr anchor="ctr" rtlCol="false" tIns="50800" lIns="50800" bIns="50800" rIns="50800"/>
            <a:lstStyle/>
            <a:p>
              <a:pPr algn="ctr">
                <a:lnSpc>
                  <a:spcPts val="2921"/>
                </a:lnSpc>
              </a:pPr>
            </a:p>
          </p:txBody>
        </p:sp>
      </p:grpSp>
      <p:sp>
        <p:nvSpPr>
          <p:cNvPr name="TextBox 8" id="8"/>
          <p:cNvSpPr txBox="true"/>
          <p:nvPr/>
        </p:nvSpPr>
        <p:spPr>
          <a:xfrm rot="0">
            <a:off x="7291544" y="1652797"/>
            <a:ext cx="3605528" cy="3451925"/>
          </a:xfrm>
          <a:prstGeom prst="rect">
            <a:avLst/>
          </a:prstGeom>
        </p:spPr>
        <p:txBody>
          <a:bodyPr anchor="t" rtlCol="false" tIns="0" lIns="0" bIns="0" rIns="0">
            <a:spAutoFit/>
          </a:bodyPr>
          <a:lstStyle/>
          <a:p>
            <a:pPr algn="l" marL="459712" indent="-229856" lvl="1">
              <a:lnSpc>
                <a:spcPts val="2299"/>
              </a:lnSpc>
              <a:spcBef>
                <a:spcPct val="0"/>
              </a:spcBef>
              <a:buFont typeface="Arial"/>
              <a:buChar char="•"/>
            </a:pPr>
            <a:r>
              <a:rPr lang="en-US" sz="2129">
                <a:solidFill>
                  <a:srgbClr val="FFFFFF"/>
                </a:solidFill>
                <a:latin typeface="Poppins"/>
                <a:ea typeface="Poppins"/>
                <a:cs typeface="Poppins"/>
                <a:sym typeface="Poppins"/>
              </a:rPr>
              <a:t>St</a:t>
            </a:r>
            <a:r>
              <a:rPr lang="en-US" sz="2129">
                <a:solidFill>
                  <a:srgbClr val="FFFFFF"/>
                </a:solidFill>
                <a:latin typeface="Poppins"/>
                <a:ea typeface="Poppins"/>
                <a:cs typeface="Poppins"/>
                <a:sym typeface="Poppins"/>
              </a:rPr>
              <a:t>ore all files in secured cloud drives (e.g., OneDrive, Google Drive) with perm</a:t>
            </a:r>
            <a:r>
              <a:rPr lang="en-US" sz="2129">
                <a:solidFill>
                  <a:srgbClr val="FFFFFF"/>
                </a:solidFill>
                <a:latin typeface="Poppins"/>
                <a:ea typeface="Poppins"/>
                <a:cs typeface="Poppins"/>
                <a:sym typeface="Poppins"/>
              </a:rPr>
              <a:t>iss</a:t>
            </a:r>
            <a:r>
              <a:rPr lang="en-US" sz="2129">
                <a:solidFill>
                  <a:srgbClr val="FFFFFF"/>
                </a:solidFill>
                <a:latin typeface="Poppins"/>
                <a:ea typeface="Poppins"/>
                <a:cs typeface="Poppins"/>
                <a:sym typeface="Poppins"/>
              </a:rPr>
              <a:t>ion</a:t>
            </a:r>
            <a:r>
              <a:rPr lang="en-US" sz="2129">
                <a:solidFill>
                  <a:srgbClr val="FFFFFF"/>
                </a:solidFill>
                <a:latin typeface="Poppins"/>
                <a:ea typeface="Poppins"/>
                <a:cs typeface="Poppins"/>
                <a:sym typeface="Poppins"/>
              </a:rPr>
              <a:t>-based</a:t>
            </a:r>
            <a:r>
              <a:rPr lang="en-US" sz="2129">
                <a:solidFill>
                  <a:srgbClr val="FFFFFF"/>
                </a:solidFill>
                <a:latin typeface="Poppins"/>
                <a:ea typeface="Poppins"/>
                <a:cs typeface="Poppins"/>
                <a:sym typeface="Poppins"/>
              </a:rPr>
              <a:t> </a:t>
            </a:r>
            <a:r>
              <a:rPr lang="en-US" sz="2129">
                <a:solidFill>
                  <a:srgbClr val="FFFFFF"/>
                </a:solidFill>
                <a:latin typeface="Poppins"/>
                <a:ea typeface="Poppins"/>
                <a:cs typeface="Poppins"/>
                <a:sym typeface="Poppins"/>
              </a:rPr>
              <a:t>acc</a:t>
            </a:r>
            <a:r>
              <a:rPr lang="en-US" sz="2129">
                <a:solidFill>
                  <a:srgbClr val="FFFFFF"/>
                </a:solidFill>
                <a:latin typeface="Poppins"/>
                <a:ea typeface="Poppins"/>
                <a:cs typeface="Poppins"/>
                <a:sym typeface="Poppins"/>
              </a:rPr>
              <a:t>ess (view/edit restrictions).</a:t>
            </a:r>
          </a:p>
          <a:p>
            <a:pPr algn="l">
              <a:lnSpc>
                <a:spcPts val="2299"/>
              </a:lnSpc>
              <a:spcBef>
                <a:spcPct val="0"/>
              </a:spcBef>
            </a:pPr>
          </a:p>
          <a:p>
            <a:pPr algn="l" marL="459712" indent="-229856" lvl="1">
              <a:lnSpc>
                <a:spcPts val="2299"/>
              </a:lnSpc>
              <a:spcBef>
                <a:spcPct val="0"/>
              </a:spcBef>
              <a:buFont typeface="Arial"/>
              <a:buChar char="•"/>
            </a:pPr>
            <a:r>
              <a:rPr lang="en-US" sz="2129">
                <a:solidFill>
                  <a:srgbClr val="FFFFFF"/>
                </a:solidFill>
                <a:latin typeface="Poppins"/>
                <a:ea typeface="Poppins"/>
                <a:cs typeface="Poppins"/>
                <a:sym typeface="Poppins"/>
              </a:rPr>
              <a:t>Enable two-factor authentication for accounts accessing the data.</a:t>
            </a:r>
          </a:p>
          <a:p>
            <a:pPr algn="l">
              <a:lnSpc>
                <a:spcPts val="2299"/>
              </a:lnSpc>
              <a:spcBef>
                <a:spcPct val="0"/>
              </a:spcBef>
            </a:pPr>
          </a:p>
        </p:txBody>
      </p:sp>
      <p:sp>
        <p:nvSpPr>
          <p:cNvPr name="TextBox 9" id="9"/>
          <p:cNvSpPr txBox="true"/>
          <p:nvPr/>
        </p:nvSpPr>
        <p:spPr>
          <a:xfrm rot="0">
            <a:off x="7341895" y="1117660"/>
            <a:ext cx="3702893" cy="303099"/>
          </a:xfrm>
          <a:prstGeom prst="rect">
            <a:avLst/>
          </a:prstGeom>
        </p:spPr>
        <p:txBody>
          <a:bodyPr anchor="t" rtlCol="false" tIns="0" lIns="0" bIns="0" rIns="0">
            <a:spAutoFit/>
          </a:bodyPr>
          <a:lstStyle/>
          <a:p>
            <a:pPr algn="l">
              <a:lnSpc>
                <a:spcPts val="2157"/>
              </a:lnSpc>
              <a:spcBef>
                <a:spcPct val="0"/>
              </a:spcBef>
            </a:pPr>
            <a:r>
              <a:rPr lang="en-US" b="true" sz="1997">
                <a:solidFill>
                  <a:srgbClr val="FFFFFF"/>
                </a:solidFill>
                <a:latin typeface="Poppins Bold"/>
                <a:ea typeface="Poppins Bold"/>
                <a:cs typeface="Poppins Bold"/>
                <a:sym typeface="Poppins Bold"/>
              </a:rPr>
              <a:t>D</a:t>
            </a:r>
            <a:r>
              <a:rPr lang="en-US" b="true" sz="1997">
                <a:solidFill>
                  <a:srgbClr val="FFFFFF"/>
                </a:solidFill>
                <a:latin typeface="Poppins Bold"/>
                <a:ea typeface="Poppins Bold"/>
                <a:cs typeface="Poppins Bold"/>
                <a:sym typeface="Poppins Bold"/>
              </a:rPr>
              <a:t>ata Access Con</a:t>
            </a:r>
            <a:r>
              <a:rPr lang="en-US" b="true" sz="1997">
                <a:solidFill>
                  <a:srgbClr val="FFFFFF"/>
                </a:solidFill>
                <a:latin typeface="Poppins Bold"/>
                <a:ea typeface="Poppins Bold"/>
                <a:cs typeface="Poppins Bold"/>
                <a:sym typeface="Poppins Bold"/>
              </a:rPr>
              <a:t>t</a:t>
            </a:r>
            <a:r>
              <a:rPr lang="en-US" b="true" sz="1997">
                <a:solidFill>
                  <a:srgbClr val="FFFFFF"/>
                </a:solidFill>
                <a:latin typeface="Poppins Bold"/>
                <a:ea typeface="Poppins Bold"/>
                <a:cs typeface="Poppins Bold"/>
                <a:sym typeface="Poppins Bold"/>
              </a:rPr>
              <a:t>rols</a:t>
            </a:r>
          </a:p>
        </p:txBody>
      </p:sp>
      <p:sp>
        <p:nvSpPr>
          <p:cNvPr name="TextBox 10" id="10"/>
          <p:cNvSpPr txBox="true"/>
          <p:nvPr/>
        </p:nvSpPr>
        <p:spPr>
          <a:xfrm rot="0">
            <a:off x="11844267" y="1652797"/>
            <a:ext cx="3605528" cy="3272044"/>
          </a:xfrm>
          <a:prstGeom prst="rect">
            <a:avLst/>
          </a:prstGeom>
        </p:spPr>
        <p:txBody>
          <a:bodyPr anchor="t" rtlCol="false" tIns="0" lIns="0" bIns="0" rIns="0">
            <a:spAutoFit/>
          </a:bodyPr>
          <a:lstStyle/>
          <a:p>
            <a:pPr algn="l" marL="475205" indent="-237602" lvl="1">
              <a:lnSpc>
                <a:spcPts val="2377"/>
              </a:lnSpc>
              <a:spcBef>
                <a:spcPct val="0"/>
              </a:spcBef>
              <a:buFont typeface="Arial"/>
              <a:buChar char="•"/>
            </a:pPr>
            <a:r>
              <a:rPr lang="en-US" sz="2201">
                <a:solidFill>
                  <a:srgbClr val="FFFFFF"/>
                </a:solidFill>
                <a:latin typeface="Poppins"/>
                <a:ea typeface="Poppins"/>
                <a:cs typeface="Poppins"/>
                <a:sym typeface="Poppins"/>
              </a:rPr>
              <a:t>Encrypt CSV fil</a:t>
            </a:r>
            <a:r>
              <a:rPr lang="en-US" sz="2201">
                <a:solidFill>
                  <a:srgbClr val="FFFFFF"/>
                </a:solidFill>
                <a:latin typeface="Poppins"/>
                <a:ea typeface="Poppins"/>
                <a:cs typeface="Poppins"/>
                <a:sym typeface="Poppins"/>
              </a:rPr>
              <a:t>es and backup datasets during transfer or if stored on shared devi</a:t>
            </a:r>
            <a:r>
              <a:rPr lang="en-US" sz="2201">
                <a:solidFill>
                  <a:srgbClr val="FFFFFF"/>
                </a:solidFill>
                <a:latin typeface="Poppins"/>
                <a:ea typeface="Poppins"/>
                <a:cs typeface="Poppins"/>
                <a:sym typeface="Poppins"/>
              </a:rPr>
              <a:t>ces.</a:t>
            </a:r>
          </a:p>
          <a:p>
            <a:pPr algn="l">
              <a:lnSpc>
                <a:spcPts val="2377"/>
              </a:lnSpc>
              <a:spcBef>
                <a:spcPct val="0"/>
              </a:spcBef>
            </a:pPr>
          </a:p>
          <a:p>
            <a:pPr algn="l" marL="475205" indent="-237602" lvl="1">
              <a:lnSpc>
                <a:spcPts val="2377"/>
              </a:lnSpc>
              <a:spcBef>
                <a:spcPct val="0"/>
              </a:spcBef>
              <a:buFont typeface="Arial"/>
              <a:buChar char="•"/>
            </a:pPr>
            <a:r>
              <a:rPr lang="en-US" sz="2201">
                <a:solidFill>
                  <a:srgbClr val="FFFFFF"/>
                </a:solidFill>
                <a:latin typeface="Poppins"/>
                <a:ea typeface="Poppins"/>
                <a:cs typeface="Poppins"/>
                <a:sym typeface="Poppins"/>
              </a:rPr>
              <a:t>Us</a:t>
            </a:r>
            <a:r>
              <a:rPr lang="en-US" sz="2201">
                <a:solidFill>
                  <a:srgbClr val="FFFFFF"/>
                </a:solidFill>
                <a:latin typeface="Poppins"/>
                <a:ea typeface="Poppins"/>
                <a:cs typeface="Poppins"/>
                <a:sym typeface="Poppins"/>
              </a:rPr>
              <a:t>e</a:t>
            </a:r>
            <a:r>
              <a:rPr lang="en-US" sz="2201">
                <a:solidFill>
                  <a:srgbClr val="FFFFFF"/>
                </a:solidFill>
                <a:latin typeface="Poppins"/>
                <a:ea typeface="Poppins"/>
                <a:cs typeface="Poppins"/>
                <a:sym typeface="Poppins"/>
              </a:rPr>
              <a:t> pl</a:t>
            </a:r>
            <a:r>
              <a:rPr lang="en-US" sz="2201">
                <a:solidFill>
                  <a:srgbClr val="FFFFFF"/>
                </a:solidFill>
                <a:latin typeface="Poppins"/>
                <a:ea typeface="Poppins"/>
                <a:cs typeface="Poppins"/>
                <a:sym typeface="Poppins"/>
              </a:rPr>
              <a:t>at</a:t>
            </a:r>
            <a:r>
              <a:rPr lang="en-US" sz="2201">
                <a:solidFill>
                  <a:srgbClr val="FFFFFF"/>
                </a:solidFill>
                <a:latin typeface="Poppins"/>
                <a:ea typeface="Poppins"/>
                <a:cs typeface="Poppins"/>
                <a:sym typeface="Poppins"/>
              </a:rPr>
              <a:t>f</a:t>
            </a:r>
            <a:r>
              <a:rPr lang="en-US" sz="2201">
                <a:solidFill>
                  <a:srgbClr val="FFFFFF"/>
                </a:solidFill>
                <a:latin typeface="Poppins"/>
                <a:ea typeface="Poppins"/>
                <a:cs typeface="Poppins"/>
                <a:sym typeface="Poppins"/>
              </a:rPr>
              <a:t>o</a:t>
            </a:r>
            <a:r>
              <a:rPr lang="en-US" sz="2201">
                <a:solidFill>
                  <a:srgbClr val="FFFFFF"/>
                </a:solidFill>
                <a:latin typeface="Poppins"/>
                <a:ea typeface="Poppins"/>
                <a:cs typeface="Poppins"/>
                <a:sym typeface="Poppins"/>
              </a:rPr>
              <a:t>rms</a:t>
            </a:r>
            <a:r>
              <a:rPr lang="en-US" sz="2201">
                <a:solidFill>
                  <a:srgbClr val="FFFFFF"/>
                </a:solidFill>
                <a:latin typeface="Poppins"/>
                <a:ea typeface="Poppins"/>
                <a:cs typeface="Poppins"/>
                <a:sym typeface="Poppins"/>
              </a:rPr>
              <a:t> that support end-to-end encryption for sensitive analysis.</a:t>
            </a:r>
          </a:p>
          <a:p>
            <a:pPr algn="l">
              <a:lnSpc>
                <a:spcPts val="2377"/>
              </a:lnSpc>
              <a:spcBef>
                <a:spcPct val="0"/>
              </a:spcBef>
            </a:pPr>
          </a:p>
        </p:txBody>
      </p:sp>
      <p:sp>
        <p:nvSpPr>
          <p:cNvPr name="TextBox 11" id="11"/>
          <p:cNvSpPr txBox="true"/>
          <p:nvPr/>
        </p:nvSpPr>
        <p:spPr>
          <a:xfrm rot="0">
            <a:off x="11865974" y="1117660"/>
            <a:ext cx="3702893" cy="303099"/>
          </a:xfrm>
          <a:prstGeom prst="rect">
            <a:avLst/>
          </a:prstGeom>
        </p:spPr>
        <p:txBody>
          <a:bodyPr anchor="t" rtlCol="false" tIns="0" lIns="0" bIns="0" rIns="0">
            <a:spAutoFit/>
          </a:bodyPr>
          <a:lstStyle/>
          <a:p>
            <a:pPr algn="l">
              <a:lnSpc>
                <a:spcPts val="2157"/>
              </a:lnSpc>
              <a:spcBef>
                <a:spcPct val="0"/>
              </a:spcBef>
            </a:pPr>
            <a:r>
              <a:rPr lang="en-US" b="true" sz="1997">
                <a:solidFill>
                  <a:srgbClr val="FFFFFF"/>
                </a:solidFill>
                <a:latin typeface="Poppins Bold"/>
                <a:ea typeface="Poppins Bold"/>
                <a:cs typeface="Poppins Bold"/>
                <a:sym typeface="Poppins Bold"/>
              </a:rPr>
              <a:t>Data</a:t>
            </a:r>
            <a:r>
              <a:rPr lang="en-US" b="true" sz="1997">
                <a:solidFill>
                  <a:srgbClr val="FFFFFF"/>
                </a:solidFill>
                <a:latin typeface="Poppins Bold"/>
                <a:ea typeface="Poppins Bold"/>
                <a:cs typeface="Poppins Bold"/>
                <a:sym typeface="Poppins Bold"/>
              </a:rPr>
              <a:t> Encrypti</a:t>
            </a:r>
            <a:r>
              <a:rPr lang="en-US" b="true" sz="1997">
                <a:solidFill>
                  <a:srgbClr val="FFFFFF"/>
                </a:solidFill>
                <a:latin typeface="Poppins Bold"/>
                <a:ea typeface="Poppins Bold"/>
                <a:cs typeface="Poppins Bold"/>
                <a:sym typeface="Poppins Bold"/>
              </a:rPr>
              <a:t>on</a:t>
            </a:r>
          </a:p>
        </p:txBody>
      </p:sp>
      <p:grpSp>
        <p:nvGrpSpPr>
          <p:cNvPr name="Group 12" id="12"/>
          <p:cNvGrpSpPr/>
          <p:nvPr/>
        </p:nvGrpSpPr>
        <p:grpSpPr>
          <a:xfrm rot="0">
            <a:off x="11472220" y="5262778"/>
            <a:ext cx="4350323" cy="3995522"/>
            <a:chOff x="0" y="0"/>
            <a:chExt cx="2101405" cy="1930020"/>
          </a:xfrm>
        </p:grpSpPr>
        <p:sp>
          <p:nvSpPr>
            <p:cNvPr name="Freeform 13" id="13"/>
            <p:cNvSpPr/>
            <p:nvPr/>
          </p:nvSpPr>
          <p:spPr>
            <a:xfrm flipH="false" flipV="false" rot="0">
              <a:off x="0" y="0"/>
              <a:ext cx="2101405" cy="1930020"/>
            </a:xfrm>
            <a:custGeom>
              <a:avLst/>
              <a:gdLst/>
              <a:ahLst/>
              <a:cxnLst/>
              <a:rect r="r" b="b" t="t" l="l"/>
              <a:pathLst>
                <a:path h="1930020" w="2101405">
                  <a:moveTo>
                    <a:pt x="44490" y="0"/>
                  </a:moveTo>
                  <a:lnTo>
                    <a:pt x="2056915" y="0"/>
                  </a:lnTo>
                  <a:cubicBezTo>
                    <a:pt x="2068714" y="0"/>
                    <a:pt x="2080031" y="4687"/>
                    <a:pt x="2088374" y="13031"/>
                  </a:cubicBezTo>
                  <a:cubicBezTo>
                    <a:pt x="2096718" y="21375"/>
                    <a:pt x="2101405" y="32691"/>
                    <a:pt x="2101405" y="44490"/>
                  </a:cubicBezTo>
                  <a:lnTo>
                    <a:pt x="2101405" y="1885530"/>
                  </a:lnTo>
                  <a:cubicBezTo>
                    <a:pt x="2101405" y="1897330"/>
                    <a:pt x="2096718" y="1908646"/>
                    <a:pt x="2088374" y="1916989"/>
                  </a:cubicBezTo>
                  <a:cubicBezTo>
                    <a:pt x="2080031" y="1925333"/>
                    <a:pt x="2068714" y="1930020"/>
                    <a:pt x="2056915" y="1930020"/>
                  </a:cubicBezTo>
                  <a:lnTo>
                    <a:pt x="44490" y="1930020"/>
                  </a:lnTo>
                  <a:cubicBezTo>
                    <a:pt x="32691" y="1930020"/>
                    <a:pt x="21375" y="1925333"/>
                    <a:pt x="13031" y="1916989"/>
                  </a:cubicBezTo>
                  <a:cubicBezTo>
                    <a:pt x="4687" y="1908646"/>
                    <a:pt x="0" y="1897330"/>
                    <a:pt x="0" y="1885530"/>
                  </a:cubicBezTo>
                  <a:lnTo>
                    <a:pt x="0" y="44490"/>
                  </a:lnTo>
                  <a:cubicBezTo>
                    <a:pt x="0" y="32691"/>
                    <a:pt x="4687" y="21375"/>
                    <a:pt x="13031" y="13031"/>
                  </a:cubicBezTo>
                  <a:cubicBezTo>
                    <a:pt x="21375" y="4687"/>
                    <a:pt x="32691" y="0"/>
                    <a:pt x="44490" y="0"/>
                  </a:cubicBezTo>
                  <a:close/>
                </a:path>
              </a:pathLst>
            </a:custGeom>
            <a:solidFill>
              <a:srgbClr val="2A3066">
                <a:alpha val="55686"/>
              </a:srgbClr>
            </a:solidFill>
          </p:spPr>
        </p:sp>
        <p:sp>
          <p:nvSpPr>
            <p:cNvPr name="TextBox 14" id="14"/>
            <p:cNvSpPr txBox="true"/>
            <p:nvPr/>
          </p:nvSpPr>
          <p:spPr>
            <a:xfrm>
              <a:off x="0" y="-66675"/>
              <a:ext cx="2101405" cy="1996695"/>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15" id="15"/>
          <p:cNvSpPr txBox="true"/>
          <p:nvPr/>
        </p:nvSpPr>
        <p:spPr>
          <a:xfrm rot="0">
            <a:off x="11843695" y="5959224"/>
            <a:ext cx="3605528" cy="3493426"/>
          </a:xfrm>
          <a:prstGeom prst="rect">
            <a:avLst/>
          </a:prstGeom>
        </p:spPr>
        <p:txBody>
          <a:bodyPr anchor="t" rtlCol="false" tIns="0" lIns="0" bIns="0" rIns="0">
            <a:spAutoFit/>
          </a:bodyPr>
          <a:lstStyle/>
          <a:p>
            <a:pPr algn="l" marL="507894" indent="-253947" lvl="1">
              <a:lnSpc>
                <a:spcPts val="2540"/>
              </a:lnSpc>
              <a:spcBef>
                <a:spcPct val="0"/>
              </a:spcBef>
              <a:buFont typeface="Arial"/>
              <a:buChar char="•"/>
            </a:pPr>
            <a:r>
              <a:rPr lang="en-US" sz="2352">
                <a:solidFill>
                  <a:srgbClr val="FFFFFF"/>
                </a:solidFill>
                <a:latin typeface="Poppins"/>
                <a:ea typeface="Poppins"/>
                <a:cs typeface="Poppins"/>
                <a:sym typeface="Poppins"/>
              </a:rPr>
              <a:t>Mainta</a:t>
            </a:r>
            <a:r>
              <a:rPr lang="en-US" sz="2352">
                <a:solidFill>
                  <a:srgbClr val="FFFFFF"/>
                </a:solidFill>
                <a:latin typeface="Poppins"/>
                <a:ea typeface="Poppins"/>
                <a:cs typeface="Poppins"/>
                <a:sym typeface="Poppins"/>
              </a:rPr>
              <a:t>in version history of datasets and r</a:t>
            </a:r>
            <a:r>
              <a:rPr lang="en-US" sz="2352">
                <a:solidFill>
                  <a:srgbClr val="FFFFFF"/>
                </a:solidFill>
                <a:latin typeface="Poppins"/>
                <a:ea typeface="Poppins"/>
                <a:cs typeface="Poppins"/>
                <a:sym typeface="Poppins"/>
              </a:rPr>
              <a:t>e</a:t>
            </a:r>
            <a:r>
              <a:rPr lang="en-US" sz="2352">
                <a:solidFill>
                  <a:srgbClr val="FFFFFF"/>
                </a:solidFill>
                <a:latin typeface="Poppins"/>
                <a:ea typeface="Poppins"/>
                <a:cs typeface="Poppins"/>
                <a:sym typeface="Poppins"/>
              </a:rPr>
              <a:t>p</a:t>
            </a:r>
            <a:r>
              <a:rPr lang="en-US" sz="2352">
                <a:solidFill>
                  <a:srgbClr val="FFFFFF"/>
                </a:solidFill>
                <a:latin typeface="Poppins"/>
                <a:ea typeface="Poppins"/>
                <a:cs typeface="Poppins"/>
                <a:sym typeface="Poppins"/>
              </a:rPr>
              <a:t>o</a:t>
            </a:r>
            <a:r>
              <a:rPr lang="en-US" sz="2352">
                <a:solidFill>
                  <a:srgbClr val="FFFFFF"/>
                </a:solidFill>
                <a:latin typeface="Poppins"/>
                <a:ea typeface="Poppins"/>
                <a:cs typeface="Poppins"/>
                <a:sym typeface="Poppins"/>
              </a:rPr>
              <a:t>rts </a:t>
            </a:r>
            <a:r>
              <a:rPr lang="en-US" sz="2352">
                <a:solidFill>
                  <a:srgbClr val="FFFFFF"/>
                </a:solidFill>
                <a:latin typeface="Poppins"/>
                <a:ea typeface="Poppins"/>
                <a:cs typeface="Poppins"/>
                <a:sym typeface="Poppins"/>
              </a:rPr>
              <a:t>to </a:t>
            </a:r>
            <a:r>
              <a:rPr lang="en-US" sz="2352">
                <a:solidFill>
                  <a:srgbClr val="FFFFFF"/>
                </a:solidFill>
                <a:latin typeface="Poppins"/>
                <a:ea typeface="Poppins"/>
                <a:cs typeface="Poppins"/>
                <a:sym typeface="Poppins"/>
              </a:rPr>
              <a:t>quickly recover from data loss or tampering.</a:t>
            </a:r>
          </a:p>
          <a:p>
            <a:pPr algn="l">
              <a:lnSpc>
                <a:spcPts val="2540"/>
              </a:lnSpc>
              <a:spcBef>
                <a:spcPct val="0"/>
              </a:spcBef>
            </a:pPr>
          </a:p>
          <a:p>
            <a:pPr algn="l" marL="507894" indent="-253947" lvl="1">
              <a:lnSpc>
                <a:spcPts val="2540"/>
              </a:lnSpc>
              <a:spcBef>
                <a:spcPct val="0"/>
              </a:spcBef>
              <a:buFont typeface="Arial"/>
              <a:buChar char="•"/>
            </a:pPr>
            <a:r>
              <a:rPr lang="en-US" sz="2352">
                <a:solidFill>
                  <a:srgbClr val="FFFFFF"/>
                </a:solidFill>
                <a:latin typeface="Poppins"/>
                <a:ea typeface="Poppins"/>
                <a:cs typeface="Poppins"/>
                <a:sym typeface="Poppins"/>
              </a:rPr>
              <a:t>Schedule regular automated backups.</a:t>
            </a:r>
          </a:p>
          <a:p>
            <a:pPr algn="l">
              <a:lnSpc>
                <a:spcPts val="2540"/>
              </a:lnSpc>
              <a:spcBef>
                <a:spcPct val="0"/>
              </a:spcBef>
            </a:pPr>
          </a:p>
        </p:txBody>
      </p:sp>
      <p:sp>
        <p:nvSpPr>
          <p:cNvPr name="TextBox 16" id="16"/>
          <p:cNvSpPr txBox="true"/>
          <p:nvPr/>
        </p:nvSpPr>
        <p:spPr>
          <a:xfrm rot="0">
            <a:off x="11865974" y="5489818"/>
            <a:ext cx="3702893" cy="283254"/>
          </a:xfrm>
          <a:prstGeom prst="rect">
            <a:avLst/>
          </a:prstGeom>
        </p:spPr>
        <p:txBody>
          <a:bodyPr anchor="t" rtlCol="false" tIns="0" lIns="0" bIns="0" rIns="0">
            <a:spAutoFit/>
          </a:bodyPr>
          <a:lstStyle/>
          <a:p>
            <a:pPr algn="l">
              <a:lnSpc>
                <a:spcPts val="2080"/>
              </a:lnSpc>
              <a:spcBef>
                <a:spcPct val="0"/>
              </a:spcBef>
            </a:pPr>
            <a:r>
              <a:rPr lang="en-US" b="true" sz="1926">
                <a:solidFill>
                  <a:srgbClr val="FFFFFF"/>
                </a:solidFill>
                <a:latin typeface="Poppins Bold"/>
                <a:ea typeface="Poppins Bold"/>
                <a:cs typeface="Poppins Bold"/>
                <a:sym typeface="Poppins Bold"/>
              </a:rPr>
              <a:t>Version Control &amp; Backup</a:t>
            </a:r>
          </a:p>
        </p:txBody>
      </p:sp>
      <p:grpSp>
        <p:nvGrpSpPr>
          <p:cNvPr name="Group 17" id="17"/>
          <p:cNvGrpSpPr/>
          <p:nvPr/>
        </p:nvGrpSpPr>
        <p:grpSpPr>
          <a:xfrm rot="0">
            <a:off x="2465457" y="5262778"/>
            <a:ext cx="4350323" cy="3995522"/>
            <a:chOff x="0" y="0"/>
            <a:chExt cx="2101405" cy="1930020"/>
          </a:xfrm>
        </p:grpSpPr>
        <p:sp>
          <p:nvSpPr>
            <p:cNvPr name="Freeform 18" id="18"/>
            <p:cNvSpPr/>
            <p:nvPr/>
          </p:nvSpPr>
          <p:spPr>
            <a:xfrm flipH="false" flipV="false" rot="0">
              <a:off x="0" y="0"/>
              <a:ext cx="2101405" cy="1930020"/>
            </a:xfrm>
            <a:custGeom>
              <a:avLst/>
              <a:gdLst/>
              <a:ahLst/>
              <a:cxnLst/>
              <a:rect r="r" b="b" t="t" l="l"/>
              <a:pathLst>
                <a:path h="1930020" w="2101405">
                  <a:moveTo>
                    <a:pt x="44490" y="0"/>
                  </a:moveTo>
                  <a:lnTo>
                    <a:pt x="2056915" y="0"/>
                  </a:lnTo>
                  <a:cubicBezTo>
                    <a:pt x="2068714" y="0"/>
                    <a:pt x="2080031" y="4687"/>
                    <a:pt x="2088374" y="13031"/>
                  </a:cubicBezTo>
                  <a:cubicBezTo>
                    <a:pt x="2096718" y="21375"/>
                    <a:pt x="2101405" y="32691"/>
                    <a:pt x="2101405" y="44490"/>
                  </a:cubicBezTo>
                  <a:lnTo>
                    <a:pt x="2101405" y="1885530"/>
                  </a:lnTo>
                  <a:cubicBezTo>
                    <a:pt x="2101405" y="1897330"/>
                    <a:pt x="2096718" y="1908646"/>
                    <a:pt x="2088374" y="1916989"/>
                  </a:cubicBezTo>
                  <a:cubicBezTo>
                    <a:pt x="2080031" y="1925333"/>
                    <a:pt x="2068714" y="1930020"/>
                    <a:pt x="2056915" y="1930020"/>
                  </a:cubicBezTo>
                  <a:lnTo>
                    <a:pt x="44490" y="1930020"/>
                  </a:lnTo>
                  <a:cubicBezTo>
                    <a:pt x="32691" y="1930020"/>
                    <a:pt x="21375" y="1925333"/>
                    <a:pt x="13031" y="1916989"/>
                  </a:cubicBezTo>
                  <a:cubicBezTo>
                    <a:pt x="4687" y="1908646"/>
                    <a:pt x="0" y="1897330"/>
                    <a:pt x="0" y="1885530"/>
                  </a:cubicBezTo>
                  <a:lnTo>
                    <a:pt x="0" y="44490"/>
                  </a:lnTo>
                  <a:cubicBezTo>
                    <a:pt x="0" y="32691"/>
                    <a:pt x="4687" y="21375"/>
                    <a:pt x="13031" y="13031"/>
                  </a:cubicBezTo>
                  <a:cubicBezTo>
                    <a:pt x="21375" y="4687"/>
                    <a:pt x="32691" y="0"/>
                    <a:pt x="44490" y="0"/>
                  </a:cubicBezTo>
                  <a:close/>
                </a:path>
              </a:pathLst>
            </a:custGeom>
            <a:solidFill>
              <a:srgbClr val="2A3066">
                <a:alpha val="55686"/>
              </a:srgbClr>
            </a:solidFill>
          </p:spPr>
        </p:sp>
        <p:sp>
          <p:nvSpPr>
            <p:cNvPr name="TextBox 19" id="19"/>
            <p:cNvSpPr txBox="true"/>
            <p:nvPr/>
          </p:nvSpPr>
          <p:spPr>
            <a:xfrm>
              <a:off x="0" y="-66675"/>
              <a:ext cx="2101405" cy="1996695"/>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20" id="20"/>
          <p:cNvGrpSpPr/>
          <p:nvPr/>
        </p:nvGrpSpPr>
        <p:grpSpPr>
          <a:xfrm rot="0">
            <a:off x="6969497" y="5262778"/>
            <a:ext cx="4350323" cy="3995522"/>
            <a:chOff x="0" y="0"/>
            <a:chExt cx="2101405" cy="1930020"/>
          </a:xfrm>
        </p:grpSpPr>
        <p:sp>
          <p:nvSpPr>
            <p:cNvPr name="Freeform 21" id="21"/>
            <p:cNvSpPr/>
            <p:nvPr/>
          </p:nvSpPr>
          <p:spPr>
            <a:xfrm flipH="false" flipV="false" rot="0">
              <a:off x="0" y="0"/>
              <a:ext cx="2101405" cy="1930020"/>
            </a:xfrm>
            <a:custGeom>
              <a:avLst/>
              <a:gdLst/>
              <a:ahLst/>
              <a:cxnLst/>
              <a:rect r="r" b="b" t="t" l="l"/>
              <a:pathLst>
                <a:path h="1930020" w="2101405">
                  <a:moveTo>
                    <a:pt x="44490" y="0"/>
                  </a:moveTo>
                  <a:lnTo>
                    <a:pt x="2056915" y="0"/>
                  </a:lnTo>
                  <a:cubicBezTo>
                    <a:pt x="2068714" y="0"/>
                    <a:pt x="2080031" y="4687"/>
                    <a:pt x="2088374" y="13031"/>
                  </a:cubicBezTo>
                  <a:cubicBezTo>
                    <a:pt x="2096718" y="21375"/>
                    <a:pt x="2101405" y="32691"/>
                    <a:pt x="2101405" y="44490"/>
                  </a:cubicBezTo>
                  <a:lnTo>
                    <a:pt x="2101405" y="1885530"/>
                  </a:lnTo>
                  <a:cubicBezTo>
                    <a:pt x="2101405" y="1897330"/>
                    <a:pt x="2096718" y="1908646"/>
                    <a:pt x="2088374" y="1916989"/>
                  </a:cubicBezTo>
                  <a:cubicBezTo>
                    <a:pt x="2080031" y="1925333"/>
                    <a:pt x="2068714" y="1930020"/>
                    <a:pt x="2056915" y="1930020"/>
                  </a:cubicBezTo>
                  <a:lnTo>
                    <a:pt x="44490" y="1930020"/>
                  </a:lnTo>
                  <a:cubicBezTo>
                    <a:pt x="32691" y="1930020"/>
                    <a:pt x="21375" y="1925333"/>
                    <a:pt x="13031" y="1916989"/>
                  </a:cubicBezTo>
                  <a:cubicBezTo>
                    <a:pt x="4687" y="1908646"/>
                    <a:pt x="0" y="1897330"/>
                    <a:pt x="0" y="1885530"/>
                  </a:cubicBezTo>
                  <a:lnTo>
                    <a:pt x="0" y="44490"/>
                  </a:lnTo>
                  <a:cubicBezTo>
                    <a:pt x="0" y="32691"/>
                    <a:pt x="4687" y="21375"/>
                    <a:pt x="13031" y="13031"/>
                  </a:cubicBezTo>
                  <a:cubicBezTo>
                    <a:pt x="21375" y="4687"/>
                    <a:pt x="32691" y="0"/>
                    <a:pt x="44490" y="0"/>
                  </a:cubicBezTo>
                  <a:close/>
                </a:path>
              </a:pathLst>
            </a:custGeom>
            <a:solidFill>
              <a:srgbClr val="2A3066">
                <a:alpha val="55686"/>
              </a:srgbClr>
            </a:solidFill>
          </p:spPr>
        </p:sp>
        <p:sp>
          <p:nvSpPr>
            <p:cNvPr name="TextBox 22" id="22"/>
            <p:cNvSpPr txBox="true"/>
            <p:nvPr/>
          </p:nvSpPr>
          <p:spPr>
            <a:xfrm>
              <a:off x="0" y="-66675"/>
              <a:ext cx="2101405" cy="1996695"/>
            </a:xfrm>
            <a:prstGeom prst="rect">
              <a:avLst/>
            </a:prstGeom>
          </p:spPr>
          <p:txBody>
            <a:bodyPr anchor="ctr" rtlCol="false" tIns="50800" lIns="50800" bIns="50800" rIns="50800"/>
            <a:lstStyle/>
            <a:p>
              <a:pPr algn="ctr">
                <a:lnSpc>
                  <a:spcPts val="2921"/>
                </a:lnSpc>
              </a:pPr>
            </a:p>
          </p:txBody>
        </p:sp>
      </p:grpSp>
      <p:sp>
        <p:nvSpPr>
          <p:cNvPr name="TextBox 23" id="23"/>
          <p:cNvSpPr txBox="true"/>
          <p:nvPr/>
        </p:nvSpPr>
        <p:spPr>
          <a:xfrm rot="0">
            <a:off x="2772361" y="5959224"/>
            <a:ext cx="3605528" cy="3081974"/>
          </a:xfrm>
          <a:prstGeom prst="rect">
            <a:avLst/>
          </a:prstGeom>
        </p:spPr>
        <p:txBody>
          <a:bodyPr anchor="t" rtlCol="false" tIns="0" lIns="0" bIns="0" rIns="0">
            <a:spAutoFit/>
          </a:bodyPr>
          <a:lstStyle/>
          <a:p>
            <a:pPr algn="l" marL="481301" indent="-240651" lvl="1">
              <a:lnSpc>
                <a:spcPts val="2407"/>
              </a:lnSpc>
              <a:spcBef>
                <a:spcPct val="0"/>
              </a:spcBef>
              <a:buFont typeface="Arial"/>
              <a:buChar char="•"/>
            </a:pPr>
            <a:r>
              <a:rPr lang="en-US" sz="2229">
                <a:solidFill>
                  <a:srgbClr val="FFFFFF"/>
                </a:solidFill>
                <a:latin typeface="Poppins"/>
                <a:ea typeface="Poppins"/>
                <a:cs typeface="Poppins"/>
                <a:sym typeface="Poppins"/>
              </a:rPr>
              <a:t>Keep Orange </a:t>
            </a:r>
            <a:r>
              <a:rPr lang="en-US" sz="2229">
                <a:solidFill>
                  <a:srgbClr val="FFFFFF"/>
                </a:solidFill>
                <a:latin typeface="Poppins"/>
                <a:ea typeface="Poppins"/>
                <a:cs typeface="Poppins"/>
                <a:sym typeface="Poppins"/>
              </a:rPr>
              <a:t>and Power BI tools up-to-date to avoid vulnerabilities.</a:t>
            </a:r>
          </a:p>
          <a:p>
            <a:pPr algn="l">
              <a:lnSpc>
                <a:spcPts val="2407"/>
              </a:lnSpc>
              <a:spcBef>
                <a:spcPct val="0"/>
              </a:spcBef>
            </a:pPr>
          </a:p>
          <a:p>
            <a:pPr algn="l" marL="481301" indent="-240651" lvl="1">
              <a:lnSpc>
                <a:spcPts val="2407"/>
              </a:lnSpc>
              <a:spcBef>
                <a:spcPct val="0"/>
              </a:spcBef>
              <a:buFont typeface="Arial"/>
              <a:buChar char="•"/>
            </a:pPr>
            <a:r>
              <a:rPr lang="en-US" sz="2229">
                <a:solidFill>
                  <a:srgbClr val="FFFFFF"/>
                </a:solidFill>
                <a:latin typeface="Poppins"/>
                <a:ea typeface="Poppins"/>
                <a:cs typeface="Poppins"/>
                <a:sym typeface="Poppins"/>
              </a:rPr>
              <a:t>Avo</a:t>
            </a:r>
            <a:r>
              <a:rPr lang="en-US" sz="2229">
                <a:solidFill>
                  <a:srgbClr val="FFFFFF"/>
                </a:solidFill>
                <a:latin typeface="Poppins"/>
                <a:ea typeface="Poppins"/>
                <a:cs typeface="Poppins"/>
                <a:sym typeface="Poppins"/>
              </a:rPr>
              <a:t>i</a:t>
            </a:r>
            <a:r>
              <a:rPr lang="en-US" sz="2229">
                <a:solidFill>
                  <a:srgbClr val="FFFFFF"/>
                </a:solidFill>
                <a:latin typeface="Poppins"/>
                <a:ea typeface="Poppins"/>
                <a:cs typeface="Poppins"/>
                <a:sym typeface="Poppins"/>
              </a:rPr>
              <a:t>d using untru</a:t>
            </a:r>
            <a:r>
              <a:rPr lang="en-US" sz="2229">
                <a:solidFill>
                  <a:srgbClr val="FFFFFF"/>
                </a:solidFill>
                <a:latin typeface="Poppins"/>
                <a:ea typeface="Poppins"/>
                <a:cs typeface="Poppins"/>
                <a:sym typeface="Poppins"/>
              </a:rPr>
              <a:t>s</a:t>
            </a:r>
            <a:r>
              <a:rPr lang="en-US" sz="2229">
                <a:solidFill>
                  <a:srgbClr val="FFFFFF"/>
                </a:solidFill>
                <a:latin typeface="Poppins"/>
                <a:ea typeface="Poppins"/>
                <a:cs typeface="Poppins"/>
                <a:sym typeface="Poppins"/>
              </a:rPr>
              <a:t>ted third-party plugins or scripts when processing data.</a:t>
            </a:r>
          </a:p>
          <a:p>
            <a:pPr algn="l">
              <a:lnSpc>
                <a:spcPts val="2407"/>
              </a:lnSpc>
              <a:spcBef>
                <a:spcPct val="0"/>
              </a:spcBef>
            </a:pPr>
          </a:p>
        </p:txBody>
      </p:sp>
      <p:sp>
        <p:nvSpPr>
          <p:cNvPr name="TextBox 24" id="24"/>
          <p:cNvSpPr txBox="true"/>
          <p:nvPr/>
        </p:nvSpPr>
        <p:spPr>
          <a:xfrm rot="0">
            <a:off x="2723679" y="5464881"/>
            <a:ext cx="3702893" cy="308190"/>
          </a:xfrm>
          <a:prstGeom prst="rect">
            <a:avLst/>
          </a:prstGeom>
        </p:spPr>
        <p:txBody>
          <a:bodyPr anchor="t" rtlCol="false" tIns="0" lIns="0" bIns="0" rIns="0">
            <a:spAutoFit/>
          </a:bodyPr>
          <a:lstStyle/>
          <a:p>
            <a:pPr algn="l">
              <a:lnSpc>
                <a:spcPts val="2265"/>
              </a:lnSpc>
              <a:spcBef>
                <a:spcPct val="0"/>
              </a:spcBef>
            </a:pPr>
            <a:r>
              <a:rPr lang="en-US" b="true" sz="2097">
                <a:solidFill>
                  <a:srgbClr val="FFFFFF"/>
                </a:solidFill>
                <a:latin typeface="Poppins Bold"/>
                <a:ea typeface="Poppins Bold"/>
                <a:cs typeface="Poppins Bold"/>
                <a:sym typeface="Poppins Bold"/>
              </a:rPr>
              <a:t>Secu</a:t>
            </a:r>
            <a:r>
              <a:rPr lang="en-US" b="true" sz="2097">
                <a:solidFill>
                  <a:srgbClr val="FFFFFF"/>
                </a:solidFill>
                <a:latin typeface="Poppins Bold"/>
                <a:ea typeface="Poppins Bold"/>
                <a:cs typeface="Poppins Bold"/>
                <a:sym typeface="Poppins Bold"/>
              </a:rPr>
              <a:t>re Softwa</a:t>
            </a:r>
            <a:r>
              <a:rPr lang="en-US" b="true" sz="2097">
                <a:solidFill>
                  <a:srgbClr val="FFFFFF"/>
                </a:solidFill>
                <a:latin typeface="Poppins Bold"/>
                <a:ea typeface="Poppins Bold"/>
                <a:cs typeface="Poppins Bold"/>
                <a:sym typeface="Poppins Bold"/>
              </a:rPr>
              <a:t>r</a:t>
            </a:r>
            <a:r>
              <a:rPr lang="en-US" b="true" sz="2097">
                <a:solidFill>
                  <a:srgbClr val="FFFFFF"/>
                </a:solidFill>
                <a:latin typeface="Poppins Bold"/>
                <a:ea typeface="Poppins Bold"/>
                <a:cs typeface="Poppins Bold"/>
                <a:sym typeface="Poppins Bold"/>
              </a:rPr>
              <a:t>e Practices</a:t>
            </a:r>
          </a:p>
        </p:txBody>
      </p:sp>
      <p:sp>
        <p:nvSpPr>
          <p:cNvPr name="TextBox 25" id="25"/>
          <p:cNvSpPr txBox="true"/>
          <p:nvPr/>
        </p:nvSpPr>
        <p:spPr>
          <a:xfrm rot="0">
            <a:off x="7340577" y="5968749"/>
            <a:ext cx="3605528" cy="3241945"/>
          </a:xfrm>
          <a:prstGeom prst="rect">
            <a:avLst/>
          </a:prstGeom>
        </p:spPr>
        <p:txBody>
          <a:bodyPr anchor="t" rtlCol="false" tIns="0" lIns="0" bIns="0" rIns="0">
            <a:spAutoFit/>
          </a:bodyPr>
          <a:lstStyle/>
          <a:p>
            <a:pPr algn="l" marL="475205" indent="-237602" lvl="1">
              <a:lnSpc>
                <a:spcPts val="2377"/>
              </a:lnSpc>
              <a:spcBef>
                <a:spcPct val="0"/>
              </a:spcBef>
              <a:buFont typeface="Arial"/>
              <a:buChar char="•"/>
            </a:pPr>
            <a:r>
              <a:rPr lang="en-US" sz="2201">
                <a:solidFill>
                  <a:srgbClr val="FFFFFF"/>
                </a:solidFill>
                <a:latin typeface="Poppins"/>
                <a:ea typeface="Poppins"/>
                <a:cs typeface="Poppins"/>
                <a:sym typeface="Poppins"/>
              </a:rPr>
              <a:t>Shar</a:t>
            </a:r>
            <a:r>
              <a:rPr lang="en-US" sz="2201">
                <a:solidFill>
                  <a:srgbClr val="FFFFFF"/>
                </a:solidFill>
                <a:latin typeface="Poppins"/>
                <a:ea typeface="Poppins"/>
                <a:cs typeface="Poppins"/>
                <a:sym typeface="Poppins"/>
              </a:rPr>
              <a:t>e dashboards and reports using password-protected links or limited</a:t>
            </a:r>
            <a:r>
              <a:rPr lang="en-US" sz="2201">
                <a:solidFill>
                  <a:srgbClr val="FFFFFF"/>
                </a:solidFill>
                <a:latin typeface="Poppins"/>
                <a:ea typeface="Poppins"/>
                <a:cs typeface="Poppins"/>
                <a:sym typeface="Poppins"/>
              </a:rPr>
              <a:t>-</a:t>
            </a:r>
            <a:r>
              <a:rPr lang="en-US" sz="2201">
                <a:solidFill>
                  <a:srgbClr val="FFFFFF"/>
                </a:solidFill>
                <a:latin typeface="Poppins"/>
                <a:ea typeface="Poppins"/>
                <a:cs typeface="Poppins"/>
                <a:sym typeface="Poppins"/>
              </a:rPr>
              <a:t>a</a:t>
            </a:r>
            <a:r>
              <a:rPr lang="en-US" sz="2201">
                <a:solidFill>
                  <a:srgbClr val="FFFFFF"/>
                </a:solidFill>
                <a:latin typeface="Poppins"/>
                <a:ea typeface="Poppins"/>
                <a:cs typeface="Poppins"/>
                <a:sym typeface="Poppins"/>
              </a:rPr>
              <a:t>cces</a:t>
            </a:r>
            <a:r>
              <a:rPr lang="en-US" sz="2201">
                <a:solidFill>
                  <a:srgbClr val="FFFFFF"/>
                </a:solidFill>
                <a:latin typeface="Poppins"/>
                <a:ea typeface="Poppins"/>
                <a:cs typeface="Poppins"/>
                <a:sym typeface="Poppins"/>
              </a:rPr>
              <a:t>s invites, not public URLs.</a:t>
            </a:r>
          </a:p>
          <a:p>
            <a:pPr algn="l">
              <a:lnSpc>
                <a:spcPts val="2377"/>
              </a:lnSpc>
              <a:spcBef>
                <a:spcPct val="0"/>
              </a:spcBef>
            </a:pPr>
          </a:p>
          <a:p>
            <a:pPr algn="l" marL="475205" indent="-237602" lvl="1">
              <a:lnSpc>
                <a:spcPts val="2377"/>
              </a:lnSpc>
              <a:spcBef>
                <a:spcPct val="0"/>
              </a:spcBef>
              <a:buFont typeface="Arial"/>
              <a:buChar char="•"/>
            </a:pPr>
            <a:r>
              <a:rPr lang="en-US" sz="2201">
                <a:solidFill>
                  <a:srgbClr val="FFFFFF"/>
                </a:solidFill>
                <a:latin typeface="Poppins"/>
                <a:ea typeface="Poppins"/>
                <a:cs typeface="Poppins"/>
                <a:sym typeface="Poppins"/>
              </a:rPr>
              <a:t>Watermark </a:t>
            </a:r>
            <a:r>
              <a:rPr lang="en-US" sz="2201">
                <a:solidFill>
                  <a:srgbClr val="FFFFFF"/>
                </a:solidFill>
                <a:latin typeface="Poppins"/>
                <a:ea typeface="Poppins"/>
                <a:cs typeface="Poppins"/>
                <a:sym typeface="Poppins"/>
              </a:rPr>
              <a:t>sen</a:t>
            </a:r>
            <a:r>
              <a:rPr lang="en-US" sz="2201">
                <a:solidFill>
                  <a:srgbClr val="FFFFFF"/>
                </a:solidFill>
                <a:latin typeface="Poppins"/>
                <a:ea typeface="Poppins"/>
                <a:cs typeface="Poppins"/>
                <a:sym typeface="Poppins"/>
              </a:rPr>
              <a:t>sitive documents if needed for traceability.</a:t>
            </a:r>
          </a:p>
          <a:p>
            <a:pPr algn="l">
              <a:lnSpc>
                <a:spcPts val="2161"/>
              </a:lnSpc>
              <a:spcBef>
                <a:spcPct val="0"/>
              </a:spcBef>
            </a:pPr>
          </a:p>
        </p:txBody>
      </p:sp>
      <p:sp>
        <p:nvSpPr>
          <p:cNvPr name="TextBox 26" id="26"/>
          <p:cNvSpPr txBox="true"/>
          <p:nvPr/>
        </p:nvSpPr>
        <p:spPr>
          <a:xfrm rot="0">
            <a:off x="7341895" y="5464881"/>
            <a:ext cx="3702893" cy="308190"/>
          </a:xfrm>
          <a:prstGeom prst="rect">
            <a:avLst/>
          </a:prstGeom>
        </p:spPr>
        <p:txBody>
          <a:bodyPr anchor="t" rtlCol="false" tIns="0" lIns="0" bIns="0" rIns="0">
            <a:spAutoFit/>
          </a:bodyPr>
          <a:lstStyle/>
          <a:p>
            <a:pPr algn="l">
              <a:lnSpc>
                <a:spcPts val="2265"/>
              </a:lnSpc>
              <a:spcBef>
                <a:spcPct val="0"/>
              </a:spcBef>
            </a:pPr>
            <a:r>
              <a:rPr lang="en-US" b="true" sz="2097">
                <a:solidFill>
                  <a:srgbClr val="FFFFFF"/>
                </a:solidFill>
                <a:latin typeface="Poppins Bold"/>
                <a:ea typeface="Poppins Bold"/>
                <a:cs typeface="Poppins Bold"/>
                <a:sym typeface="Poppins Bold"/>
              </a:rPr>
              <a:t>Re</a:t>
            </a:r>
            <a:r>
              <a:rPr lang="en-US" b="true" sz="2097">
                <a:solidFill>
                  <a:srgbClr val="FFFFFF"/>
                </a:solidFill>
                <a:latin typeface="Poppins Bold"/>
                <a:ea typeface="Poppins Bold"/>
                <a:cs typeface="Poppins Bold"/>
                <a:sym typeface="Poppins Bold"/>
              </a:rPr>
              <a:t>sponsible Sharing</a:t>
            </a:r>
          </a:p>
        </p:txBody>
      </p:sp>
      <p:sp>
        <p:nvSpPr>
          <p:cNvPr name="TextBox 27" id="27"/>
          <p:cNvSpPr txBox="true"/>
          <p:nvPr/>
        </p:nvSpPr>
        <p:spPr>
          <a:xfrm rot="0">
            <a:off x="2465457" y="997684"/>
            <a:ext cx="6172396" cy="1459217"/>
          </a:xfrm>
          <a:prstGeom prst="rect">
            <a:avLst/>
          </a:prstGeom>
        </p:spPr>
        <p:txBody>
          <a:bodyPr anchor="t" rtlCol="false" tIns="0" lIns="0" bIns="0" rIns="0">
            <a:spAutoFit/>
          </a:bodyPr>
          <a:lstStyle/>
          <a:p>
            <a:pPr algn="l">
              <a:lnSpc>
                <a:spcPts val="5821"/>
              </a:lnSpc>
              <a:spcBef>
                <a:spcPct val="0"/>
              </a:spcBef>
            </a:pPr>
            <a:r>
              <a:rPr lang="en-US" b="true" sz="3613">
                <a:solidFill>
                  <a:srgbClr val="FFFFFF"/>
                </a:solidFill>
                <a:latin typeface="Poppins Bold"/>
                <a:ea typeface="Poppins Bold"/>
                <a:cs typeface="Poppins Bold"/>
                <a:sym typeface="Poppins Bold"/>
              </a:rPr>
              <a:t>Proposed Security Measures</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15834829" y="4013960"/>
            <a:ext cx="805647" cy="964846"/>
          </a:xfrm>
          <a:custGeom>
            <a:avLst/>
            <a:gdLst/>
            <a:ahLst/>
            <a:cxnLst/>
            <a:rect r="r" b="b" t="t" l="l"/>
            <a:pathLst>
              <a:path h="964846" w="805647">
                <a:moveTo>
                  <a:pt x="0" y="0"/>
                </a:moveTo>
                <a:lnTo>
                  <a:pt x="805647" y="0"/>
                </a:lnTo>
                <a:lnTo>
                  <a:pt x="805647" y="964847"/>
                </a:lnTo>
                <a:lnTo>
                  <a:pt x="0" y="9648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347541"/>
            <a:ext cx="15028640" cy="647700"/>
          </a:xfrm>
          <a:prstGeom prst="rect">
            <a:avLst/>
          </a:prstGeom>
        </p:spPr>
        <p:txBody>
          <a:bodyPr anchor="t" rtlCol="false" tIns="0" lIns="0" bIns="0" rIns="0">
            <a:spAutoFit/>
          </a:bodyPr>
          <a:lstStyle/>
          <a:p>
            <a:pPr algn="l">
              <a:lnSpc>
                <a:spcPts val="4858"/>
              </a:lnSpc>
            </a:pPr>
            <a:r>
              <a:rPr lang="en-US" sz="4048" b="true">
                <a:solidFill>
                  <a:srgbClr val="FFFFFF"/>
                </a:solidFill>
                <a:latin typeface="Poppins Bold"/>
                <a:ea typeface="Poppins Bold"/>
                <a:cs typeface="Poppins Bold"/>
                <a:sym typeface="Poppins Bold"/>
              </a:rPr>
              <a:t>Case Study: Marks &amp; Spencer (M&amp;S) Cyberattack – 2025</a:t>
            </a:r>
          </a:p>
        </p:txBody>
      </p:sp>
    </p:spTree>
  </p:cSld>
  <p:clrMapOvr>
    <a:masterClrMapping/>
  </p:clrMapOvr>
</p:sld>
</file>

<file path=ppt/slides/slide50.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sp>
        <p:nvSpPr>
          <p:cNvPr name="TextBox 2" id="2"/>
          <p:cNvSpPr txBox="true"/>
          <p:nvPr/>
        </p:nvSpPr>
        <p:spPr>
          <a:xfrm rot="0">
            <a:off x="2879486" y="2919793"/>
            <a:ext cx="12847693" cy="4323588"/>
          </a:xfrm>
          <a:prstGeom prst="rect">
            <a:avLst/>
          </a:prstGeom>
        </p:spPr>
        <p:txBody>
          <a:bodyPr anchor="t" rtlCol="false" tIns="0" lIns="0" bIns="0" rIns="0">
            <a:spAutoFit/>
          </a:bodyPr>
          <a:lstStyle/>
          <a:p>
            <a:pPr algn="just">
              <a:lnSpc>
                <a:spcPts val="4895"/>
              </a:lnSpc>
            </a:pPr>
            <a:r>
              <a:rPr lang="en-US" sz="3199">
                <a:solidFill>
                  <a:srgbClr val="FFFFFF"/>
                </a:solidFill>
                <a:latin typeface="Poppins"/>
                <a:ea typeface="Poppins"/>
                <a:cs typeface="Poppins"/>
                <a:sym typeface="Poppins"/>
              </a:rPr>
              <a:t>In early 2025, British retailer Marks &amp; Spencer (M&amp;S) suffered a significant cyberattack attributed to the rans</a:t>
            </a:r>
            <a:r>
              <a:rPr lang="en-US" sz="3199">
                <a:solidFill>
                  <a:srgbClr val="FFFFFF"/>
                </a:solidFill>
                <a:latin typeface="Poppins"/>
                <a:ea typeface="Poppins"/>
                <a:cs typeface="Poppins"/>
                <a:sym typeface="Poppins"/>
              </a:rPr>
              <a:t>omware group "Sca</a:t>
            </a:r>
            <a:r>
              <a:rPr lang="en-US" sz="3199">
                <a:solidFill>
                  <a:srgbClr val="FFFFFF"/>
                </a:solidFill>
                <a:latin typeface="Poppins"/>
                <a:ea typeface="Poppins"/>
                <a:cs typeface="Poppins"/>
                <a:sym typeface="Poppins"/>
              </a:rPr>
              <a:t>ttere</a:t>
            </a:r>
            <a:r>
              <a:rPr lang="en-US" sz="3199">
                <a:solidFill>
                  <a:srgbClr val="FFFFFF"/>
                </a:solidFill>
                <a:latin typeface="Poppins"/>
                <a:ea typeface="Poppins"/>
                <a:cs typeface="Poppins"/>
                <a:sym typeface="Poppins"/>
              </a:rPr>
              <a:t>d Spide</a:t>
            </a:r>
            <a:r>
              <a:rPr lang="en-US" sz="3199">
                <a:solidFill>
                  <a:srgbClr val="FFFFFF"/>
                </a:solidFill>
                <a:latin typeface="Poppins"/>
                <a:ea typeface="Poppins"/>
                <a:cs typeface="Poppins"/>
                <a:sym typeface="Poppins"/>
              </a:rPr>
              <a:t>r." The breach was initiated</a:t>
            </a:r>
            <a:r>
              <a:rPr lang="en-US" sz="3199">
                <a:solidFill>
                  <a:srgbClr val="FFFFFF"/>
                </a:solidFill>
                <a:latin typeface="Poppins"/>
                <a:ea typeface="Poppins"/>
                <a:cs typeface="Poppins"/>
                <a:sym typeface="Poppins"/>
              </a:rPr>
              <a:t> through social </a:t>
            </a:r>
            <a:r>
              <a:rPr lang="en-US" sz="3199">
                <a:solidFill>
                  <a:srgbClr val="FFFFFF"/>
                </a:solidFill>
                <a:latin typeface="Poppins"/>
                <a:ea typeface="Poppins"/>
                <a:cs typeface="Poppins"/>
                <a:sym typeface="Poppins"/>
              </a:rPr>
              <a:t>engineer</a:t>
            </a:r>
            <a:r>
              <a:rPr lang="en-US" sz="3199">
                <a:solidFill>
                  <a:srgbClr val="FFFFFF"/>
                </a:solidFill>
                <a:latin typeface="Poppins"/>
                <a:ea typeface="Poppins"/>
                <a:cs typeface="Poppins"/>
                <a:sym typeface="Poppins"/>
              </a:rPr>
              <a:t>in</a:t>
            </a:r>
            <a:r>
              <a:rPr lang="en-US" sz="3199">
                <a:solidFill>
                  <a:srgbClr val="FFFFFF"/>
                </a:solidFill>
                <a:latin typeface="Poppins"/>
                <a:ea typeface="Poppins"/>
                <a:cs typeface="Poppins"/>
                <a:sym typeface="Poppins"/>
              </a:rPr>
              <a:t>g tactics targeting a third-party supplier, allowing hackers undetected access for 52 hours. This led to the theft of customer personal data, including names, emails, and dates of birth, and forced M&amp;S's online store offline for over three weeks.</a:t>
            </a:r>
          </a:p>
        </p:txBody>
      </p:sp>
      <p:sp>
        <p:nvSpPr>
          <p:cNvPr name="TextBox 3" id="3"/>
          <p:cNvSpPr txBox="true"/>
          <p:nvPr/>
        </p:nvSpPr>
        <p:spPr>
          <a:xfrm rot="0">
            <a:off x="2720153" y="2329385"/>
            <a:ext cx="10214671" cy="614586"/>
          </a:xfrm>
          <a:prstGeom prst="rect">
            <a:avLst/>
          </a:prstGeom>
        </p:spPr>
        <p:txBody>
          <a:bodyPr anchor="t" rtlCol="false" tIns="0" lIns="0" bIns="0" rIns="0">
            <a:spAutoFit/>
          </a:bodyPr>
          <a:lstStyle/>
          <a:p>
            <a:pPr algn="l">
              <a:lnSpc>
                <a:spcPts val="4403"/>
              </a:lnSpc>
              <a:spcBef>
                <a:spcPct val="0"/>
              </a:spcBef>
            </a:pPr>
            <a:r>
              <a:rPr lang="en-US" b="true" sz="4077">
                <a:solidFill>
                  <a:srgbClr val="4187B5"/>
                </a:solidFill>
                <a:latin typeface="Poppins Bold"/>
                <a:ea typeface="Poppins Bold"/>
                <a:cs typeface="Poppins Bold"/>
                <a:sym typeface="Poppins Bold"/>
              </a:rPr>
              <a:t> What Happened?</a:t>
            </a:r>
          </a:p>
        </p:txBody>
      </p:sp>
    </p:spTree>
  </p:cSld>
  <p:clrMapOvr>
    <a:masterClrMapping/>
  </p:clrMapOvr>
</p:sld>
</file>

<file path=ppt/slides/slide51.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821972" y="2237159"/>
            <a:ext cx="12644055" cy="1891876"/>
            <a:chOff x="0" y="0"/>
            <a:chExt cx="4162728" cy="622851"/>
          </a:xfrm>
        </p:grpSpPr>
        <p:sp>
          <p:nvSpPr>
            <p:cNvPr name="Freeform 3" id="3"/>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4" id="4"/>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5" id="5"/>
          <p:cNvGrpSpPr/>
          <p:nvPr/>
        </p:nvGrpSpPr>
        <p:grpSpPr>
          <a:xfrm rot="0">
            <a:off x="2905008" y="4835129"/>
            <a:ext cx="12644055" cy="1891876"/>
            <a:chOff x="0" y="0"/>
            <a:chExt cx="4162728" cy="622851"/>
          </a:xfrm>
        </p:grpSpPr>
        <p:sp>
          <p:nvSpPr>
            <p:cNvPr name="Freeform 6" id="6"/>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7" id="7"/>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8" id="8"/>
          <p:cNvGrpSpPr/>
          <p:nvPr/>
        </p:nvGrpSpPr>
        <p:grpSpPr>
          <a:xfrm rot="0">
            <a:off x="2868481" y="7366424"/>
            <a:ext cx="12644055" cy="1891876"/>
            <a:chOff x="0" y="0"/>
            <a:chExt cx="4162728" cy="622851"/>
          </a:xfrm>
        </p:grpSpPr>
        <p:sp>
          <p:nvSpPr>
            <p:cNvPr name="Freeform 9" id="9"/>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0" id="10"/>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11" id="11"/>
          <p:cNvSpPr txBox="true"/>
          <p:nvPr/>
        </p:nvSpPr>
        <p:spPr>
          <a:xfrm rot="0">
            <a:off x="2868481" y="1213918"/>
            <a:ext cx="5642090" cy="510041"/>
          </a:xfrm>
          <a:prstGeom prst="rect">
            <a:avLst/>
          </a:prstGeom>
        </p:spPr>
        <p:txBody>
          <a:bodyPr anchor="t" rtlCol="false" tIns="0" lIns="0" bIns="0" rIns="0">
            <a:spAutoFit/>
          </a:bodyPr>
          <a:lstStyle/>
          <a:p>
            <a:pPr algn="l">
              <a:lnSpc>
                <a:spcPts val="3744"/>
              </a:lnSpc>
              <a:spcBef>
                <a:spcPct val="0"/>
              </a:spcBef>
            </a:pPr>
            <a:r>
              <a:rPr lang="en-US" b="true" sz="3467" i="true">
                <a:solidFill>
                  <a:srgbClr val="FFFFFF"/>
                </a:solidFill>
                <a:latin typeface="Poppins Bold Italics"/>
                <a:ea typeface="Poppins Bold Italics"/>
                <a:cs typeface="Poppins Bold Italics"/>
                <a:sym typeface="Poppins Bold Italics"/>
              </a:rPr>
              <a:t>Impact on the Business</a:t>
            </a:r>
          </a:p>
        </p:txBody>
      </p:sp>
      <p:sp>
        <p:nvSpPr>
          <p:cNvPr name="TextBox 12" id="12"/>
          <p:cNvSpPr txBox="true"/>
          <p:nvPr/>
        </p:nvSpPr>
        <p:spPr>
          <a:xfrm rot="0">
            <a:off x="3063611" y="2428864"/>
            <a:ext cx="12067759" cy="1442934"/>
          </a:xfrm>
          <a:prstGeom prst="rect">
            <a:avLst/>
          </a:prstGeom>
        </p:spPr>
        <p:txBody>
          <a:bodyPr anchor="t" rtlCol="false" tIns="0" lIns="0" bIns="0" rIns="0">
            <a:spAutoFit/>
          </a:bodyPr>
          <a:lstStyle/>
          <a:p>
            <a:pPr algn="l">
              <a:lnSpc>
                <a:spcPts val="3705"/>
              </a:lnSpc>
              <a:spcBef>
                <a:spcPct val="0"/>
              </a:spcBef>
            </a:pPr>
            <a:r>
              <a:rPr lang="en-US" sz="3430">
                <a:solidFill>
                  <a:srgbClr val="FCFBFA"/>
                </a:solidFill>
                <a:latin typeface="Poppins"/>
                <a:ea typeface="Poppins"/>
                <a:cs typeface="Poppins"/>
                <a:sym typeface="Poppins"/>
              </a:rPr>
              <a:t>The attack is expected to cut up to £300 million from M&amp;S's operating profit and res</a:t>
            </a:r>
            <a:r>
              <a:rPr lang="en-US" sz="3430">
                <a:solidFill>
                  <a:srgbClr val="FCFBFA"/>
                </a:solidFill>
                <a:latin typeface="Poppins"/>
                <a:ea typeface="Poppins"/>
                <a:cs typeface="Poppins"/>
                <a:sym typeface="Poppins"/>
              </a:rPr>
              <a:t>ulted in a market capitalisation loss of over £750 mi</a:t>
            </a:r>
            <a:r>
              <a:rPr lang="en-US" sz="3430">
                <a:solidFill>
                  <a:srgbClr val="FCFBFA"/>
                </a:solidFill>
                <a:latin typeface="Poppins"/>
                <a:ea typeface="Poppins"/>
                <a:cs typeface="Poppins"/>
                <a:sym typeface="Poppins"/>
              </a:rPr>
              <a:t>llion.</a:t>
            </a:r>
          </a:p>
        </p:txBody>
      </p:sp>
      <p:sp>
        <p:nvSpPr>
          <p:cNvPr name="TextBox 13" id="13"/>
          <p:cNvSpPr txBox="true"/>
          <p:nvPr/>
        </p:nvSpPr>
        <p:spPr>
          <a:xfrm rot="0">
            <a:off x="3146647" y="7612899"/>
            <a:ext cx="12233831" cy="1442934"/>
          </a:xfrm>
          <a:prstGeom prst="rect">
            <a:avLst/>
          </a:prstGeom>
        </p:spPr>
        <p:txBody>
          <a:bodyPr anchor="t" rtlCol="false" tIns="0" lIns="0" bIns="0" rIns="0">
            <a:spAutoFit/>
          </a:bodyPr>
          <a:lstStyle/>
          <a:p>
            <a:pPr algn="l">
              <a:lnSpc>
                <a:spcPts val="3705"/>
              </a:lnSpc>
              <a:spcBef>
                <a:spcPct val="0"/>
              </a:spcBef>
            </a:pPr>
            <a:r>
              <a:rPr lang="en-US" sz="3430">
                <a:solidFill>
                  <a:srgbClr val="FCFBFA"/>
                </a:solidFill>
                <a:latin typeface="Poppins"/>
                <a:ea typeface="Poppins"/>
                <a:cs typeface="Poppins"/>
                <a:sym typeface="Poppins"/>
              </a:rPr>
              <a:t>The breach increased scam attempts and phishing attacks, leading to customer dissatisfaction and potential loss</a:t>
            </a:r>
            <a:r>
              <a:rPr lang="en-US" sz="3430">
                <a:solidFill>
                  <a:srgbClr val="FCFBFA"/>
                </a:solidFill>
                <a:latin typeface="Poppins"/>
                <a:ea typeface="Poppins"/>
                <a:cs typeface="Poppins"/>
                <a:sym typeface="Poppins"/>
              </a:rPr>
              <a:t> of trust</a:t>
            </a:r>
            <a:r>
              <a:rPr lang="en-US" sz="3430">
                <a:solidFill>
                  <a:srgbClr val="FCFBFA"/>
                </a:solidFill>
                <a:latin typeface="Poppins"/>
                <a:ea typeface="Poppins"/>
                <a:cs typeface="Poppins"/>
                <a:sym typeface="Poppins"/>
              </a:rPr>
              <a:t>.</a:t>
            </a:r>
          </a:p>
        </p:txBody>
      </p:sp>
      <p:sp>
        <p:nvSpPr>
          <p:cNvPr name="TextBox 14" id="14"/>
          <p:cNvSpPr txBox="true"/>
          <p:nvPr/>
        </p:nvSpPr>
        <p:spPr>
          <a:xfrm rot="0">
            <a:off x="2868481" y="1808542"/>
            <a:ext cx="3501007" cy="403014"/>
          </a:xfrm>
          <a:prstGeom prst="rect">
            <a:avLst/>
          </a:prstGeom>
        </p:spPr>
        <p:txBody>
          <a:bodyPr anchor="t" rtlCol="false" tIns="0" lIns="0" bIns="0" rIns="0">
            <a:spAutoFit/>
          </a:bodyPr>
          <a:lstStyle/>
          <a:p>
            <a:pPr algn="l">
              <a:lnSpc>
                <a:spcPts val="2910"/>
              </a:lnSpc>
              <a:spcBef>
                <a:spcPct val="0"/>
              </a:spcBef>
            </a:pPr>
            <a:r>
              <a:rPr lang="en-US" b="true" sz="2694" i="true">
                <a:solidFill>
                  <a:srgbClr val="70ABCE"/>
                </a:solidFill>
                <a:latin typeface="Poppins Bold Italics"/>
                <a:ea typeface="Poppins Bold Italics"/>
                <a:cs typeface="Poppins Bold Italics"/>
                <a:sym typeface="Poppins Bold Italics"/>
              </a:rPr>
              <a:t>Financial Losses</a:t>
            </a:r>
          </a:p>
        </p:txBody>
      </p:sp>
      <p:sp>
        <p:nvSpPr>
          <p:cNvPr name="TextBox 15" id="15"/>
          <p:cNvSpPr txBox="true"/>
          <p:nvPr/>
        </p:nvSpPr>
        <p:spPr>
          <a:xfrm rot="0">
            <a:off x="3062355" y="5043504"/>
            <a:ext cx="12402416" cy="1593906"/>
          </a:xfrm>
          <a:prstGeom prst="rect">
            <a:avLst/>
          </a:prstGeom>
        </p:spPr>
        <p:txBody>
          <a:bodyPr anchor="t" rtlCol="false" tIns="0" lIns="0" bIns="0" rIns="0">
            <a:spAutoFit/>
          </a:bodyPr>
          <a:lstStyle/>
          <a:p>
            <a:pPr algn="l">
              <a:lnSpc>
                <a:spcPts val="4190"/>
              </a:lnSpc>
            </a:pPr>
            <a:r>
              <a:rPr lang="en-US" sz="3325">
                <a:solidFill>
                  <a:srgbClr val="FCFBFA"/>
                </a:solidFill>
                <a:latin typeface="Poppins"/>
                <a:ea typeface="Poppins"/>
                <a:cs typeface="Poppins"/>
                <a:sym typeface="Poppins"/>
              </a:rPr>
              <a:t>Online clothing and home orde</a:t>
            </a:r>
            <a:r>
              <a:rPr lang="en-US" sz="3325">
                <a:solidFill>
                  <a:srgbClr val="FCFBFA"/>
                </a:solidFill>
                <a:latin typeface="Poppins"/>
                <a:ea typeface="Poppins"/>
                <a:cs typeface="Poppins"/>
                <a:sym typeface="Poppins"/>
              </a:rPr>
              <a:t>rs were suspended, and some in-store products were affected due to disrupted</a:t>
            </a:r>
            <a:r>
              <a:rPr lang="en-US" sz="3325">
                <a:solidFill>
                  <a:srgbClr val="FCFBFA"/>
                </a:solidFill>
                <a:latin typeface="Poppins"/>
                <a:ea typeface="Poppins"/>
                <a:cs typeface="Poppins"/>
                <a:sym typeface="Poppins"/>
              </a:rPr>
              <a:t> supply operations.</a:t>
            </a:r>
          </a:p>
        </p:txBody>
      </p:sp>
      <p:sp>
        <p:nvSpPr>
          <p:cNvPr name="TextBox 16" id="16"/>
          <p:cNvSpPr txBox="true"/>
          <p:nvPr/>
        </p:nvSpPr>
        <p:spPr>
          <a:xfrm rot="0">
            <a:off x="2967501" y="4398935"/>
            <a:ext cx="4564312" cy="403014"/>
          </a:xfrm>
          <a:prstGeom prst="rect">
            <a:avLst/>
          </a:prstGeom>
        </p:spPr>
        <p:txBody>
          <a:bodyPr anchor="t" rtlCol="false" tIns="0" lIns="0" bIns="0" rIns="0">
            <a:spAutoFit/>
          </a:bodyPr>
          <a:lstStyle/>
          <a:p>
            <a:pPr algn="l">
              <a:lnSpc>
                <a:spcPts val="2910"/>
              </a:lnSpc>
              <a:spcBef>
                <a:spcPct val="0"/>
              </a:spcBef>
            </a:pPr>
            <a:r>
              <a:rPr lang="en-US" b="true" sz="2694" i="true">
                <a:solidFill>
                  <a:srgbClr val="70ABCE"/>
                </a:solidFill>
                <a:latin typeface="Poppins Bold Italics"/>
                <a:ea typeface="Poppins Bold Italics"/>
                <a:cs typeface="Poppins Bold Italics"/>
                <a:sym typeface="Poppins Bold Italics"/>
              </a:rPr>
              <a:t>Operational Disruption</a:t>
            </a:r>
          </a:p>
        </p:txBody>
      </p:sp>
      <p:sp>
        <p:nvSpPr>
          <p:cNvPr name="TextBox 17" id="17"/>
          <p:cNvSpPr txBox="true"/>
          <p:nvPr/>
        </p:nvSpPr>
        <p:spPr>
          <a:xfrm rot="0">
            <a:off x="2930974" y="7006431"/>
            <a:ext cx="4166894" cy="382440"/>
          </a:xfrm>
          <a:prstGeom prst="rect">
            <a:avLst/>
          </a:prstGeom>
        </p:spPr>
        <p:txBody>
          <a:bodyPr anchor="t" rtlCol="false" tIns="0" lIns="0" bIns="0" rIns="0">
            <a:spAutoFit/>
          </a:bodyPr>
          <a:lstStyle/>
          <a:p>
            <a:pPr algn="l">
              <a:lnSpc>
                <a:spcPts val="2802"/>
              </a:lnSpc>
              <a:spcBef>
                <a:spcPct val="0"/>
              </a:spcBef>
            </a:pPr>
            <a:r>
              <a:rPr lang="en-US" b="true" sz="2594" i="true">
                <a:solidFill>
                  <a:srgbClr val="70ABCE"/>
                </a:solidFill>
                <a:latin typeface="Poppins Bold Italics"/>
                <a:ea typeface="Poppins Bold Italics"/>
                <a:cs typeface="Poppins Bold Italics"/>
                <a:sym typeface="Poppins Bold Italics"/>
              </a:rPr>
              <a:t>Reputational Damage</a:t>
            </a:r>
          </a:p>
        </p:txBody>
      </p:sp>
    </p:spTree>
  </p:cSld>
  <p:clrMapOvr>
    <a:masterClrMapping/>
  </p:clrMapOvr>
</p:sld>
</file>

<file path=ppt/slides/slide52.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821972" y="2237159"/>
            <a:ext cx="12644055" cy="1891876"/>
            <a:chOff x="0" y="0"/>
            <a:chExt cx="4162728" cy="622851"/>
          </a:xfrm>
        </p:grpSpPr>
        <p:sp>
          <p:nvSpPr>
            <p:cNvPr name="Freeform 3" id="3"/>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4" id="4"/>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5" id="5"/>
          <p:cNvGrpSpPr/>
          <p:nvPr/>
        </p:nvGrpSpPr>
        <p:grpSpPr>
          <a:xfrm rot="0">
            <a:off x="2905008" y="4835129"/>
            <a:ext cx="12644055" cy="1891876"/>
            <a:chOff x="0" y="0"/>
            <a:chExt cx="4162728" cy="622851"/>
          </a:xfrm>
        </p:grpSpPr>
        <p:sp>
          <p:nvSpPr>
            <p:cNvPr name="Freeform 6" id="6"/>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7" id="7"/>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8" id="8"/>
          <p:cNvGrpSpPr/>
          <p:nvPr/>
        </p:nvGrpSpPr>
        <p:grpSpPr>
          <a:xfrm rot="0">
            <a:off x="2868481" y="7366424"/>
            <a:ext cx="12644055" cy="1891876"/>
            <a:chOff x="0" y="0"/>
            <a:chExt cx="4162728" cy="622851"/>
          </a:xfrm>
        </p:grpSpPr>
        <p:sp>
          <p:nvSpPr>
            <p:cNvPr name="Freeform 9" id="9"/>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0" id="10"/>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11" id="11"/>
          <p:cNvSpPr txBox="true"/>
          <p:nvPr/>
        </p:nvSpPr>
        <p:spPr>
          <a:xfrm rot="0">
            <a:off x="2868481" y="1213918"/>
            <a:ext cx="4663331" cy="510041"/>
          </a:xfrm>
          <a:prstGeom prst="rect">
            <a:avLst/>
          </a:prstGeom>
        </p:spPr>
        <p:txBody>
          <a:bodyPr anchor="t" rtlCol="false" tIns="0" lIns="0" bIns="0" rIns="0">
            <a:spAutoFit/>
          </a:bodyPr>
          <a:lstStyle/>
          <a:p>
            <a:pPr algn="l">
              <a:lnSpc>
                <a:spcPts val="3744"/>
              </a:lnSpc>
              <a:spcBef>
                <a:spcPct val="0"/>
              </a:spcBef>
            </a:pPr>
            <a:r>
              <a:rPr lang="en-US" b="true" sz="3467" i="true">
                <a:solidFill>
                  <a:srgbClr val="FFFFFF"/>
                </a:solidFill>
                <a:latin typeface="Poppins Bold Italics"/>
                <a:ea typeface="Poppins Bold Italics"/>
                <a:cs typeface="Poppins Bold Italics"/>
                <a:sym typeface="Poppins Bold Italics"/>
              </a:rPr>
              <a:t>Recovery Actions</a:t>
            </a:r>
          </a:p>
        </p:txBody>
      </p:sp>
      <p:sp>
        <p:nvSpPr>
          <p:cNvPr name="TextBox 12" id="12"/>
          <p:cNvSpPr txBox="true"/>
          <p:nvPr/>
        </p:nvSpPr>
        <p:spPr>
          <a:xfrm rot="0">
            <a:off x="3062355" y="2495730"/>
            <a:ext cx="12067759" cy="1384260"/>
          </a:xfrm>
          <a:prstGeom prst="rect">
            <a:avLst/>
          </a:prstGeom>
        </p:spPr>
        <p:txBody>
          <a:bodyPr anchor="t" rtlCol="false" tIns="0" lIns="0" bIns="0" rIns="0">
            <a:spAutoFit/>
          </a:bodyPr>
          <a:lstStyle/>
          <a:p>
            <a:pPr algn="l">
              <a:lnSpc>
                <a:spcPts val="3597"/>
              </a:lnSpc>
              <a:spcBef>
                <a:spcPct val="0"/>
              </a:spcBef>
            </a:pPr>
            <a:r>
              <a:rPr lang="en-US" sz="3330">
                <a:solidFill>
                  <a:srgbClr val="FCFBFA"/>
                </a:solidFill>
                <a:latin typeface="Poppins"/>
                <a:ea typeface="Poppins"/>
                <a:cs typeface="Poppins"/>
                <a:sym typeface="Poppins"/>
              </a:rPr>
              <a:t>M&amp;S undertook a comprehensive cleansing of more than 600 applications and thousands of servers,</a:t>
            </a:r>
            <a:r>
              <a:rPr lang="en-US" sz="3330">
                <a:solidFill>
                  <a:srgbClr val="FCFBFA"/>
                </a:solidFill>
                <a:latin typeface="Poppins"/>
                <a:ea typeface="Poppins"/>
                <a:cs typeface="Poppins"/>
                <a:sym typeface="Poppins"/>
              </a:rPr>
              <a:t> with full e-commerce operations expected to resume by Ju</a:t>
            </a:r>
            <a:r>
              <a:rPr lang="en-US" sz="3330">
                <a:solidFill>
                  <a:srgbClr val="FCFBFA"/>
                </a:solidFill>
                <a:latin typeface="Poppins"/>
                <a:ea typeface="Poppins"/>
                <a:cs typeface="Poppins"/>
                <a:sym typeface="Poppins"/>
              </a:rPr>
              <a:t>ly.</a:t>
            </a:r>
          </a:p>
        </p:txBody>
      </p:sp>
      <p:sp>
        <p:nvSpPr>
          <p:cNvPr name="TextBox 13" id="13"/>
          <p:cNvSpPr txBox="true"/>
          <p:nvPr/>
        </p:nvSpPr>
        <p:spPr>
          <a:xfrm rot="0">
            <a:off x="3146647" y="7612899"/>
            <a:ext cx="12233831" cy="1442934"/>
          </a:xfrm>
          <a:prstGeom prst="rect">
            <a:avLst/>
          </a:prstGeom>
        </p:spPr>
        <p:txBody>
          <a:bodyPr anchor="t" rtlCol="false" tIns="0" lIns="0" bIns="0" rIns="0">
            <a:spAutoFit/>
          </a:bodyPr>
          <a:lstStyle/>
          <a:p>
            <a:pPr algn="l">
              <a:lnSpc>
                <a:spcPts val="3705"/>
              </a:lnSpc>
              <a:spcBef>
                <a:spcPct val="0"/>
              </a:spcBef>
            </a:pPr>
            <a:r>
              <a:rPr lang="en-US" sz="3430">
                <a:solidFill>
                  <a:srgbClr val="FCFBFA"/>
                </a:solidFill>
                <a:latin typeface="Poppins"/>
                <a:ea typeface="Poppins"/>
                <a:cs typeface="Poppins"/>
                <a:sym typeface="Poppins"/>
              </a:rPr>
              <a:t>M&amp;S notified affected customers and worked with cybersecurity experts to investigate and contain the</a:t>
            </a:r>
            <a:r>
              <a:rPr lang="en-US" sz="3430">
                <a:solidFill>
                  <a:srgbClr val="FCFBFA"/>
                </a:solidFill>
                <a:latin typeface="Poppins"/>
                <a:ea typeface="Poppins"/>
                <a:cs typeface="Poppins"/>
                <a:sym typeface="Poppins"/>
              </a:rPr>
              <a:t> breach</a:t>
            </a:r>
            <a:r>
              <a:rPr lang="en-US" sz="3430">
                <a:solidFill>
                  <a:srgbClr val="FCFBFA"/>
                </a:solidFill>
                <a:latin typeface="Poppins"/>
                <a:ea typeface="Poppins"/>
                <a:cs typeface="Poppins"/>
                <a:sym typeface="Poppins"/>
              </a:rPr>
              <a:t>.</a:t>
            </a:r>
          </a:p>
        </p:txBody>
      </p:sp>
      <p:sp>
        <p:nvSpPr>
          <p:cNvPr name="TextBox 14" id="14"/>
          <p:cNvSpPr txBox="true"/>
          <p:nvPr/>
        </p:nvSpPr>
        <p:spPr>
          <a:xfrm rot="0">
            <a:off x="2868481" y="1808542"/>
            <a:ext cx="3501007" cy="403014"/>
          </a:xfrm>
          <a:prstGeom prst="rect">
            <a:avLst/>
          </a:prstGeom>
        </p:spPr>
        <p:txBody>
          <a:bodyPr anchor="t" rtlCol="false" tIns="0" lIns="0" bIns="0" rIns="0">
            <a:spAutoFit/>
          </a:bodyPr>
          <a:lstStyle/>
          <a:p>
            <a:pPr algn="l">
              <a:lnSpc>
                <a:spcPts val="2910"/>
              </a:lnSpc>
              <a:spcBef>
                <a:spcPct val="0"/>
              </a:spcBef>
            </a:pPr>
            <a:r>
              <a:rPr lang="en-US" b="true" sz="2694" i="true">
                <a:solidFill>
                  <a:srgbClr val="70ABCE"/>
                </a:solidFill>
                <a:latin typeface="Poppins Bold Italics"/>
                <a:ea typeface="Poppins Bold Italics"/>
                <a:cs typeface="Poppins Bold Italics"/>
                <a:sym typeface="Poppins Bold Italics"/>
              </a:rPr>
              <a:t>System Overhaul</a:t>
            </a:r>
          </a:p>
        </p:txBody>
      </p:sp>
      <p:sp>
        <p:nvSpPr>
          <p:cNvPr name="TextBox 15" id="15"/>
          <p:cNvSpPr txBox="true"/>
          <p:nvPr/>
        </p:nvSpPr>
        <p:spPr>
          <a:xfrm rot="0">
            <a:off x="3062355" y="5043504"/>
            <a:ext cx="12402416" cy="1593906"/>
          </a:xfrm>
          <a:prstGeom prst="rect">
            <a:avLst/>
          </a:prstGeom>
        </p:spPr>
        <p:txBody>
          <a:bodyPr anchor="t" rtlCol="false" tIns="0" lIns="0" bIns="0" rIns="0">
            <a:spAutoFit/>
          </a:bodyPr>
          <a:lstStyle/>
          <a:p>
            <a:pPr algn="l">
              <a:lnSpc>
                <a:spcPts val="4190"/>
              </a:lnSpc>
            </a:pPr>
            <a:r>
              <a:rPr lang="en-US" sz="3325">
                <a:solidFill>
                  <a:srgbClr val="FCFBFA"/>
                </a:solidFill>
                <a:latin typeface="Poppins"/>
                <a:ea typeface="Poppins"/>
                <a:cs typeface="Poppins"/>
                <a:sym typeface="Poppins"/>
              </a:rPr>
              <a:t>The company foc</a:t>
            </a:r>
            <a:r>
              <a:rPr lang="en-US" sz="3325">
                <a:solidFill>
                  <a:srgbClr val="FCFBFA"/>
                </a:solidFill>
                <a:latin typeface="Poppins"/>
                <a:ea typeface="Poppins"/>
                <a:cs typeface="Poppins"/>
                <a:sym typeface="Poppins"/>
              </a:rPr>
              <a:t>used on strengthening its cybersecurity measures, including scrutinising third-</a:t>
            </a:r>
            <a:r>
              <a:rPr lang="en-US" sz="3325">
                <a:solidFill>
                  <a:srgbClr val="FCFBFA"/>
                </a:solidFill>
                <a:latin typeface="Poppins"/>
                <a:ea typeface="Poppins"/>
                <a:cs typeface="Poppins"/>
                <a:sym typeface="Poppins"/>
              </a:rPr>
              <a:t>party IT partnerships.</a:t>
            </a:r>
          </a:p>
        </p:txBody>
      </p:sp>
      <p:sp>
        <p:nvSpPr>
          <p:cNvPr name="TextBox 16" id="16"/>
          <p:cNvSpPr txBox="true"/>
          <p:nvPr/>
        </p:nvSpPr>
        <p:spPr>
          <a:xfrm rot="0">
            <a:off x="2929401" y="4398935"/>
            <a:ext cx="5520309" cy="403014"/>
          </a:xfrm>
          <a:prstGeom prst="rect">
            <a:avLst/>
          </a:prstGeom>
        </p:spPr>
        <p:txBody>
          <a:bodyPr anchor="t" rtlCol="false" tIns="0" lIns="0" bIns="0" rIns="0">
            <a:spAutoFit/>
          </a:bodyPr>
          <a:lstStyle/>
          <a:p>
            <a:pPr algn="l">
              <a:lnSpc>
                <a:spcPts val="2910"/>
              </a:lnSpc>
              <a:spcBef>
                <a:spcPct val="0"/>
              </a:spcBef>
            </a:pPr>
            <a:r>
              <a:rPr lang="en-US" b="true" sz="2694" i="true">
                <a:solidFill>
                  <a:srgbClr val="70ABCE"/>
                </a:solidFill>
                <a:latin typeface="Poppins Bold Italics"/>
                <a:ea typeface="Poppins Bold Italics"/>
                <a:cs typeface="Poppins Bold Italics"/>
                <a:sym typeface="Poppins Bold Italics"/>
              </a:rPr>
              <a:t>Cybersecurity Enhancements</a:t>
            </a:r>
          </a:p>
        </p:txBody>
      </p:sp>
      <p:sp>
        <p:nvSpPr>
          <p:cNvPr name="TextBox 17" id="17"/>
          <p:cNvSpPr txBox="true"/>
          <p:nvPr/>
        </p:nvSpPr>
        <p:spPr>
          <a:xfrm rot="0">
            <a:off x="2905008" y="7022280"/>
            <a:ext cx="4626804" cy="382440"/>
          </a:xfrm>
          <a:prstGeom prst="rect">
            <a:avLst/>
          </a:prstGeom>
        </p:spPr>
        <p:txBody>
          <a:bodyPr anchor="t" rtlCol="false" tIns="0" lIns="0" bIns="0" rIns="0">
            <a:spAutoFit/>
          </a:bodyPr>
          <a:lstStyle/>
          <a:p>
            <a:pPr algn="l">
              <a:lnSpc>
                <a:spcPts val="2802"/>
              </a:lnSpc>
              <a:spcBef>
                <a:spcPct val="0"/>
              </a:spcBef>
            </a:pPr>
            <a:r>
              <a:rPr lang="en-US" b="true" sz="2594" i="true">
                <a:solidFill>
                  <a:srgbClr val="70ABCE"/>
                </a:solidFill>
                <a:latin typeface="Poppins Bold Italics"/>
                <a:ea typeface="Poppins Bold Italics"/>
                <a:cs typeface="Poppins Bold Italics"/>
                <a:sym typeface="Poppins Bold Italics"/>
              </a:rPr>
              <a:t>Customer Communication</a:t>
            </a:r>
          </a:p>
        </p:txBody>
      </p:sp>
    </p:spTree>
  </p:cSld>
  <p:clrMapOvr>
    <a:masterClrMapping/>
  </p:clrMapOvr>
</p:sld>
</file>

<file path=ppt/slides/slide53.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821972" y="2237159"/>
            <a:ext cx="12644055" cy="1891876"/>
            <a:chOff x="0" y="0"/>
            <a:chExt cx="4162728" cy="622851"/>
          </a:xfrm>
        </p:grpSpPr>
        <p:sp>
          <p:nvSpPr>
            <p:cNvPr name="Freeform 3" id="3"/>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4" id="4"/>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5" id="5"/>
          <p:cNvGrpSpPr/>
          <p:nvPr/>
        </p:nvGrpSpPr>
        <p:grpSpPr>
          <a:xfrm rot="0">
            <a:off x="2905008" y="4835129"/>
            <a:ext cx="12644055" cy="1891876"/>
            <a:chOff x="0" y="0"/>
            <a:chExt cx="4162728" cy="622851"/>
          </a:xfrm>
        </p:grpSpPr>
        <p:sp>
          <p:nvSpPr>
            <p:cNvPr name="Freeform 6" id="6"/>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7" id="7"/>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8" id="8"/>
          <p:cNvGrpSpPr/>
          <p:nvPr/>
        </p:nvGrpSpPr>
        <p:grpSpPr>
          <a:xfrm rot="0">
            <a:off x="2868481" y="7366424"/>
            <a:ext cx="12644055" cy="1891876"/>
            <a:chOff x="0" y="0"/>
            <a:chExt cx="4162728" cy="622851"/>
          </a:xfrm>
        </p:grpSpPr>
        <p:sp>
          <p:nvSpPr>
            <p:cNvPr name="Freeform 9" id="9"/>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0" id="10"/>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11" id="11"/>
          <p:cNvSpPr txBox="true"/>
          <p:nvPr/>
        </p:nvSpPr>
        <p:spPr>
          <a:xfrm rot="0">
            <a:off x="2868481" y="1213918"/>
            <a:ext cx="4663331" cy="510041"/>
          </a:xfrm>
          <a:prstGeom prst="rect">
            <a:avLst/>
          </a:prstGeom>
        </p:spPr>
        <p:txBody>
          <a:bodyPr anchor="t" rtlCol="false" tIns="0" lIns="0" bIns="0" rIns="0">
            <a:spAutoFit/>
          </a:bodyPr>
          <a:lstStyle/>
          <a:p>
            <a:pPr algn="l">
              <a:lnSpc>
                <a:spcPts val="3744"/>
              </a:lnSpc>
              <a:spcBef>
                <a:spcPct val="0"/>
              </a:spcBef>
            </a:pPr>
            <a:r>
              <a:rPr lang="en-US" b="true" sz="3467" i="true">
                <a:solidFill>
                  <a:srgbClr val="FFFFFF"/>
                </a:solidFill>
                <a:latin typeface="Poppins Bold Italics"/>
                <a:ea typeface="Poppins Bold Italics"/>
                <a:cs typeface="Poppins Bold Italics"/>
                <a:sym typeface="Poppins Bold Italics"/>
              </a:rPr>
              <a:t>Lessons Learned</a:t>
            </a:r>
          </a:p>
        </p:txBody>
      </p:sp>
      <p:sp>
        <p:nvSpPr>
          <p:cNvPr name="TextBox 12" id="12"/>
          <p:cNvSpPr txBox="true"/>
          <p:nvPr/>
        </p:nvSpPr>
        <p:spPr>
          <a:xfrm rot="0">
            <a:off x="3062355" y="2495730"/>
            <a:ext cx="12067759" cy="1384260"/>
          </a:xfrm>
          <a:prstGeom prst="rect">
            <a:avLst/>
          </a:prstGeom>
        </p:spPr>
        <p:txBody>
          <a:bodyPr anchor="t" rtlCol="false" tIns="0" lIns="0" bIns="0" rIns="0">
            <a:spAutoFit/>
          </a:bodyPr>
          <a:lstStyle/>
          <a:p>
            <a:pPr algn="l">
              <a:lnSpc>
                <a:spcPts val="3597"/>
              </a:lnSpc>
              <a:spcBef>
                <a:spcPct val="0"/>
              </a:spcBef>
            </a:pPr>
            <a:r>
              <a:rPr lang="en-US" sz="3330">
                <a:solidFill>
                  <a:srgbClr val="FCFBFA"/>
                </a:solidFill>
                <a:latin typeface="Poppins"/>
                <a:ea typeface="Poppins"/>
                <a:cs typeface="Poppins"/>
                <a:sym typeface="Poppins"/>
              </a:rPr>
              <a:t>The attack highlighted the importance of securing third-party vendors and ensur</a:t>
            </a:r>
            <a:r>
              <a:rPr lang="en-US" sz="3330">
                <a:solidFill>
                  <a:srgbClr val="FCFBFA"/>
                </a:solidFill>
                <a:latin typeface="Poppins"/>
                <a:ea typeface="Poppins"/>
                <a:cs typeface="Poppins"/>
                <a:sym typeface="Poppins"/>
              </a:rPr>
              <a:t>ing they adhere to strict cybersecurity protocols</a:t>
            </a:r>
            <a:r>
              <a:rPr lang="en-US" sz="3330">
                <a:solidFill>
                  <a:srgbClr val="FCFBFA"/>
                </a:solidFill>
                <a:latin typeface="Poppins"/>
                <a:ea typeface="Poppins"/>
                <a:cs typeface="Poppins"/>
                <a:sym typeface="Poppins"/>
              </a:rPr>
              <a:t>.</a:t>
            </a:r>
          </a:p>
        </p:txBody>
      </p:sp>
      <p:sp>
        <p:nvSpPr>
          <p:cNvPr name="TextBox 13" id="13"/>
          <p:cNvSpPr txBox="true"/>
          <p:nvPr/>
        </p:nvSpPr>
        <p:spPr>
          <a:xfrm rot="0">
            <a:off x="3146647" y="7612899"/>
            <a:ext cx="12233831" cy="1442934"/>
          </a:xfrm>
          <a:prstGeom prst="rect">
            <a:avLst/>
          </a:prstGeom>
        </p:spPr>
        <p:txBody>
          <a:bodyPr anchor="t" rtlCol="false" tIns="0" lIns="0" bIns="0" rIns="0">
            <a:spAutoFit/>
          </a:bodyPr>
          <a:lstStyle/>
          <a:p>
            <a:pPr algn="l">
              <a:lnSpc>
                <a:spcPts val="3705"/>
              </a:lnSpc>
              <a:spcBef>
                <a:spcPct val="0"/>
              </a:spcBef>
            </a:pPr>
            <a:r>
              <a:rPr lang="en-US" sz="3430">
                <a:solidFill>
                  <a:srgbClr val="FCFBFA"/>
                </a:solidFill>
                <a:latin typeface="Poppins"/>
                <a:ea typeface="Poppins"/>
                <a:cs typeface="Poppins"/>
                <a:sym typeface="Poppins"/>
              </a:rPr>
              <a:t>The prolonged recovery period underscored the necessity of having a robust incident response plan to minimise downtime and financial imp</a:t>
            </a:r>
            <a:r>
              <a:rPr lang="en-US" sz="3430">
                <a:solidFill>
                  <a:srgbClr val="FCFBFA"/>
                </a:solidFill>
                <a:latin typeface="Poppins"/>
                <a:ea typeface="Poppins"/>
                <a:cs typeface="Poppins"/>
                <a:sym typeface="Poppins"/>
              </a:rPr>
              <a:t>act</a:t>
            </a:r>
            <a:r>
              <a:rPr lang="en-US" sz="3430">
                <a:solidFill>
                  <a:srgbClr val="FCFBFA"/>
                </a:solidFill>
                <a:latin typeface="Poppins"/>
                <a:ea typeface="Poppins"/>
                <a:cs typeface="Poppins"/>
                <a:sym typeface="Poppins"/>
              </a:rPr>
              <a:t>.</a:t>
            </a:r>
          </a:p>
        </p:txBody>
      </p:sp>
      <p:sp>
        <p:nvSpPr>
          <p:cNvPr name="TextBox 14" id="14"/>
          <p:cNvSpPr txBox="true"/>
          <p:nvPr/>
        </p:nvSpPr>
        <p:spPr>
          <a:xfrm rot="0">
            <a:off x="2868481" y="1808542"/>
            <a:ext cx="5581228" cy="403014"/>
          </a:xfrm>
          <a:prstGeom prst="rect">
            <a:avLst/>
          </a:prstGeom>
        </p:spPr>
        <p:txBody>
          <a:bodyPr anchor="t" rtlCol="false" tIns="0" lIns="0" bIns="0" rIns="0">
            <a:spAutoFit/>
          </a:bodyPr>
          <a:lstStyle/>
          <a:p>
            <a:pPr algn="l">
              <a:lnSpc>
                <a:spcPts val="2910"/>
              </a:lnSpc>
              <a:spcBef>
                <a:spcPct val="0"/>
              </a:spcBef>
            </a:pPr>
            <a:r>
              <a:rPr lang="en-US" b="true" sz="2694" i="true">
                <a:solidFill>
                  <a:srgbClr val="70ABCE"/>
                </a:solidFill>
                <a:latin typeface="Poppins Bold Italics"/>
                <a:ea typeface="Poppins Bold Italics"/>
                <a:cs typeface="Poppins Bold Italics"/>
                <a:sym typeface="Poppins Bold Italics"/>
              </a:rPr>
              <a:t>Third-Party Risk Management</a:t>
            </a:r>
          </a:p>
        </p:txBody>
      </p:sp>
      <p:sp>
        <p:nvSpPr>
          <p:cNvPr name="TextBox 15" id="15"/>
          <p:cNvSpPr txBox="true"/>
          <p:nvPr/>
        </p:nvSpPr>
        <p:spPr>
          <a:xfrm rot="0">
            <a:off x="3062355" y="5043504"/>
            <a:ext cx="12402416" cy="1593906"/>
          </a:xfrm>
          <a:prstGeom prst="rect">
            <a:avLst/>
          </a:prstGeom>
        </p:spPr>
        <p:txBody>
          <a:bodyPr anchor="t" rtlCol="false" tIns="0" lIns="0" bIns="0" rIns="0">
            <a:spAutoFit/>
          </a:bodyPr>
          <a:lstStyle/>
          <a:p>
            <a:pPr algn="l">
              <a:lnSpc>
                <a:spcPts val="4190"/>
              </a:lnSpc>
            </a:pPr>
            <a:r>
              <a:rPr lang="en-US" sz="3325">
                <a:solidFill>
                  <a:srgbClr val="FCFBFA"/>
                </a:solidFill>
                <a:latin typeface="Poppins"/>
                <a:ea typeface="Poppins"/>
                <a:cs typeface="Poppins"/>
                <a:sym typeface="Poppins"/>
              </a:rPr>
              <a:t>Social engineering tactic</a:t>
            </a:r>
            <a:r>
              <a:rPr lang="en-US" sz="3325">
                <a:solidFill>
                  <a:srgbClr val="FCFBFA"/>
                </a:solidFill>
                <a:latin typeface="Poppins"/>
                <a:ea typeface="Poppins"/>
                <a:cs typeface="Poppins"/>
                <a:sym typeface="Poppins"/>
              </a:rPr>
              <a:t>s exploited human error, emphasising the need for regular employee training on cybersecu</a:t>
            </a:r>
            <a:r>
              <a:rPr lang="en-US" sz="3325">
                <a:solidFill>
                  <a:srgbClr val="FCFBFA"/>
                </a:solidFill>
                <a:latin typeface="Poppins"/>
                <a:ea typeface="Poppins"/>
                <a:cs typeface="Poppins"/>
                <a:sym typeface="Poppins"/>
              </a:rPr>
              <a:t>rity awareness.</a:t>
            </a:r>
          </a:p>
        </p:txBody>
      </p:sp>
      <p:sp>
        <p:nvSpPr>
          <p:cNvPr name="TextBox 16" id="16"/>
          <p:cNvSpPr txBox="true"/>
          <p:nvPr/>
        </p:nvSpPr>
        <p:spPr>
          <a:xfrm rot="0">
            <a:off x="2929401" y="4398935"/>
            <a:ext cx="5520309" cy="403014"/>
          </a:xfrm>
          <a:prstGeom prst="rect">
            <a:avLst/>
          </a:prstGeom>
        </p:spPr>
        <p:txBody>
          <a:bodyPr anchor="t" rtlCol="false" tIns="0" lIns="0" bIns="0" rIns="0">
            <a:spAutoFit/>
          </a:bodyPr>
          <a:lstStyle/>
          <a:p>
            <a:pPr algn="l">
              <a:lnSpc>
                <a:spcPts val="2910"/>
              </a:lnSpc>
              <a:spcBef>
                <a:spcPct val="0"/>
              </a:spcBef>
            </a:pPr>
            <a:r>
              <a:rPr lang="en-US" b="true" sz="2694" i="true">
                <a:solidFill>
                  <a:srgbClr val="70ABCE"/>
                </a:solidFill>
                <a:latin typeface="Poppins Bold Italics"/>
                <a:ea typeface="Poppins Bold Italics"/>
                <a:cs typeface="Poppins Bold Italics"/>
                <a:sym typeface="Poppins Bold Italics"/>
              </a:rPr>
              <a:t>Employee Training</a:t>
            </a:r>
          </a:p>
        </p:txBody>
      </p:sp>
      <p:sp>
        <p:nvSpPr>
          <p:cNvPr name="TextBox 17" id="17"/>
          <p:cNvSpPr txBox="true"/>
          <p:nvPr/>
        </p:nvSpPr>
        <p:spPr>
          <a:xfrm rot="0">
            <a:off x="2905008" y="7022280"/>
            <a:ext cx="4968232" cy="382440"/>
          </a:xfrm>
          <a:prstGeom prst="rect">
            <a:avLst/>
          </a:prstGeom>
        </p:spPr>
        <p:txBody>
          <a:bodyPr anchor="t" rtlCol="false" tIns="0" lIns="0" bIns="0" rIns="0">
            <a:spAutoFit/>
          </a:bodyPr>
          <a:lstStyle/>
          <a:p>
            <a:pPr algn="l">
              <a:lnSpc>
                <a:spcPts val="2802"/>
              </a:lnSpc>
              <a:spcBef>
                <a:spcPct val="0"/>
              </a:spcBef>
            </a:pPr>
            <a:r>
              <a:rPr lang="en-US" b="true" sz="2594" i="true">
                <a:solidFill>
                  <a:srgbClr val="70ABCE"/>
                </a:solidFill>
                <a:latin typeface="Poppins Bold Italics"/>
                <a:ea typeface="Poppins Bold Italics"/>
                <a:cs typeface="Poppins Bold Italics"/>
                <a:sym typeface="Poppins Bold Italics"/>
              </a:rPr>
              <a:t>Incident Response Planning</a:t>
            </a:r>
          </a:p>
        </p:txBody>
      </p:sp>
    </p:spTree>
  </p:cSld>
  <p:clrMapOvr>
    <a:masterClrMapping/>
  </p:clrMapOvr>
</p:sld>
</file>

<file path=ppt/slides/slide54.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grpSp>
        <p:nvGrpSpPr>
          <p:cNvPr name="Group 2" id="2"/>
          <p:cNvGrpSpPr/>
          <p:nvPr/>
        </p:nvGrpSpPr>
        <p:grpSpPr>
          <a:xfrm rot="0">
            <a:off x="2821972" y="2237159"/>
            <a:ext cx="12644055" cy="1891876"/>
            <a:chOff x="0" y="0"/>
            <a:chExt cx="4162728" cy="622851"/>
          </a:xfrm>
        </p:grpSpPr>
        <p:sp>
          <p:nvSpPr>
            <p:cNvPr name="Freeform 3" id="3"/>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4" id="4"/>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5" id="5"/>
          <p:cNvGrpSpPr/>
          <p:nvPr/>
        </p:nvGrpSpPr>
        <p:grpSpPr>
          <a:xfrm rot="0">
            <a:off x="2905008" y="4835129"/>
            <a:ext cx="12644055" cy="1891876"/>
            <a:chOff x="0" y="0"/>
            <a:chExt cx="4162728" cy="622851"/>
          </a:xfrm>
        </p:grpSpPr>
        <p:sp>
          <p:nvSpPr>
            <p:cNvPr name="Freeform 6" id="6"/>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7" id="7"/>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grpSp>
        <p:nvGrpSpPr>
          <p:cNvPr name="Group 8" id="8"/>
          <p:cNvGrpSpPr/>
          <p:nvPr/>
        </p:nvGrpSpPr>
        <p:grpSpPr>
          <a:xfrm rot="0">
            <a:off x="2868481" y="7366424"/>
            <a:ext cx="12644055" cy="1891876"/>
            <a:chOff x="0" y="0"/>
            <a:chExt cx="4162728" cy="622851"/>
          </a:xfrm>
        </p:grpSpPr>
        <p:sp>
          <p:nvSpPr>
            <p:cNvPr name="Freeform 9" id="9"/>
            <p:cNvSpPr/>
            <p:nvPr/>
          </p:nvSpPr>
          <p:spPr>
            <a:xfrm flipH="false" flipV="false" rot="0">
              <a:off x="0" y="0"/>
              <a:ext cx="4162728" cy="622851"/>
            </a:xfrm>
            <a:custGeom>
              <a:avLst/>
              <a:gdLst/>
              <a:ahLst/>
              <a:cxnLst/>
              <a:rect r="r" b="b" t="t" l="l"/>
              <a:pathLst>
                <a:path h="622851" w="4162728">
                  <a:moveTo>
                    <a:pt x="15307" y="0"/>
                  </a:moveTo>
                  <a:lnTo>
                    <a:pt x="4147420" y="0"/>
                  </a:lnTo>
                  <a:cubicBezTo>
                    <a:pt x="4151480" y="0"/>
                    <a:pt x="4155374" y="1613"/>
                    <a:pt x="4158245" y="4483"/>
                  </a:cubicBezTo>
                  <a:cubicBezTo>
                    <a:pt x="4161115" y="7354"/>
                    <a:pt x="4162728" y="11248"/>
                    <a:pt x="4162728" y="15307"/>
                  </a:cubicBezTo>
                  <a:lnTo>
                    <a:pt x="4162728" y="607544"/>
                  </a:lnTo>
                  <a:cubicBezTo>
                    <a:pt x="4162728" y="611604"/>
                    <a:pt x="4161115" y="615497"/>
                    <a:pt x="4158245" y="618368"/>
                  </a:cubicBezTo>
                  <a:cubicBezTo>
                    <a:pt x="4155374" y="621238"/>
                    <a:pt x="4151480" y="622851"/>
                    <a:pt x="4147420" y="622851"/>
                  </a:cubicBezTo>
                  <a:lnTo>
                    <a:pt x="15307" y="622851"/>
                  </a:lnTo>
                  <a:cubicBezTo>
                    <a:pt x="11248" y="622851"/>
                    <a:pt x="7354" y="621238"/>
                    <a:pt x="4483" y="618368"/>
                  </a:cubicBezTo>
                  <a:cubicBezTo>
                    <a:pt x="1613" y="615497"/>
                    <a:pt x="0" y="611604"/>
                    <a:pt x="0" y="607544"/>
                  </a:cubicBezTo>
                  <a:lnTo>
                    <a:pt x="0" y="15307"/>
                  </a:lnTo>
                  <a:cubicBezTo>
                    <a:pt x="0" y="11248"/>
                    <a:pt x="1613" y="7354"/>
                    <a:pt x="4483" y="4483"/>
                  </a:cubicBezTo>
                  <a:cubicBezTo>
                    <a:pt x="7354" y="1613"/>
                    <a:pt x="11248" y="0"/>
                    <a:pt x="15307" y="0"/>
                  </a:cubicBezTo>
                  <a:close/>
                </a:path>
              </a:pathLst>
            </a:custGeom>
            <a:solidFill>
              <a:srgbClr val="2A3066">
                <a:alpha val="55686"/>
              </a:srgbClr>
            </a:solidFill>
          </p:spPr>
        </p:sp>
        <p:sp>
          <p:nvSpPr>
            <p:cNvPr name="TextBox 10" id="10"/>
            <p:cNvSpPr txBox="true"/>
            <p:nvPr/>
          </p:nvSpPr>
          <p:spPr>
            <a:xfrm>
              <a:off x="0" y="-66675"/>
              <a:ext cx="4162728" cy="689526"/>
            </a:xfrm>
            <a:prstGeom prst="rect">
              <a:avLst/>
            </a:prstGeom>
          </p:spPr>
          <p:txBody>
            <a:bodyPr anchor="ctr" rtlCol="false" tIns="50800" lIns="50800" bIns="50800" rIns="50800"/>
            <a:lstStyle/>
            <a:p>
              <a:pPr algn="ctr">
                <a:lnSpc>
                  <a:spcPts val="2921"/>
                </a:lnSpc>
              </a:pPr>
            </a:p>
            <a:p>
              <a:pPr algn="ctr">
                <a:lnSpc>
                  <a:spcPts val="2921"/>
                </a:lnSpc>
              </a:pPr>
            </a:p>
          </p:txBody>
        </p:sp>
      </p:grpSp>
      <p:sp>
        <p:nvSpPr>
          <p:cNvPr name="TextBox 11" id="11"/>
          <p:cNvSpPr txBox="true"/>
          <p:nvPr/>
        </p:nvSpPr>
        <p:spPr>
          <a:xfrm rot="0">
            <a:off x="2868481" y="1213918"/>
            <a:ext cx="9352270" cy="510041"/>
          </a:xfrm>
          <a:prstGeom prst="rect">
            <a:avLst/>
          </a:prstGeom>
        </p:spPr>
        <p:txBody>
          <a:bodyPr anchor="t" rtlCol="false" tIns="0" lIns="0" bIns="0" rIns="0">
            <a:spAutoFit/>
          </a:bodyPr>
          <a:lstStyle/>
          <a:p>
            <a:pPr algn="l">
              <a:lnSpc>
                <a:spcPts val="3744"/>
              </a:lnSpc>
              <a:spcBef>
                <a:spcPct val="0"/>
              </a:spcBef>
            </a:pPr>
            <a:r>
              <a:rPr lang="en-US" b="true" sz="3467" i="true">
                <a:solidFill>
                  <a:srgbClr val="FFFFFF"/>
                </a:solidFill>
                <a:latin typeface="Poppins Bold Italics"/>
                <a:ea typeface="Poppins Bold Italics"/>
                <a:cs typeface="Poppins Bold Italics"/>
                <a:sym typeface="Poppins Bold Italics"/>
              </a:rPr>
              <a:t>Recommendations for Organisation</a:t>
            </a:r>
          </a:p>
        </p:txBody>
      </p:sp>
      <p:sp>
        <p:nvSpPr>
          <p:cNvPr name="TextBox 12" id="12"/>
          <p:cNvSpPr txBox="true"/>
          <p:nvPr/>
        </p:nvSpPr>
        <p:spPr>
          <a:xfrm rot="0">
            <a:off x="3062355" y="2495730"/>
            <a:ext cx="12067759" cy="1384260"/>
          </a:xfrm>
          <a:prstGeom prst="rect">
            <a:avLst/>
          </a:prstGeom>
        </p:spPr>
        <p:txBody>
          <a:bodyPr anchor="t" rtlCol="false" tIns="0" lIns="0" bIns="0" rIns="0">
            <a:spAutoFit/>
          </a:bodyPr>
          <a:lstStyle/>
          <a:p>
            <a:pPr algn="l">
              <a:lnSpc>
                <a:spcPts val="3597"/>
              </a:lnSpc>
              <a:spcBef>
                <a:spcPct val="0"/>
              </a:spcBef>
            </a:pPr>
            <a:r>
              <a:rPr lang="en-US" sz="3330">
                <a:solidFill>
                  <a:srgbClr val="FCFBFA"/>
                </a:solidFill>
                <a:latin typeface="Poppins"/>
                <a:ea typeface="Poppins"/>
                <a:cs typeface="Poppins"/>
                <a:sym typeface="Poppins"/>
              </a:rPr>
              <a:t>Regularly evaluate the security practices of third-party vendors and require compl</a:t>
            </a:r>
            <a:r>
              <a:rPr lang="en-US" sz="3330">
                <a:solidFill>
                  <a:srgbClr val="FCFBFA"/>
                </a:solidFill>
                <a:latin typeface="Poppins"/>
                <a:ea typeface="Poppins"/>
                <a:cs typeface="Poppins"/>
                <a:sym typeface="Poppins"/>
              </a:rPr>
              <a:t>iance with your organisation's cybersecurity standards</a:t>
            </a:r>
            <a:r>
              <a:rPr lang="en-US" sz="3330">
                <a:solidFill>
                  <a:srgbClr val="FCFBFA"/>
                </a:solidFill>
                <a:latin typeface="Poppins"/>
                <a:ea typeface="Poppins"/>
                <a:cs typeface="Poppins"/>
                <a:sym typeface="Poppins"/>
              </a:rPr>
              <a:t>.</a:t>
            </a:r>
          </a:p>
        </p:txBody>
      </p:sp>
      <p:sp>
        <p:nvSpPr>
          <p:cNvPr name="TextBox 13" id="13"/>
          <p:cNvSpPr txBox="true"/>
          <p:nvPr/>
        </p:nvSpPr>
        <p:spPr>
          <a:xfrm rot="0">
            <a:off x="3146647" y="7612899"/>
            <a:ext cx="12233831" cy="1442934"/>
          </a:xfrm>
          <a:prstGeom prst="rect">
            <a:avLst/>
          </a:prstGeom>
        </p:spPr>
        <p:txBody>
          <a:bodyPr anchor="t" rtlCol="false" tIns="0" lIns="0" bIns="0" rIns="0">
            <a:spAutoFit/>
          </a:bodyPr>
          <a:lstStyle/>
          <a:p>
            <a:pPr algn="l">
              <a:lnSpc>
                <a:spcPts val="3705"/>
              </a:lnSpc>
              <a:spcBef>
                <a:spcPct val="0"/>
              </a:spcBef>
            </a:pPr>
            <a:r>
              <a:rPr lang="en-US" sz="3430">
                <a:solidFill>
                  <a:srgbClr val="FCFBFA"/>
                </a:solidFill>
                <a:latin typeface="Poppins"/>
                <a:ea typeface="Poppins"/>
                <a:cs typeface="Poppins"/>
                <a:sym typeface="Poppins"/>
              </a:rPr>
              <a:t>Develop and routinely update an incident response plan to ensure quick and effective action in the event of </a:t>
            </a:r>
            <a:r>
              <a:rPr lang="en-US" sz="3430">
                <a:solidFill>
                  <a:srgbClr val="FCFBFA"/>
                </a:solidFill>
                <a:latin typeface="Poppins"/>
                <a:ea typeface="Poppins"/>
                <a:cs typeface="Poppins"/>
                <a:sym typeface="Poppins"/>
              </a:rPr>
              <a:t>a cyberattack</a:t>
            </a:r>
            <a:r>
              <a:rPr lang="en-US" sz="3430">
                <a:solidFill>
                  <a:srgbClr val="FCFBFA"/>
                </a:solidFill>
                <a:latin typeface="Poppins"/>
                <a:ea typeface="Poppins"/>
                <a:cs typeface="Poppins"/>
                <a:sym typeface="Poppins"/>
              </a:rPr>
              <a:t>.</a:t>
            </a:r>
          </a:p>
        </p:txBody>
      </p:sp>
      <p:sp>
        <p:nvSpPr>
          <p:cNvPr name="TextBox 14" id="14"/>
          <p:cNvSpPr txBox="true"/>
          <p:nvPr/>
        </p:nvSpPr>
        <p:spPr>
          <a:xfrm rot="0">
            <a:off x="2868481" y="1808542"/>
            <a:ext cx="5581228" cy="403014"/>
          </a:xfrm>
          <a:prstGeom prst="rect">
            <a:avLst/>
          </a:prstGeom>
        </p:spPr>
        <p:txBody>
          <a:bodyPr anchor="t" rtlCol="false" tIns="0" lIns="0" bIns="0" rIns="0">
            <a:spAutoFit/>
          </a:bodyPr>
          <a:lstStyle/>
          <a:p>
            <a:pPr algn="l">
              <a:lnSpc>
                <a:spcPts val="2910"/>
              </a:lnSpc>
              <a:spcBef>
                <a:spcPct val="0"/>
              </a:spcBef>
            </a:pPr>
            <a:r>
              <a:rPr lang="en-US" b="true" sz="2694" i="true">
                <a:solidFill>
                  <a:srgbClr val="70ABCE"/>
                </a:solidFill>
                <a:latin typeface="Poppins Bold Italics"/>
                <a:ea typeface="Poppins Bold Italics"/>
                <a:cs typeface="Poppins Bold Italics"/>
                <a:sym typeface="Poppins Bold Italics"/>
              </a:rPr>
              <a:t>Vendor Security Assessments</a:t>
            </a:r>
          </a:p>
        </p:txBody>
      </p:sp>
      <p:sp>
        <p:nvSpPr>
          <p:cNvPr name="TextBox 15" id="15"/>
          <p:cNvSpPr txBox="true"/>
          <p:nvPr/>
        </p:nvSpPr>
        <p:spPr>
          <a:xfrm rot="0">
            <a:off x="3062355" y="5043504"/>
            <a:ext cx="12402416" cy="2641656"/>
          </a:xfrm>
          <a:prstGeom prst="rect">
            <a:avLst/>
          </a:prstGeom>
        </p:spPr>
        <p:txBody>
          <a:bodyPr anchor="t" rtlCol="false" tIns="0" lIns="0" bIns="0" rIns="0">
            <a:spAutoFit/>
          </a:bodyPr>
          <a:lstStyle/>
          <a:p>
            <a:pPr algn="l">
              <a:lnSpc>
                <a:spcPts val="4190"/>
              </a:lnSpc>
            </a:pPr>
            <a:r>
              <a:rPr lang="en-US" sz="3325">
                <a:solidFill>
                  <a:srgbClr val="FCFBFA"/>
                </a:solidFill>
                <a:latin typeface="Poppins"/>
                <a:ea typeface="Poppins"/>
                <a:cs typeface="Poppins"/>
                <a:sym typeface="Poppins"/>
              </a:rPr>
              <a:t>Implement ongoing train</a:t>
            </a:r>
            <a:r>
              <a:rPr lang="en-US" sz="3325">
                <a:solidFill>
                  <a:srgbClr val="FCFBFA"/>
                </a:solidFill>
                <a:latin typeface="Poppins"/>
                <a:ea typeface="Poppins"/>
                <a:cs typeface="Poppins"/>
                <a:sym typeface="Poppins"/>
              </a:rPr>
              <a:t>ing programs to educate employees about phishing attacks and other soc</a:t>
            </a:r>
            <a:r>
              <a:rPr lang="en-US" sz="3325">
                <a:solidFill>
                  <a:srgbClr val="FCFBFA"/>
                </a:solidFill>
                <a:latin typeface="Poppins"/>
                <a:ea typeface="Poppins"/>
                <a:cs typeface="Poppins"/>
                <a:sym typeface="Poppins"/>
              </a:rPr>
              <a:t>ial engineering tactics.</a:t>
            </a:r>
          </a:p>
          <a:p>
            <a:pPr algn="l">
              <a:lnSpc>
                <a:spcPts val="4190"/>
              </a:lnSpc>
            </a:pPr>
          </a:p>
          <a:p>
            <a:pPr algn="l">
              <a:lnSpc>
                <a:spcPts val="4190"/>
              </a:lnSpc>
            </a:pPr>
          </a:p>
        </p:txBody>
      </p:sp>
      <p:sp>
        <p:nvSpPr>
          <p:cNvPr name="TextBox 16" id="16"/>
          <p:cNvSpPr txBox="true"/>
          <p:nvPr/>
        </p:nvSpPr>
        <p:spPr>
          <a:xfrm rot="0">
            <a:off x="2929401" y="4398935"/>
            <a:ext cx="6840496" cy="403014"/>
          </a:xfrm>
          <a:prstGeom prst="rect">
            <a:avLst/>
          </a:prstGeom>
        </p:spPr>
        <p:txBody>
          <a:bodyPr anchor="t" rtlCol="false" tIns="0" lIns="0" bIns="0" rIns="0">
            <a:spAutoFit/>
          </a:bodyPr>
          <a:lstStyle/>
          <a:p>
            <a:pPr algn="l">
              <a:lnSpc>
                <a:spcPts val="2910"/>
              </a:lnSpc>
              <a:spcBef>
                <a:spcPct val="0"/>
              </a:spcBef>
            </a:pPr>
            <a:r>
              <a:rPr lang="en-US" b="true" sz="2694" i="true">
                <a:solidFill>
                  <a:srgbClr val="70ABCE"/>
                </a:solidFill>
                <a:latin typeface="Poppins Bold Italics"/>
                <a:ea typeface="Poppins Bold Italics"/>
                <a:cs typeface="Poppins Bold Italics"/>
                <a:sym typeface="Poppins Bold Italics"/>
              </a:rPr>
              <a:t>Employee Awareness Programs</a:t>
            </a:r>
          </a:p>
        </p:txBody>
      </p:sp>
      <p:sp>
        <p:nvSpPr>
          <p:cNvPr name="TextBox 17" id="17"/>
          <p:cNvSpPr txBox="true"/>
          <p:nvPr/>
        </p:nvSpPr>
        <p:spPr>
          <a:xfrm rot="0">
            <a:off x="2905008" y="7022280"/>
            <a:ext cx="6864888" cy="382440"/>
          </a:xfrm>
          <a:prstGeom prst="rect">
            <a:avLst/>
          </a:prstGeom>
        </p:spPr>
        <p:txBody>
          <a:bodyPr anchor="t" rtlCol="false" tIns="0" lIns="0" bIns="0" rIns="0">
            <a:spAutoFit/>
          </a:bodyPr>
          <a:lstStyle/>
          <a:p>
            <a:pPr algn="l">
              <a:lnSpc>
                <a:spcPts val="2802"/>
              </a:lnSpc>
              <a:spcBef>
                <a:spcPct val="0"/>
              </a:spcBef>
            </a:pPr>
            <a:r>
              <a:rPr lang="en-US" b="true" sz="2594" i="true">
                <a:solidFill>
                  <a:srgbClr val="70ABCE"/>
                </a:solidFill>
                <a:latin typeface="Poppins Bold Italics"/>
                <a:ea typeface="Poppins Bold Italics"/>
                <a:cs typeface="Poppins Bold Italics"/>
                <a:sym typeface="Poppins Bold Italics"/>
              </a:rPr>
              <a:t>Comprehensive Incident Response Plan</a:t>
            </a:r>
          </a:p>
        </p:txBody>
      </p:sp>
    </p:spTree>
  </p:cSld>
  <p:clrMapOvr>
    <a:masterClrMapping/>
  </p:clrMapOvr>
</p:sld>
</file>

<file path=ppt/slides/slide55.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sp>
        <p:nvSpPr>
          <p:cNvPr name="TextBox 2" id="2"/>
          <p:cNvSpPr txBox="true"/>
          <p:nvPr/>
        </p:nvSpPr>
        <p:spPr>
          <a:xfrm rot="0">
            <a:off x="3656613" y="3634027"/>
            <a:ext cx="11911233" cy="3704463"/>
          </a:xfrm>
          <a:prstGeom prst="rect">
            <a:avLst/>
          </a:prstGeom>
        </p:spPr>
        <p:txBody>
          <a:bodyPr anchor="t" rtlCol="false" tIns="0" lIns="0" bIns="0" rIns="0">
            <a:spAutoFit/>
          </a:bodyPr>
          <a:lstStyle/>
          <a:p>
            <a:pPr algn="just">
              <a:lnSpc>
                <a:spcPts val="4895"/>
              </a:lnSpc>
            </a:pPr>
            <a:r>
              <a:rPr lang="en-US" sz="3199">
                <a:solidFill>
                  <a:srgbClr val="FFFFFF"/>
                </a:solidFill>
                <a:latin typeface="Poppins"/>
                <a:ea typeface="Poppins"/>
                <a:cs typeface="Poppins"/>
                <a:sym typeface="Poppins"/>
              </a:rPr>
              <a:t>This project used Power BI to analyze ASUS lapt</a:t>
            </a:r>
            <a:r>
              <a:rPr lang="en-US" sz="3199">
                <a:solidFill>
                  <a:srgbClr val="FFFFFF"/>
                </a:solidFill>
                <a:latin typeface="Poppins"/>
                <a:ea typeface="Poppins"/>
                <a:cs typeface="Poppins"/>
                <a:sym typeface="Poppins"/>
              </a:rPr>
              <a:t>op sales</a:t>
            </a:r>
            <a:r>
              <a:rPr lang="en-US" sz="3199">
                <a:solidFill>
                  <a:srgbClr val="FFFFFF"/>
                </a:solidFill>
                <a:latin typeface="Poppins"/>
                <a:ea typeface="Poppins"/>
                <a:cs typeface="Poppins"/>
                <a:sym typeface="Poppins"/>
              </a:rPr>
              <a:t> a</a:t>
            </a:r>
            <a:r>
              <a:rPr lang="en-US" sz="3199">
                <a:solidFill>
                  <a:srgbClr val="FFFFFF"/>
                </a:solidFill>
                <a:latin typeface="Poppins"/>
                <a:ea typeface="Poppins"/>
                <a:cs typeface="Poppins"/>
                <a:sym typeface="Poppins"/>
              </a:rPr>
              <a:t>nd Orange t</a:t>
            </a:r>
            <a:r>
              <a:rPr lang="en-US" sz="3199">
                <a:solidFill>
                  <a:srgbClr val="FFFFFF"/>
                </a:solidFill>
                <a:latin typeface="Poppins"/>
                <a:ea typeface="Poppins"/>
                <a:cs typeface="Poppins"/>
                <a:sym typeface="Poppins"/>
              </a:rPr>
              <a:t>o forecast future performan</a:t>
            </a:r>
            <a:r>
              <a:rPr lang="en-US" sz="3199">
                <a:solidFill>
                  <a:srgbClr val="FFFFFF"/>
                </a:solidFill>
                <a:latin typeface="Poppins"/>
                <a:ea typeface="Poppins"/>
                <a:cs typeface="Poppins"/>
                <a:sym typeface="Poppins"/>
              </a:rPr>
              <a:t>c</a:t>
            </a:r>
            <a:r>
              <a:rPr lang="en-US" sz="3199">
                <a:solidFill>
                  <a:srgbClr val="FFFFFF"/>
                </a:solidFill>
                <a:latin typeface="Poppins"/>
                <a:ea typeface="Poppins"/>
                <a:cs typeface="Poppins"/>
                <a:sym typeface="Poppins"/>
              </a:rPr>
              <a:t>e. The</a:t>
            </a:r>
            <a:r>
              <a:rPr lang="en-US" sz="3199">
                <a:solidFill>
                  <a:srgbClr val="FFFFFF"/>
                </a:solidFill>
                <a:latin typeface="Poppins"/>
                <a:ea typeface="Poppins"/>
                <a:cs typeface="Poppins"/>
                <a:sym typeface="Poppins"/>
              </a:rPr>
              <a:t> ins</a:t>
            </a:r>
            <a:r>
              <a:rPr lang="en-US" sz="3199">
                <a:solidFill>
                  <a:srgbClr val="FFFFFF"/>
                </a:solidFill>
                <a:latin typeface="Poppins"/>
                <a:ea typeface="Poppins"/>
                <a:cs typeface="Poppins"/>
                <a:sym typeface="Poppins"/>
              </a:rPr>
              <a:t>ights supported marketing and inventory decisions, addressed stakeholder needs, and highlighted ethical and security considerations—backed by lessons from a real-world data breach.</a:t>
            </a:r>
          </a:p>
        </p:txBody>
      </p:sp>
      <p:sp>
        <p:nvSpPr>
          <p:cNvPr name="TextBox 3" id="3"/>
          <p:cNvSpPr txBox="true"/>
          <p:nvPr/>
        </p:nvSpPr>
        <p:spPr>
          <a:xfrm rot="0">
            <a:off x="2720153" y="2329385"/>
            <a:ext cx="10214671" cy="614586"/>
          </a:xfrm>
          <a:prstGeom prst="rect">
            <a:avLst/>
          </a:prstGeom>
        </p:spPr>
        <p:txBody>
          <a:bodyPr anchor="t" rtlCol="false" tIns="0" lIns="0" bIns="0" rIns="0">
            <a:spAutoFit/>
          </a:bodyPr>
          <a:lstStyle/>
          <a:p>
            <a:pPr algn="l">
              <a:lnSpc>
                <a:spcPts val="4403"/>
              </a:lnSpc>
              <a:spcBef>
                <a:spcPct val="0"/>
              </a:spcBef>
            </a:pPr>
            <a:r>
              <a:rPr lang="en-US" b="true" sz="4077">
                <a:solidFill>
                  <a:srgbClr val="FFFFFF"/>
                </a:solidFill>
                <a:latin typeface="Poppins Bold"/>
                <a:ea typeface="Poppins Bold"/>
                <a:cs typeface="Poppins Bold"/>
                <a:sym typeface="Poppins Bold"/>
              </a:rPr>
              <a:t>Study Summary</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TextBox 2" id="2"/>
          <p:cNvSpPr txBox="true"/>
          <p:nvPr/>
        </p:nvSpPr>
        <p:spPr>
          <a:xfrm rot="0">
            <a:off x="1028700" y="1028700"/>
            <a:ext cx="10214671" cy="614586"/>
          </a:xfrm>
          <a:prstGeom prst="rect">
            <a:avLst/>
          </a:prstGeom>
        </p:spPr>
        <p:txBody>
          <a:bodyPr anchor="t" rtlCol="false" tIns="0" lIns="0" bIns="0" rIns="0">
            <a:spAutoFit/>
          </a:bodyPr>
          <a:lstStyle/>
          <a:p>
            <a:pPr algn="l">
              <a:lnSpc>
                <a:spcPts val="4403"/>
              </a:lnSpc>
              <a:spcBef>
                <a:spcPct val="0"/>
              </a:spcBef>
            </a:pPr>
            <a:r>
              <a:rPr lang="en-US" b="true" sz="4077">
                <a:solidFill>
                  <a:srgbClr val="FFFFFF"/>
                </a:solidFill>
                <a:latin typeface="Poppins Bold"/>
                <a:ea typeface="Poppins Bold"/>
                <a:cs typeface="Poppins Bold"/>
                <a:sym typeface="Poppins Bold"/>
              </a:rPr>
              <a:t>References </a:t>
            </a:r>
          </a:p>
        </p:txBody>
      </p:sp>
      <p:sp>
        <p:nvSpPr>
          <p:cNvPr name="TextBox 3" id="3"/>
          <p:cNvSpPr txBox="true"/>
          <p:nvPr/>
        </p:nvSpPr>
        <p:spPr>
          <a:xfrm rot="0">
            <a:off x="1028700" y="1735181"/>
            <a:ext cx="16230600" cy="7292284"/>
          </a:xfrm>
          <a:prstGeom prst="rect">
            <a:avLst/>
          </a:prstGeom>
        </p:spPr>
        <p:txBody>
          <a:bodyPr anchor="t" rtlCol="false" tIns="0" lIns="0" bIns="0" rIns="0">
            <a:spAutoFit/>
          </a:bodyPr>
          <a:lstStyle/>
          <a:p>
            <a:pPr algn="l" marL="599599" indent="-299799" lvl="1">
              <a:lnSpc>
                <a:spcPts val="3888"/>
              </a:lnSpc>
              <a:buAutoNum type="arabicPeriod" startAt="1"/>
            </a:pPr>
            <a:r>
              <a:rPr lang="en-US" sz="2777">
                <a:solidFill>
                  <a:srgbClr val="FFFFFF"/>
                </a:solidFill>
                <a:latin typeface="Poppins"/>
                <a:ea typeface="Poppins"/>
                <a:cs typeface="Poppins"/>
                <a:sym typeface="Poppins"/>
              </a:rPr>
              <a:t> Microsoft. (2023). Power BI Documentation. Available at: </a:t>
            </a:r>
            <a:r>
              <a:rPr lang="en-US" sz="2777" u="sng">
                <a:solidFill>
                  <a:srgbClr val="FFFFFF"/>
                </a:solidFill>
                <a:latin typeface="Poppins"/>
                <a:ea typeface="Poppins"/>
                <a:cs typeface="Poppins"/>
                <a:sym typeface="Poppins"/>
                <a:hlinkClick r:id="rId3" tooltip="https://learn.microsoft.com/en-us/power-bi/"/>
              </a:rPr>
              <a:t>https://learn.microsoft.com/en-us/power-bi/</a:t>
            </a:r>
          </a:p>
          <a:p>
            <a:pPr algn="l" marL="599599" indent="-299799" lvl="1">
              <a:lnSpc>
                <a:spcPts val="3888"/>
              </a:lnSpc>
              <a:buAutoNum type="arabicPeriod" startAt="1"/>
            </a:pPr>
            <a:r>
              <a:rPr lang="en-US" sz="2777">
                <a:solidFill>
                  <a:srgbClr val="FFFFFF"/>
                </a:solidFill>
                <a:latin typeface="Poppins"/>
                <a:ea typeface="Poppins"/>
                <a:cs typeface="Poppins"/>
                <a:sym typeface="Poppins"/>
              </a:rPr>
              <a:t>Demšar, J., Curk, T., Erjavec, A., Gorup, Č., Hočevar, T., Milutinovič, M., Možina, M., Polajnar, M., Toplak, M., Starič, A., Štajdohar, M., Umek, L., Žagar, L., Žbontar, J., and Zupan, B. (2013). Orange: Data Mining Toolbox in Python. Journal of Machine Learning Research, 14, pp.2349–2353.</a:t>
            </a:r>
          </a:p>
          <a:p>
            <a:pPr algn="l" marL="599599" indent="-299799" lvl="1">
              <a:lnSpc>
                <a:spcPts val="3888"/>
              </a:lnSpc>
              <a:buAutoNum type="arabicPeriod" startAt="1"/>
            </a:pPr>
            <a:r>
              <a:rPr lang="en-US" sz="2777">
                <a:solidFill>
                  <a:srgbClr val="FFFFFF"/>
                </a:solidFill>
                <a:latin typeface="Poppins"/>
                <a:ea typeface="Poppins"/>
                <a:cs typeface="Poppins"/>
                <a:sym typeface="Poppins"/>
              </a:rPr>
              <a:t>Hyndman, R.J. and Athanasopoulos, G. (2018). Forecasting: Principles and Practice. 2nd ed. OTexts. Available at: https://otexts.com/fpp2/</a:t>
            </a:r>
          </a:p>
          <a:p>
            <a:pPr algn="l" marL="599599" indent="-299799" lvl="1">
              <a:lnSpc>
                <a:spcPts val="3888"/>
              </a:lnSpc>
              <a:buAutoNum type="arabicPeriod" startAt="1"/>
            </a:pPr>
            <a:r>
              <a:rPr lang="en-US" sz="2777">
                <a:solidFill>
                  <a:srgbClr val="FFFFFF"/>
                </a:solidFill>
                <a:latin typeface="Poppins"/>
                <a:ea typeface="Poppins"/>
                <a:cs typeface="Poppins"/>
                <a:sym typeface="Poppins"/>
              </a:rPr>
              <a:t>Box, G.E.P., Jenkins, G.M., Reinsel, G.C., and Ljung, G.M. (2015). Time Series Analysis: Forecasting and Control. 5th ed. Hoboken, NJ: Wiley.</a:t>
            </a:r>
          </a:p>
          <a:p>
            <a:pPr algn="l" marL="599599" indent="-299799" lvl="1">
              <a:lnSpc>
                <a:spcPts val="3888"/>
              </a:lnSpc>
              <a:buAutoNum type="arabicPeriod" startAt="1"/>
            </a:pPr>
            <a:r>
              <a:rPr lang="en-US" sz="2777">
                <a:solidFill>
                  <a:srgbClr val="FFFFFF"/>
                </a:solidFill>
                <a:latin typeface="Poppins"/>
                <a:ea typeface="Poppins"/>
                <a:cs typeface="Poppins"/>
                <a:sym typeface="Poppins"/>
              </a:rPr>
              <a:t>ICO. (2022). Guide to the UK General Data Protection Regulation (UK GDPR). Information Commissioner's Office. Available at: https://ico.org.uk/for-organisations/guide-to-data-protection/ </a:t>
            </a:r>
          </a:p>
          <a:p>
            <a:pPr algn="l" marL="599599" indent="-299799" lvl="1">
              <a:lnSpc>
                <a:spcPts val="3888"/>
              </a:lnSpc>
              <a:buAutoNum type="arabicPeriod" startAt="1"/>
            </a:pPr>
            <a:r>
              <a:rPr lang="en-US" sz="2777">
                <a:solidFill>
                  <a:srgbClr val="FFFFFF"/>
                </a:solidFill>
                <a:latin typeface="Poppins"/>
                <a:ea typeface="Poppins"/>
                <a:cs typeface="Poppins"/>
                <a:sym typeface="Poppins"/>
              </a:rPr>
              <a:t>BBC News. (2021). Marks &amp; Spencer app glitch exposes customer details. [online] Available at: </a:t>
            </a:r>
            <a:r>
              <a:rPr lang="en-US" sz="2777" u="sng">
                <a:solidFill>
                  <a:srgbClr val="FFFFFF"/>
                </a:solidFill>
                <a:latin typeface="Poppins"/>
                <a:ea typeface="Poppins"/>
                <a:cs typeface="Poppins"/>
                <a:sym typeface="Poppins"/>
                <a:hlinkClick r:id="rId4" tooltip="https://www.bbc.com/news/technology-58967929"/>
              </a:rPr>
              <a:t>https://www.bbc.com/news/technology-58967929</a:t>
            </a:r>
            <a:r>
              <a:rPr lang="en-US" sz="2777">
                <a:solidFill>
                  <a:srgbClr val="FFFFFF"/>
                </a:solidFill>
                <a:latin typeface="Poppins"/>
                <a:ea typeface="Poppins"/>
                <a:cs typeface="Poppins"/>
                <a:sym typeface="Poppins"/>
              </a:rPr>
              <a:t>  </a:t>
            </a:r>
          </a:p>
        </p:txBody>
      </p:sp>
    </p:spTree>
  </p:cSld>
  <p:clrMapOvr>
    <a:masterClrMapping/>
  </p:clrMapOvr>
</p:sld>
</file>

<file path=ppt/slides/slide57.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sp>
        <p:nvSpPr>
          <p:cNvPr name="TextBox 2" id="2"/>
          <p:cNvSpPr txBox="true"/>
          <p:nvPr/>
        </p:nvSpPr>
        <p:spPr>
          <a:xfrm rot="0">
            <a:off x="1028700" y="1028700"/>
            <a:ext cx="10214671" cy="508711"/>
          </a:xfrm>
          <a:prstGeom prst="rect">
            <a:avLst/>
          </a:prstGeom>
        </p:spPr>
        <p:txBody>
          <a:bodyPr anchor="t" rtlCol="false" tIns="0" lIns="0" bIns="0" rIns="0">
            <a:spAutoFit/>
          </a:bodyPr>
          <a:lstStyle/>
          <a:p>
            <a:pPr algn="l">
              <a:lnSpc>
                <a:spcPts val="3650"/>
              </a:lnSpc>
              <a:spcBef>
                <a:spcPct val="0"/>
              </a:spcBef>
            </a:pPr>
            <a:r>
              <a:rPr lang="en-US" b="true" sz="3379">
                <a:solidFill>
                  <a:srgbClr val="FFFFFF"/>
                </a:solidFill>
                <a:latin typeface="Poppins Bold"/>
                <a:ea typeface="Poppins Bold"/>
                <a:cs typeface="Poppins Bold"/>
                <a:sym typeface="Poppins Bold"/>
              </a:rPr>
              <a:t>References </a:t>
            </a:r>
          </a:p>
        </p:txBody>
      </p:sp>
      <p:sp>
        <p:nvSpPr>
          <p:cNvPr name="TextBox 3" id="3"/>
          <p:cNvSpPr txBox="true"/>
          <p:nvPr/>
        </p:nvSpPr>
        <p:spPr>
          <a:xfrm rot="0">
            <a:off x="1028700" y="1461211"/>
            <a:ext cx="16230600" cy="8263763"/>
          </a:xfrm>
          <a:prstGeom prst="rect">
            <a:avLst/>
          </a:prstGeom>
        </p:spPr>
        <p:txBody>
          <a:bodyPr anchor="t" rtlCol="false" tIns="0" lIns="0" bIns="0" rIns="0">
            <a:spAutoFit/>
          </a:bodyPr>
          <a:lstStyle/>
          <a:p>
            <a:pPr algn="l" marL="600203" indent="-300101" lvl="1">
              <a:lnSpc>
                <a:spcPts val="3892"/>
              </a:lnSpc>
              <a:buAutoNum type="arabicPeriod" startAt="1"/>
            </a:pPr>
            <a:r>
              <a:rPr lang="en-US" sz="2780">
                <a:solidFill>
                  <a:srgbClr val="FFFFFF"/>
                </a:solidFill>
                <a:latin typeface="Poppins"/>
                <a:ea typeface="Poppins"/>
                <a:cs typeface="Poppins"/>
                <a:sym typeface="Poppins"/>
              </a:rPr>
              <a:t>Agarwal, A. (2020). What is Orange? [online] Medium. Available at: </a:t>
            </a:r>
            <a:r>
              <a:rPr lang="en-US" sz="2780" u="none">
                <a:solidFill>
                  <a:srgbClr val="FFFFFF"/>
                </a:solidFill>
                <a:latin typeface="Poppins"/>
                <a:ea typeface="Poppins"/>
                <a:cs typeface="Poppins"/>
                <a:sym typeface="Poppins"/>
              </a:rPr>
              <a:t>https://</a:t>
            </a:r>
            <a:r>
              <a:rPr lang="en-US" sz="2780">
                <a:solidFill>
                  <a:srgbClr val="FFFFFF"/>
                </a:solidFill>
                <a:latin typeface="Poppins"/>
                <a:ea typeface="Poppins"/>
                <a:cs typeface="Poppins"/>
                <a:sym typeface="Poppins"/>
              </a:rPr>
              <a:t>toashishag</a:t>
            </a:r>
            <a:r>
              <a:rPr lang="en-US" sz="2780" u="none">
                <a:solidFill>
                  <a:srgbClr val="FFFFFF"/>
                </a:solidFill>
                <a:latin typeface="Poppins"/>
                <a:ea typeface="Poppins"/>
                <a:cs typeface="Poppins"/>
                <a:sym typeface="Poppins"/>
              </a:rPr>
              <a:t>ar</a:t>
            </a:r>
            <a:r>
              <a:rPr lang="en-US" sz="2780">
                <a:solidFill>
                  <a:srgbClr val="FFFFFF"/>
                </a:solidFill>
                <a:latin typeface="Poppins"/>
                <a:ea typeface="Poppins"/>
                <a:cs typeface="Poppins"/>
                <a:sym typeface="Poppins"/>
              </a:rPr>
              <a:t>wal</a:t>
            </a:r>
            <a:r>
              <a:rPr lang="en-US" sz="2780" u="none">
                <a:solidFill>
                  <a:srgbClr val="FFFFFF"/>
                </a:solidFill>
                <a:latin typeface="Poppins"/>
                <a:ea typeface="Poppins"/>
                <a:cs typeface="Poppins"/>
                <a:sym typeface="Poppins"/>
              </a:rPr>
              <a:t>.m</a:t>
            </a:r>
            <a:r>
              <a:rPr lang="en-US" sz="2780">
                <a:solidFill>
                  <a:srgbClr val="FFFFFF"/>
                </a:solidFill>
                <a:latin typeface="Poppins"/>
                <a:ea typeface="Poppins"/>
                <a:cs typeface="Poppins"/>
                <a:sym typeface="Poppins"/>
              </a:rPr>
              <a:t>ed</a:t>
            </a:r>
            <a:r>
              <a:rPr lang="en-US" sz="2780" u="none">
                <a:solidFill>
                  <a:srgbClr val="FFFFFF"/>
                </a:solidFill>
                <a:latin typeface="Poppins"/>
                <a:ea typeface="Poppins"/>
                <a:cs typeface="Poppins"/>
                <a:sym typeface="Poppins"/>
              </a:rPr>
              <a:t>i</a:t>
            </a:r>
            <a:r>
              <a:rPr lang="en-US" sz="2780">
                <a:solidFill>
                  <a:srgbClr val="FFFFFF"/>
                </a:solidFill>
                <a:latin typeface="Poppins"/>
                <a:ea typeface="Poppins"/>
                <a:cs typeface="Poppins"/>
                <a:sym typeface="Poppins"/>
              </a:rPr>
              <a:t>um</a:t>
            </a:r>
            <a:r>
              <a:rPr lang="en-US" sz="2780" u="none">
                <a:solidFill>
                  <a:srgbClr val="FFFFFF"/>
                </a:solidFill>
                <a:latin typeface="Poppins"/>
                <a:ea typeface="Poppins"/>
                <a:cs typeface="Poppins"/>
                <a:sym typeface="Poppins"/>
              </a:rPr>
              <a:t>.com/</a:t>
            </a:r>
            <a:r>
              <a:rPr lang="en-US" sz="2780">
                <a:solidFill>
                  <a:srgbClr val="FFFFFF"/>
                </a:solidFill>
                <a:latin typeface="Poppins"/>
                <a:ea typeface="Poppins"/>
                <a:cs typeface="Poppins"/>
                <a:sym typeface="Poppins"/>
              </a:rPr>
              <a:t>what</a:t>
            </a:r>
            <a:r>
              <a:rPr lang="en-US" sz="2780" u="none">
                <a:solidFill>
                  <a:srgbClr val="FFFFFF"/>
                </a:solidFill>
                <a:latin typeface="Poppins"/>
                <a:ea typeface="Poppins"/>
                <a:cs typeface="Poppins"/>
                <a:sym typeface="Poppins"/>
              </a:rPr>
              <a:t>-</a:t>
            </a:r>
            <a:r>
              <a:rPr lang="en-US" sz="2780">
                <a:solidFill>
                  <a:srgbClr val="FFFFFF"/>
                </a:solidFill>
                <a:latin typeface="Poppins"/>
                <a:ea typeface="Poppins"/>
                <a:cs typeface="Poppins"/>
                <a:sym typeface="Poppins"/>
              </a:rPr>
              <a:t>i</a:t>
            </a:r>
            <a:r>
              <a:rPr lang="en-US" sz="2780" u="none">
                <a:solidFill>
                  <a:srgbClr val="FFFFFF"/>
                </a:solidFill>
                <a:latin typeface="Poppins"/>
                <a:ea typeface="Poppins"/>
                <a:cs typeface="Poppins"/>
                <a:sym typeface="Poppins"/>
              </a:rPr>
              <a:t>s</a:t>
            </a:r>
            <a:r>
              <a:rPr lang="en-US" sz="2780">
                <a:solidFill>
                  <a:srgbClr val="FFFFFF"/>
                </a:solidFill>
                <a:latin typeface="Poppins"/>
                <a:ea typeface="Poppins"/>
                <a:cs typeface="Poppins"/>
                <a:sym typeface="Poppins"/>
              </a:rPr>
              <a:t>-</a:t>
            </a:r>
            <a:r>
              <a:rPr lang="en-US" sz="2780" u="none">
                <a:solidFill>
                  <a:srgbClr val="FFFFFF"/>
                </a:solidFill>
                <a:latin typeface="Poppins"/>
                <a:ea typeface="Poppins"/>
                <a:cs typeface="Poppins"/>
                <a:sym typeface="Poppins"/>
              </a:rPr>
              <a:t>o</a:t>
            </a:r>
            <a:r>
              <a:rPr lang="en-US" sz="2780">
                <a:solidFill>
                  <a:srgbClr val="FFFFFF"/>
                </a:solidFill>
                <a:latin typeface="Poppins"/>
                <a:ea typeface="Poppins"/>
                <a:cs typeface="Poppins"/>
                <a:sym typeface="Poppins"/>
              </a:rPr>
              <a:t>rang</a:t>
            </a:r>
            <a:r>
              <a:rPr lang="en-US" sz="2780" u="none">
                <a:solidFill>
                  <a:srgbClr val="FFFFFF"/>
                </a:solidFill>
                <a:latin typeface="Poppins"/>
                <a:ea typeface="Poppins"/>
                <a:cs typeface="Poppins"/>
                <a:sym typeface="Poppins"/>
              </a:rPr>
              <a:t>e-</a:t>
            </a:r>
            <a:r>
              <a:rPr lang="en-US" sz="2780">
                <a:solidFill>
                  <a:srgbClr val="FFFFFF"/>
                </a:solidFill>
                <a:latin typeface="Poppins"/>
                <a:ea typeface="Poppins"/>
                <a:cs typeface="Poppins"/>
                <a:sym typeface="Poppins"/>
              </a:rPr>
              <a:t>8dee499</a:t>
            </a:r>
            <a:r>
              <a:rPr lang="en-US" sz="2780" u="none">
                <a:solidFill>
                  <a:srgbClr val="FFFFFF"/>
                </a:solidFill>
                <a:latin typeface="Poppins"/>
                <a:ea typeface="Poppins"/>
                <a:cs typeface="Poppins"/>
                <a:sym typeface="Poppins"/>
              </a:rPr>
              <a:t>b</a:t>
            </a:r>
            <a:r>
              <a:rPr lang="en-US" sz="2780">
                <a:solidFill>
                  <a:srgbClr val="FFFFFF"/>
                </a:solidFill>
                <a:latin typeface="Poppins"/>
                <a:ea typeface="Poppins"/>
                <a:cs typeface="Poppins"/>
                <a:sym typeface="Poppins"/>
              </a:rPr>
              <a:t>66</a:t>
            </a:r>
            <a:r>
              <a:rPr lang="en-US" sz="2780">
                <a:solidFill>
                  <a:srgbClr val="FFFFFF"/>
                </a:solidFill>
                <a:latin typeface="Poppins"/>
                <a:ea typeface="Poppins"/>
                <a:cs typeface="Poppins"/>
                <a:sym typeface="Poppins"/>
              </a:rPr>
              <a:t>a3.</a:t>
            </a:r>
          </a:p>
          <a:p>
            <a:pPr algn="l" marL="600203" indent="-300101" lvl="1">
              <a:lnSpc>
                <a:spcPts val="3892"/>
              </a:lnSpc>
              <a:buAutoNum type="arabicPeriod" startAt="1"/>
            </a:pPr>
            <a:r>
              <a:rPr lang="en-US" sz="2780">
                <a:solidFill>
                  <a:srgbClr val="FFFFFF"/>
                </a:solidFill>
                <a:latin typeface="Poppins"/>
                <a:ea typeface="Poppins"/>
                <a:cs typeface="Poppins"/>
                <a:sym typeface="Poppins"/>
              </a:rPr>
              <a:t>Clough, P. (2021). Ethics in data collection | Ethical considerations for data collection - TPXimpact. [online] TPXimpact. Available at: https://www.tpximpact.com/knowledge-hub/insights/ethical-data-collection.</a:t>
            </a:r>
          </a:p>
          <a:p>
            <a:pPr algn="l" marL="600203" indent="-300101" lvl="1">
              <a:lnSpc>
                <a:spcPts val="3892"/>
              </a:lnSpc>
              <a:buAutoNum type="arabicPeriod" startAt="1"/>
            </a:pPr>
            <a:r>
              <a:rPr lang="en-US" sz="2780">
                <a:solidFill>
                  <a:srgbClr val="FFFFFF"/>
                </a:solidFill>
                <a:latin typeface="Poppins"/>
                <a:ea typeface="Poppins"/>
                <a:cs typeface="Poppins"/>
                <a:sym typeface="Poppins"/>
              </a:rPr>
              <a:t>Data Journal (2024). 10 Reasons Why Data-Driven Decision Making is Essential | Medium. [online] Medium. Available at: https://medium.com/@datajournal/why-you-should-always-use-data-10-reasons-4f1e7cbd4ef3.</a:t>
            </a:r>
          </a:p>
          <a:p>
            <a:pPr algn="l" marL="600203" indent="-300101" lvl="1">
              <a:lnSpc>
                <a:spcPts val="3892"/>
              </a:lnSpc>
              <a:buAutoNum type="arabicPeriod" startAt="1"/>
            </a:pPr>
            <a:r>
              <a:rPr lang="en-US" sz="2780">
                <a:solidFill>
                  <a:srgbClr val="FFFFFF"/>
                </a:solidFill>
                <a:latin typeface="Poppins"/>
                <a:ea typeface="Poppins"/>
                <a:cs typeface="Poppins"/>
                <a:sym typeface="Poppins"/>
              </a:rPr>
              <a:t>GeeksforGeeks. (2021). Privacy, security and social impacts of Data Mining. [online] Available at: https://www.geeksforgeeks.org/privacy-security-and-social-impacts-of-data-mining/.</a:t>
            </a:r>
          </a:p>
          <a:p>
            <a:pPr algn="l" marL="600203" indent="-300101" lvl="1">
              <a:lnSpc>
                <a:spcPts val="3892"/>
              </a:lnSpc>
              <a:buAutoNum type="arabicPeriod" startAt="1"/>
            </a:pPr>
            <a:r>
              <a:rPr lang="en-US" sz="2780">
                <a:solidFill>
                  <a:srgbClr val="FFFFFF"/>
                </a:solidFill>
                <a:latin typeface="Poppins"/>
                <a:ea typeface="Poppins"/>
                <a:cs typeface="Poppins"/>
                <a:sym typeface="Poppins"/>
              </a:rPr>
              <a:t>imperva (2022). What is Data Security | Threats, Risks &amp; Solutions | Imperva. [online] Learning Center. Available at: https://www.imperva.com/learn/data-security/data-security/.</a:t>
            </a:r>
          </a:p>
          <a:p>
            <a:pPr algn="l" marL="600203" indent="-300101" lvl="1">
              <a:lnSpc>
                <a:spcPts val="3892"/>
              </a:lnSpc>
              <a:buAutoNum type="arabicPeriod" startAt="1"/>
            </a:pPr>
            <a:r>
              <a:rPr lang="en-US" sz="2780">
                <a:solidFill>
                  <a:srgbClr val="FFFFFF"/>
                </a:solidFill>
                <a:latin typeface="Poppins"/>
                <a:ea typeface="Poppins"/>
                <a:cs typeface="Poppins"/>
                <a:sym typeface="Poppins"/>
              </a:rPr>
              <a:t>Liv, M. (2025). M&amp;S cyber attack: What we know about it and the impact it’s having. BBC. [online] 1 May. Available at: https://www.bbc.com/news/articles/c0el31nqnpvo.</a:t>
            </a:r>
          </a:p>
          <a:p>
            <a:pPr algn="l">
              <a:lnSpc>
                <a:spcPts val="3892"/>
              </a:lnSpc>
            </a:pPr>
          </a:p>
        </p:txBody>
      </p:sp>
    </p:spTree>
  </p:cSld>
  <p:clrMapOvr>
    <a:masterClrMapping/>
  </p:clrMapOvr>
</p:sld>
</file>

<file path=ppt/slides/slide58.xml><?xml version="1.0" encoding="utf-8"?>
<p:sld xmlns:p="http://schemas.openxmlformats.org/presentationml/2006/main" xmlns:a="http://schemas.openxmlformats.org/drawingml/2006/main">
  <p:cSld>
    <p:bg>
      <p:bgPr>
        <a:solidFill>
          <a:srgbClr val="03143B"/>
        </a:solidFill>
      </p:bgPr>
    </p:bg>
    <p:spTree>
      <p:nvGrpSpPr>
        <p:cNvPr id="1" name=""/>
        <p:cNvGrpSpPr/>
        <p:nvPr/>
      </p:nvGrpSpPr>
      <p:grpSpPr>
        <a:xfrm>
          <a:off x="0" y="0"/>
          <a:ext cx="0" cy="0"/>
          <a:chOff x="0" y="0"/>
          <a:chExt cx="0" cy="0"/>
        </a:xfrm>
      </p:grpSpPr>
      <p:sp>
        <p:nvSpPr>
          <p:cNvPr name="TextBox 2" id="2"/>
          <p:cNvSpPr txBox="true"/>
          <p:nvPr/>
        </p:nvSpPr>
        <p:spPr>
          <a:xfrm rot="0">
            <a:off x="1028700" y="1038225"/>
            <a:ext cx="10214671" cy="573481"/>
          </a:xfrm>
          <a:prstGeom prst="rect">
            <a:avLst/>
          </a:prstGeom>
        </p:spPr>
        <p:txBody>
          <a:bodyPr anchor="t" rtlCol="false" tIns="0" lIns="0" bIns="0" rIns="0">
            <a:spAutoFit/>
          </a:bodyPr>
          <a:lstStyle/>
          <a:p>
            <a:pPr algn="l">
              <a:lnSpc>
                <a:spcPts val="4190"/>
              </a:lnSpc>
              <a:spcBef>
                <a:spcPct val="0"/>
              </a:spcBef>
            </a:pPr>
            <a:r>
              <a:rPr lang="en-US" b="true" sz="3879">
                <a:solidFill>
                  <a:srgbClr val="FFFFFF"/>
                </a:solidFill>
                <a:latin typeface="Poppins Bold"/>
                <a:ea typeface="Poppins Bold"/>
                <a:cs typeface="Poppins Bold"/>
                <a:sym typeface="Poppins Bold"/>
              </a:rPr>
              <a:t>References </a:t>
            </a:r>
          </a:p>
        </p:txBody>
      </p:sp>
      <p:sp>
        <p:nvSpPr>
          <p:cNvPr name="TextBox 3" id="3"/>
          <p:cNvSpPr txBox="true"/>
          <p:nvPr/>
        </p:nvSpPr>
        <p:spPr>
          <a:xfrm rot="0">
            <a:off x="1028700" y="1702181"/>
            <a:ext cx="16230600" cy="6806438"/>
          </a:xfrm>
          <a:prstGeom prst="rect">
            <a:avLst/>
          </a:prstGeom>
        </p:spPr>
        <p:txBody>
          <a:bodyPr anchor="t" rtlCol="false" tIns="0" lIns="0" bIns="0" rIns="0">
            <a:spAutoFit/>
          </a:bodyPr>
          <a:lstStyle/>
          <a:p>
            <a:pPr algn="l" marL="600203" indent="-300101" lvl="1">
              <a:lnSpc>
                <a:spcPts val="3892"/>
              </a:lnSpc>
              <a:buAutoNum type="arabicPeriod" startAt="1"/>
            </a:pPr>
            <a:r>
              <a:rPr lang="en-US" sz="2780">
                <a:solidFill>
                  <a:srgbClr val="FFFFFF"/>
                </a:solidFill>
                <a:latin typeface="Poppins"/>
                <a:ea typeface="Poppins"/>
                <a:cs typeface="Poppins"/>
                <a:sym typeface="Poppins"/>
              </a:rPr>
              <a:t>Rodrigues, J. (2023). Top 5 Methods of Protecting Data. [online] TitanFile. Available at: </a:t>
            </a:r>
            <a:r>
              <a:rPr lang="en-US" sz="2780" u="none">
                <a:solidFill>
                  <a:srgbClr val="FFFFFF"/>
                </a:solidFill>
                <a:latin typeface="Poppins"/>
                <a:ea typeface="Poppins"/>
                <a:cs typeface="Poppins"/>
                <a:sym typeface="Poppins"/>
              </a:rPr>
              <a:t>https://www.</a:t>
            </a:r>
            <a:r>
              <a:rPr lang="en-US" sz="2780">
                <a:solidFill>
                  <a:srgbClr val="FFFFFF"/>
                </a:solidFill>
                <a:latin typeface="Poppins"/>
                <a:ea typeface="Poppins"/>
                <a:cs typeface="Poppins"/>
                <a:sym typeface="Poppins"/>
              </a:rPr>
              <a:t>titanfile</a:t>
            </a:r>
            <a:r>
              <a:rPr lang="en-US" sz="2780" u="none">
                <a:solidFill>
                  <a:srgbClr val="FFFFFF"/>
                </a:solidFill>
                <a:latin typeface="Poppins"/>
                <a:ea typeface="Poppins"/>
                <a:cs typeface="Poppins"/>
                <a:sym typeface="Poppins"/>
              </a:rPr>
              <a:t>.com/blog/5-methods</a:t>
            </a:r>
            <a:r>
              <a:rPr lang="en-US" sz="2780">
                <a:solidFill>
                  <a:srgbClr val="FFFFFF"/>
                </a:solidFill>
                <a:latin typeface="Poppins"/>
                <a:ea typeface="Poppins"/>
                <a:cs typeface="Poppins"/>
                <a:sym typeface="Poppins"/>
              </a:rPr>
              <a:t>-</a:t>
            </a:r>
            <a:r>
              <a:rPr lang="en-US" sz="2780" u="none">
                <a:solidFill>
                  <a:srgbClr val="FFFFFF"/>
                </a:solidFill>
                <a:latin typeface="Poppins"/>
                <a:ea typeface="Poppins"/>
                <a:cs typeface="Poppins"/>
                <a:sym typeface="Poppins"/>
              </a:rPr>
              <a:t>of-p</a:t>
            </a:r>
            <a:r>
              <a:rPr lang="en-US" sz="2780">
                <a:solidFill>
                  <a:srgbClr val="FFFFFF"/>
                </a:solidFill>
                <a:latin typeface="Poppins"/>
                <a:ea typeface="Poppins"/>
                <a:cs typeface="Poppins"/>
                <a:sym typeface="Poppins"/>
              </a:rPr>
              <a:t>rotecting</a:t>
            </a:r>
            <a:r>
              <a:rPr lang="en-US" sz="2780" u="none">
                <a:solidFill>
                  <a:srgbClr val="FFFFFF"/>
                </a:solidFill>
                <a:latin typeface="Poppins"/>
                <a:ea typeface="Poppins"/>
                <a:cs typeface="Poppins"/>
                <a:sym typeface="Poppins"/>
              </a:rPr>
              <a:t>-</a:t>
            </a:r>
            <a:r>
              <a:rPr lang="en-US" sz="2780">
                <a:solidFill>
                  <a:srgbClr val="FFFFFF"/>
                </a:solidFill>
                <a:latin typeface="Poppins"/>
                <a:ea typeface="Poppins"/>
                <a:cs typeface="Poppins"/>
                <a:sym typeface="Poppins"/>
              </a:rPr>
              <a:t>dat</a:t>
            </a:r>
            <a:r>
              <a:rPr lang="en-US" sz="2780">
                <a:solidFill>
                  <a:srgbClr val="FFFFFF"/>
                </a:solidFill>
                <a:latin typeface="Poppins"/>
                <a:ea typeface="Poppins"/>
                <a:cs typeface="Poppins"/>
                <a:sym typeface="Poppins"/>
              </a:rPr>
              <a:t>a/.</a:t>
            </a:r>
          </a:p>
          <a:p>
            <a:pPr algn="l" marL="600203" indent="-300101" lvl="1">
              <a:lnSpc>
                <a:spcPts val="3892"/>
              </a:lnSpc>
              <a:buAutoNum type="arabicPeriod" startAt="1"/>
            </a:pPr>
            <a:r>
              <a:rPr lang="en-US" sz="2780">
                <a:solidFill>
                  <a:srgbClr val="FFFFFF"/>
                </a:solidFill>
                <a:latin typeface="Poppins"/>
                <a:ea typeface="Poppins"/>
                <a:cs typeface="Poppins"/>
                <a:sym typeface="Poppins"/>
              </a:rPr>
              <a:t>Scardina, J. (2022). What is Microsoft Power BI? - Definition from WhatIs.com. [online] SearchContentManagement. Available at: https://www.techtarget.com/searchcontentmanagement/definition/Microsoft-Power-BI.</a:t>
            </a:r>
          </a:p>
          <a:p>
            <a:pPr algn="l" marL="600203" indent="-300101" lvl="1">
              <a:lnSpc>
                <a:spcPts val="3892"/>
              </a:lnSpc>
              <a:buAutoNum type="arabicPeriod" startAt="1"/>
            </a:pPr>
            <a:r>
              <a:rPr lang="en-US" sz="2780">
                <a:solidFill>
                  <a:srgbClr val="FFFFFF"/>
                </a:solidFill>
                <a:latin typeface="Poppins"/>
                <a:ea typeface="Poppins"/>
                <a:cs typeface="Poppins"/>
                <a:sym typeface="Poppins"/>
              </a:rPr>
              <a:t>Shaikh, R.H. (2024). Data Security Best Practices for Ensuring Confidentiality. [online] Acceldata.io. Available at: https://www.acceldata.io/blog/data-security-best-practices-key-strategies-for-effective-protection.</a:t>
            </a:r>
          </a:p>
          <a:p>
            <a:pPr algn="l" marL="600203" indent="-300101" lvl="1">
              <a:lnSpc>
                <a:spcPts val="3892"/>
              </a:lnSpc>
              <a:buAutoNum type="arabicPeriod" startAt="1"/>
            </a:pPr>
            <a:r>
              <a:rPr lang="en-US" sz="2780">
                <a:solidFill>
                  <a:srgbClr val="FFFFFF"/>
                </a:solidFill>
                <a:latin typeface="Poppins"/>
                <a:ea typeface="Poppins"/>
                <a:cs typeface="Poppins"/>
                <a:sym typeface="Poppins"/>
              </a:rPr>
              <a:t>Team, C. (2024). Data Insights: Understanding, Extracting, and Applying Them Effectively. [online] Camphouse. Available at: https://camphouse.io/blog/data-insights.</a:t>
            </a:r>
          </a:p>
          <a:p>
            <a:pPr algn="l" marL="600203" indent="-300101" lvl="1">
              <a:lnSpc>
                <a:spcPts val="3892"/>
              </a:lnSpc>
              <a:buAutoNum type="arabicPeriod" startAt="1"/>
            </a:pPr>
            <a:r>
              <a:rPr lang="en-US" sz="2780">
                <a:solidFill>
                  <a:srgbClr val="FFFFFF"/>
                </a:solidFill>
                <a:latin typeface="Poppins"/>
                <a:ea typeface="Poppins"/>
                <a:cs typeface="Poppins"/>
                <a:sym typeface="Poppins"/>
              </a:rPr>
              <a:t>www.altlaw.co.uk. (2022). 5 legal challenges of big data | Altlaw Blog. [online] Available at: https://www.altlaw.co.uk/blog/legal-challenges-of-big-data.</a:t>
            </a:r>
          </a:p>
          <a:p>
            <a:pPr algn="l">
              <a:lnSpc>
                <a:spcPts val="3892"/>
              </a:lnSpc>
            </a:pP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03143B"/>
        </a:solidFill>
      </p:bgPr>
    </p:bg>
    <p:spTree>
      <p:nvGrpSpPr>
        <p:cNvPr id="1" name=""/>
        <p:cNvGrpSpPr/>
        <p:nvPr/>
      </p:nvGrpSpPr>
      <p:grpSpPr>
        <a:xfrm>
          <a:off x="0" y="0"/>
          <a:ext cx="0" cy="0"/>
          <a:chOff x="0" y="0"/>
          <a:chExt cx="0" cy="0"/>
        </a:xfrm>
      </p:grpSpPr>
      <p:sp>
        <p:nvSpPr>
          <p:cNvPr name="Freeform 2" id="2"/>
          <p:cNvSpPr/>
          <p:nvPr/>
        </p:nvSpPr>
        <p:spPr>
          <a:xfrm flipH="false" flipV="false" rot="0">
            <a:off x="0" y="-422910"/>
            <a:ext cx="18288000" cy="10709910"/>
          </a:xfrm>
          <a:custGeom>
            <a:avLst/>
            <a:gdLst/>
            <a:ahLst/>
            <a:cxnLst/>
            <a:rect r="r" b="b" t="t" l="l"/>
            <a:pathLst>
              <a:path h="10709910" w="18288000">
                <a:moveTo>
                  <a:pt x="0" y="0"/>
                </a:moveTo>
                <a:lnTo>
                  <a:pt x="18288000" y="0"/>
                </a:lnTo>
                <a:lnTo>
                  <a:pt x="18288000" y="10709910"/>
                </a:lnTo>
                <a:lnTo>
                  <a:pt x="0" y="10709910"/>
                </a:lnTo>
                <a:lnTo>
                  <a:pt x="0" y="0"/>
                </a:lnTo>
                <a:close/>
              </a:path>
            </a:pathLst>
          </a:custGeom>
          <a:blipFill>
            <a:blip r:embed="rId2"/>
            <a:stretch>
              <a:fillRect l="0" t="-1974" r="0" b="-1974"/>
            </a:stretch>
          </a:blipFill>
        </p:spPr>
      </p:sp>
      <p:sp>
        <p:nvSpPr>
          <p:cNvPr name="TextBox 3" id="3"/>
          <p:cNvSpPr txBox="true"/>
          <p:nvPr/>
        </p:nvSpPr>
        <p:spPr>
          <a:xfrm rot="0">
            <a:off x="2771959" y="3172828"/>
            <a:ext cx="12744082" cy="3032658"/>
          </a:xfrm>
          <a:prstGeom prst="rect">
            <a:avLst/>
          </a:prstGeom>
        </p:spPr>
        <p:txBody>
          <a:bodyPr anchor="t" rtlCol="false" tIns="0" lIns="0" bIns="0" rIns="0">
            <a:spAutoFit/>
          </a:bodyPr>
          <a:lstStyle/>
          <a:p>
            <a:pPr algn="ctr" marL="0" indent="0" lvl="0">
              <a:lnSpc>
                <a:spcPts val="23440"/>
              </a:lnSpc>
              <a:spcBef>
                <a:spcPct val="0"/>
              </a:spcBef>
            </a:pPr>
            <a:r>
              <a:rPr lang="en-US" b="true" sz="16743" u="none">
                <a:solidFill>
                  <a:srgbClr val="FFFFFF"/>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DAGn4hQUAwU</dc:identifier>
  <dcterms:modified xsi:type="dcterms:W3CDTF">2011-08-01T06:04:30Z</dcterms:modified>
  <cp:revision>1</cp:revision>
  <dc:title>BPS Final Presentation</dc:title>
</cp:coreProperties>
</file>